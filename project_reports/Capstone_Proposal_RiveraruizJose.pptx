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4910" r:id="rId1"/>
  </p:sldMasterIdLst>
  <p:notesMasterIdLst>
    <p:notesMasterId r:id="rId25"/>
  </p:notesMasterIdLst>
  <p:sldIdLst>
    <p:sldId id="256" r:id="rId2"/>
    <p:sldId id="257" r:id="rId3"/>
    <p:sldId id="269" r:id="rId4"/>
    <p:sldId id="268" r:id="rId5"/>
    <p:sldId id="282" r:id="rId6"/>
    <p:sldId id="270" r:id="rId7"/>
    <p:sldId id="284" r:id="rId8"/>
    <p:sldId id="280" r:id="rId9"/>
    <p:sldId id="285" r:id="rId10"/>
    <p:sldId id="264" r:id="rId11"/>
    <p:sldId id="271" r:id="rId12"/>
    <p:sldId id="272" r:id="rId13"/>
    <p:sldId id="283" r:id="rId14"/>
    <p:sldId id="260" r:id="rId15"/>
    <p:sldId id="265" r:id="rId16"/>
    <p:sldId id="266" r:id="rId17"/>
    <p:sldId id="274" r:id="rId18"/>
    <p:sldId id="273" r:id="rId19"/>
    <p:sldId id="275" r:id="rId20"/>
    <p:sldId id="276" r:id="rId21"/>
    <p:sldId id="277" r:id="rId22"/>
    <p:sldId id="279" r:id="rId23"/>
    <p:sldId id="281" r:id="rId24"/>
  </p:sldIdLst>
  <p:sldSz cx="12192000" cy="6858000"/>
  <p:notesSz cx="6858000" cy="9144000"/>
  <p:embeddedFontLst>
    <p:embeddedFont>
      <p:font typeface="Cambria Math" panose="02040503050406030204" pitchFamily="18" charset="0"/>
      <p:regular r:id="rId26"/>
    </p:embeddedFont>
    <p:embeddedFont>
      <p:font typeface="Merriweather" pitchFamily="2" charset="77"/>
      <p:regular r:id="rId27"/>
      <p:bold r:id="rId28"/>
      <p:italic r:id="rId29"/>
      <p:boldItalic r:id="rId30"/>
    </p:embeddedFont>
    <p:embeddedFont>
      <p:font typeface="Trebuchet MS" panose="020B0703020202090204" pitchFamily="34" charset="0"/>
      <p:regular r:id="rId31"/>
      <p:bold r:id="rId32"/>
      <p:italic r:id="rId33"/>
    </p:embeddedFont>
    <p:embeddedFont>
      <p:font typeface="Wingdings 3" pitchFamily="2" charset="2"/>
      <p:regular r:id="rId34"/>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90C226"/>
    <a:srgbClr val="33415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C443421-4A4E-0D48-9FA0-A647388FDC4B}" v="497" dt="2026-02-06T18:20:22.45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535"/>
    <p:restoredTop sz="85215"/>
  </p:normalViewPr>
  <p:slideViewPr>
    <p:cSldViewPr snapToGrid="0">
      <p:cViewPr>
        <p:scale>
          <a:sx n="98" d="100"/>
          <a:sy n="98" d="100"/>
        </p:scale>
        <p:origin x="1352" y="736"/>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1.fntdata"/><Relationship Id="rId39" Type="http://schemas.microsoft.com/office/2016/11/relationships/changesInfo" Target="changesInfos/changesInfo1.xml"/><Relationship Id="rId21" Type="http://schemas.openxmlformats.org/officeDocument/2006/relationships/slide" Target="slides/slide20.xml"/><Relationship Id="rId34" Type="http://schemas.openxmlformats.org/officeDocument/2006/relationships/font" Target="fonts/font9.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33" Type="http://schemas.openxmlformats.org/officeDocument/2006/relationships/font" Target="fonts/font8.fntdata"/><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4.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7.fntdata"/><Relationship Id="rId37" Type="http://schemas.openxmlformats.org/officeDocument/2006/relationships/theme" Target="theme/theme1.xml"/><Relationship Id="rId40"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3.fntdata"/><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6.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2.fntdata"/><Relationship Id="rId30" Type="http://schemas.openxmlformats.org/officeDocument/2006/relationships/font" Target="fonts/font5.fntdata"/><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dres Ruiz" userId="62a6500062035754" providerId="LiveId" clId="{F33B1512-0172-5E6B-941A-79F389C6819A}"/>
    <pc:docChg chg="undo custSel addSld delSld modSld sldOrd">
      <pc:chgData name="Andres Ruiz" userId="62a6500062035754" providerId="LiveId" clId="{F33B1512-0172-5E6B-941A-79F389C6819A}" dt="2026-02-06T18:21:41.887" v="1549" actId="1035"/>
      <pc:docMkLst>
        <pc:docMk/>
      </pc:docMkLst>
      <pc:sldChg chg="addSp delSp modSp mod">
        <pc:chgData name="Andres Ruiz" userId="62a6500062035754" providerId="LiveId" clId="{F33B1512-0172-5E6B-941A-79F389C6819A}" dt="2026-02-06T18:21:41.887" v="1549" actId="1035"/>
        <pc:sldMkLst>
          <pc:docMk/>
          <pc:sldMk cId="0" sldId="256"/>
        </pc:sldMkLst>
        <pc:spChg chg="mod">
          <ac:chgData name="Andres Ruiz" userId="62a6500062035754" providerId="LiveId" clId="{F33B1512-0172-5E6B-941A-79F389C6819A}" dt="2026-02-06T16:01:49.998" v="366" actId="20577"/>
          <ac:spMkLst>
            <pc:docMk/>
            <pc:sldMk cId="0" sldId="256"/>
            <ac:spMk id="86" creationId="{00000000-0000-0000-0000-000000000000}"/>
          </ac:spMkLst>
        </pc:spChg>
        <pc:spChg chg="del mod">
          <ac:chgData name="Andres Ruiz" userId="62a6500062035754" providerId="LiveId" clId="{F33B1512-0172-5E6B-941A-79F389C6819A}" dt="2026-02-06T16:01:53.358" v="367" actId="478"/>
          <ac:spMkLst>
            <pc:docMk/>
            <pc:sldMk cId="0" sldId="256"/>
            <ac:spMk id="87" creationId="{00000000-0000-0000-0000-000000000000}"/>
          </ac:spMkLst>
        </pc:spChg>
        <pc:spChg chg="mod">
          <ac:chgData name="Andres Ruiz" userId="62a6500062035754" providerId="LiveId" clId="{F33B1512-0172-5E6B-941A-79F389C6819A}" dt="2026-02-06T18:21:41.887" v="1549" actId="1035"/>
          <ac:spMkLst>
            <pc:docMk/>
            <pc:sldMk cId="0" sldId="256"/>
            <ac:spMk id="88" creationId="{00000000-0000-0000-0000-000000000000}"/>
          </ac:spMkLst>
        </pc:spChg>
        <pc:spChg chg="add del mod">
          <ac:chgData name="Andres Ruiz" userId="62a6500062035754" providerId="LiveId" clId="{F33B1512-0172-5E6B-941A-79F389C6819A}" dt="2026-02-06T15:44:56.186" v="209" actId="1036"/>
          <ac:spMkLst>
            <pc:docMk/>
            <pc:sldMk cId="0" sldId="256"/>
            <ac:spMk id="89" creationId="{00000000-0000-0000-0000-000000000000}"/>
          </ac:spMkLst>
        </pc:spChg>
        <pc:spChg chg="del mod">
          <ac:chgData name="Andres Ruiz" userId="62a6500062035754" providerId="LiveId" clId="{F33B1512-0172-5E6B-941A-79F389C6819A}" dt="2026-02-06T15:44:02.619" v="190" actId="478"/>
          <ac:spMkLst>
            <pc:docMk/>
            <pc:sldMk cId="0" sldId="256"/>
            <ac:spMk id="90" creationId="{00000000-0000-0000-0000-000000000000}"/>
          </ac:spMkLst>
        </pc:spChg>
      </pc:sldChg>
      <pc:sldChg chg="addSp delSp modSp mod">
        <pc:chgData name="Andres Ruiz" userId="62a6500062035754" providerId="LiveId" clId="{F33B1512-0172-5E6B-941A-79F389C6819A}" dt="2026-02-06T17:44:25.715" v="1378" actId="1037"/>
        <pc:sldMkLst>
          <pc:docMk/>
          <pc:sldMk cId="0" sldId="257"/>
        </pc:sldMkLst>
        <pc:spChg chg="add mod">
          <ac:chgData name="Andres Ruiz" userId="62a6500062035754" providerId="LiveId" clId="{F33B1512-0172-5E6B-941A-79F389C6819A}" dt="2026-02-06T17:44:25.715" v="1378" actId="1037"/>
          <ac:spMkLst>
            <pc:docMk/>
            <pc:sldMk cId="0" sldId="257"/>
            <ac:spMk id="2" creationId="{092ABE9F-B64B-5BD1-9BE9-966EBB86F4F4}"/>
          </ac:spMkLst>
        </pc:spChg>
        <pc:spChg chg="add del mod">
          <ac:chgData name="Andres Ruiz" userId="62a6500062035754" providerId="LiveId" clId="{F33B1512-0172-5E6B-941A-79F389C6819A}" dt="2026-02-06T16:08:02.335" v="379" actId="478"/>
          <ac:spMkLst>
            <pc:docMk/>
            <pc:sldMk cId="0" sldId="257"/>
            <ac:spMk id="3" creationId="{FCEEEC7B-DA8E-C367-7F8D-6EF3D88950DE}"/>
          </ac:spMkLst>
        </pc:spChg>
        <pc:spChg chg="del">
          <ac:chgData name="Andres Ruiz" userId="62a6500062035754" providerId="LiveId" clId="{F33B1512-0172-5E6B-941A-79F389C6819A}" dt="2026-02-06T15:21:39.915" v="9" actId="478"/>
          <ac:spMkLst>
            <pc:docMk/>
            <pc:sldMk cId="0" sldId="257"/>
            <ac:spMk id="99" creationId="{00000000-0000-0000-0000-000000000000}"/>
          </ac:spMkLst>
        </pc:spChg>
        <pc:spChg chg="del">
          <ac:chgData name="Andres Ruiz" userId="62a6500062035754" providerId="LiveId" clId="{F33B1512-0172-5E6B-941A-79F389C6819A}" dt="2026-02-06T15:21:41.950" v="10" actId="478"/>
          <ac:spMkLst>
            <pc:docMk/>
            <pc:sldMk cId="0" sldId="257"/>
            <ac:spMk id="100" creationId="{00000000-0000-0000-0000-000000000000}"/>
          </ac:spMkLst>
        </pc:spChg>
        <pc:spChg chg="del">
          <ac:chgData name="Andres Ruiz" userId="62a6500062035754" providerId="LiveId" clId="{F33B1512-0172-5E6B-941A-79F389C6819A}" dt="2026-02-06T15:21:37.973" v="8" actId="478"/>
          <ac:spMkLst>
            <pc:docMk/>
            <pc:sldMk cId="0" sldId="257"/>
            <ac:spMk id="101" creationId="{00000000-0000-0000-0000-000000000000}"/>
          </ac:spMkLst>
        </pc:spChg>
        <pc:spChg chg="del">
          <ac:chgData name="Andres Ruiz" userId="62a6500062035754" providerId="LiveId" clId="{F33B1512-0172-5E6B-941A-79F389C6819A}" dt="2026-02-06T15:21:36.238" v="7" actId="478"/>
          <ac:spMkLst>
            <pc:docMk/>
            <pc:sldMk cId="0" sldId="257"/>
            <ac:spMk id="102" creationId="{00000000-0000-0000-0000-000000000000}"/>
          </ac:spMkLst>
        </pc:spChg>
        <pc:spChg chg="mod">
          <ac:chgData name="Andres Ruiz" userId="62a6500062035754" providerId="LiveId" clId="{F33B1512-0172-5E6B-941A-79F389C6819A}" dt="2026-02-06T16:14:05.367" v="460" actId="113"/>
          <ac:spMkLst>
            <pc:docMk/>
            <pc:sldMk cId="0" sldId="257"/>
            <ac:spMk id="103" creationId="{00000000-0000-0000-0000-000000000000}"/>
          </ac:spMkLst>
        </pc:spChg>
        <pc:picChg chg="del">
          <ac:chgData name="Andres Ruiz" userId="62a6500062035754" providerId="LiveId" clId="{F33B1512-0172-5E6B-941A-79F389C6819A}" dt="2026-02-06T15:21:32.495" v="5" actId="478"/>
          <ac:picMkLst>
            <pc:docMk/>
            <pc:sldMk cId="0" sldId="257"/>
            <ac:picMk id="96" creationId="{00000000-0000-0000-0000-000000000000}"/>
          </ac:picMkLst>
        </pc:picChg>
        <pc:picChg chg="del">
          <ac:chgData name="Andres Ruiz" userId="62a6500062035754" providerId="LiveId" clId="{F33B1512-0172-5E6B-941A-79F389C6819A}" dt="2026-02-06T15:21:34.183" v="6" actId="478"/>
          <ac:picMkLst>
            <pc:docMk/>
            <pc:sldMk cId="0" sldId="257"/>
            <ac:picMk id="97" creationId="{00000000-0000-0000-0000-000000000000}"/>
          </ac:picMkLst>
        </pc:picChg>
      </pc:sldChg>
      <pc:sldChg chg="modSp del mod">
        <pc:chgData name="Andres Ruiz" userId="62a6500062035754" providerId="LiveId" clId="{F33B1512-0172-5E6B-941A-79F389C6819A}" dt="2026-02-06T15:58:37.916" v="320" actId="2696"/>
        <pc:sldMkLst>
          <pc:docMk/>
          <pc:sldMk cId="0" sldId="258"/>
        </pc:sldMkLst>
        <pc:spChg chg="mod">
          <ac:chgData name="Andres Ruiz" userId="62a6500062035754" providerId="LiveId" clId="{F33B1512-0172-5E6B-941A-79F389C6819A}" dt="2026-02-06T15:54:59.337" v="302" actId="20577"/>
          <ac:spMkLst>
            <pc:docMk/>
            <pc:sldMk cId="0" sldId="258"/>
            <ac:spMk id="2" creationId="{8A082676-4820-4E6F-F48F-3225163100E1}"/>
          </ac:spMkLst>
        </pc:spChg>
      </pc:sldChg>
      <pc:sldChg chg="del">
        <pc:chgData name="Andres Ruiz" userId="62a6500062035754" providerId="LiveId" clId="{F33B1512-0172-5E6B-941A-79F389C6819A}" dt="2026-02-06T15:46:32.249" v="214" actId="2696"/>
        <pc:sldMkLst>
          <pc:docMk/>
          <pc:sldMk cId="0" sldId="259"/>
        </pc:sldMkLst>
      </pc:sldChg>
      <pc:sldChg chg="del">
        <pc:chgData name="Andres Ruiz" userId="62a6500062035754" providerId="LiveId" clId="{F33B1512-0172-5E6B-941A-79F389C6819A}" dt="2026-02-06T15:46:40.035" v="215" actId="2696"/>
        <pc:sldMkLst>
          <pc:docMk/>
          <pc:sldMk cId="0" sldId="260"/>
        </pc:sldMkLst>
      </pc:sldChg>
      <pc:sldChg chg="modSp mod ord">
        <pc:chgData name="Andres Ruiz" userId="62a6500062035754" providerId="LiveId" clId="{F33B1512-0172-5E6B-941A-79F389C6819A}" dt="2026-02-06T15:46:29.099" v="213" actId="2711"/>
        <pc:sldMkLst>
          <pc:docMk/>
          <pc:sldMk cId="0" sldId="264"/>
        </pc:sldMkLst>
        <pc:graphicFrameChg chg="mod modGraphic">
          <ac:chgData name="Andres Ruiz" userId="62a6500062035754" providerId="LiveId" clId="{F33B1512-0172-5E6B-941A-79F389C6819A}" dt="2026-02-06T15:46:29.099" v="213" actId="2711"/>
          <ac:graphicFrameMkLst>
            <pc:docMk/>
            <pc:sldMk cId="0" sldId="264"/>
            <ac:graphicFrameMk id="2" creationId="{6FB321E9-64B3-87B4-341C-34471D9A24C4}"/>
          </ac:graphicFrameMkLst>
        </pc:graphicFrameChg>
      </pc:sldChg>
      <pc:sldChg chg="modSp mod">
        <pc:chgData name="Andres Ruiz" userId="62a6500062035754" providerId="LiveId" clId="{F33B1512-0172-5E6B-941A-79F389C6819A}" dt="2026-02-06T17:51:19.501" v="1403" actId="207"/>
        <pc:sldMkLst>
          <pc:docMk/>
          <pc:sldMk cId="0" sldId="265"/>
        </pc:sldMkLst>
        <pc:spChg chg="mod">
          <ac:chgData name="Andres Ruiz" userId="62a6500062035754" providerId="LiveId" clId="{F33B1512-0172-5E6B-941A-79F389C6819A}" dt="2026-02-06T17:51:19.501" v="1403" actId="207"/>
          <ac:spMkLst>
            <pc:docMk/>
            <pc:sldMk cId="0" sldId="265"/>
            <ac:spMk id="228" creationId="{00000000-0000-0000-0000-000000000000}"/>
          </ac:spMkLst>
        </pc:spChg>
      </pc:sldChg>
      <pc:sldChg chg="modSp mod">
        <pc:chgData name="Andres Ruiz" userId="62a6500062035754" providerId="LiveId" clId="{F33B1512-0172-5E6B-941A-79F389C6819A}" dt="2026-02-06T16:14:59.609" v="471" actId="404"/>
        <pc:sldMkLst>
          <pc:docMk/>
          <pc:sldMk cId="0" sldId="266"/>
        </pc:sldMkLst>
        <pc:spChg chg="mod">
          <ac:chgData name="Andres Ruiz" userId="62a6500062035754" providerId="LiveId" clId="{F33B1512-0172-5E6B-941A-79F389C6819A}" dt="2026-02-06T16:14:59.609" v="471" actId="404"/>
          <ac:spMkLst>
            <pc:docMk/>
            <pc:sldMk cId="0" sldId="266"/>
            <ac:spMk id="5" creationId="{0FB95E58-2EAE-363C-3896-66B07A8ADE29}"/>
          </ac:spMkLst>
        </pc:spChg>
      </pc:sldChg>
      <pc:sldChg chg="del">
        <pc:chgData name="Andres Ruiz" userId="62a6500062035754" providerId="LiveId" clId="{F33B1512-0172-5E6B-941A-79F389C6819A}" dt="2026-02-06T15:31:53.761" v="94" actId="2696"/>
        <pc:sldMkLst>
          <pc:docMk/>
          <pc:sldMk cId="212360400" sldId="267"/>
        </pc:sldMkLst>
      </pc:sldChg>
      <pc:sldChg chg="addSp delSp modSp mod">
        <pc:chgData name="Andres Ruiz" userId="62a6500062035754" providerId="LiveId" clId="{F33B1512-0172-5E6B-941A-79F389C6819A}" dt="2026-02-06T18:17:41.627" v="1503" actId="20577"/>
        <pc:sldMkLst>
          <pc:docMk/>
          <pc:sldMk cId="2134621465" sldId="268"/>
        </pc:sldMkLst>
        <pc:spChg chg="del">
          <ac:chgData name="Andres Ruiz" userId="62a6500062035754" providerId="LiveId" clId="{F33B1512-0172-5E6B-941A-79F389C6819A}" dt="2026-02-06T15:33:05.853" v="95" actId="478"/>
          <ac:spMkLst>
            <pc:docMk/>
            <pc:sldMk cId="2134621465" sldId="268"/>
            <ac:spMk id="3" creationId="{5819E248-EAB7-6930-99ED-9BB6C6C5E010}"/>
          </ac:spMkLst>
        </pc:spChg>
        <pc:spChg chg="add mod">
          <ac:chgData name="Andres Ruiz" userId="62a6500062035754" providerId="LiveId" clId="{F33B1512-0172-5E6B-941A-79F389C6819A}" dt="2026-02-06T15:46:03.333" v="211"/>
          <ac:spMkLst>
            <pc:docMk/>
            <pc:sldMk cId="2134621465" sldId="268"/>
            <ac:spMk id="4" creationId="{9788B4DA-6EB7-10A5-7B03-B5C288E6CF2B}"/>
          </ac:spMkLst>
        </pc:spChg>
        <pc:spChg chg="add mod">
          <ac:chgData name="Andres Ruiz" userId="62a6500062035754" providerId="LiveId" clId="{F33B1512-0172-5E6B-941A-79F389C6819A}" dt="2026-02-06T17:45:36.501" v="1384" actId="1582"/>
          <ac:spMkLst>
            <pc:docMk/>
            <pc:sldMk cId="2134621465" sldId="268"/>
            <ac:spMk id="5" creationId="{C7E982BD-80E2-A391-B2CA-6E69F5DAED35}"/>
          </ac:spMkLst>
        </pc:spChg>
        <pc:spChg chg="del">
          <ac:chgData name="Andres Ruiz" userId="62a6500062035754" providerId="LiveId" clId="{F33B1512-0172-5E6B-941A-79F389C6819A}" dt="2026-02-06T15:46:02.946" v="210" actId="478"/>
          <ac:spMkLst>
            <pc:docMk/>
            <pc:sldMk cId="2134621465" sldId="268"/>
            <ac:spMk id="103" creationId="{167DFC63-970B-1264-CEFF-6B8ECD77EB3D}"/>
          </ac:spMkLst>
        </pc:spChg>
        <pc:graphicFrameChg chg="add mod modGraphic">
          <ac:chgData name="Andres Ruiz" userId="62a6500062035754" providerId="LiveId" clId="{F33B1512-0172-5E6B-941A-79F389C6819A}" dt="2026-02-06T18:17:41.627" v="1503" actId="20577"/>
          <ac:graphicFrameMkLst>
            <pc:docMk/>
            <pc:sldMk cId="2134621465" sldId="268"/>
            <ac:graphicFrameMk id="2" creationId="{E6155FB8-21BD-5532-7667-295FE945482A}"/>
          </ac:graphicFrameMkLst>
        </pc:graphicFrameChg>
      </pc:sldChg>
      <pc:sldChg chg="delSp modSp add mod setBg">
        <pc:chgData name="Andres Ruiz" userId="62a6500062035754" providerId="LiveId" clId="{F33B1512-0172-5E6B-941A-79F389C6819A}" dt="2026-02-06T18:13:24.229" v="1440" actId="20577"/>
        <pc:sldMkLst>
          <pc:docMk/>
          <pc:sldMk cId="172994736" sldId="269"/>
        </pc:sldMkLst>
        <pc:spChg chg="mod">
          <ac:chgData name="Andres Ruiz" userId="62a6500062035754" providerId="LiveId" clId="{F33B1512-0172-5E6B-941A-79F389C6819A}" dt="2026-02-06T18:13:24.229" v="1440" actId="20577"/>
          <ac:spMkLst>
            <pc:docMk/>
            <pc:sldMk cId="172994736" sldId="269"/>
            <ac:spMk id="2" creationId="{69C5C7B1-4A72-92C6-8DC9-C4C36D580380}"/>
          </ac:spMkLst>
        </pc:spChg>
        <pc:spChg chg="del mod">
          <ac:chgData name="Andres Ruiz" userId="62a6500062035754" providerId="LiveId" clId="{F33B1512-0172-5E6B-941A-79F389C6819A}" dt="2026-02-06T15:27:47.384" v="70" actId="478"/>
          <ac:spMkLst>
            <pc:docMk/>
            <pc:sldMk cId="172994736" sldId="269"/>
            <ac:spMk id="3" creationId="{332B2C1F-B2D9-0E6A-F194-02F6C01E0E12}"/>
          </ac:spMkLst>
        </pc:spChg>
        <pc:spChg chg="mod">
          <ac:chgData name="Andres Ruiz" userId="62a6500062035754" providerId="LiveId" clId="{F33B1512-0172-5E6B-941A-79F389C6819A}" dt="2026-02-06T16:09:48.288" v="418" actId="2711"/>
          <ac:spMkLst>
            <pc:docMk/>
            <pc:sldMk cId="172994736" sldId="269"/>
            <ac:spMk id="103" creationId="{B1793E83-1122-1FC3-F7BE-839635155236}"/>
          </ac:spMkLst>
        </pc:spChg>
      </pc:sldChg>
      <pc:sldChg chg="modSp add mod">
        <pc:chgData name="Andres Ruiz" userId="62a6500062035754" providerId="LiveId" clId="{F33B1512-0172-5E6B-941A-79F389C6819A}" dt="2026-02-06T18:14:33.229" v="1477" actId="2710"/>
        <pc:sldMkLst>
          <pc:docMk/>
          <pc:sldMk cId="3115640133" sldId="270"/>
        </pc:sldMkLst>
        <pc:spChg chg="mod">
          <ac:chgData name="Andres Ruiz" userId="62a6500062035754" providerId="LiveId" clId="{F33B1512-0172-5E6B-941A-79F389C6819A}" dt="2026-02-06T18:14:33.229" v="1477" actId="2710"/>
          <ac:spMkLst>
            <pc:docMk/>
            <pc:sldMk cId="3115640133" sldId="270"/>
            <ac:spMk id="2" creationId="{A575159E-617B-692E-E980-557348AEFC4D}"/>
          </ac:spMkLst>
        </pc:spChg>
        <pc:spChg chg="mod">
          <ac:chgData name="Andres Ruiz" userId="62a6500062035754" providerId="LiveId" clId="{F33B1512-0172-5E6B-941A-79F389C6819A}" dt="2026-02-06T15:52:23.077" v="278" actId="2711"/>
          <ac:spMkLst>
            <pc:docMk/>
            <pc:sldMk cId="3115640133" sldId="270"/>
            <ac:spMk id="103" creationId="{689DF898-FDBD-E2CF-EFC4-3D418AD1E87D}"/>
          </ac:spMkLst>
        </pc:spChg>
      </pc:sldChg>
      <pc:sldChg chg="modSp add mod setBg">
        <pc:chgData name="Andres Ruiz" userId="62a6500062035754" providerId="LiveId" clId="{F33B1512-0172-5E6B-941A-79F389C6819A}" dt="2026-02-06T18:15:47.762" v="1480" actId="20577"/>
        <pc:sldMkLst>
          <pc:docMk/>
          <pc:sldMk cId="1236293639" sldId="271"/>
        </pc:sldMkLst>
        <pc:spChg chg="mod">
          <ac:chgData name="Andres Ruiz" userId="62a6500062035754" providerId="LiveId" clId="{F33B1512-0172-5E6B-941A-79F389C6819A}" dt="2026-02-06T18:15:47.762" v="1480" actId="20577"/>
          <ac:spMkLst>
            <pc:docMk/>
            <pc:sldMk cId="1236293639" sldId="271"/>
            <ac:spMk id="2" creationId="{E212188C-A8E7-6CBA-C8DB-92BA37D564E4}"/>
          </ac:spMkLst>
        </pc:spChg>
        <pc:spChg chg="mod">
          <ac:chgData name="Andres Ruiz" userId="62a6500062035754" providerId="LiveId" clId="{F33B1512-0172-5E6B-941A-79F389C6819A}" dt="2026-02-06T15:54:03.712" v="287" actId="20577"/>
          <ac:spMkLst>
            <pc:docMk/>
            <pc:sldMk cId="1236293639" sldId="271"/>
            <ac:spMk id="121" creationId="{68B3B535-048D-C9CF-CB92-97CC6687BC27}"/>
          </ac:spMkLst>
        </pc:spChg>
      </pc:sldChg>
      <pc:sldChg chg="modSp add mod">
        <pc:chgData name="Andres Ruiz" userId="62a6500062035754" providerId="LiveId" clId="{F33B1512-0172-5E6B-941A-79F389C6819A}" dt="2026-02-06T18:16:31.928" v="1486" actId="20577"/>
        <pc:sldMkLst>
          <pc:docMk/>
          <pc:sldMk cId="706046162" sldId="272"/>
        </pc:sldMkLst>
        <pc:spChg chg="mod">
          <ac:chgData name="Andres Ruiz" userId="62a6500062035754" providerId="LiveId" clId="{F33B1512-0172-5E6B-941A-79F389C6819A}" dt="2026-02-06T18:16:31.928" v="1486" actId="20577"/>
          <ac:spMkLst>
            <pc:docMk/>
            <pc:sldMk cId="706046162" sldId="272"/>
            <ac:spMk id="2" creationId="{E13DB30C-D98C-0DD2-A6C5-50F382E70EA8}"/>
          </ac:spMkLst>
        </pc:spChg>
        <pc:spChg chg="mod">
          <ac:chgData name="Andres Ruiz" userId="62a6500062035754" providerId="LiveId" clId="{F33B1512-0172-5E6B-941A-79F389C6819A}" dt="2026-02-06T15:58:44.282" v="329" actId="20577"/>
          <ac:spMkLst>
            <pc:docMk/>
            <pc:sldMk cId="706046162" sldId="272"/>
            <ac:spMk id="121" creationId="{6A154461-7246-4411-1A17-724F54EEB480}"/>
          </ac:spMkLst>
        </pc:spChg>
      </pc:sldChg>
      <pc:sldChg chg="modSp add mod">
        <pc:chgData name="Andres Ruiz" userId="62a6500062035754" providerId="LiveId" clId="{F33B1512-0172-5E6B-941A-79F389C6819A}" dt="2026-02-06T18:20:25.163" v="1533" actId="20577"/>
        <pc:sldMkLst>
          <pc:docMk/>
          <pc:sldMk cId="116912610" sldId="273"/>
        </pc:sldMkLst>
        <pc:spChg chg="mod">
          <ac:chgData name="Andres Ruiz" userId="62a6500062035754" providerId="LiveId" clId="{F33B1512-0172-5E6B-941A-79F389C6819A}" dt="2026-02-06T18:20:25.163" v="1533" actId="20577"/>
          <ac:spMkLst>
            <pc:docMk/>
            <pc:sldMk cId="116912610" sldId="273"/>
            <ac:spMk id="2" creationId="{388D4477-5AA5-0731-D8FE-47D12D442B93}"/>
          </ac:spMkLst>
        </pc:spChg>
        <pc:spChg chg="mod">
          <ac:chgData name="Andres Ruiz" userId="62a6500062035754" providerId="LiveId" clId="{F33B1512-0172-5E6B-941A-79F389C6819A}" dt="2026-02-06T16:58:06.806" v="515" actId="20577"/>
          <ac:spMkLst>
            <pc:docMk/>
            <pc:sldMk cId="116912610" sldId="273"/>
            <ac:spMk id="121" creationId="{0413897F-0458-EB29-B12F-B1F119CC2D2E}"/>
          </ac:spMkLst>
        </pc:spChg>
      </pc:sldChg>
      <pc:sldChg chg="delSp modSp add mod setBg">
        <pc:chgData name="Andres Ruiz" userId="62a6500062035754" providerId="LiveId" clId="{F33B1512-0172-5E6B-941A-79F389C6819A}" dt="2026-02-06T16:18:21.622" v="495" actId="122"/>
        <pc:sldMkLst>
          <pc:docMk/>
          <pc:sldMk cId="3992467816" sldId="274"/>
        </pc:sldMkLst>
        <pc:spChg chg="del">
          <ac:chgData name="Andres Ruiz" userId="62a6500062035754" providerId="LiveId" clId="{F33B1512-0172-5E6B-941A-79F389C6819A}" dt="2026-02-06T16:17:57.286" v="474" actId="478"/>
          <ac:spMkLst>
            <pc:docMk/>
            <pc:sldMk cId="3992467816" sldId="274"/>
            <ac:spMk id="5" creationId="{4B1677BD-9E3C-F098-6ADF-E6EBA726D397}"/>
          </ac:spMkLst>
        </pc:spChg>
        <pc:spChg chg="mod">
          <ac:chgData name="Andres Ruiz" userId="62a6500062035754" providerId="LiveId" clId="{F33B1512-0172-5E6B-941A-79F389C6819A}" dt="2026-02-06T16:18:21.622" v="495" actId="122"/>
          <ac:spMkLst>
            <pc:docMk/>
            <pc:sldMk cId="3992467816" sldId="274"/>
            <ac:spMk id="250" creationId="{610CE911-60A4-33B0-DF5A-C994FC86E0EA}"/>
          </ac:spMkLst>
        </pc:spChg>
        <pc:spChg chg="del">
          <ac:chgData name="Andres Ruiz" userId="62a6500062035754" providerId="LiveId" clId="{F33B1512-0172-5E6B-941A-79F389C6819A}" dt="2026-02-06T16:18:01.879" v="477" actId="478"/>
          <ac:spMkLst>
            <pc:docMk/>
            <pc:sldMk cId="3992467816" sldId="274"/>
            <ac:spMk id="251" creationId="{9121E3CF-49D3-32C2-1B6C-B0CCAFEBD24B}"/>
          </ac:spMkLst>
        </pc:spChg>
      </pc:sldChg>
      <pc:sldChg chg="addSp delSp modSp add mod">
        <pc:chgData name="Andres Ruiz" userId="62a6500062035754" providerId="LiveId" clId="{F33B1512-0172-5E6B-941A-79F389C6819A}" dt="2026-02-06T18:20:06.167" v="1523" actId="113"/>
        <pc:sldMkLst>
          <pc:docMk/>
          <pc:sldMk cId="1407121199" sldId="275"/>
        </pc:sldMkLst>
        <pc:spChg chg="mod">
          <ac:chgData name="Andres Ruiz" userId="62a6500062035754" providerId="LiveId" clId="{F33B1512-0172-5E6B-941A-79F389C6819A}" dt="2026-02-06T18:20:06.167" v="1523" actId="113"/>
          <ac:spMkLst>
            <pc:docMk/>
            <pc:sldMk cId="1407121199" sldId="275"/>
            <ac:spMk id="2" creationId="{4AACAB45-0C6E-B5C3-02F1-829E465F3DE6}"/>
          </ac:spMkLst>
        </pc:spChg>
        <pc:spChg chg="add">
          <ac:chgData name="Andres Ruiz" userId="62a6500062035754" providerId="LiveId" clId="{F33B1512-0172-5E6B-941A-79F389C6819A}" dt="2026-02-06T17:06:25.505" v="754"/>
          <ac:spMkLst>
            <pc:docMk/>
            <pc:sldMk cId="1407121199" sldId="275"/>
            <ac:spMk id="3" creationId="{ABA45E39-7447-5B44-B351-C3329C07D97A}"/>
          </ac:spMkLst>
        </pc:spChg>
        <pc:spChg chg="add">
          <ac:chgData name="Andres Ruiz" userId="62a6500062035754" providerId="LiveId" clId="{F33B1512-0172-5E6B-941A-79F389C6819A}" dt="2026-02-06T17:06:29.097" v="755"/>
          <ac:spMkLst>
            <pc:docMk/>
            <pc:sldMk cId="1407121199" sldId="275"/>
            <ac:spMk id="4" creationId="{528F8AEE-80E3-02FE-14F5-1F8FFA3EF85C}"/>
          </ac:spMkLst>
        </pc:spChg>
        <pc:spChg chg="add">
          <ac:chgData name="Andres Ruiz" userId="62a6500062035754" providerId="LiveId" clId="{F33B1512-0172-5E6B-941A-79F389C6819A}" dt="2026-02-06T17:06:33.657" v="756"/>
          <ac:spMkLst>
            <pc:docMk/>
            <pc:sldMk cId="1407121199" sldId="275"/>
            <ac:spMk id="5" creationId="{022DA20C-C8EE-653F-DF66-659723F586BF}"/>
          </ac:spMkLst>
        </pc:spChg>
        <pc:spChg chg="add">
          <ac:chgData name="Andres Ruiz" userId="62a6500062035754" providerId="LiveId" clId="{F33B1512-0172-5E6B-941A-79F389C6819A}" dt="2026-02-06T17:10:40.571" v="824"/>
          <ac:spMkLst>
            <pc:docMk/>
            <pc:sldMk cId="1407121199" sldId="275"/>
            <ac:spMk id="6" creationId="{43222E21-8698-D9CE-47D4-1B6F44C907BF}"/>
          </ac:spMkLst>
        </pc:spChg>
        <pc:spChg chg="add mod">
          <ac:chgData name="Andres Ruiz" userId="62a6500062035754" providerId="LiveId" clId="{F33B1512-0172-5E6B-941A-79F389C6819A}" dt="2026-02-06T17:24:29.989" v="1066"/>
          <ac:spMkLst>
            <pc:docMk/>
            <pc:sldMk cId="1407121199" sldId="275"/>
            <ac:spMk id="7" creationId="{C0910809-4DFB-18ED-54C4-2580D01E1D62}"/>
          </ac:spMkLst>
        </pc:spChg>
        <pc:spChg chg="del mod">
          <ac:chgData name="Andres Ruiz" userId="62a6500062035754" providerId="LiveId" clId="{F33B1512-0172-5E6B-941A-79F389C6819A}" dt="2026-02-06T17:24:29.584" v="1065" actId="478"/>
          <ac:spMkLst>
            <pc:docMk/>
            <pc:sldMk cId="1407121199" sldId="275"/>
            <ac:spMk id="121" creationId="{54AAD307-0141-02D9-F685-C889AE2D5002}"/>
          </ac:spMkLst>
        </pc:spChg>
      </pc:sldChg>
      <pc:sldChg chg="modSp add mod">
        <pc:chgData name="Andres Ruiz" userId="62a6500062035754" providerId="LiveId" clId="{F33B1512-0172-5E6B-941A-79F389C6819A}" dt="2026-02-06T18:19:25.035" v="1522" actId="20577"/>
        <pc:sldMkLst>
          <pc:docMk/>
          <pc:sldMk cId="3144798509" sldId="276"/>
        </pc:sldMkLst>
        <pc:spChg chg="mod">
          <ac:chgData name="Andres Ruiz" userId="62a6500062035754" providerId="LiveId" clId="{F33B1512-0172-5E6B-941A-79F389C6819A}" dt="2026-02-06T18:19:25.035" v="1522" actId="20577"/>
          <ac:spMkLst>
            <pc:docMk/>
            <pc:sldMk cId="3144798509" sldId="276"/>
            <ac:spMk id="2" creationId="{032D67AD-0F58-6B2F-24E6-FF34E893A269}"/>
          </ac:spMkLst>
        </pc:spChg>
        <pc:spChg chg="mod">
          <ac:chgData name="Andres Ruiz" userId="62a6500062035754" providerId="LiveId" clId="{F33B1512-0172-5E6B-941A-79F389C6819A}" dt="2026-02-06T17:24:35.479" v="1074" actId="20577"/>
          <ac:spMkLst>
            <pc:docMk/>
            <pc:sldMk cId="3144798509" sldId="276"/>
            <ac:spMk id="121" creationId="{9BD82C1E-F47E-0BA1-D5BC-73146FA9B191}"/>
          </ac:spMkLst>
        </pc:spChg>
      </pc:sldChg>
      <pc:sldChg chg="addSp delSp modSp add mod">
        <pc:chgData name="Andres Ruiz" userId="62a6500062035754" providerId="LiveId" clId="{F33B1512-0172-5E6B-941A-79F389C6819A}" dt="2026-02-06T17:34:17.210" v="1238" actId="478"/>
        <pc:sldMkLst>
          <pc:docMk/>
          <pc:sldMk cId="794569439" sldId="277"/>
        </pc:sldMkLst>
        <pc:spChg chg="mod">
          <ac:chgData name="Andres Ruiz" userId="62a6500062035754" providerId="LiveId" clId="{F33B1512-0172-5E6B-941A-79F389C6819A}" dt="2026-02-06T17:34:14.742" v="1237" actId="2711"/>
          <ac:spMkLst>
            <pc:docMk/>
            <pc:sldMk cId="794569439" sldId="277"/>
            <ac:spMk id="2" creationId="{2CDA93AE-6B20-F095-78C6-B7F50DF2A9C9}"/>
          </ac:spMkLst>
        </pc:spChg>
        <pc:spChg chg="add">
          <ac:chgData name="Andres Ruiz" userId="62a6500062035754" providerId="LiveId" clId="{F33B1512-0172-5E6B-941A-79F389C6819A}" dt="2026-02-06T17:27:45.312" v="1118"/>
          <ac:spMkLst>
            <pc:docMk/>
            <pc:sldMk cId="794569439" sldId="277"/>
            <ac:spMk id="3" creationId="{0F2777A7-B85E-6999-EA57-204EC6716A8A}"/>
          </ac:spMkLst>
        </pc:spChg>
        <pc:spChg chg="add del mod">
          <ac:chgData name="Andres Ruiz" userId="62a6500062035754" providerId="LiveId" clId="{F33B1512-0172-5E6B-941A-79F389C6819A}" dt="2026-02-06T17:34:17.210" v="1238" actId="478"/>
          <ac:spMkLst>
            <pc:docMk/>
            <pc:sldMk cId="794569439" sldId="277"/>
            <ac:spMk id="4" creationId="{0FF7D55C-0BB4-029B-1253-3490AB9AA75D}"/>
          </ac:spMkLst>
        </pc:spChg>
        <pc:spChg chg="mod">
          <ac:chgData name="Andres Ruiz" userId="62a6500062035754" providerId="LiveId" clId="{F33B1512-0172-5E6B-941A-79F389C6819A}" dt="2026-02-06T17:25:26.502" v="1096" actId="20577"/>
          <ac:spMkLst>
            <pc:docMk/>
            <pc:sldMk cId="794569439" sldId="277"/>
            <ac:spMk id="121" creationId="{5DFA7EF6-54CE-5621-6B13-544B705E7AA7}"/>
          </ac:spMkLst>
        </pc:spChg>
      </pc:sldChg>
      <pc:sldChg chg="addSp modSp new del mod">
        <pc:chgData name="Andres Ruiz" userId="62a6500062035754" providerId="LiveId" clId="{F33B1512-0172-5E6B-941A-79F389C6819A}" dt="2026-02-06T17:32:25.930" v="1194" actId="2696"/>
        <pc:sldMkLst>
          <pc:docMk/>
          <pc:sldMk cId="4196898028" sldId="278"/>
        </pc:sldMkLst>
        <pc:spChg chg="add mod">
          <ac:chgData name="Andres Ruiz" userId="62a6500062035754" providerId="LiveId" clId="{F33B1512-0172-5E6B-941A-79F389C6819A}" dt="2026-02-06T17:30:44.431" v="1157" actId="1076"/>
          <ac:spMkLst>
            <pc:docMk/>
            <pc:sldMk cId="4196898028" sldId="278"/>
            <ac:spMk id="3" creationId="{507D63FB-C12B-B628-91E0-EA6FEE357AFC}"/>
          </ac:spMkLst>
        </pc:spChg>
      </pc:sldChg>
      <pc:sldChg chg="delSp modSp add mod">
        <pc:chgData name="Andres Ruiz" userId="62a6500062035754" providerId="LiveId" clId="{F33B1512-0172-5E6B-941A-79F389C6819A}" dt="2026-02-06T17:34:39.556" v="1242" actId="20577"/>
        <pc:sldMkLst>
          <pc:docMk/>
          <pc:sldMk cId="1207826547" sldId="279"/>
        </pc:sldMkLst>
        <pc:spChg chg="mod">
          <ac:chgData name="Andres Ruiz" userId="62a6500062035754" providerId="LiveId" clId="{F33B1512-0172-5E6B-941A-79F389C6819A}" dt="2026-02-06T17:34:39.556" v="1242" actId="20577"/>
          <ac:spMkLst>
            <pc:docMk/>
            <pc:sldMk cId="1207826547" sldId="279"/>
            <ac:spMk id="2" creationId="{43020E62-57B3-D132-562C-99AD62E7F5DA}"/>
          </ac:spMkLst>
        </pc:spChg>
        <pc:spChg chg="del">
          <ac:chgData name="Andres Ruiz" userId="62a6500062035754" providerId="LiveId" clId="{F33B1512-0172-5E6B-941A-79F389C6819A}" dt="2026-02-06T17:32:05.625" v="1188" actId="478"/>
          <ac:spMkLst>
            <pc:docMk/>
            <pc:sldMk cId="1207826547" sldId="279"/>
            <ac:spMk id="4" creationId="{6E076CD4-4424-3771-07C9-F798912C8474}"/>
          </ac:spMkLst>
        </pc:spChg>
        <pc:spChg chg="mod">
          <ac:chgData name="Andres Ruiz" userId="62a6500062035754" providerId="LiveId" clId="{F33B1512-0172-5E6B-941A-79F389C6819A}" dt="2026-02-06T17:31:49.362" v="1184" actId="20577"/>
          <ac:spMkLst>
            <pc:docMk/>
            <pc:sldMk cId="1207826547" sldId="279"/>
            <ac:spMk id="121" creationId="{FA8C4DC3-B6EA-348C-A077-492FABC2F2F2}"/>
          </ac:spMkLst>
        </pc:spChg>
      </pc:sldChg>
      <pc:sldChg chg="new">
        <pc:chgData name="Andres Ruiz" userId="62a6500062035754" providerId="LiveId" clId="{F33B1512-0172-5E6B-941A-79F389C6819A}" dt="2026-02-06T17:32:28.881" v="1195" actId="680"/>
        <pc:sldMkLst>
          <pc:docMk/>
          <pc:sldMk cId="3804228012" sldId="280"/>
        </pc:sldMkLst>
      </pc:sldChg>
      <pc:sldChg chg="addSp modSp add mod">
        <pc:chgData name="Andres Ruiz" userId="62a6500062035754" providerId="LiveId" clId="{F33B1512-0172-5E6B-941A-79F389C6819A}" dt="2026-02-06T18:21:03.189" v="1536" actId="20577"/>
        <pc:sldMkLst>
          <pc:docMk/>
          <pc:sldMk cId="3659799541" sldId="281"/>
        </pc:sldMkLst>
        <pc:spChg chg="mod">
          <ac:chgData name="Andres Ruiz" userId="62a6500062035754" providerId="LiveId" clId="{F33B1512-0172-5E6B-941A-79F389C6819A}" dt="2026-02-06T18:21:03.189" v="1536" actId="20577"/>
          <ac:spMkLst>
            <pc:docMk/>
            <pc:sldMk cId="3659799541" sldId="281"/>
            <ac:spMk id="2" creationId="{CA8C55C5-5517-9766-E34B-469866D9E598}"/>
          </ac:spMkLst>
        </pc:spChg>
        <pc:spChg chg="add">
          <ac:chgData name="Andres Ruiz" userId="62a6500062035754" providerId="LiveId" clId="{F33B1512-0172-5E6B-941A-79F389C6819A}" dt="2026-02-06T17:34:59.172" v="1248"/>
          <ac:spMkLst>
            <pc:docMk/>
            <pc:sldMk cId="3659799541" sldId="281"/>
            <ac:spMk id="3" creationId="{DE447168-E7F6-094D-F61A-DA7B8A4B46ED}"/>
          </ac:spMkLst>
        </pc:spChg>
        <pc:spChg chg="mod">
          <ac:chgData name="Andres Ruiz" userId="62a6500062035754" providerId="LiveId" clId="{F33B1512-0172-5E6B-941A-79F389C6819A}" dt="2026-02-06T17:33:08.056" v="1214" actId="20577"/>
          <ac:spMkLst>
            <pc:docMk/>
            <pc:sldMk cId="3659799541" sldId="281"/>
            <ac:spMk id="121" creationId="{FD4E32FA-91EE-1C76-2726-C556DD27EE49}"/>
          </ac:spMkLst>
        </pc:spChg>
      </pc:sldChg>
      <pc:sldChg chg="modSp add mod">
        <pc:chgData name="Andres Ruiz" userId="62a6500062035754" providerId="LiveId" clId="{F33B1512-0172-5E6B-941A-79F389C6819A}" dt="2026-02-06T18:20:30.922" v="1534" actId="20577"/>
        <pc:sldMkLst>
          <pc:docMk/>
          <pc:sldMk cId="1263261784" sldId="282"/>
        </pc:sldMkLst>
        <pc:spChg chg="mod">
          <ac:chgData name="Andres Ruiz" userId="62a6500062035754" providerId="LiveId" clId="{F33B1512-0172-5E6B-941A-79F389C6819A}" dt="2026-02-06T18:20:30.922" v="1534" actId="20577"/>
          <ac:spMkLst>
            <pc:docMk/>
            <pc:sldMk cId="1263261784" sldId="282"/>
            <ac:spMk id="2" creationId="{C27CDE3B-CC27-BB7E-3635-7B0660CD3FBA}"/>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rtl="0" fontAlgn="base"/>
            <a:r>
              <a:rPr lang="en-US" sz="1100" b="1" i="0" u="none" strike="noStrike" cap="none" dirty="0">
                <a:solidFill>
                  <a:srgbClr val="000000"/>
                </a:solidFill>
                <a:effectLst/>
                <a:latin typeface="Arial"/>
                <a:ea typeface="Arial"/>
                <a:cs typeface="Arial"/>
                <a:sym typeface="Arial"/>
              </a:rPr>
              <a:t>The Problem:</a:t>
            </a:r>
            <a:r>
              <a:rPr lang="en-US" sz="1100" b="0" i="0" u="none" strike="noStrike" cap="none" dirty="0">
                <a:solidFill>
                  <a:srgbClr val="000000"/>
                </a:solidFill>
                <a:effectLst/>
                <a:latin typeface="Arial"/>
                <a:ea typeface="Arial"/>
                <a:cs typeface="Arial"/>
                <a:sym typeface="Arial"/>
              </a:rPr>
              <a:t> Puerto Rico is facing a "double threat" of population decline: structural decline (people getting older and having fewer children) and shock-driven decline (mass migration after hurricanes/earthquakes). Existing government tools track </a:t>
            </a:r>
            <a:r>
              <a:rPr lang="en-US" sz="1100" b="0" i="1" u="none" strike="noStrike" cap="none" dirty="0">
                <a:solidFill>
                  <a:srgbClr val="000000"/>
                </a:solidFill>
                <a:effectLst/>
                <a:latin typeface="Arial"/>
                <a:ea typeface="Arial"/>
                <a:cs typeface="Arial"/>
                <a:sym typeface="Arial"/>
              </a:rPr>
              <a:t>how many</a:t>
            </a:r>
            <a:r>
              <a:rPr lang="en-US" sz="1100" b="0" i="0" u="none" strike="noStrike" cap="none" dirty="0">
                <a:solidFill>
                  <a:srgbClr val="000000"/>
                </a:solidFill>
                <a:effectLst/>
                <a:latin typeface="Arial"/>
                <a:ea typeface="Arial"/>
                <a:cs typeface="Arial"/>
                <a:sym typeface="Arial"/>
              </a:rPr>
              <a:t> people leave, but they don't explain </a:t>
            </a:r>
            <a:r>
              <a:rPr lang="en-US" sz="1100" b="0" i="1" u="none" strike="noStrike" cap="none" dirty="0">
                <a:solidFill>
                  <a:srgbClr val="000000"/>
                </a:solidFill>
                <a:effectLst/>
                <a:latin typeface="Arial"/>
                <a:ea typeface="Arial"/>
                <a:cs typeface="Arial"/>
                <a:sym typeface="Arial"/>
              </a:rPr>
              <a:t>why</a:t>
            </a:r>
            <a:r>
              <a:rPr lang="en-US" sz="1100" b="0" i="0" u="none" strike="noStrike" cap="none" dirty="0">
                <a:solidFill>
                  <a:srgbClr val="000000"/>
                </a:solidFill>
                <a:effectLst/>
                <a:latin typeface="Arial"/>
                <a:ea typeface="Arial"/>
                <a:cs typeface="Arial"/>
                <a:sym typeface="Arial"/>
              </a:rPr>
              <a:t>—specifically, they fail to distinguish between towns shrinking due to "natural" demographic momentum versus those emptying out due to external shocks.</a:t>
            </a:r>
            <a:br>
              <a:rPr lang="en-US" sz="1100" b="0" i="0" u="none" strike="noStrike" cap="none" dirty="0">
                <a:solidFill>
                  <a:srgbClr val="000000"/>
                </a:solidFill>
                <a:effectLst/>
                <a:latin typeface="Arial"/>
                <a:ea typeface="Arial"/>
                <a:cs typeface="Arial"/>
                <a:sym typeface="Arial"/>
              </a:rPr>
            </a:br>
            <a:br>
              <a:rPr lang="en-US" sz="1100" b="0" i="0" u="none" strike="noStrike" cap="none" dirty="0">
                <a:solidFill>
                  <a:srgbClr val="000000"/>
                </a:solidFill>
                <a:effectLst/>
                <a:latin typeface="Arial"/>
                <a:ea typeface="Arial"/>
                <a:cs typeface="Arial"/>
                <a:sym typeface="Arial"/>
              </a:rPr>
            </a:br>
            <a:endParaRPr lang="en-US" sz="1100" b="0" i="0" u="none" strike="noStrike" cap="none" dirty="0">
              <a:solidFill>
                <a:srgbClr val="000000"/>
              </a:solidFill>
              <a:effectLst/>
              <a:latin typeface="Arial"/>
              <a:ea typeface="Arial"/>
              <a:cs typeface="Arial"/>
              <a:sym typeface="Arial"/>
            </a:endParaRPr>
          </a:p>
          <a:p>
            <a:pPr rtl="0" fontAlgn="base"/>
            <a:r>
              <a:rPr lang="en-US" sz="1100" b="1" i="0" u="none" strike="noStrike" cap="none" dirty="0">
                <a:solidFill>
                  <a:srgbClr val="000000"/>
                </a:solidFill>
                <a:effectLst/>
                <a:latin typeface="Arial"/>
                <a:ea typeface="Arial"/>
                <a:cs typeface="Arial"/>
                <a:sym typeface="Arial"/>
              </a:rPr>
              <a:t>The Goal:</a:t>
            </a:r>
            <a:r>
              <a:rPr lang="en-US" sz="1100" b="0" i="0" u="none" strike="noStrike" cap="none" dirty="0">
                <a:solidFill>
                  <a:srgbClr val="000000"/>
                </a:solidFill>
                <a:effectLst/>
                <a:latin typeface="Arial"/>
                <a:ea typeface="Arial"/>
                <a:cs typeface="Arial"/>
                <a:sym typeface="Arial"/>
              </a:rPr>
              <a:t> To build a predictive model that generates a "Demographic Vulnerability Score." This score will tell policymakers not just which municipalities are shrinking, but </a:t>
            </a:r>
            <a:r>
              <a:rPr lang="en-US" sz="1100" b="0" i="1" u="none" strike="noStrike" cap="none" dirty="0">
                <a:solidFill>
                  <a:srgbClr val="000000"/>
                </a:solidFill>
                <a:effectLst/>
                <a:latin typeface="Arial"/>
                <a:ea typeface="Arial"/>
                <a:cs typeface="Arial"/>
                <a:sym typeface="Arial"/>
              </a:rPr>
              <a:t>which ones are at risk of collapse</a:t>
            </a:r>
            <a:r>
              <a:rPr lang="en-US" sz="1100" b="0" i="0" u="none" strike="noStrike" cap="none" dirty="0">
                <a:solidFill>
                  <a:srgbClr val="000000"/>
                </a:solidFill>
                <a:effectLst/>
                <a:latin typeface="Arial"/>
                <a:ea typeface="Arial"/>
                <a:cs typeface="Arial"/>
                <a:sym typeface="Arial"/>
              </a:rPr>
              <a:t> due to low resilience, allowing for better resource allocation.</a:t>
            </a:r>
            <a:br>
              <a:rPr lang="en-US" sz="1100" b="0" i="0" u="none" strike="noStrike" cap="none" dirty="0">
                <a:solidFill>
                  <a:srgbClr val="000000"/>
                </a:solidFill>
                <a:effectLst/>
                <a:latin typeface="Arial"/>
                <a:ea typeface="Arial"/>
                <a:cs typeface="Arial"/>
                <a:sym typeface="Arial"/>
              </a:rPr>
            </a:br>
            <a:br>
              <a:rPr lang="en-US" sz="1100" b="0" i="0" u="none" strike="noStrike" cap="none" dirty="0">
                <a:solidFill>
                  <a:srgbClr val="000000"/>
                </a:solidFill>
                <a:effectLst/>
                <a:latin typeface="Arial"/>
                <a:ea typeface="Arial"/>
                <a:cs typeface="Arial"/>
                <a:sym typeface="Arial"/>
              </a:rPr>
            </a:br>
            <a:endParaRPr lang="en-US" sz="1100" b="0" i="0" u="none" strike="noStrike" cap="none" dirty="0">
              <a:solidFill>
                <a:srgbClr val="000000"/>
              </a:solidFill>
              <a:effectLst/>
              <a:latin typeface="Arial"/>
              <a:ea typeface="Arial"/>
              <a:cs typeface="Arial"/>
              <a:sym typeface="Arial"/>
            </a:endParaRPr>
          </a:p>
          <a:p>
            <a:pPr rtl="0" fontAlgn="base"/>
            <a:r>
              <a:rPr lang="en-US" sz="1100" b="1" i="0" u="none" strike="noStrike" cap="none" dirty="0">
                <a:solidFill>
                  <a:srgbClr val="000000"/>
                </a:solidFill>
                <a:effectLst/>
                <a:latin typeface="Arial"/>
                <a:ea typeface="Arial"/>
                <a:cs typeface="Arial"/>
                <a:sym typeface="Arial"/>
              </a:rPr>
              <a:t>Expected Insights:</a:t>
            </a:r>
            <a:endParaRPr lang="en-US" sz="1100" b="0" i="0" u="none" strike="noStrike" cap="none" dirty="0">
              <a:solidFill>
                <a:srgbClr val="000000"/>
              </a:solidFill>
              <a:effectLst/>
              <a:latin typeface="Arial"/>
              <a:ea typeface="Arial"/>
              <a:cs typeface="Arial"/>
              <a:sym typeface="Arial"/>
            </a:endParaRPr>
          </a:p>
          <a:p>
            <a:pPr rtl="0" fontAlgn="base"/>
            <a:r>
              <a:rPr lang="en-US" sz="1100" b="0" i="0" u="none" strike="noStrike" cap="none" dirty="0">
                <a:solidFill>
                  <a:srgbClr val="000000"/>
                </a:solidFill>
                <a:effectLst/>
                <a:latin typeface="Arial"/>
                <a:ea typeface="Arial"/>
                <a:cs typeface="Arial"/>
                <a:sym typeface="Arial"/>
              </a:rPr>
              <a:t>A classification of municipalities into "risk profiles" (e.g., "Structurally Sound but Shock-Vulnerable" vs. "High Demographic Decay").</a:t>
            </a:r>
          </a:p>
          <a:p>
            <a:pPr rtl="0" fontAlgn="base"/>
            <a:r>
              <a:rPr lang="en-US" sz="1100" b="0" i="0" u="none" strike="noStrike" cap="none" dirty="0">
                <a:solidFill>
                  <a:srgbClr val="000000"/>
                </a:solidFill>
                <a:effectLst/>
                <a:latin typeface="Arial"/>
                <a:ea typeface="Arial"/>
                <a:cs typeface="Arial"/>
                <a:sym typeface="Arial"/>
              </a:rPr>
              <a:t>Quantifying how much of the population loss is due to hurricanes (shocks) vs. aging (momentum).</a:t>
            </a:r>
          </a:p>
          <a:p>
            <a:pPr marL="0" lvl="0" indent="0" algn="l" rtl="0">
              <a:spcBef>
                <a:spcPts val="0"/>
              </a:spcBef>
              <a:spcAft>
                <a:spcPts val="0"/>
              </a:spcAft>
              <a:buNone/>
            </a:pPr>
            <a:endParaRPr dirty="0"/>
          </a:p>
        </p:txBody>
      </p:sp>
      <p:sp>
        <p:nvSpPr>
          <p:cNvPr id="93" name="Google Shape;93;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a:extLst>
            <a:ext uri="{FF2B5EF4-FFF2-40B4-BE49-F238E27FC236}">
              <a16:creationId xmlns:a16="http://schemas.microsoft.com/office/drawing/2014/main" id="{21F1386E-0C3D-22A4-F0D5-7712A0A90F32}"/>
            </a:ext>
          </a:extLst>
        </p:cNvPr>
        <p:cNvGrpSpPr/>
        <p:nvPr/>
      </p:nvGrpSpPr>
      <p:grpSpPr>
        <a:xfrm>
          <a:off x="0" y="0"/>
          <a:ext cx="0" cy="0"/>
          <a:chOff x="0" y="0"/>
          <a:chExt cx="0" cy="0"/>
        </a:xfrm>
      </p:grpSpPr>
      <p:sp>
        <p:nvSpPr>
          <p:cNvPr id="92" name="Google Shape;92;p2:notes">
            <a:extLst>
              <a:ext uri="{FF2B5EF4-FFF2-40B4-BE49-F238E27FC236}">
                <a16:creationId xmlns:a16="http://schemas.microsoft.com/office/drawing/2014/main" id="{C969117D-A3F9-1F0C-421C-2E0F171FC35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rtl="0" fontAlgn="base"/>
            <a:r>
              <a:rPr lang="en-US" sz="1100" b="1" i="0" u="none" strike="noStrike" cap="none" dirty="0">
                <a:solidFill>
                  <a:srgbClr val="000000"/>
                </a:solidFill>
                <a:effectLst/>
                <a:latin typeface="Arial"/>
                <a:ea typeface="Arial"/>
                <a:cs typeface="Arial"/>
                <a:sym typeface="Arial"/>
              </a:rPr>
              <a:t>The Problem:</a:t>
            </a:r>
            <a:r>
              <a:rPr lang="en-US" sz="1100" b="0" i="0" u="none" strike="noStrike" cap="none" dirty="0">
                <a:solidFill>
                  <a:srgbClr val="000000"/>
                </a:solidFill>
                <a:effectLst/>
                <a:latin typeface="Arial"/>
                <a:ea typeface="Arial"/>
                <a:cs typeface="Arial"/>
                <a:sym typeface="Arial"/>
              </a:rPr>
              <a:t> Puerto Rico is facing a "double threat" of population decline: structural decline (people getting older and having fewer children) and shock-driven decline (mass migration after hurricanes/earthquakes). Existing government tools track </a:t>
            </a:r>
            <a:r>
              <a:rPr lang="en-US" sz="1100" b="0" i="1" u="none" strike="noStrike" cap="none" dirty="0">
                <a:solidFill>
                  <a:srgbClr val="000000"/>
                </a:solidFill>
                <a:effectLst/>
                <a:latin typeface="Arial"/>
                <a:ea typeface="Arial"/>
                <a:cs typeface="Arial"/>
                <a:sym typeface="Arial"/>
              </a:rPr>
              <a:t>how many</a:t>
            </a:r>
            <a:r>
              <a:rPr lang="en-US" sz="1100" b="0" i="0" u="none" strike="noStrike" cap="none" dirty="0">
                <a:solidFill>
                  <a:srgbClr val="000000"/>
                </a:solidFill>
                <a:effectLst/>
                <a:latin typeface="Arial"/>
                <a:ea typeface="Arial"/>
                <a:cs typeface="Arial"/>
                <a:sym typeface="Arial"/>
              </a:rPr>
              <a:t> people leave, but they don't explain </a:t>
            </a:r>
            <a:r>
              <a:rPr lang="en-US" sz="1100" b="0" i="1" u="none" strike="noStrike" cap="none" dirty="0">
                <a:solidFill>
                  <a:srgbClr val="000000"/>
                </a:solidFill>
                <a:effectLst/>
                <a:latin typeface="Arial"/>
                <a:ea typeface="Arial"/>
                <a:cs typeface="Arial"/>
                <a:sym typeface="Arial"/>
              </a:rPr>
              <a:t>why</a:t>
            </a:r>
            <a:r>
              <a:rPr lang="en-US" sz="1100" b="0" i="0" u="none" strike="noStrike" cap="none" dirty="0">
                <a:solidFill>
                  <a:srgbClr val="000000"/>
                </a:solidFill>
                <a:effectLst/>
                <a:latin typeface="Arial"/>
                <a:ea typeface="Arial"/>
                <a:cs typeface="Arial"/>
                <a:sym typeface="Arial"/>
              </a:rPr>
              <a:t>—specifically, they fail to distinguish between towns shrinking due to "natural" demographic momentum versus those emptying out due to external shocks.</a:t>
            </a:r>
            <a:br>
              <a:rPr lang="en-US" sz="1100" b="0" i="0" u="none" strike="noStrike" cap="none" dirty="0">
                <a:solidFill>
                  <a:srgbClr val="000000"/>
                </a:solidFill>
                <a:effectLst/>
                <a:latin typeface="Arial"/>
                <a:ea typeface="Arial"/>
                <a:cs typeface="Arial"/>
                <a:sym typeface="Arial"/>
              </a:rPr>
            </a:br>
            <a:br>
              <a:rPr lang="en-US" sz="1100" b="0" i="0" u="none" strike="noStrike" cap="none" dirty="0">
                <a:solidFill>
                  <a:srgbClr val="000000"/>
                </a:solidFill>
                <a:effectLst/>
                <a:latin typeface="Arial"/>
                <a:ea typeface="Arial"/>
                <a:cs typeface="Arial"/>
                <a:sym typeface="Arial"/>
              </a:rPr>
            </a:br>
            <a:endParaRPr lang="en-US" sz="1100" b="0" i="0" u="none" strike="noStrike" cap="none" dirty="0">
              <a:solidFill>
                <a:srgbClr val="000000"/>
              </a:solidFill>
              <a:effectLst/>
              <a:latin typeface="Arial"/>
              <a:ea typeface="Arial"/>
              <a:cs typeface="Arial"/>
              <a:sym typeface="Arial"/>
            </a:endParaRPr>
          </a:p>
          <a:p>
            <a:pPr rtl="0" fontAlgn="base"/>
            <a:r>
              <a:rPr lang="en-US" sz="1100" b="1" i="0" u="none" strike="noStrike" cap="none" dirty="0">
                <a:solidFill>
                  <a:srgbClr val="000000"/>
                </a:solidFill>
                <a:effectLst/>
                <a:latin typeface="Arial"/>
                <a:ea typeface="Arial"/>
                <a:cs typeface="Arial"/>
                <a:sym typeface="Arial"/>
              </a:rPr>
              <a:t>The Goal:</a:t>
            </a:r>
            <a:r>
              <a:rPr lang="en-US" sz="1100" b="0" i="0" u="none" strike="noStrike" cap="none" dirty="0">
                <a:solidFill>
                  <a:srgbClr val="000000"/>
                </a:solidFill>
                <a:effectLst/>
                <a:latin typeface="Arial"/>
                <a:ea typeface="Arial"/>
                <a:cs typeface="Arial"/>
                <a:sym typeface="Arial"/>
              </a:rPr>
              <a:t> To build a predictive model that generates a "Demographic Vulnerability Score." This score will tell policymakers not just which municipalities are shrinking, but </a:t>
            </a:r>
            <a:r>
              <a:rPr lang="en-US" sz="1100" b="0" i="1" u="none" strike="noStrike" cap="none" dirty="0">
                <a:solidFill>
                  <a:srgbClr val="000000"/>
                </a:solidFill>
                <a:effectLst/>
                <a:latin typeface="Arial"/>
                <a:ea typeface="Arial"/>
                <a:cs typeface="Arial"/>
                <a:sym typeface="Arial"/>
              </a:rPr>
              <a:t>which ones are at risk of collapse</a:t>
            </a:r>
            <a:r>
              <a:rPr lang="en-US" sz="1100" b="0" i="0" u="none" strike="noStrike" cap="none" dirty="0">
                <a:solidFill>
                  <a:srgbClr val="000000"/>
                </a:solidFill>
                <a:effectLst/>
                <a:latin typeface="Arial"/>
                <a:ea typeface="Arial"/>
                <a:cs typeface="Arial"/>
                <a:sym typeface="Arial"/>
              </a:rPr>
              <a:t> due to low resilience, allowing for better resource allocation.</a:t>
            </a:r>
            <a:br>
              <a:rPr lang="en-US" sz="1100" b="0" i="0" u="none" strike="noStrike" cap="none" dirty="0">
                <a:solidFill>
                  <a:srgbClr val="000000"/>
                </a:solidFill>
                <a:effectLst/>
                <a:latin typeface="Arial"/>
                <a:ea typeface="Arial"/>
                <a:cs typeface="Arial"/>
                <a:sym typeface="Arial"/>
              </a:rPr>
            </a:br>
            <a:br>
              <a:rPr lang="en-US" sz="1100" b="0" i="0" u="none" strike="noStrike" cap="none" dirty="0">
                <a:solidFill>
                  <a:srgbClr val="000000"/>
                </a:solidFill>
                <a:effectLst/>
                <a:latin typeface="Arial"/>
                <a:ea typeface="Arial"/>
                <a:cs typeface="Arial"/>
                <a:sym typeface="Arial"/>
              </a:rPr>
            </a:br>
            <a:endParaRPr lang="en-US" sz="1100" b="0" i="0" u="none" strike="noStrike" cap="none" dirty="0">
              <a:solidFill>
                <a:srgbClr val="000000"/>
              </a:solidFill>
              <a:effectLst/>
              <a:latin typeface="Arial"/>
              <a:ea typeface="Arial"/>
              <a:cs typeface="Arial"/>
              <a:sym typeface="Arial"/>
            </a:endParaRPr>
          </a:p>
          <a:p>
            <a:pPr rtl="0" fontAlgn="base"/>
            <a:r>
              <a:rPr lang="en-US" sz="1100" b="1" i="0" u="none" strike="noStrike" cap="none" dirty="0">
                <a:solidFill>
                  <a:srgbClr val="000000"/>
                </a:solidFill>
                <a:effectLst/>
                <a:latin typeface="Arial"/>
                <a:ea typeface="Arial"/>
                <a:cs typeface="Arial"/>
                <a:sym typeface="Arial"/>
              </a:rPr>
              <a:t>Expected Insights:</a:t>
            </a:r>
            <a:endParaRPr lang="en-US" sz="1100" b="0" i="0" u="none" strike="noStrike" cap="none" dirty="0">
              <a:solidFill>
                <a:srgbClr val="000000"/>
              </a:solidFill>
              <a:effectLst/>
              <a:latin typeface="Arial"/>
              <a:ea typeface="Arial"/>
              <a:cs typeface="Arial"/>
              <a:sym typeface="Arial"/>
            </a:endParaRPr>
          </a:p>
          <a:p>
            <a:pPr rtl="0" fontAlgn="base"/>
            <a:r>
              <a:rPr lang="en-US" sz="1100" b="0" i="0" u="none" strike="noStrike" cap="none" dirty="0">
                <a:solidFill>
                  <a:srgbClr val="000000"/>
                </a:solidFill>
                <a:effectLst/>
                <a:latin typeface="Arial"/>
                <a:ea typeface="Arial"/>
                <a:cs typeface="Arial"/>
                <a:sym typeface="Arial"/>
              </a:rPr>
              <a:t>A classification of municipalities into "risk profiles" (e.g., "Structurally Sound but Shock-Vulnerable" vs. "High Demographic Decay").</a:t>
            </a:r>
          </a:p>
          <a:p>
            <a:pPr rtl="0" fontAlgn="base"/>
            <a:r>
              <a:rPr lang="en-US" sz="1100" b="0" i="0" u="none" strike="noStrike" cap="none" dirty="0">
                <a:solidFill>
                  <a:srgbClr val="000000"/>
                </a:solidFill>
                <a:effectLst/>
                <a:latin typeface="Arial"/>
                <a:ea typeface="Arial"/>
                <a:cs typeface="Arial"/>
                <a:sym typeface="Arial"/>
              </a:rPr>
              <a:t>Quantifying how much of the population loss is due to hurricanes (shocks) vs. aging (momentum).</a:t>
            </a:r>
          </a:p>
          <a:p>
            <a:pPr marL="0" lvl="0" indent="0" algn="l" rtl="0">
              <a:spcBef>
                <a:spcPts val="0"/>
              </a:spcBef>
              <a:spcAft>
                <a:spcPts val="0"/>
              </a:spcAft>
              <a:buNone/>
            </a:pPr>
            <a:endParaRPr dirty="0"/>
          </a:p>
        </p:txBody>
      </p:sp>
      <p:sp>
        <p:nvSpPr>
          <p:cNvPr id="93" name="Google Shape;93;p2:notes">
            <a:extLst>
              <a:ext uri="{FF2B5EF4-FFF2-40B4-BE49-F238E27FC236}">
                <a16:creationId xmlns:a16="http://schemas.microsoft.com/office/drawing/2014/main" id="{C9ABF158-9A7E-03CD-AEEF-2122F76E015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80160355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a:extLst>
            <a:ext uri="{FF2B5EF4-FFF2-40B4-BE49-F238E27FC236}">
              <a16:creationId xmlns:a16="http://schemas.microsoft.com/office/drawing/2014/main" id="{63CF8D67-C888-4F67-6C5E-1BFBFFE44C0B}"/>
            </a:ext>
          </a:extLst>
        </p:cNvPr>
        <p:cNvGrpSpPr/>
        <p:nvPr/>
      </p:nvGrpSpPr>
      <p:grpSpPr>
        <a:xfrm>
          <a:off x="0" y="0"/>
          <a:ext cx="0" cy="0"/>
          <a:chOff x="0" y="0"/>
          <a:chExt cx="0" cy="0"/>
        </a:xfrm>
      </p:grpSpPr>
      <p:sp>
        <p:nvSpPr>
          <p:cNvPr id="92" name="Google Shape;92;p2:notes">
            <a:extLst>
              <a:ext uri="{FF2B5EF4-FFF2-40B4-BE49-F238E27FC236}">
                <a16:creationId xmlns:a16="http://schemas.microsoft.com/office/drawing/2014/main" id="{8238EBB0-1376-A1F0-6F30-4DF6232CC45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16 census-based variables—grouped into socioeconomic status, household composition, minority status, and housing/transportation</a:t>
            </a:r>
            <a:r>
              <a:rPr lang="en-US" sz="1100" b="0" i="0" u="none" strike="noStrike" cap="none" dirty="0">
                <a:solidFill>
                  <a:srgbClr val="000000"/>
                </a:solidFill>
                <a:effectLst/>
                <a:latin typeface="Arial"/>
                <a:ea typeface="Arial"/>
                <a:cs typeface="Arial"/>
                <a:sym typeface="Arial"/>
              </a:rPr>
              <a:t>—to identify, map, and predict community-level vulnerability to disasters, disease outbreaks, and health emergencies. It assists in anticipating needs for resources like shelters, vaccines, and healthcare,</a:t>
            </a:r>
            <a:endParaRPr dirty="0"/>
          </a:p>
        </p:txBody>
      </p:sp>
      <p:sp>
        <p:nvSpPr>
          <p:cNvPr id="93" name="Google Shape;93;p2:notes">
            <a:extLst>
              <a:ext uri="{FF2B5EF4-FFF2-40B4-BE49-F238E27FC236}">
                <a16:creationId xmlns:a16="http://schemas.microsoft.com/office/drawing/2014/main" id="{814D87E9-A15C-0234-44C0-666BB660DF2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6739723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a:extLst>
            <a:ext uri="{FF2B5EF4-FFF2-40B4-BE49-F238E27FC236}">
              <a16:creationId xmlns:a16="http://schemas.microsoft.com/office/drawing/2014/main" id="{5058BDB5-DE8D-13B2-5DA8-5701AF7009D1}"/>
            </a:ext>
          </a:extLst>
        </p:cNvPr>
        <p:cNvGrpSpPr/>
        <p:nvPr/>
      </p:nvGrpSpPr>
      <p:grpSpPr>
        <a:xfrm>
          <a:off x="0" y="0"/>
          <a:ext cx="0" cy="0"/>
          <a:chOff x="0" y="0"/>
          <a:chExt cx="0" cy="0"/>
        </a:xfrm>
      </p:grpSpPr>
      <p:sp>
        <p:nvSpPr>
          <p:cNvPr id="106" name="Google Shape;106;p3:notes">
            <a:extLst>
              <a:ext uri="{FF2B5EF4-FFF2-40B4-BE49-F238E27FC236}">
                <a16:creationId xmlns:a16="http://schemas.microsoft.com/office/drawing/2014/main" id="{122B8E03-AE8F-9950-1A05-04B87DFBFFB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7" name="Google Shape;107;p3:notes">
            <a:extLst>
              <a:ext uri="{FF2B5EF4-FFF2-40B4-BE49-F238E27FC236}">
                <a16:creationId xmlns:a16="http://schemas.microsoft.com/office/drawing/2014/main" id="{9558C5A5-E93C-C998-E7F4-8E85E485C34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9540968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a:extLst>
            <a:ext uri="{FF2B5EF4-FFF2-40B4-BE49-F238E27FC236}">
              <a16:creationId xmlns:a16="http://schemas.microsoft.com/office/drawing/2014/main" id="{1B9AC07F-B568-D706-2CE6-263B47F5AB3C}"/>
            </a:ext>
          </a:extLst>
        </p:cNvPr>
        <p:cNvGrpSpPr/>
        <p:nvPr/>
      </p:nvGrpSpPr>
      <p:grpSpPr>
        <a:xfrm>
          <a:off x="0" y="0"/>
          <a:ext cx="0" cy="0"/>
          <a:chOff x="0" y="0"/>
          <a:chExt cx="0" cy="0"/>
        </a:xfrm>
      </p:grpSpPr>
      <p:sp>
        <p:nvSpPr>
          <p:cNvPr id="92" name="Google Shape;92;p2:notes">
            <a:extLst>
              <a:ext uri="{FF2B5EF4-FFF2-40B4-BE49-F238E27FC236}">
                <a16:creationId xmlns:a16="http://schemas.microsoft.com/office/drawing/2014/main" id="{A0830D25-BF5B-FE63-53F3-92D61C1B982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rtl="0" fontAlgn="base"/>
            <a:r>
              <a:rPr lang="en-US" sz="1100" b="1" i="0" u="none" strike="noStrike" cap="none" dirty="0">
                <a:solidFill>
                  <a:srgbClr val="000000"/>
                </a:solidFill>
                <a:effectLst/>
                <a:latin typeface="Arial"/>
                <a:ea typeface="Arial"/>
                <a:cs typeface="Arial"/>
                <a:sym typeface="Arial"/>
              </a:rPr>
              <a:t>The Problem:</a:t>
            </a:r>
            <a:r>
              <a:rPr lang="en-US" sz="1100" b="0" i="0" u="none" strike="noStrike" cap="none" dirty="0">
                <a:solidFill>
                  <a:srgbClr val="000000"/>
                </a:solidFill>
                <a:effectLst/>
                <a:latin typeface="Arial"/>
                <a:ea typeface="Arial"/>
                <a:cs typeface="Arial"/>
                <a:sym typeface="Arial"/>
              </a:rPr>
              <a:t> Puerto Rico is facing a "double threat" of population decline: structural decline (people getting older and having fewer children) and shock-driven decline (mass migration after hurricanes/earthquakes). Existing government tools track </a:t>
            </a:r>
            <a:r>
              <a:rPr lang="en-US" sz="1100" b="0" i="1" u="none" strike="noStrike" cap="none" dirty="0">
                <a:solidFill>
                  <a:srgbClr val="000000"/>
                </a:solidFill>
                <a:effectLst/>
                <a:latin typeface="Arial"/>
                <a:ea typeface="Arial"/>
                <a:cs typeface="Arial"/>
                <a:sym typeface="Arial"/>
              </a:rPr>
              <a:t>how many</a:t>
            </a:r>
            <a:r>
              <a:rPr lang="en-US" sz="1100" b="0" i="0" u="none" strike="noStrike" cap="none" dirty="0">
                <a:solidFill>
                  <a:srgbClr val="000000"/>
                </a:solidFill>
                <a:effectLst/>
                <a:latin typeface="Arial"/>
                <a:ea typeface="Arial"/>
                <a:cs typeface="Arial"/>
                <a:sym typeface="Arial"/>
              </a:rPr>
              <a:t> people leave, but they don't explain </a:t>
            </a:r>
            <a:r>
              <a:rPr lang="en-US" sz="1100" b="0" i="1" u="none" strike="noStrike" cap="none" dirty="0">
                <a:solidFill>
                  <a:srgbClr val="000000"/>
                </a:solidFill>
                <a:effectLst/>
                <a:latin typeface="Arial"/>
                <a:ea typeface="Arial"/>
                <a:cs typeface="Arial"/>
                <a:sym typeface="Arial"/>
              </a:rPr>
              <a:t>why</a:t>
            </a:r>
            <a:r>
              <a:rPr lang="en-US" sz="1100" b="0" i="0" u="none" strike="noStrike" cap="none" dirty="0">
                <a:solidFill>
                  <a:srgbClr val="000000"/>
                </a:solidFill>
                <a:effectLst/>
                <a:latin typeface="Arial"/>
                <a:ea typeface="Arial"/>
                <a:cs typeface="Arial"/>
                <a:sym typeface="Arial"/>
              </a:rPr>
              <a:t>—specifically, they fail to distinguish between towns shrinking due to "natural" demographic momentum versus those emptying out due to external shocks.</a:t>
            </a:r>
            <a:br>
              <a:rPr lang="en-US" sz="1100" b="0" i="0" u="none" strike="noStrike" cap="none" dirty="0">
                <a:solidFill>
                  <a:srgbClr val="000000"/>
                </a:solidFill>
                <a:effectLst/>
                <a:latin typeface="Arial"/>
                <a:ea typeface="Arial"/>
                <a:cs typeface="Arial"/>
                <a:sym typeface="Arial"/>
              </a:rPr>
            </a:br>
            <a:br>
              <a:rPr lang="en-US" sz="1100" b="0" i="0" u="none" strike="noStrike" cap="none" dirty="0">
                <a:solidFill>
                  <a:srgbClr val="000000"/>
                </a:solidFill>
                <a:effectLst/>
                <a:latin typeface="Arial"/>
                <a:ea typeface="Arial"/>
                <a:cs typeface="Arial"/>
                <a:sym typeface="Arial"/>
              </a:rPr>
            </a:br>
            <a:endParaRPr lang="en-US" sz="1100" b="0" i="0" u="none" strike="noStrike" cap="none" dirty="0">
              <a:solidFill>
                <a:srgbClr val="000000"/>
              </a:solidFill>
              <a:effectLst/>
              <a:latin typeface="Arial"/>
              <a:ea typeface="Arial"/>
              <a:cs typeface="Arial"/>
              <a:sym typeface="Arial"/>
            </a:endParaRPr>
          </a:p>
          <a:p>
            <a:pPr rtl="0" fontAlgn="base"/>
            <a:r>
              <a:rPr lang="en-US" sz="1100" b="1" i="0" u="none" strike="noStrike" cap="none" dirty="0">
                <a:solidFill>
                  <a:srgbClr val="000000"/>
                </a:solidFill>
                <a:effectLst/>
                <a:latin typeface="Arial"/>
                <a:ea typeface="Arial"/>
                <a:cs typeface="Arial"/>
                <a:sym typeface="Arial"/>
              </a:rPr>
              <a:t>The Goal:</a:t>
            </a:r>
            <a:r>
              <a:rPr lang="en-US" sz="1100" b="0" i="0" u="none" strike="noStrike" cap="none" dirty="0">
                <a:solidFill>
                  <a:srgbClr val="000000"/>
                </a:solidFill>
                <a:effectLst/>
                <a:latin typeface="Arial"/>
                <a:ea typeface="Arial"/>
                <a:cs typeface="Arial"/>
                <a:sym typeface="Arial"/>
              </a:rPr>
              <a:t> To build a predictive model that generates a "Demographic Vulnerability Score." This score will tell policymakers not just which municipalities are shrinking, but </a:t>
            </a:r>
            <a:r>
              <a:rPr lang="en-US" sz="1100" b="0" i="1" u="none" strike="noStrike" cap="none" dirty="0">
                <a:solidFill>
                  <a:srgbClr val="000000"/>
                </a:solidFill>
                <a:effectLst/>
                <a:latin typeface="Arial"/>
                <a:ea typeface="Arial"/>
                <a:cs typeface="Arial"/>
                <a:sym typeface="Arial"/>
              </a:rPr>
              <a:t>which ones are at risk of collapse</a:t>
            </a:r>
            <a:r>
              <a:rPr lang="en-US" sz="1100" b="0" i="0" u="none" strike="noStrike" cap="none" dirty="0">
                <a:solidFill>
                  <a:srgbClr val="000000"/>
                </a:solidFill>
                <a:effectLst/>
                <a:latin typeface="Arial"/>
                <a:ea typeface="Arial"/>
                <a:cs typeface="Arial"/>
                <a:sym typeface="Arial"/>
              </a:rPr>
              <a:t> due to low resilience, allowing for better resource allocation.</a:t>
            </a:r>
            <a:br>
              <a:rPr lang="en-US" sz="1100" b="0" i="0" u="none" strike="noStrike" cap="none" dirty="0">
                <a:solidFill>
                  <a:srgbClr val="000000"/>
                </a:solidFill>
                <a:effectLst/>
                <a:latin typeface="Arial"/>
                <a:ea typeface="Arial"/>
                <a:cs typeface="Arial"/>
                <a:sym typeface="Arial"/>
              </a:rPr>
            </a:br>
            <a:br>
              <a:rPr lang="en-US" sz="1100" b="0" i="0" u="none" strike="noStrike" cap="none" dirty="0">
                <a:solidFill>
                  <a:srgbClr val="000000"/>
                </a:solidFill>
                <a:effectLst/>
                <a:latin typeface="Arial"/>
                <a:ea typeface="Arial"/>
                <a:cs typeface="Arial"/>
                <a:sym typeface="Arial"/>
              </a:rPr>
            </a:br>
            <a:endParaRPr lang="en-US" sz="1100" b="0" i="0" u="none" strike="noStrike" cap="none" dirty="0">
              <a:solidFill>
                <a:srgbClr val="000000"/>
              </a:solidFill>
              <a:effectLst/>
              <a:latin typeface="Arial"/>
              <a:ea typeface="Arial"/>
              <a:cs typeface="Arial"/>
              <a:sym typeface="Arial"/>
            </a:endParaRPr>
          </a:p>
          <a:p>
            <a:pPr rtl="0" fontAlgn="base"/>
            <a:r>
              <a:rPr lang="en-US" sz="1100" b="1" i="0" u="none" strike="noStrike" cap="none" dirty="0">
                <a:solidFill>
                  <a:srgbClr val="000000"/>
                </a:solidFill>
                <a:effectLst/>
                <a:latin typeface="Arial"/>
                <a:ea typeface="Arial"/>
                <a:cs typeface="Arial"/>
                <a:sym typeface="Arial"/>
              </a:rPr>
              <a:t>Expected Insights:</a:t>
            </a:r>
            <a:endParaRPr lang="en-US" sz="1100" b="0" i="0" u="none" strike="noStrike" cap="none" dirty="0">
              <a:solidFill>
                <a:srgbClr val="000000"/>
              </a:solidFill>
              <a:effectLst/>
              <a:latin typeface="Arial"/>
              <a:ea typeface="Arial"/>
              <a:cs typeface="Arial"/>
              <a:sym typeface="Arial"/>
            </a:endParaRPr>
          </a:p>
          <a:p>
            <a:pPr rtl="0" fontAlgn="base"/>
            <a:r>
              <a:rPr lang="en-US" sz="1100" b="0" i="0" u="none" strike="noStrike" cap="none" dirty="0">
                <a:solidFill>
                  <a:srgbClr val="000000"/>
                </a:solidFill>
                <a:effectLst/>
                <a:latin typeface="Arial"/>
                <a:ea typeface="Arial"/>
                <a:cs typeface="Arial"/>
                <a:sym typeface="Arial"/>
              </a:rPr>
              <a:t>A classification of municipalities into "risk profiles" (e.g., "Structurally Sound but Shock-Vulnerable" vs. "High Demographic Decay").</a:t>
            </a:r>
          </a:p>
          <a:p>
            <a:pPr rtl="0" fontAlgn="base"/>
            <a:r>
              <a:rPr lang="en-US" sz="1100" b="0" i="0" u="none" strike="noStrike" cap="none" dirty="0">
                <a:solidFill>
                  <a:srgbClr val="000000"/>
                </a:solidFill>
                <a:effectLst/>
                <a:latin typeface="Arial"/>
                <a:ea typeface="Arial"/>
                <a:cs typeface="Arial"/>
                <a:sym typeface="Arial"/>
              </a:rPr>
              <a:t>Quantifying how much of the population loss is due to hurricanes (shocks) vs. aging (momentum).</a:t>
            </a:r>
          </a:p>
          <a:p>
            <a:pPr marL="0" lvl="0" indent="0" algn="l" rtl="0">
              <a:spcBef>
                <a:spcPts val="0"/>
              </a:spcBef>
              <a:spcAft>
                <a:spcPts val="0"/>
              </a:spcAft>
              <a:buNone/>
            </a:pPr>
            <a:endParaRPr dirty="0"/>
          </a:p>
        </p:txBody>
      </p:sp>
      <p:sp>
        <p:nvSpPr>
          <p:cNvPr id="93" name="Google Shape;93;p2:notes">
            <a:extLst>
              <a:ext uri="{FF2B5EF4-FFF2-40B4-BE49-F238E27FC236}">
                <a16:creationId xmlns:a16="http://schemas.microsoft.com/office/drawing/2014/main" id="{53513535-3F5C-10CE-0EA5-618D4D43A81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31375582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a:extLst>
            <a:ext uri="{FF2B5EF4-FFF2-40B4-BE49-F238E27FC236}">
              <a16:creationId xmlns:a16="http://schemas.microsoft.com/office/drawing/2014/main" id="{2D8EE2C1-E9B0-D65F-531E-55E765CAFCE8}"/>
            </a:ext>
          </a:extLst>
        </p:cNvPr>
        <p:cNvGrpSpPr/>
        <p:nvPr/>
      </p:nvGrpSpPr>
      <p:grpSpPr>
        <a:xfrm>
          <a:off x="0" y="0"/>
          <a:ext cx="0" cy="0"/>
          <a:chOff x="0" y="0"/>
          <a:chExt cx="0" cy="0"/>
        </a:xfrm>
      </p:grpSpPr>
      <p:sp>
        <p:nvSpPr>
          <p:cNvPr id="92" name="Google Shape;92;p2:notes">
            <a:extLst>
              <a:ext uri="{FF2B5EF4-FFF2-40B4-BE49-F238E27FC236}">
                <a16:creationId xmlns:a16="http://schemas.microsoft.com/office/drawing/2014/main" id="{D3071B1D-212F-89B5-4511-32675AF7EDB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rtl="0" fontAlgn="base"/>
            <a:r>
              <a:rPr lang="en-US" sz="1100" b="1" i="0" u="none" strike="noStrike" cap="none" dirty="0">
                <a:solidFill>
                  <a:srgbClr val="000000"/>
                </a:solidFill>
                <a:effectLst/>
                <a:latin typeface="Arial"/>
                <a:ea typeface="Arial"/>
                <a:cs typeface="Arial"/>
                <a:sym typeface="Arial"/>
              </a:rPr>
              <a:t>The Problem:</a:t>
            </a:r>
            <a:r>
              <a:rPr lang="en-US" sz="1100" b="0" i="0" u="none" strike="noStrike" cap="none" dirty="0">
                <a:solidFill>
                  <a:srgbClr val="000000"/>
                </a:solidFill>
                <a:effectLst/>
                <a:latin typeface="Arial"/>
                <a:ea typeface="Arial"/>
                <a:cs typeface="Arial"/>
                <a:sym typeface="Arial"/>
              </a:rPr>
              <a:t> Puerto Rico is facing a "double threat" of population decline: structural decline (people getting older and having fewer children) and shock-driven decline (mass migration after hurricanes/earthquakes). Existing government tools track </a:t>
            </a:r>
            <a:r>
              <a:rPr lang="en-US" sz="1100" b="0" i="1" u="none" strike="noStrike" cap="none" dirty="0">
                <a:solidFill>
                  <a:srgbClr val="000000"/>
                </a:solidFill>
                <a:effectLst/>
                <a:latin typeface="Arial"/>
                <a:ea typeface="Arial"/>
                <a:cs typeface="Arial"/>
                <a:sym typeface="Arial"/>
              </a:rPr>
              <a:t>how many</a:t>
            </a:r>
            <a:r>
              <a:rPr lang="en-US" sz="1100" b="0" i="0" u="none" strike="noStrike" cap="none" dirty="0">
                <a:solidFill>
                  <a:srgbClr val="000000"/>
                </a:solidFill>
                <a:effectLst/>
                <a:latin typeface="Arial"/>
                <a:ea typeface="Arial"/>
                <a:cs typeface="Arial"/>
                <a:sym typeface="Arial"/>
              </a:rPr>
              <a:t> people leave, but they don't explain </a:t>
            </a:r>
            <a:r>
              <a:rPr lang="en-US" sz="1100" b="0" i="1" u="none" strike="noStrike" cap="none" dirty="0">
                <a:solidFill>
                  <a:srgbClr val="000000"/>
                </a:solidFill>
                <a:effectLst/>
                <a:latin typeface="Arial"/>
                <a:ea typeface="Arial"/>
                <a:cs typeface="Arial"/>
                <a:sym typeface="Arial"/>
              </a:rPr>
              <a:t>why</a:t>
            </a:r>
            <a:r>
              <a:rPr lang="en-US" sz="1100" b="0" i="0" u="none" strike="noStrike" cap="none" dirty="0">
                <a:solidFill>
                  <a:srgbClr val="000000"/>
                </a:solidFill>
                <a:effectLst/>
                <a:latin typeface="Arial"/>
                <a:ea typeface="Arial"/>
                <a:cs typeface="Arial"/>
                <a:sym typeface="Arial"/>
              </a:rPr>
              <a:t>—specifically, they fail to distinguish between towns shrinking due to "natural" demographic momentum versus those emptying out due to external shocks.</a:t>
            </a:r>
            <a:br>
              <a:rPr lang="en-US" sz="1100" b="0" i="0" u="none" strike="noStrike" cap="none" dirty="0">
                <a:solidFill>
                  <a:srgbClr val="000000"/>
                </a:solidFill>
                <a:effectLst/>
                <a:latin typeface="Arial"/>
                <a:ea typeface="Arial"/>
                <a:cs typeface="Arial"/>
                <a:sym typeface="Arial"/>
              </a:rPr>
            </a:br>
            <a:br>
              <a:rPr lang="en-US" sz="1100" b="0" i="0" u="none" strike="noStrike" cap="none" dirty="0">
                <a:solidFill>
                  <a:srgbClr val="000000"/>
                </a:solidFill>
                <a:effectLst/>
                <a:latin typeface="Arial"/>
                <a:ea typeface="Arial"/>
                <a:cs typeface="Arial"/>
                <a:sym typeface="Arial"/>
              </a:rPr>
            </a:br>
            <a:endParaRPr lang="en-US" sz="1100" b="0" i="0" u="none" strike="noStrike" cap="none" dirty="0">
              <a:solidFill>
                <a:srgbClr val="000000"/>
              </a:solidFill>
              <a:effectLst/>
              <a:latin typeface="Arial"/>
              <a:ea typeface="Arial"/>
              <a:cs typeface="Arial"/>
              <a:sym typeface="Arial"/>
            </a:endParaRPr>
          </a:p>
          <a:p>
            <a:pPr rtl="0" fontAlgn="base"/>
            <a:r>
              <a:rPr lang="en-US" sz="1100" b="1" i="0" u="none" strike="noStrike" cap="none" dirty="0">
                <a:solidFill>
                  <a:srgbClr val="000000"/>
                </a:solidFill>
                <a:effectLst/>
                <a:latin typeface="Arial"/>
                <a:ea typeface="Arial"/>
                <a:cs typeface="Arial"/>
                <a:sym typeface="Arial"/>
              </a:rPr>
              <a:t>The Goal:</a:t>
            </a:r>
            <a:r>
              <a:rPr lang="en-US" sz="1100" b="0" i="0" u="none" strike="noStrike" cap="none" dirty="0">
                <a:solidFill>
                  <a:srgbClr val="000000"/>
                </a:solidFill>
                <a:effectLst/>
                <a:latin typeface="Arial"/>
                <a:ea typeface="Arial"/>
                <a:cs typeface="Arial"/>
                <a:sym typeface="Arial"/>
              </a:rPr>
              <a:t> To build a predictive model that generates a "Demographic Vulnerability Score." This score will tell policymakers not just which municipalities are shrinking, but </a:t>
            </a:r>
            <a:r>
              <a:rPr lang="en-US" sz="1100" b="0" i="1" u="none" strike="noStrike" cap="none" dirty="0">
                <a:solidFill>
                  <a:srgbClr val="000000"/>
                </a:solidFill>
                <a:effectLst/>
                <a:latin typeface="Arial"/>
                <a:ea typeface="Arial"/>
                <a:cs typeface="Arial"/>
                <a:sym typeface="Arial"/>
              </a:rPr>
              <a:t>which ones are at risk of collapse</a:t>
            </a:r>
            <a:r>
              <a:rPr lang="en-US" sz="1100" b="0" i="0" u="none" strike="noStrike" cap="none" dirty="0">
                <a:solidFill>
                  <a:srgbClr val="000000"/>
                </a:solidFill>
                <a:effectLst/>
                <a:latin typeface="Arial"/>
                <a:ea typeface="Arial"/>
                <a:cs typeface="Arial"/>
                <a:sym typeface="Arial"/>
              </a:rPr>
              <a:t> due to low resilience, allowing for better resource allocation.</a:t>
            </a:r>
            <a:br>
              <a:rPr lang="en-US" sz="1100" b="0" i="0" u="none" strike="noStrike" cap="none" dirty="0">
                <a:solidFill>
                  <a:srgbClr val="000000"/>
                </a:solidFill>
                <a:effectLst/>
                <a:latin typeface="Arial"/>
                <a:ea typeface="Arial"/>
                <a:cs typeface="Arial"/>
                <a:sym typeface="Arial"/>
              </a:rPr>
            </a:br>
            <a:br>
              <a:rPr lang="en-US" sz="1100" b="0" i="0" u="none" strike="noStrike" cap="none" dirty="0">
                <a:solidFill>
                  <a:srgbClr val="000000"/>
                </a:solidFill>
                <a:effectLst/>
                <a:latin typeface="Arial"/>
                <a:ea typeface="Arial"/>
                <a:cs typeface="Arial"/>
                <a:sym typeface="Arial"/>
              </a:rPr>
            </a:br>
            <a:endParaRPr lang="en-US" sz="1100" b="0" i="0" u="none" strike="noStrike" cap="none" dirty="0">
              <a:solidFill>
                <a:srgbClr val="000000"/>
              </a:solidFill>
              <a:effectLst/>
              <a:latin typeface="Arial"/>
              <a:ea typeface="Arial"/>
              <a:cs typeface="Arial"/>
              <a:sym typeface="Arial"/>
            </a:endParaRPr>
          </a:p>
          <a:p>
            <a:pPr rtl="0" fontAlgn="base"/>
            <a:r>
              <a:rPr lang="en-US" sz="1100" b="1" i="0" u="none" strike="noStrike" cap="none" dirty="0">
                <a:solidFill>
                  <a:srgbClr val="000000"/>
                </a:solidFill>
                <a:effectLst/>
                <a:latin typeface="Arial"/>
                <a:ea typeface="Arial"/>
                <a:cs typeface="Arial"/>
                <a:sym typeface="Arial"/>
              </a:rPr>
              <a:t>Expected Insights:</a:t>
            </a:r>
            <a:endParaRPr lang="en-US" sz="1100" b="0" i="0" u="none" strike="noStrike" cap="none" dirty="0">
              <a:solidFill>
                <a:srgbClr val="000000"/>
              </a:solidFill>
              <a:effectLst/>
              <a:latin typeface="Arial"/>
              <a:ea typeface="Arial"/>
              <a:cs typeface="Arial"/>
              <a:sym typeface="Arial"/>
            </a:endParaRPr>
          </a:p>
          <a:p>
            <a:pPr rtl="0" fontAlgn="base"/>
            <a:r>
              <a:rPr lang="en-US" sz="1100" b="0" i="0" u="none" strike="noStrike" cap="none" dirty="0">
                <a:solidFill>
                  <a:srgbClr val="000000"/>
                </a:solidFill>
                <a:effectLst/>
                <a:latin typeface="Arial"/>
                <a:ea typeface="Arial"/>
                <a:cs typeface="Arial"/>
                <a:sym typeface="Arial"/>
              </a:rPr>
              <a:t>A classification of municipalities into "risk profiles" (e.g., "Structurally Sound but Shock-Vulnerable" vs. "High Demographic Decay").</a:t>
            </a:r>
          </a:p>
          <a:p>
            <a:pPr rtl="0" fontAlgn="base"/>
            <a:r>
              <a:rPr lang="en-US" sz="1100" b="0" i="0" u="none" strike="noStrike" cap="none" dirty="0">
                <a:solidFill>
                  <a:srgbClr val="000000"/>
                </a:solidFill>
                <a:effectLst/>
                <a:latin typeface="Arial"/>
                <a:ea typeface="Arial"/>
                <a:cs typeface="Arial"/>
                <a:sym typeface="Arial"/>
              </a:rPr>
              <a:t>Quantifying how much of the population loss is due to hurricanes (shocks) vs. aging (momentum).</a:t>
            </a:r>
          </a:p>
          <a:p>
            <a:pPr marL="0" lvl="0" indent="0" algn="l" rtl="0">
              <a:spcBef>
                <a:spcPts val="0"/>
              </a:spcBef>
              <a:spcAft>
                <a:spcPts val="0"/>
              </a:spcAft>
              <a:buNone/>
            </a:pPr>
            <a:endParaRPr dirty="0"/>
          </a:p>
        </p:txBody>
      </p:sp>
      <p:sp>
        <p:nvSpPr>
          <p:cNvPr id="93" name="Google Shape;93;p2:notes">
            <a:extLst>
              <a:ext uri="{FF2B5EF4-FFF2-40B4-BE49-F238E27FC236}">
                <a16:creationId xmlns:a16="http://schemas.microsoft.com/office/drawing/2014/main" id="{C19AFAC1-4ED0-D584-0F96-70842039606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14984780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a:extLst>
            <a:ext uri="{FF2B5EF4-FFF2-40B4-BE49-F238E27FC236}">
              <a16:creationId xmlns:a16="http://schemas.microsoft.com/office/drawing/2014/main" id="{F7E66D27-2D76-64B0-C65F-65FB27571558}"/>
            </a:ext>
          </a:extLst>
        </p:cNvPr>
        <p:cNvGrpSpPr/>
        <p:nvPr/>
      </p:nvGrpSpPr>
      <p:grpSpPr>
        <a:xfrm>
          <a:off x="0" y="0"/>
          <a:ext cx="0" cy="0"/>
          <a:chOff x="0" y="0"/>
          <a:chExt cx="0" cy="0"/>
        </a:xfrm>
      </p:grpSpPr>
      <p:sp>
        <p:nvSpPr>
          <p:cNvPr id="92" name="Google Shape;92;p2:notes">
            <a:extLst>
              <a:ext uri="{FF2B5EF4-FFF2-40B4-BE49-F238E27FC236}">
                <a16:creationId xmlns:a16="http://schemas.microsoft.com/office/drawing/2014/main" id="{D50F721E-2457-D785-6719-7532994B882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rtl="0" fontAlgn="base"/>
            <a:r>
              <a:rPr lang="en-US" sz="1100" b="1" i="0" u="none" strike="noStrike" cap="none" dirty="0">
                <a:solidFill>
                  <a:srgbClr val="000000"/>
                </a:solidFill>
                <a:effectLst/>
                <a:latin typeface="Arial"/>
                <a:ea typeface="Arial"/>
                <a:cs typeface="Arial"/>
                <a:sym typeface="Arial"/>
              </a:rPr>
              <a:t>The Problem:</a:t>
            </a:r>
            <a:r>
              <a:rPr lang="en-US" sz="1100" b="0" i="0" u="none" strike="noStrike" cap="none" dirty="0">
                <a:solidFill>
                  <a:srgbClr val="000000"/>
                </a:solidFill>
                <a:effectLst/>
                <a:latin typeface="Arial"/>
                <a:ea typeface="Arial"/>
                <a:cs typeface="Arial"/>
                <a:sym typeface="Arial"/>
              </a:rPr>
              <a:t> Puerto Rico is facing a "double threat" of population decline: structural decline (people getting older and having fewer children) and shock-driven decline (mass migration after hurricanes/earthquakes). Existing government tools track </a:t>
            </a:r>
            <a:r>
              <a:rPr lang="en-US" sz="1100" b="0" i="1" u="none" strike="noStrike" cap="none" dirty="0">
                <a:solidFill>
                  <a:srgbClr val="000000"/>
                </a:solidFill>
                <a:effectLst/>
                <a:latin typeface="Arial"/>
                <a:ea typeface="Arial"/>
                <a:cs typeface="Arial"/>
                <a:sym typeface="Arial"/>
              </a:rPr>
              <a:t>how many</a:t>
            </a:r>
            <a:r>
              <a:rPr lang="en-US" sz="1100" b="0" i="0" u="none" strike="noStrike" cap="none" dirty="0">
                <a:solidFill>
                  <a:srgbClr val="000000"/>
                </a:solidFill>
                <a:effectLst/>
                <a:latin typeface="Arial"/>
                <a:ea typeface="Arial"/>
                <a:cs typeface="Arial"/>
                <a:sym typeface="Arial"/>
              </a:rPr>
              <a:t> people leave, but they don't explain </a:t>
            </a:r>
            <a:r>
              <a:rPr lang="en-US" sz="1100" b="0" i="1" u="none" strike="noStrike" cap="none" dirty="0">
                <a:solidFill>
                  <a:srgbClr val="000000"/>
                </a:solidFill>
                <a:effectLst/>
                <a:latin typeface="Arial"/>
                <a:ea typeface="Arial"/>
                <a:cs typeface="Arial"/>
                <a:sym typeface="Arial"/>
              </a:rPr>
              <a:t>why</a:t>
            </a:r>
            <a:r>
              <a:rPr lang="en-US" sz="1100" b="0" i="0" u="none" strike="noStrike" cap="none" dirty="0">
                <a:solidFill>
                  <a:srgbClr val="000000"/>
                </a:solidFill>
                <a:effectLst/>
                <a:latin typeface="Arial"/>
                <a:ea typeface="Arial"/>
                <a:cs typeface="Arial"/>
                <a:sym typeface="Arial"/>
              </a:rPr>
              <a:t>—specifically, they fail to distinguish between towns shrinking due to "natural" demographic momentum versus those emptying out due to external shocks.</a:t>
            </a:r>
            <a:br>
              <a:rPr lang="en-US" sz="1100" b="0" i="0" u="none" strike="noStrike" cap="none" dirty="0">
                <a:solidFill>
                  <a:srgbClr val="000000"/>
                </a:solidFill>
                <a:effectLst/>
                <a:latin typeface="Arial"/>
                <a:ea typeface="Arial"/>
                <a:cs typeface="Arial"/>
                <a:sym typeface="Arial"/>
              </a:rPr>
            </a:br>
            <a:br>
              <a:rPr lang="en-US" sz="1100" b="0" i="0" u="none" strike="noStrike" cap="none" dirty="0">
                <a:solidFill>
                  <a:srgbClr val="000000"/>
                </a:solidFill>
                <a:effectLst/>
                <a:latin typeface="Arial"/>
                <a:ea typeface="Arial"/>
                <a:cs typeface="Arial"/>
                <a:sym typeface="Arial"/>
              </a:rPr>
            </a:br>
            <a:endParaRPr lang="en-US" sz="1100" b="0" i="0" u="none" strike="noStrike" cap="none" dirty="0">
              <a:solidFill>
                <a:srgbClr val="000000"/>
              </a:solidFill>
              <a:effectLst/>
              <a:latin typeface="Arial"/>
              <a:ea typeface="Arial"/>
              <a:cs typeface="Arial"/>
              <a:sym typeface="Arial"/>
            </a:endParaRPr>
          </a:p>
          <a:p>
            <a:pPr rtl="0" fontAlgn="base"/>
            <a:r>
              <a:rPr lang="en-US" sz="1100" b="1" i="0" u="none" strike="noStrike" cap="none" dirty="0">
                <a:solidFill>
                  <a:srgbClr val="000000"/>
                </a:solidFill>
                <a:effectLst/>
                <a:latin typeface="Arial"/>
                <a:ea typeface="Arial"/>
                <a:cs typeface="Arial"/>
                <a:sym typeface="Arial"/>
              </a:rPr>
              <a:t>The Goal:</a:t>
            </a:r>
            <a:r>
              <a:rPr lang="en-US" sz="1100" b="0" i="0" u="none" strike="noStrike" cap="none" dirty="0">
                <a:solidFill>
                  <a:srgbClr val="000000"/>
                </a:solidFill>
                <a:effectLst/>
                <a:latin typeface="Arial"/>
                <a:ea typeface="Arial"/>
                <a:cs typeface="Arial"/>
                <a:sym typeface="Arial"/>
              </a:rPr>
              <a:t> To build a predictive model that generates a "Demographic Vulnerability Score." This score will tell policymakers not just which municipalities are shrinking, but </a:t>
            </a:r>
            <a:r>
              <a:rPr lang="en-US" sz="1100" b="0" i="1" u="none" strike="noStrike" cap="none" dirty="0">
                <a:solidFill>
                  <a:srgbClr val="000000"/>
                </a:solidFill>
                <a:effectLst/>
                <a:latin typeface="Arial"/>
                <a:ea typeface="Arial"/>
                <a:cs typeface="Arial"/>
                <a:sym typeface="Arial"/>
              </a:rPr>
              <a:t>which ones are at risk of collapse</a:t>
            </a:r>
            <a:r>
              <a:rPr lang="en-US" sz="1100" b="0" i="0" u="none" strike="noStrike" cap="none" dirty="0">
                <a:solidFill>
                  <a:srgbClr val="000000"/>
                </a:solidFill>
                <a:effectLst/>
                <a:latin typeface="Arial"/>
                <a:ea typeface="Arial"/>
                <a:cs typeface="Arial"/>
                <a:sym typeface="Arial"/>
              </a:rPr>
              <a:t> due to low resilience, allowing for better resource allocation.</a:t>
            </a:r>
            <a:br>
              <a:rPr lang="en-US" sz="1100" b="0" i="0" u="none" strike="noStrike" cap="none" dirty="0">
                <a:solidFill>
                  <a:srgbClr val="000000"/>
                </a:solidFill>
                <a:effectLst/>
                <a:latin typeface="Arial"/>
                <a:ea typeface="Arial"/>
                <a:cs typeface="Arial"/>
                <a:sym typeface="Arial"/>
              </a:rPr>
            </a:br>
            <a:br>
              <a:rPr lang="en-US" sz="1100" b="0" i="0" u="none" strike="noStrike" cap="none" dirty="0">
                <a:solidFill>
                  <a:srgbClr val="000000"/>
                </a:solidFill>
                <a:effectLst/>
                <a:latin typeface="Arial"/>
                <a:ea typeface="Arial"/>
                <a:cs typeface="Arial"/>
                <a:sym typeface="Arial"/>
              </a:rPr>
            </a:br>
            <a:endParaRPr lang="en-US" sz="1100" b="0" i="0" u="none" strike="noStrike" cap="none" dirty="0">
              <a:solidFill>
                <a:srgbClr val="000000"/>
              </a:solidFill>
              <a:effectLst/>
              <a:latin typeface="Arial"/>
              <a:ea typeface="Arial"/>
              <a:cs typeface="Arial"/>
              <a:sym typeface="Arial"/>
            </a:endParaRPr>
          </a:p>
          <a:p>
            <a:pPr rtl="0" fontAlgn="base"/>
            <a:r>
              <a:rPr lang="en-US" sz="1100" b="1" i="0" u="none" strike="noStrike" cap="none" dirty="0">
                <a:solidFill>
                  <a:srgbClr val="000000"/>
                </a:solidFill>
                <a:effectLst/>
                <a:latin typeface="Arial"/>
                <a:ea typeface="Arial"/>
                <a:cs typeface="Arial"/>
                <a:sym typeface="Arial"/>
              </a:rPr>
              <a:t>Expected Insights:</a:t>
            </a:r>
            <a:endParaRPr lang="en-US" sz="1100" b="0" i="0" u="none" strike="noStrike" cap="none" dirty="0">
              <a:solidFill>
                <a:srgbClr val="000000"/>
              </a:solidFill>
              <a:effectLst/>
              <a:latin typeface="Arial"/>
              <a:ea typeface="Arial"/>
              <a:cs typeface="Arial"/>
              <a:sym typeface="Arial"/>
            </a:endParaRPr>
          </a:p>
          <a:p>
            <a:pPr rtl="0" fontAlgn="base"/>
            <a:r>
              <a:rPr lang="en-US" sz="1100" b="0" i="0" u="none" strike="noStrike" cap="none" dirty="0">
                <a:solidFill>
                  <a:srgbClr val="000000"/>
                </a:solidFill>
                <a:effectLst/>
                <a:latin typeface="Arial"/>
                <a:ea typeface="Arial"/>
                <a:cs typeface="Arial"/>
                <a:sym typeface="Arial"/>
              </a:rPr>
              <a:t>A classification of municipalities into "risk profiles" (e.g., "Structurally Sound but Shock-Vulnerable" vs. "High Demographic Decay").</a:t>
            </a:r>
          </a:p>
          <a:p>
            <a:pPr rtl="0" fontAlgn="base"/>
            <a:r>
              <a:rPr lang="en-US" sz="1100" b="0" i="0" u="none" strike="noStrike" cap="none" dirty="0">
                <a:solidFill>
                  <a:srgbClr val="000000"/>
                </a:solidFill>
                <a:effectLst/>
                <a:latin typeface="Arial"/>
                <a:ea typeface="Arial"/>
                <a:cs typeface="Arial"/>
                <a:sym typeface="Arial"/>
              </a:rPr>
              <a:t>Quantifying how much of the population loss is due to hurricanes (shocks) vs. aging (momentum).</a:t>
            </a:r>
          </a:p>
          <a:p>
            <a:pPr marL="0" lvl="0" indent="0" algn="l" rtl="0">
              <a:spcBef>
                <a:spcPts val="0"/>
              </a:spcBef>
              <a:spcAft>
                <a:spcPts val="0"/>
              </a:spcAft>
              <a:buNone/>
            </a:pPr>
            <a:endParaRPr dirty="0"/>
          </a:p>
        </p:txBody>
      </p:sp>
      <p:sp>
        <p:nvSpPr>
          <p:cNvPr id="93" name="Google Shape;93;p2:notes">
            <a:extLst>
              <a:ext uri="{FF2B5EF4-FFF2-40B4-BE49-F238E27FC236}">
                <a16:creationId xmlns:a16="http://schemas.microsoft.com/office/drawing/2014/main" id="{7FB720F2-8783-89F5-354C-5AFB072010D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9883973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Google Shape;208;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09" name="Google Shape;209;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a:extLst>
            <a:ext uri="{FF2B5EF4-FFF2-40B4-BE49-F238E27FC236}">
              <a16:creationId xmlns:a16="http://schemas.microsoft.com/office/drawing/2014/main" id="{02B684AC-37D4-506E-72F1-27BA76CC6562}"/>
            </a:ext>
          </a:extLst>
        </p:cNvPr>
        <p:cNvGrpSpPr/>
        <p:nvPr/>
      </p:nvGrpSpPr>
      <p:grpSpPr>
        <a:xfrm>
          <a:off x="0" y="0"/>
          <a:ext cx="0" cy="0"/>
          <a:chOff x="0" y="0"/>
          <a:chExt cx="0" cy="0"/>
        </a:xfrm>
      </p:grpSpPr>
      <p:sp>
        <p:nvSpPr>
          <p:cNvPr id="106" name="Google Shape;106;p3:notes">
            <a:extLst>
              <a:ext uri="{FF2B5EF4-FFF2-40B4-BE49-F238E27FC236}">
                <a16:creationId xmlns:a16="http://schemas.microsoft.com/office/drawing/2014/main" id="{ED749674-B992-8176-1F31-E6CFA300D10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In Lasso, my data variables act as </a:t>
            </a:r>
            <a:r>
              <a:rPr lang="en-US" b="1" dirty="0"/>
              <a:t>multipliers</a:t>
            </a:r>
            <a:r>
              <a:rPr lang="en-US" dirty="0"/>
              <a:t> where the model learns which variables carry the most weight. In Random Forest, my variables act as </a:t>
            </a:r>
            <a:r>
              <a:rPr lang="en-US" b="1" dirty="0"/>
              <a:t>sorting criteria</a:t>
            </a:r>
            <a:r>
              <a:rPr lang="en-US" dirty="0"/>
              <a:t>, where the model learns which questions (like 'Was there a hurricane?') best separate high-loss years from normal years.</a:t>
            </a:r>
            <a:endParaRPr dirty="0"/>
          </a:p>
        </p:txBody>
      </p:sp>
      <p:sp>
        <p:nvSpPr>
          <p:cNvPr id="107" name="Google Shape;107;p3:notes">
            <a:extLst>
              <a:ext uri="{FF2B5EF4-FFF2-40B4-BE49-F238E27FC236}">
                <a16:creationId xmlns:a16="http://schemas.microsoft.com/office/drawing/2014/main" id="{CAF48092-35D6-C90F-1B0A-1BDFD02F5A5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4166617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a:extLst>
            <a:ext uri="{FF2B5EF4-FFF2-40B4-BE49-F238E27FC236}">
              <a16:creationId xmlns:a16="http://schemas.microsoft.com/office/drawing/2014/main" id="{4C56F2E9-DC1F-C9B2-16B6-2261C015C1AC}"/>
            </a:ext>
          </a:extLst>
        </p:cNvPr>
        <p:cNvGrpSpPr/>
        <p:nvPr/>
      </p:nvGrpSpPr>
      <p:grpSpPr>
        <a:xfrm>
          <a:off x="0" y="0"/>
          <a:ext cx="0" cy="0"/>
          <a:chOff x="0" y="0"/>
          <a:chExt cx="0" cy="0"/>
        </a:xfrm>
      </p:grpSpPr>
      <p:sp>
        <p:nvSpPr>
          <p:cNvPr id="106" name="Google Shape;106;p3:notes">
            <a:extLst>
              <a:ext uri="{FF2B5EF4-FFF2-40B4-BE49-F238E27FC236}">
                <a16:creationId xmlns:a16="http://schemas.microsoft.com/office/drawing/2014/main" id="{1BA4F1EA-3842-F483-B91C-4BA6F2C74AA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The K-Means model treats every variable (Poverty, Age, Economics) as a </a:t>
            </a:r>
            <a:r>
              <a:rPr lang="en-US" b="1" dirty="0"/>
              <a:t>coordinate in space</a:t>
            </a:r>
            <a:r>
              <a:rPr lang="en-US" dirty="0"/>
              <a:t>. It calculates the mathematical distance between municipalities based on these coordinates. Towns that are 'close' to each other in this multi-dimensional space are grouped together, creating my Vulnerability Typology.</a:t>
            </a:r>
            <a:endParaRPr dirty="0"/>
          </a:p>
        </p:txBody>
      </p:sp>
      <p:sp>
        <p:nvSpPr>
          <p:cNvPr id="107" name="Google Shape;107;p3:notes">
            <a:extLst>
              <a:ext uri="{FF2B5EF4-FFF2-40B4-BE49-F238E27FC236}">
                <a16:creationId xmlns:a16="http://schemas.microsoft.com/office/drawing/2014/main" id="{9DB7C75C-62F7-2336-142B-4458ED4AB1B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5872244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a:extLst>
            <a:ext uri="{FF2B5EF4-FFF2-40B4-BE49-F238E27FC236}">
              <a16:creationId xmlns:a16="http://schemas.microsoft.com/office/drawing/2014/main" id="{9C4782E1-07A8-8989-4179-275FAC9B7230}"/>
            </a:ext>
          </a:extLst>
        </p:cNvPr>
        <p:cNvGrpSpPr/>
        <p:nvPr/>
      </p:nvGrpSpPr>
      <p:grpSpPr>
        <a:xfrm>
          <a:off x="0" y="0"/>
          <a:ext cx="0" cy="0"/>
          <a:chOff x="0" y="0"/>
          <a:chExt cx="0" cy="0"/>
        </a:xfrm>
      </p:grpSpPr>
      <p:sp>
        <p:nvSpPr>
          <p:cNvPr id="106" name="Google Shape;106;p3:notes">
            <a:extLst>
              <a:ext uri="{FF2B5EF4-FFF2-40B4-BE49-F238E27FC236}">
                <a16:creationId xmlns:a16="http://schemas.microsoft.com/office/drawing/2014/main" id="{48E9123D-C78F-1428-FD64-8EDE94B8612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I am using </a:t>
            </a:r>
            <a:r>
              <a:rPr lang="en-US" b="1" dirty="0"/>
              <a:t>MAE</a:t>
            </a:r>
            <a:r>
              <a:rPr lang="en-US" dirty="0"/>
              <a:t> to measure the general accuracy of my baseline trends—how well I track normal demographic decline. I am using </a:t>
            </a:r>
            <a:r>
              <a:rPr lang="en-US" b="1" dirty="0"/>
              <a:t>RMSE</a:t>
            </a:r>
            <a:r>
              <a:rPr lang="en-US" dirty="0"/>
              <a:t> specifically to validate the 'Shock' periods (2017). Because RMSE squares the errors, it will aggressively penalize my model if it fails to capture the massive population cliffs caused by Hurricane Maria.</a:t>
            </a:r>
            <a:endParaRPr dirty="0"/>
          </a:p>
        </p:txBody>
      </p:sp>
      <p:sp>
        <p:nvSpPr>
          <p:cNvPr id="107" name="Google Shape;107;p3:notes">
            <a:extLst>
              <a:ext uri="{FF2B5EF4-FFF2-40B4-BE49-F238E27FC236}">
                <a16:creationId xmlns:a16="http://schemas.microsoft.com/office/drawing/2014/main" id="{2FEA0A0E-B982-A005-7582-53E4189E1AD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68434730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p:cNvGrpSpPr/>
        <p:nvPr/>
      </p:nvGrpSpPr>
      <p:grpSpPr>
        <a:xfrm>
          <a:off x="0" y="0"/>
          <a:ext cx="0" cy="0"/>
          <a:chOff x="0" y="0"/>
          <a:chExt cx="0" cy="0"/>
        </a:xfrm>
      </p:grpSpPr>
      <p:sp>
        <p:nvSpPr>
          <p:cNvPr id="151" name="Google Shape;15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b="1" dirty="0"/>
              <a:t>Extract, Transform, and Load</a:t>
            </a:r>
            <a:r>
              <a:rPr lang="en-US" dirty="0"/>
              <a:t>. (ETL)</a:t>
            </a:r>
            <a:endParaRPr dirty="0"/>
          </a:p>
        </p:txBody>
      </p:sp>
      <p:sp>
        <p:nvSpPr>
          <p:cNvPr id="152" name="Google Shape;15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2"/>
        <p:cNvGrpSpPr/>
        <p:nvPr/>
      </p:nvGrpSpPr>
      <p:grpSpPr>
        <a:xfrm>
          <a:off x="0" y="0"/>
          <a:ext cx="0" cy="0"/>
          <a:chOff x="0" y="0"/>
          <a:chExt cx="0" cy="0"/>
        </a:xfrm>
      </p:grpSpPr>
      <p:sp>
        <p:nvSpPr>
          <p:cNvPr id="223" name="Google Shape;223;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4" name="Google Shape;224;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0"/>
        <p:cNvGrpSpPr/>
        <p:nvPr/>
      </p:nvGrpSpPr>
      <p:grpSpPr>
        <a:xfrm>
          <a:off x="0" y="0"/>
          <a:ext cx="0" cy="0"/>
          <a:chOff x="0" y="0"/>
          <a:chExt cx="0" cy="0"/>
        </a:xfrm>
      </p:grpSpPr>
      <p:sp>
        <p:nvSpPr>
          <p:cNvPr id="231" name="Google Shape;231;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32" name="Google Shape;232;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0">
          <a:extLst>
            <a:ext uri="{FF2B5EF4-FFF2-40B4-BE49-F238E27FC236}">
              <a16:creationId xmlns:a16="http://schemas.microsoft.com/office/drawing/2014/main" id="{47AE5DB5-1792-C653-A58D-3A8739E231F0}"/>
            </a:ext>
          </a:extLst>
        </p:cNvPr>
        <p:cNvGrpSpPr/>
        <p:nvPr/>
      </p:nvGrpSpPr>
      <p:grpSpPr>
        <a:xfrm>
          <a:off x="0" y="0"/>
          <a:ext cx="0" cy="0"/>
          <a:chOff x="0" y="0"/>
          <a:chExt cx="0" cy="0"/>
        </a:xfrm>
      </p:grpSpPr>
      <p:sp>
        <p:nvSpPr>
          <p:cNvPr id="231" name="Google Shape;231;p11:notes">
            <a:extLst>
              <a:ext uri="{FF2B5EF4-FFF2-40B4-BE49-F238E27FC236}">
                <a16:creationId xmlns:a16="http://schemas.microsoft.com/office/drawing/2014/main" id="{04B11639-FD0E-6B85-E4AE-E9AF206FF5E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32" name="Google Shape;232;p11:notes">
            <a:extLst>
              <a:ext uri="{FF2B5EF4-FFF2-40B4-BE49-F238E27FC236}">
                <a16:creationId xmlns:a16="http://schemas.microsoft.com/office/drawing/2014/main" id="{0EEC33E4-CDAB-6C6D-C9E1-1A7C2525753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87808260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a:extLst>
            <a:ext uri="{FF2B5EF4-FFF2-40B4-BE49-F238E27FC236}">
              <a16:creationId xmlns:a16="http://schemas.microsoft.com/office/drawing/2014/main" id="{39367696-265F-DE2B-1904-76667E212561}"/>
            </a:ext>
          </a:extLst>
        </p:cNvPr>
        <p:cNvGrpSpPr/>
        <p:nvPr/>
      </p:nvGrpSpPr>
      <p:grpSpPr>
        <a:xfrm>
          <a:off x="0" y="0"/>
          <a:ext cx="0" cy="0"/>
          <a:chOff x="0" y="0"/>
          <a:chExt cx="0" cy="0"/>
        </a:xfrm>
      </p:grpSpPr>
      <p:sp>
        <p:nvSpPr>
          <p:cNvPr id="106" name="Google Shape;106;p3:notes">
            <a:extLst>
              <a:ext uri="{FF2B5EF4-FFF2-40B4-BE49-F238E27FC236}">
                <a16:creationId xmlns:a16="http://schemas.microsoft.com/office/drawing/2014/main" id="{E6AF7C20-EDEC-A329-A9C8-13246C3A4DD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7" name="Google Shape;107;p3:notes">
            <a:extLst>
              <a:ext uri="{FF2B5EF4-FFF2-40B4-BE49-F238E27FC236}">
                <a16:creationId xmlns:a16="http://schemas.microsoft.com/office/drawing/2014/main" id="{843AE9C3-6C12-22E4-B786-2D87B048353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71030195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a:extLst>
            <a:ext uri="{FF2B5EF4-FFF2-40B4-BE49-F238E27FC236}">
              <a16:creationId xmlns:a16="http://schemas.microsoft.com/office/drawing/2014/main" id="{25084435-FB04-6CFD-9422-ACEB9D49CE15}"/>
            </a:ext>
          </a:extLst>
        </p:cNvPr>
        <p:cNvGrpSpPr/>
        <p:nvPr/>
      </p:nvGrpSpPr>
      <p:grpSpPr>
        <a:xfrm>
          <a:off x="0" y="0"/>
          <a:ext cx="0" cy="0"/>
          <a:chOff x="0" y="0"/>
          <a:chExt cx="0" cy="0"/>
        </a:xfrm>
      </p:grpSpPr>
      <p:sp>
        <p:nvSpPr>
          <p:cNvPr id="106" name="Google Shape;106;p3:notes">
            <a:extLst>
              <a:ext uri="{FF2B5EF4-FFF2-40B4-BE49-F238E27FC236}">
                <a16:creationId xmlns:a16="http://schemas.microsoft.com/office/drawing/2014/main" id="{9ADD672D-7C88-1DCE-9DF7-DAEA9F837CB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7" name="Google Shape;107;p3:notes">
            <a:extLst>
              <a:ext uri="{FF2B5EF4-FFF2-40B4-BE49-F238E27FC236}">
                <a16:creationId xmlns:a16="http://schemas.microsoft.com/office/drawing/2014/main" id="{CE21A681-4741-BEC1-5979-6E77A637E2D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7805664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a:extLst>
            <a:ext uri="{FF2B5EF4-FFF2-40B4-BE49-F238E27FC236}">
              <a16:creationId xmlns:a16="http://schemas.microsoft.com/office/drawing/2014/main" id="{A280E3E4-01AB-9257-C86F-2DC05B5114B2}"/>
            </a:ext>
          </a:extLst>
        </p:cNvPr>
        <p:cNvGrpSpPr/>
        <p:nvPr/>
      </p:nvGrpSpPr>
      <p:grpSpPr>
        <a:xfrm>
          <a:off x="0" y="0"/>
          <a:ext cx="0" cy="0"/>
          <a:chOff x="0" y="0"/>
          <a:chExt cx="0" cy="0"/>
        </a:xfrm>
      </p:grpSpPr>
      <p:sp>
        <p:nvSpPr>
          <p:cNvPr id="106" name="Google Shape;106;p3:notes">
            <a:extLst>
              <a:ext uri="{FF2B5EF4-FFF2-40B4-BE49-F238E27FC236}">
                <a16:creationId xmlns:a16="http://schemas.microsoft.com/office/drawing/2014/main" id="{C9F7E034-6329-E7D3-5C50-BAD3C5C72E7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7" name="Google Shape;107;p3:notes">
            <a:extLst>
              <a:ext uri="{FF2B5EF4-FFF2-40B4-BE49-F238E27FC236}">
                <a16:creationId xmlns:a16="http://schemas.microsoft.com/office/drawing/2014/main" id="{2D2794F7-686B-2998-1183-AB5AD145190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31967279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a:extLst>
            <a:ext uri="{FF2B5EF4-FFF2-40B4-BE49-F238E27FC236}">
              <a16:creationId xmlns:a16="http://schemas.microsoft.com/office/drawing/2014/main" id="{06BBC6D0-ED3F-6661-146F-21FF3E68AF70}"/>
            </a:ext>
          </a:extLst>
        </p:cNvPr>
        <p:cNvGrpSpPr/>
        <p:nvPr/>
      </p:nvGrpSpPr>
      <p:grpSpPr>
        <a:xfrm>
          <a:off x="0" y="0"/>
          <a:ext cx="0" cy="0"/>
          <a:chOff x="0" y="0"/>
          <a:chExt cx="0" cy="0"/>
        </a:xfrm>
      </p:grpSpPr>
      <p:sp>
        <p:nvSpPr>
          <p:cNvPr id="106" name="Google Shape;106;p3:notes">
            <a:extLst>
              <a:ext uri="{FF2B5EF4-FFF2-40B4-BE49-F238E27FC236}">
                <a16:creationId xmlns:a16="http://schemas.microsoft.com/office/drawing/2014/main" id="{AFE447EE-6A12-6956-4F80-6FB5C324427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07" name="Google Shape;107;p3:notes">
            <a:extLst>
              <a:ext uri="{FF2B5EF4-FFF2-40B4-BE49-F238E27FC236}">
                <a16:creationId xmlns:a16="http://schemas.microsoft.com/office/drawing/2014/main" id="{CC308905-ECFA-B802-62AF-32EBC8A38B2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1425853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a:extLst>
            <a:ext uri="{FF2B5EF4-FFF2-40B4-BE49-F238E27FC236}">
              <a16:creationId xmlns:a16="http://schemas.microsoft.com/office/drawing/2014/main" id="{BAB11D52-C68B-FE5E-425D-F7D5759FF066}"/>
            </a:ext>
          </a:extLst>
        </p:cNvPr>
        <p:cNvGrpSpPr/>
        <p:nvPr/>
      </p:nvGrpSpPr>
      <p:grpSpPr>
        <a:xfrm>
          <a:off x="0" y="0"/>
          <a:ext cx="0" cy="0"/>
          <a:chOff x="0" y="0"/>
          <a:chExt cx="0" cy="0"/>
        </a:xfrm>
      </p:grpSpPr>
      <p:sp>
        <p:nvSpPr>
          <p:cNvPr id="106" name="Google Shape;106;p3:notes">
            <a:extLst>
              <a:ext uri="{FF2B5EF4-FFF2-40B4-BE49-F238E27FC236}">
                <a16:creationId xmlns:a16="http://schemas.microsoft.com/office/drawing/2014/main" id="{FA781364-F366-3EEB-9883-38D40334F22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07" name="Google Shape;107;p3:notes">
            <a:extLst>
              <a:ext uri="{FF2B5EF4-FFF2-40B4-BE49-F238E27FC236}">
                <a16:creationId xmlns:a16="http://schemas.microsoft.com/office/drawing/2014/main" id="{380A8DFD-28AB-379A-8B0C-888140A21B6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41547539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a:extLst>
            <a:ext uri="{FF2B5EF4-FFF2-40B4-BE49-F238E27FC236}">
              <a16:creationId xmlns:a16="http://schemas.microsoft.com/office/drawing/2014/main" id="{2274DD90-9961-D207-A4E2-6FC07233BB0F}"/>
            </a:ext>
          </a:extLst>
        </p:cNvPr>
        <p:cNvGrpSpPr/>
        <p:nvPr/>
      </p:nvGrpSpPr>
      <p:grpSpPr>
        <a:xfrm>
          <a:off x="0" y="0"/>
          <a:ext cx="0" cy="0"/>
          <a:chOff x="0" y="0"/>
          <a:chExt cx="0" cy="0"/>
        </a:xfrm>
      </p:grpSpPr>
      <p:sp>
        <p:nvSpPr>
          <p:cNvPr id="106" name="Google Shape;106;p3:notes">
            <a:extLst>
              <a:ext uri="{FF2B5EF4-FFF2-40B4-BE49-F238E27FC236}">
                <a16:creationId xmlns:a16="http://schemas.microsoft.com/office/drawing/2014/main" id="{2AA0AA85-9557-D61C-B1B3-28FA88F81EC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07" name="Google Shape;107;p3:notes">
            <a:extLst>
              <a:ext uri="{FF2B5EF4-FFF2-40B4-BE49-F238E27FC236}">
                <a16:creationId xmlns:a16="http://schemas.microsoft.com/office/drawing/2014/main" id="{0E1129C9-F9FF-DEF6-7CDE-AD1526986B4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84005979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356831502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1899710720"/>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14810970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1498294269"/>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86043527"/>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195591355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11291626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2424906460"/>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1380393672"/>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3694024774"/>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973161087"/>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4066148857"/>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784984781"/>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2347340271"/>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3191623613"/>
      </p:ext>
    </p:extLst>
  </p:cSld>
  <p:clrMapOvr>
    <a:masterClrMapping/>
  </p:clrMapOvr>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1244574089"/>
      </p:ext>
    </p:extLst>
  </p:cSld>
  <p:clrMapOvr>
    <a:masterClrMapping/>
  </p:clrMapOvr>
  <p:hf sldNum="0"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endParaRPr lang="en-US"/>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3530346332"/>
      </p:ext>
    </p:extLst>
  </p:cSld>
  <p:clrMap bg1="lt1" tx1="dk1" bg2="lt2" tx2="dk2" accent1="accent1" accent2="accent2" accent3="accent3" accent4="accent4" accent5="accent5" accent6="accent6" hlink="hlink" folHlink="folHlink"/>
  <p:sldLayoutIdLst>
    <p:sldLayoutId id="2147484911" r:id="rId1"/>
    <p:sldLayoutId id="2147484912" r:id="rId2"/>
    <p:sldLayoutId id="2147484913" r:id="rId3"/>
    <p:sldLayoutId id="2147484914" r:id="rId4"/>
    <p:sldLayoutId id="2147484915" r:id="rId5"/>
    <p:sldLayoutId id="2147484916" r:id="rId6"/>
    <p:sldLayoutId id="2147484917" r:id="rId7"/>
    <p:sldLayoutId id="2147484918" r:id="rId8"/>
    <p:sldLayoutId id="2147484919" r:id="rId9"/>
    <p:sldLayoutId id="2147484920" r:id="rId10"/>
    <p:sldLayoutId id="2147484921" r:id="rId11"/>
    <p:sldLayoutId id="2147484922" r:id="rId12"/>
    <p:sldLayoutId id="2147484923" r:id="rId13"/>
    <p:sldLayoutId id="2147484924" r:id="rId14"/>
    <p:sldLayoutId id="2147484925" r:id="rId15"/>
    <p:sldLayoutId id="2147484926" r:id="rId16"/>
  </p:sldLayoutIdLst>
  <p:hf sldNum="0"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8" Type="http://schemas.openxmlformats.org/officeDocument/2006/relationships/image" Target="../media/image8.png"/><Relationship Id="rId13" Type="http://schemas.microsoft.com/office/2007/relationships/hdphoto" Target="../media/hdphoto5.wdp"/><Relationship Id="rId18" Type="http://schemas.openxmlformats.org/officeDocument/2006/relationships/image" Target="../media/image13.png"/><Relationship Id="rId3" Type="http://schemas.openxmlformats.org/officeDocument/2006/relationships/image" Target="../media/image5.png"/><Relationship Id="rId21" Type="http://schemas.microsoft.com/office/2007/relationships/hdphoto" Target="../media/hdphoto9.wdp"/><Relationship Id="rId7" Type="http://schemas.microsoft.com/office/2007/relationships/hdphoto" Target="../media/hdphoto2.wdp"/><Relationship Id="rId12" Type="http://schemas.openxmlformats.org/officeDocument/2006/relationships/image" Target="../media/image10.png"/><Relationship Id="rId17" Type="http://schemas.microsoft.com/office/2007/relationships/hdphoto" Target="../media/hdphoto7.wdp"/><Relationship Id="rId2" Type="http://schemas.openxmlformats.org/officeDocument/2006/relationships/image" Target="../media/image4.png"/><Relationship Id="rId16" Type="http://schemas.openxmlformats.org/officeDocument/2006/relationships/image" Target="../media/image12.png"/><Relationship Id="rId20" Type="http://schemas.openxmlformats.org/officeDocument/2006/relationships/image" Target="../media/image14.png"/><Relationship Id="rId1" Type="http://schemas.openxmlformats.org/officeDocument/2006/relationships/slideLayout" Target="../slideLayouts/slideLayout7.xml"/><Relationship Id="rId6" Type="http://schemas.openxmlformats.org/officeDocument/2006/relationships/image" Target="../media/image7.png"/><Relationship Id="rId11" Type="http://schemas.microsoft.com/office/2007/relationships/hdphoto" Target="../media/hdphoto4.wdp"/><Relationship Id="rId5" Type="http://schemas.microsoft.com/office/2007/relationships/hdphoto" Target="../media/hdphoto1.wdp"/><Relationship Id="rId15" Type="http://schemas.microsoft.com/office/2007/relationships/hdphoto" Target="../media/hdphoto6.wdp"/><Relationship Id="rId10" Type="http://schemas.openxmlformats.org/officeDocument/2006/relationships/image" Target="../media/image9.png"/><Relationship Id="rId19" Type="http://schemas.microsoft.com/office/2007/relationships/hdphoto" Target="../media/hdphoto8.wdp"/><Relationship Id="rId4" Type="http://schemas.openxmlformats.org/officeDocument/2006/relationships/image" Target="../media/image6.png"/><Relationship Id="rId9" Type="http://schemas.microsoft.com/office/2007/relationships/hdphoto" Target="../media/hdphoto3.wdp"/><Relationship Id="rId14" Type="http://schemas.openxmlformats.org/officeDocument/2006/relationships/image" Target="../media/image11.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hyperlink" Target="https://data.census.gov/" TargetMode="External"/><Relationship Id="rId7" Type="http://schemas.openxmlformats.org/officeDocument/2006/relationships/hyperlink" Target="https://earthquake.usgs.gov/earthquakes/search/" TargetMode="External"/><Relationship Id="rId2" Type="http://schemas.openxmlformats.org/officeDocument/2006/relationships/notesSlide" Target="../notesSlides/notesSlide15.xml"/><Relationship Id="rId1" Type="http://schemas.openxmlformats.org/officeDocument/2006/relationships/slideLayout" Target="../slideLayouts/slideLayout7.xml"/><Relationship Id="rId6" Type="http://schemas.openxmlformats.org/officeDocument/2006/relationships/hyperlink" Target="https://www.nhc.noaa.gov/data/" TargetMode="External"/><Relationship Id="rId5" Type="http://schemas.openxmlformats.org/officeDocument/2006/relationships/hyperlink" Target="https://www.census.gov/programs-surveys/cbp.html" TargetMode="External"/><Relationship Id="rId4" Type="http://schemas.openxmlformats.org/officeDocument/2006/relationships/hyperlink" Target="https://www.census.gov/programs-surveys/popest.html" TargetMode="Externa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83"/>
        <p:cNvGrpSpPr/>
        <p:nvPr/>
      </p:nvGrpSpPr>
      <p:grpSpPr>
        <a:xfrm>
          <a:off x="0" y="0"/>
          <a:ext cx="0" cy="0"/>
          <a:chOff x="0" y="0"/>
          <a:chExt cx="0" cy="0"/>
        </a:xfrm>
      </p:grpSpPr>
      <p:pic>
        <p:nvPicPr>
          <p:cNvPr id="85" name="Google Shape;85;p13" descr="image.png"/>
          <p:cNvPicPr preferRelativeResize="0"/>
          <p:nvPr/>
        </p:nvPicPr>
        <p:blipFill rotWithShape="1">
          <a:blip r:embed="rId3">
            <a:alphaModFix/>
          </a:blip>
          <a:srcRect/>
          <a:stretch/>
        </p:blipFill>
        <p:spPr>
          <a:xfrm>
            <a:off x="1047750" y="4566195"/>
            <a:ext cx="3438525" cy="1053405"/>
          </a:xfrm>
          <a:prstGeom prst="rect">
            <a:avLst/>
          </a:prstGeom>
          <a:noFill/>
          <a:ln>
            <a:noFill/>
          </a:ln>
        </p:spPr>
      </p:pic>
      <p:sp>
        <p:nvSpPr>
          <p:cNvPr id="86" name="Google Shape;86;p13"/>
          <p:cNvSpPr txBox="1"/>
          <p:nvPr/>
        </p:nvSpPr>
        <p:spPr>
          <a:xfrm>
            <a:off x="879589" y="1238398"/>
            <a:ext cx="8642783" cy="984885"/>
          </a:xfrm>
          <a:prstGeom prst="rect">
            <a:avLst/>
          </a:prstGeom>
          <a:noFill/>
          <a:ln>
            <a:noFill/>
          </a:ln>
        </p:spPr>
        <p:txBody>
          <a:bodyPr spcFirstLastPara="1" wrap="square" lIns="0" tIns="0" rIns="0" bIns="0" anchor="t" anchorCtr="0">
            <a:spAutoFit/>
          </a:bodyPr>
          <a:lstStyle/>
          <a:p>
            <a:r>
              <a:rPr lang="en-US" sz="3200" b="1" dirty="0">
                <a:latin typeface="Merriweather" pitchFamily="2" charset="77"/>
                <a:cs typeface="Arial" panose="020B0604020202020204" pitchFamily="34" charset="0"/>
              </a:rPr>
              <a:t>Predictive Modeling of Population Dynamics in Puerto Rico </a:t>
            </a:r>
            <a:endParaRPr sz="3200" b="1" dirty="0">
              <a:latin typeface="Merriweather" pitchFamily="2" charset="77"/>
              <a:cs typeface="Arial" panose="020B0604020202020204" pitchFamily="34" charset="0"/>
            </a:endParaRPr>
          </a:p>
        </p:txBody>
      </p:sp>
      <p:sp>
        <p:nvSpPr>
          <p:cNvPr id="88" name="Google Shape;88;p13"/>
          <p:cNvSpPr txBox="1"/>
          <p:nvPr/>
        </p:nvSpPr>
        <p:spPr>
          <a:xfrm>
            <a:off x="1047750" y="4052582"/>
            <a:ext cx="3438525" cy="492443"/>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2000" b="1" i="0" u="none" strike="noStrike" cap="none" dirty="0">
                <a:solidFill>
                  <a:srgbClr val="334155"/>
                </a:solidFill>
                <a:latin typeface="Merriweather" pitchFamily="2" charset="77"/>
                <a:ea typeface="DM Sans"/>
                <a:cs typeface="Arial" panose="020B0604020202020204" pitchFamily="34" charset="0"/>
                <a:sym typeface="DM Sans"/>
              </a:rPr>
              <a:t>Jose Andres RiveraRuiz</a:t>
            </a:r>
            <a:endParaRPr sz="2800" dirty="0">
              <a:latin typeface="Merriweather" pitchFamily="2" charset="77"/>
            </a:endParaRPr>
          </a:p>
        </p:txBody>
      </p:sp>
      <p:sp>
        <p:nvSpPr>
          <p:cNvPr id="89" name="Google Shape;89;p13"/>
          <p:cNvSpPr txBox="1"/>
          <p:nvPr/>
        </p:nvSpPr>
        <p:spPr>
          <a:xfrm>
            <a:off x="1047750" y="4607760"/>
            <a:ext cx="3745923" cy="664797"/>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0" i="0" u="none" strike="noStrike" cap="none" dirty="0">
                <a:solidFill>
                  <a:srgbClr val="334155"/>
                </a:solidFill>
                <a:latin typeface="Merriweather" pitchFamily="2" charset="77"/>
                <a:ea typeface="DM Sans"/>
                <a:cs typeface="Arial" panose="020B0604020202020204" pitchFamily="34" charset="0"/>
                <a:sym typeface="DM Sans"/>
              </a:rPr>
              <a:t>Rutgers, The State University of New Jersey</a:t>
            </a:r>
          </a:p>
          <a:p>
            <a:pPr>
              <a:lnSpc>
                <a:spcPct val="160000"/>
              </a:lnSpc>
            </a:pPr>
            <a:r>
              <a:rPr lang="en-US" sz="1350" dirty="0">
                <a:solidFill>
                  <a:srgbClr val="334155"/>
                </a:solidFill>
                <a:latin typeface="Merriweather" pitchFamily="2" charset="77"/>
                <a:cs typeface="Arial" panose="020B0604020202020204" pitchFamily="34" charset="0"/>
                <a:sym typeface="DM Sans"/>
              </a:rPr>
              <a:t>Master’s Project- Spring 2026</a:t>
            </a:r>
            <a:endParaRPr lang="en-US" sz="1350" dirty="0">
              <a:solidFill>
                <a:srgbClr val="334155"/>
              </a:solidFill>
              <a:latin typeface="Merriweather" pitchFamily="2" charset="77"/>
              <a:cs typeface="Arial" panose="020B0604020202020204" pitchFamily="34" charset="0"/>
            </a:endParaRPr>
          </a:p>
        </p:txBody>
      </p:sp>
      <p:pic>
        <p:nvPicPr>
          <p:cNvPr id="3" name="Picture 2" descr="A screenshot of a computer screen&#10;&#10;AI-generated content may be incorrect.">
            <a:extLst>
              <a:ext uri="{FF2B5EF4-FFF2-40B4-BE49-F238E27FC236}">
                <a16:creationId xmlns:a16="http://schemas.microsoft.com/office/drawing/2014/main" id="{62D92894-057D-658E-A26D-4C143127E31F}"/>
              </a:ext>
            </a:extLst>
          </p:cNvPr>
          <p:cNvPicPr>
            <a:picLocks noChangeAspect="1"/>
          </p:cNvPicPr>
          <p:nvPr/>
        </p:nvPicPr>
        <p:blipFill>
          <a:blip r:embed="rId4"/>
          <a:stretch>
            <a:fillRect/>
          </a:stretch>
        </p:blipFill>
        <p:spPr>
          <a:xfrm>
            <a:off x="5753341" y="2596056"/>
            <a:ext cx="3569576" cy="3694386"/>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94"/>
        <p:cNvGrpSpPr/>
        <p:nvPr/>
      </p:nvGrpSpPr>
      <p:grpSpPr>
        <a:xfrm>
          <a:off x="0" y="0"/>
          <a:ext cx="0" cy="0"/>
          <a:chOff x="0" y="0"/>
          <a:chExt cx="0" cy="0"/>
        </a:xfrm>
      </p:grpSpPr>
      <p:sp>
        <p:nvSpPr>
          <p:cNvPr id="103" name="Google Shape;103;p14"/>
          <p:cNvSpPr txBox="1"/>
          <p:nvPr/>
        </p:nvSpPr>
        <p:spPr>
          <a:xfrm>
            <a:off x="571500" y="571500"/>
            <a:ext cx="11601450" cy="553998"/>
          </a:xfrm>
          <a:prstGeom prst="rect">
            <a:avLst/>
          </a:prstGeom>
          <a:noFill/>
          <a:ln>
            <a:noFill/>
          </a:ln>
        </p:spPr>
        <p:txBody>
          <a:bodyPr spcFirstLastPara="1" wrap="square" lIns="0" tIns="0" rIns="0" bIns="0" anchor="t" anchorCtr="0">
            <a:spAutoFit/>
          </a:bodyPr>
          <a:lstStyle/>
          <a:p>
            <a:pPr lvl="0"/>
            <a:r>
              <a:rPr lang="en-US" sz="3600" b="1" dirty="0">
                <a:latin typeface="Merriweather" pitchFamily="2" charset="77"/>
              </a:rPr>
              <a:t>Problem &amp; Goal </a:t>
            </a:r>
            <a:endParaRPr sz="3600" b="1" dirty="0">
              <a:latin typeface="Merriweather" pitchFamily="2" charset="77"/>
            </a:endParaRPr>
          </a:p>
        </p:txBody>
      </p:sp>
      <p:sp>
        <p:nvSpPr>
          <p:cNvPr id="104" name="Google Shape;104;p14"/>
          <p:cNvSpPr/>
          <p:nvPr/>
        </p:nvSpPr>
        <p:spPr>
          <a:xfrm>
            <a:off x="571500" y="1285875"/>
            <a:ext cx="11049000" cy="28575"/>
          </a:xfrm>
          <a:prstGeom prst="rect">
            <a:avLst/>
          </a:prstGeom>
          <a:solidFill>
            <a:srgbClr val="00508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 name="TextBox 1">
            <a:extLst>
              <a:ext uri="{FF2B5EF4-FFF2-40B4-BE49-F238E27FC236}">
                <a16:creationId xmlns:a16="http://schemas.microsoft.com/office/drawing/2014/main" id="{092ABE9F-B64B-5BD1-9BE9-966EBB86F4F4}"/>
              </a:ext>
            </a:extLst>
          </p:cNvPr>
          <p:cNvSpPr txBox="1"/>
          <p:nvPr/>
        </p:nvSpPr>
        <p:spPr>
          <a:xfrm>
            <a:off x="449579" y="1469167"/>
            <a:ext cx="9560053" cy="5293757"/>
          </a:xfrm>
          <a:prstGeom prst="rect">
            <a:avLst/>
          </a:prstGeom>
          <a:noFill/>
        </p:spPr>
        <p:txBody>
          <a:bodyPr wrap="square">
            <a:spAutoFit/>
          </a:bodyPr>
          <a:lstStyle/>
          <a:p>
            <a:pPr marL="285750" indent="-285750" fontAlgn="base">
              <a:lnSpc>
                <a:spcPct val="150000"/>
              </a:lnSpc>
              <a:buFont typeface="Arial" panose="020B0604020202020204" pitchFamily="34" charset="0"/>
              <a:buChar char="•"/>
            </a:pPr>
            <a:r>
              <a:rPr lang="en-US" sz="2000" b="1" dirty="0">
                <a:solidFill>
                  <a:srgbClr val="000000"/>
                </a:solidFill>
                <a:latin typeface="Merriweather" pitchFamily="2" charset="77"/>
                <a:ea typeface="Arial"/>
                <a:cs typeface="Arial"/>
                <a:sym typeface="Arial"/>
              </a:rPr>
              <a:t>The Problem:</a:t>
            </a:r>
            <a:r>
              <a:rPr lang="en-US" sz="2000" dirty="0">
                <a:solidFill>
                  <a:srgbClr val="000000"/>
                </a:solidFill>
                <a:latin typeface="Merriweather" pitchFamily="2" charset="77"/>
                <a:ea typeface="Arial"/>
                <a:cs typeface="Arial"/>
                <a:sym typeface="Arial"/>
              </a:rPr>
              <a:t> Puerto Rico is facing a "double threat" of population decline:</a:t>
            </a:r>
          </a:p>
          <a:p>
            <a:pPr marL="742950" lvl="1" indent="-285750" fontAlgn="base">
              <a:lnSpc>
                <a:spcPct val="150000"/>
              </a:lnSpc>
              <a:buFont typeface="Arial" panose="020B0604020202020204" pitchFamily="34" charset="0"/>
              <a:buChar char="•"/>
            </a:pPr>
            <a:r>
              <a:rPr lang="en-US" sz="2000" b="1" dirty="0">
                <a:solidFill>
                  <a:srgbClr val="000000"/>
                </a:solidFill>
                <a:latin typeface="Merriweather" pitchFamily="2" charset="77"/>
                <a:ea typeface="Arial"/>
                <a:cs typeface="Arial"/>
                <a:sym typeface="Arial"/>
              </a:rPr>
              <a:t>Structural decline: P</a:t>
            </a:r>
            <a:r>
              <a:rPr lang="en-US" sz="2000" dirty="0">
                <a:solidFill>
                  <a:srgbClr val="000000"/>
                </a:solidFill>
                <a:latin typeface="Merriweather" pitchFamily="2" charset="77"/>
                <a:ea typeface="Arial"/>
                <a:cs typeface="Arial"/>
                <a:sym typeface="Arial"/>
              </a:rPr>
              <a:t>eople getting older and having fewer children </a:t>
            </a:r>
          </a:p>
          <a:p>
            <a:pPr marL="742950" lvl="1" indent="-285750" fontAlgn="base">
              <a:lnSpc>
                <a:spcPct val="150000"/>
              </a:lnSpc>
              <a:buFont typeface="Arial" panose="020B0604020202020204" pitchFamily="34" charset="0"/>
              <a:buChar char="•"/>
            </a:pPr>
            <a:r>
              <a:rPr lang="en-US" sz="2000" b="1" dirty="0">
                <a:solidFill>
                  <a:srgbClr val="000000"/>
                </a:solidFill>
                <a:latin typeface="Merriweather" pitchFamily="2" charset="77"/>
                <a:ea typeface="Arial"/>
                <a:cs typeface="Arial"/>
                <a:sym typeface="Arial"/>
              </a:rPr>
              <a:t>Shock-driven decline: M</a:t>
            </a:r>
            <a:r>
              <a:rPr lang="en-US" sz="2000" dirty="0">
                <a:solidFill>
                  <a:srgbClr val="000000"/>
                </a:solidFill>
                <a:latin typeface="Merriweather" pitchFamily="2" charset="77"/>
                <a:ea typeface="Arial"/>
                <a:cs typeface="Arial"/>
                <a:sym typeface="Arial"/>
              </a:rPr>
              <a:t>ass migration after hurricanes/earthquakes </a:t>
            </a:r>
          </a:p>
          <a:p>
            <a:pPr fontAlgn="base"/>
            <a:endParaRPr lang="en-US" sz="2000" dirty="0">
              <a:solidFill>
                <a:srgbClr val="000000"/>
              </a:solidFill>
              <a:latin typeface="Merriweather" pitchFamily="2" charset="77"/>
              <a:ea typeface="Arial"/>
              <a:cs typeface="Arial"/>
              <a:sym typeface="Arial"/>
            </a:endParaRPr>
          </a:p>
          <a:p>
            <a:pPr fontAlgn="base"/>
            <a:endParaRPr lang="en-US" sz="2000" dirty="0">
              <a:solidFill>
                <a:srgbClr val="000000"/>
              </a:solidFill>
              <a:latin typeface="Merriweather" pitchFamily="2" charset="77"/>
              <a:ea typeface="Arial"/>
              <a:cs typeface="Arial"/>
              <a:sym typeface="Arial"/>
            </a:endParaRPr>
          </a:p>
          <a:p>
            <a:pPr marL="285750" indent="-285750" fontAlgn="base">
              <a:buFont typeface="Arial" panose="020B0604020202020204" pitchFamily="34" charset="0"/>
              <a:buChar char="•"/>
            </a:pPr>
            <a:r>
              <a:rPr lang="en-US" sz="2000" b="1" dirty="0">
                <a:solidFill>
                  <a:srgbClr val="000000"/>
                </a:solidFill>
                <a:latin typeface="Merriweather" pitchFamily="2" charset="77"/>
                <a:ea typeface="Arial"/>
                <a:cs typeface="Arial"/>
                <a:sym typeface="Arial"/>
              </a:rPr>
              <a:t>The Goal:</a:t>
            </a:r>
            <a:r>
              <a:rPr lang="en-US" sz="2000" dirty="0">
                <a:solidFill>
                  <a:srgbClr val="000000"/>
                </a:solidFill>
                <a:latin typeface="Merriweather" pitchFamily="2" charset="77"/>
                <a:ea typeface="Arial"/>
                <a:cs typeface="Arial"/>
                <a:sym typeface="Arial"/>
              </a:rPr>
              <a:t> To build a predictive model tool that generates a Demographic Vulnerability Score (0 </a:t>
            </a:r>
            <a:r>
              <a:rPr lang="en-US" sz="2000" dirty="0">
                <a:solidFill>
                  <a:srgbClr val="000000"/>
                </a:solidFill>
                <a:latin typeface="Merriweather" pitchFamily="2" charset="77"/>
                <a:ea typeface="Arial"/>
                <a:cs typeface="Arial"/>
                <a:sym typeface="Wingdings" pitchFamily="2" charset="2"/>
              </a:rPr>
              <a:t> 1) </a:t>
            </a:r>
            <a:r>
              <a:rPr lang="en-US" sz="2000" dirty="0">
                <a:solidFill>
                  <a:srgbClr val="000000"/>
                </a:solidFill>
                <a:latin typeface="Merriweather" pitchFamily="2" charset="77"/>
                <a:ea typeface="Arial"/>
                <a:cs typeface="Arial"/>
                <a:sym typeface="Arial"/>
              </a:rPr>
              <a:t> for my customer: The Puerto Rico Planning Board</a:t>
            </a:r>
          </a:p>
          <a:p>
            <a:pPr marL="285750" indent="-285750" fontAlgn="base">
              <a:buFont typeface="Arial" panose="020B0604020202020204" pitchFamily="34" charset="0"/>
              <a:buChar char="•"/>
            </a:pPr>
            <a:endParaRPr lang="en-US" sz="2000" dirty="0">
              <a:solidFill>
                <a:srgbClr val="000000"/>
              </a:solidFill>
              <a:latin typeface="Merriweather" pitchFamily="2" charset="77"/>
              <a:ea typeface="Arial"/>
              <a:cs typeface="Arial"/>
              <a:sym typeface="Arial"/>
            </a:endParaRPr>
          </a:p>
          <a:p>
            <a:pPr marL="285750" indent="-285750" fontAlgn="base">
              <a:buFont typeface="Arial" panose="020B0604020202020204" pitchFamily="34" charset="0"/>
              <a:buChar char="•"/>
            </a:pPr>
            <a:r>
              <a:rPr lang="en-US" sz="2000" b="1" dirty="0">
                <a:solidFill>
                  <a:srgbClr val="000000"/>
                </a:solidFill>
                <a:latin typeface="Merriweather" pitchFamily="2" charset="77"/>
                <a:ea typeface="Arial"/>
                <a:cs typeface="Arial"/>
                <a:sym typeface="Arial"/>
              </a:rPr>
              <a:t>Importance: </a:t>
            </a:r>
            <a:r>
              <a:rPr lang="en-US" sz="2000" dirty="0">
                <a:solidFill>
                  <a:srgbClr val="000000"/>
                </a:solidFill>
                <a:latin typeface="Merriweather" pitchFamily="2" charset="77"/>
                <a:ea typeface="Arial"/>
                <a:cs typeface="Arial"/>
                <a:sym typeface="Arial"/>
              </a:rPr>
              <a:t>This score will tell policymakers not just which municipalities are shrinking, but </a:t>
            </a:r>
            <a:r>
              <a:rPr lang="en-US" sz="2000" i="1" dirty="0">
                <a:solidFill>
                  <a:srgbClr val="000000"/>
                </a:solidFill>
                <a:latin typeface="Merriweather" pitchFamily="2" charset="77"/>
                <a:ea typeface="Arial"/>
                <a:cs typeface="Arial"/>
                <a:sym typeface="Arial"/>
              </a:rPr>
              <a:t>which ones are at risk of collapse (No improvement!)</a:t>
            </a:r>
            <a:r>
              <a:rPr lang="en-US" sz="2000" dirty="0">
                <a:solidFill>
                  <a:srgbClr val="000000"/>
                </a:solidFill>
                <a:latin typeface="Merriweather" pitchFamily="2" charset="77"/>
                <a:ea typeface="Arial"/>
                <a:cs typeface="Arial"/>
                <a:sym typeface="Arial"/>
              </a:rPr>
              <a:t> due to low resilience, allowing for better resource allocation!</a:t>
            </a:r>
          </a:p>
          <a:p>
            <a:pPr marL="342900" indent="-342900">
              <a:buFont typeface="Arial" panose="020B0604020202020204" pitchFamily="34" charset="0"/>
              <a:buChar char="•"/>
            </a:pPr>
            <a:endParaRPr lang="en-US" b="1" dirty="0">
              <a:solidFill>
                <a:schemeClr val="tx1">
                  <a:lumMod val="75000"/>
                  <a:lumOff val="25000"/>
                </a:schemeClr>
              </a:solidFill>
              <a:latin typeface="Merriweather" pitchFamily="2" charset="77"/>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4">
          <a:extLst>
            <a:ext uri="{FF2B5EF4-FFF2-40B4-BE49-F238E27FC236}">
              <a16:creationId xmlns:a16="http://schemas.microsoft.com/office/drawing/2014/main" id="{07D61C06-4217-96F7-ED30-1423151028C5}"/>
            </a:ext>
          </a:extLst>
        </p:cNvPr>
        <p:cNvGrpSpPr/>
        <p:nvPr/>
      </p:nvGrpSpPr>
      <p:grpSpPr>
        <a:xfrm>
          <a:off x="0" y="0"/>
          <a:ext cx="0" cy="0"/>
          <a:chOff x="0" y="0"/>
          <a:chExt cx="0" cy="0"/>
        </a:xfrm>
      </p:grpSpPr>
      <p:sp>
        <p:nvSpPr>
          <p:cNvPr id="103" name="Google Shape;103;p14">
            <a:extLst>
              <a:ext uri="{FF2B5EF4-FFF2-40B4-BE49-F238E27FC236}">
                <a16:creationId xmlns:a16="http://schemas.microsoft.com/office/drawing/2014/main" id="{B1793E83-1122-1FC3-F7BE-839635155236}"/>
              </a:ext>
            </a:extLst>
          </p:cNvPr>
          <p:cNvSpPr txBox="1"/>
          <p:nvPr/>
        </p:nvSpPr>
        <p:spPr>
          <a:xfrm>
            <a:off x="571500" y="571500"/>
            <a:ext cx="11601450" cy="553998"/>
          </a:xfrm>
          <a:prstGeom prst="rect">
            <a:avLst/>
          </a:prstGeom>
          <a:noFill/>
          <a:ln>
            <a:noFill/>
          </a:ln>
        </p:spPr>
        <p:txBody>
          <a:bodyPr spcFirstLastPara="1" wrap="square" lIns="0" tIns="0" rIns="0" bIns="0" anchor="t" anchorCtr="0">
            <a:spAutoFit/>
          </a:bodyPr>
          <a:lstStyle/>
          <a:p>
            <a:pPr fontAlgn="base"/>
            <a:r>
              <a:rPr lang="en-US" sz="3600" b="1" dirty="0">
                <a:solidFill>
                  <a:srgbClr val="000000"/>
                </a:solidFill>
                <a:latin typeface="Merriweather" pitchFamily="2" charset="77"/>
                <a:ea typeface="Arial"/>
                <a:cs typeface="Arial"/>
                <a:sym typeface="Arial"/>
              </a:rPr>
              <a:t>Expected Insights</a:t>
            </a:r>
            <a:endParaRPr lang="en-US" sz="3600" dirty="0">
              <a:solidFill>
                <a:srgbClr val="000000"/>
              </a:solidFill>
              <a:latin typeface="Merriweather" pitchFamily="2" charset="77"/>
              <a:ea typeface="Arial"/>
              <a:cs typeface="Arial"/>
              <a:sym typeface="Arial"/>
            </a:endParaRPr>
          </a:p>
        </p:txBody>
      </p:sp>
      <p:sp>
        <p:nvSpPr>
          <p:cNvPr id="104" name="Google Shape;104;p14">
            <a:extLst>
              <a:ext uri="{FF2B5EF4-FFF2-40B4-BE49-F238E27FC236}">
                <a16:creationId xmlns:a16="http://schemas.microsoft.com/office/drawing/2014/main" id="{27734248-EBB3-8859-B81B-AABFFF4E3875}"/>
              </a:ext>
            </a:extLst>
          </p:cNvPr>
          <p:cNvSpPr/>
          <p:nvPr/>
        </p:nvSpPr>
        <p:spPr>
          <a:xfrm>
            <a:off x="571500" y="1285875"/>
            <a:ext cx="11049000" cy="28575"/>
          </a:xfrm>
          <a:prstGeom prst="rect">
            <a:avLst/>
          </a:prstGeom>
          <a:solidFill>
            <a:srgbClr val="00508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 name="TextBox 1">
            <a:extLst>
              <a:ext uri="{FF2B5EF4-FFF2-40B4-BE49-F238E27FC236}">
                <a16:creationId xmlns:a16="http://schemas.microsoft.com/office/drawing/2014/main" id="{69C5C7B1-4A72-92C6-8DC9-C4C36D580380}"/>
              </a:ext>
            </a:extLst>
          </p:cNvPr>
          <p:cNvSpPr txBox="1"/>
          <p:nvPr/>
        </p:nvSpPr>
        <p:spPr>
          <a:xfrm>
            <a:off x="571500" y="1469167"/>
            <a:ext cx="9043555" cy="5355312"/>
          </a:xfrm>
          <a:prstGeom prst="rect">
            <a:avLst/>
          </a:prstGeom>
          <a:noFill/>
        </p:spPr>
        <p:txBody>
          <a:bodyPr wrap="square">
            <a:spAutoFit/>
          </a:bodyPr>
          <a:lstStyle/>
          <a:p>
            <a:pPr marL="285750" indent="-285750" fontAlgn="base">
              <a:lnSpc>
                <a:spcPct val="150000"/>
              </a:lnSpc>
              <a:buFont typeface="Arial" panose="020B0604020202020204" pitchFamily="34" charset="0"/>
              <a:buChar char="•"/>
            </a:pPr>
            <a:r>
              <a:rPr lang="en-US" sz="2000" b="1" dirty="0">
                <a:solidFill>
                  <a:srgbClr val="000000"/>
                </a:solidFill>
                <a:latin typeface="Merriweather" pitchFamily="2" charset="77"/>
                <a:ea typeface="Arial"/>
                <a:cs typeface="Arial"/>
                <a:sym typeface="Arial"/>
              </a:rPr>
              <a:t>Expected Insights:  </a:t>
            </a:r>
            <a:r>
              <a:rPr lang="en-US" sz="2000" dirty="0">
                <a:latin typeface="Merriweather" pitchFamily="2" charset="77"/>
              </a:rPr>
              <a:t>Identifying which municipalities are shrinking due to:</a:t>
            </a:r>
          </a:p>
          <a:p>
            <a:pPr marL="742950" lvl="1" indent="-285750" fontAlgn="base">
              <a:lnSpc>
                <a:spcPct val="150000"/>
              </a:lnSpc>
              <a:buFont typeface="Arial" panose="020B0604020202020204" pitchFamily="34" charset="0"/>
              <a:buChar char="•"/>
            </a:pPr>
            <a:r>
              <a:rPr lang="en-US" sz="2000" dirty="0">
                <a:latin typeface="Merriweather" pitchFamily="2" charset="77"/>
              </a:rPr>
              <a:t>Structural demographics (aging)</a:t>
            </a:r>
          </a:p>
          <a:p>
            <a:pPr marL="742950" lvl="1" indent="-285750" fontAlgn="base">
              <a:lnSpc>
                <a:spcPct val="150000"/>
              </a:lnSpc>
              <a:buFont typeface="Arial" panose="020B0604020202020204" pitchFamily="34" charset="0"/>
              <a:buChar char="•"/>
            </a:pPr>
            <a:r>
              <a:rPr lang="en-US" sz="2000" dirty="0">
                <a:latin typeface="Merriweather" pitchFamily="2" charset="77"/>
              </a:rPr>
              <a:t>External shocks (natural disasters)</a:t>
            </a:r>
          </a:p>
          <a:p>
            <a:pPr marL="742950" lvl="1" indent="-285750" fontAlgn="base">
              <a:lnSpc>
                <a:spcPct val="150000"/>
              </a:lnSpc>
              <a:buFont typeface="Arial" panose="020B0604020202020204" pitchFamily="34" charset="0"/>
              <a:buChar char="•"/>
            </a:pPr>
            <a:endParaRPr lang="en-US" sz="2000" dirty="0">
              <a:latin typeface="Merriweather" pitchFamily="2" charset="77"/>
            </a:endParaRPr>
          </a:p>
          <a:p>
            <a:pPr fontAlgn="base"/>
            <a:endParaRPr lang="en-US" sz="2000" dirty="0">
              <a:solidFill>
                <a:srgbClr val="000000"/>
              </a:solidFill>
              <a:latin typeface="Merriweather" pitchFamily="2" charset="77"/>
              <a:ea typeface="Arial"/>
              <a:cs typeface="Arial"/>
              <a:sym typeface="Arial"/>
            </a:endParaRPr>
          </a:p>
          <a:p>
            <a:pPr marL="288925" lvl="0"/>
            <a:r>
              <a:rPr lang="en-US" sz="2000" dirty="0">
                <a:solidFill>
                  <a:srgbClr val="000000"/>
                </a:solidFill>
                <a:latin typeface="Arial"/>
                <a:ea typeface="Arial"/>
                <a:cs typeface="Arial"/>
                <a:sym typeface="Arial"/>
              </a:rPr>
              <a:t>Today, existing tools track </a:t>
            </a:r>
            <a:r>
              <a:rPr lang="en-US" sz="2000" i="1" dirty="0">
                <a:solidFill>
                  <a:srgbClr val="000000"/>
                </a:solidFill>
                <a:latin typeface="Arial"/>
                <a:ea typeface="Arial"/>
                <a:cs typeface="Arial"/>
                <a:sym typeface="Arial"/>
              </a:rPr>
              <a:t>how many</a:t>
            </a:r>
            <a:r>
              <a:rPr lang="en-US" sz="2000" dirty="0">
                <a:solidFill>
                  <a:srgbClr val="000000"/>
                </a:solidFill>
                <a:latin typeface="Arial"/>
                <a:ea typeface="Arial"/>
                <a:cs typeface="Arial"/>
                <a:sym typeface="Arial"/>
              </a:rPr>
              <a:t> people leave, but they don't explain </a:t>
            </a:r>
            <a:r>
              <a:rPr lang="en-US" sz="2000" i="1" dirty="0">
                <a:solidFill>
                  <a:srgbClr val="000000"/>
                </a:solidFill>
                <a:latin typeface="Arial"/>
                <a:ea typeface="Arial"/>
                <a:cs typeface="Arial"/>
                <a:sym typeface="Arial"/>
              </a:rPr>
              <a:t>why </a:t>
            </a:r>
            <a:r>
              <a:rPr lang="en-US" sz="2000" dirty="0">
                <a:solidFill>
                  <a:srgbClr val="000000"/>
                </a:solidFill>
                <a:latin typeface="Arial"/>
                <a:ea typeface="Arial"/>
                <a:cs typeface="Arial"/>
                <a:sym typeface="Arial"/>
              </a:rPr>
              <a:t>— specifically, they fail to distinguish between towns shrinking due to "natural" demographic momentum versus those emptying out due to external shocks, like natural disasters</a:t>
            </a:r>
          </a:p>
          <a:p>
            <a:pPr marL="288925" lvl="0"/>
            <a:endParaRPr lang="en-US" sz="2000" dirty="0">
              <a:solidFill>
                <a:srgbClr val="000000"/>
              </a:solidFill>
              <a:latin typeface="Arial"/>
              <a:cs typeface="Arial"/>
              <a:sym typeface="Arial"/>
            </a:endParaRPr>
          </a:p>
          <a:p>
            <a:pPr marL="631825" indent="-342900">
              <a:buFont typeface="Arial" panose="020B0604020202020204" pitchFamily="34" charset="0"/>
              <a:buChar char="•"/>
            </a:pPr>
            <a:r>
              <a:rPr lang="en-US" dirty="0">
                <a:solidFill>
                  <a:srgbClr val="000000"/>
                </a:solidFill>
                <a:latin typeface="Arial"/>
                <a:cs typeface="Arial"/>
                <a:sym typeface="Arial"/>
              </a:rPr>
              <a:t>One tool is </a:t>
            </a:r>
            <a:r>
              <a:rPr lang="en-US" sz="1600" b="1" dirty="0"/>
              <a:t>Demographic Analysis &amp; Population Projection System (DAPPS) </a:t>
            </a:r>
            <a:r>
              <a:rPr lang="en-US" sz="1600" dirty="0"/>
              <a:t>Software from the Census Bureau and it doesn’t account for natural disasters!</a:t>
            </a:r>
          </a:p>
          <a:p>
            <a:pPr marL="631825" lvl="0" indent="-342900">
              <a:buFont typeface="Arial" panose="020B0604020202020204" pitchFamily="34" charset="0"/>
              <a:buChar char="•"/>
            </a:pPr>
            <a:endParaRPr lang="en-US" sz="2000" dirty="0">
              <a:latin typeface="Merriweather" pitchFamily="2" charset="77"/>
            </a:endParaRPr>
          </a:p>
          <a:p>
            <a:pPr marL="342900" indent="-342900">
              <a:buFont typeface="Arial" panose="020B0604020202020204" pitchFamily="34" charset="0"/>
              <a:buChar char="•"/>
            </a:pPr>
            <a:endParaRPr lang="en-US" b="1" dirty="0">
              <a:solidFill>
                <a:schemeClr val="tx1">
                  <a:lumMod val="75000"/>
                  <a:lumOff val="25000"/>
                </a:schemeClr>
              </a:solidFill>
              <a:latin typeface="Merriweather" pitchFamily="2" charset="77"/>
            </a:endParaRPr>
          </a:p>
        </p:txBody>
      </p:sp>
    </p:spTree>
    <p:extLst>
      <p:ext uri="{BB962C8B-B14F-4D97-AF65-F5344CB8AC3E}">
        <p14:creationId xmlns:p14="http://schemas.microsoft.com/office/powerpoint/2010/main" val="1729947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94">
          <a:extLst>
            <a:ext uri="{FF2B5EF4-FFF2-40B4-BE49-F238E27FC236}">
              <a16:creationId xmlns:a16="http://schemas.microsoft.com/office/drawing/2014/main" id="{6A3B2E0F-1F4C-198C-8642-C7AE9B782DDB}"/>
            </a:ext>
          </a:extLst>
        </p:cNvPr>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E6155FB8-21BD-5532-7667-295FE945482A}"/>
              </a:ext>
            </a:extLst>
          </p:cNvPr>
          <p:cNvGraphicFramePr>
            <a:graphicFrameLocks noGrp="1"/>
          </p:cNvGraphicFramePr>
          <p:nvPr>
            <p:extLst>
              <p:ext uri="{D42A27DB-BD31-4B8C-83A1-F6EECF244321}">
                <p14:modId xmlns:p14="http://schemas.microsoft.com/office/powerpoint/2010/main" val="683318561"/>
              </p:ext>
            </p:extLst>
          </p:nvPr>
        </p:nvGraphicFramePr>
        <p:xfrm>
          <a:off x="571499" y="1450339"/>
          <a:ext cx="11481956" cy="5360361"/>
        </p:xfrm>
        <a:graphic>
          <a:graphicData uri="http://schemas.openxmlformats.org/drawingml/2006/table">
            <a:tbl>
              <a:tblPr>
                <a:tableStyleId>{16D9F66E-5EB9-4882-86FB-DCBF35E3C3E4}</a:tableStyleId>
              </a:tblPr>
              <a:tblGrid>
                <a:gridCol w="2870489">
                  <a:extLst>
                    <a:ext uri="{9D8B030D-6E8A-4147-A177-3AD203B41FA5}">
                      <a16:colId xmlns:a16="http://schemas.microsoft.com/office/drawing/2014/main" val="2776801543"/>
                    </a:ext>
                  </a:extLst>
                </a:gridCol>
                <a:gridCol w="2870489">
                  <a:extLst>
                    <a:ext uri="{9D8B030D-6E8A-4147-A177-3AD203B41FA5}">
                      <a16:colId xmlns:a16="http://schemas.microsoft.com/office/drawing/2014/main" val="1631583992"/>
                    </a:ext>
                  </a:extLst>
                </a:gridCol>
                <a:gridCol w="2870489">
                  <a:extLst>
                    <a:ext uri="{9D8B030D-6E8A-4147-A177-3AD203B41FA5}">
                      <a16:colId xmlns:a16="http://schemas.microsoft.com/office/drawing/2014/main" val="3386111378"/>
                    </a:ext>
                  </a:extLst>
                </a:gridCol>
                <a:gridCol w="2870489">
                  <a:extLst>
                    <a:ext uri="{9D8B030D-6E8A-4147-A177-3AD203B41FA5}">
                      <a16:colId xmlns:a16="http://schemas.microsoft.com/office/drawing/2014/main" val="3400256682"/>
                    </a:ext>
                  </a:extLst>
                </a:gridCol>
              </a:tblGrid>
              <a:tr h="307707">
                <a:tc>
                  <a:txBody>
                    <a:bodyPr/>
                    <a:lstStyle/>
                    <a:p>
                      <a:pPr marL="0" marR="0" algn="l" defTabSz="457200" rtl="0" eaLnBrk="1" latinLnBrk="0" hangingPunct="1">
                        <a:lnSpc>
                          <a:spcPct val="115000"/>
                        </a:lnSpc>
                        <a:spcBef>
                          <a:spcPts val="600"/>
                        </a:spcBef>
                        <a:spcAft>
                          <a:spcPts val="800"/>
                        </a:spcAft>
                        <a:buNone/>
                      </a:pPr>
                      <a:r>
                        <a:rPr lang="en-US" sz="1200" b="1" kern="0" dirty="0">
                          <a:solidFill>
                            <a:schemeClr val="dk1"/>
                          </a:solidFill>
                          <a:effectLst/>
                          <a:latin typeface="Merriweather" pitchFamily="2" charset="77"/>
                        </a:rPr>
                        <a:t>Data Category</a:t>
                      </a:r>
                      <a:endParaRPr lang="en-US" sz="1200" b="1" kern="0" dirty="0">
                        <a:solidFill>
                          <a:schemeClr val="dk1"/>
                        </a:solidFill>
                        <a:effectLst/>
                        <a:latin typeface="Merriweather" pitchFamily="2" charset="77"/>
                        <a:ea typeface="+mn-ea"/>
                        <a:cs typeface="+mn-cs"/>
                      </a:endParaRPr>
                    </a:p>
                  </a:txBody>
                  <a:tcPr marL="67456" marR="67456" marT="44971" marB="44971"/>
                </a:tc>
                <a:tc>
                  <a:txBody>
                    <a:bodyPr/>
                    <a:lstStyle/>
                    <a:p>
                      <a:pPr marL="0" marR="0" algn="l" defTabSz="457200" rtl="0" eaLnBrk="1" latinLnBrk="0" hangingPunct="1">
                        <a:lnSpc>
                          <a:spcPct val="115000"/>
                        </a:lnSpc>
                        <a:spcBef>
                          <a:spcPts val="600"/>
                        </a:spcBef>
                        <a:spcAft>
                          <a:spcPts val="800"/>
                        </a:spcAft>
                        <a:buNone/>
                      </a:pPr>
                      <a:r>
                        <a:rPr lang="en-US" sz="1200" b="1" kern="0" dirty="0">
                          <a:solidFill>
                            <a:schemeClr val="dk1"/>
                          </a:solidFill>
                          <a:effectLst/>
                          <a:latin typeface="Merriweather" pitchFamily="2" charset="77"/>
                        </a:rPr>
                        <a:t>Source</a:t>
                      </a:r>
                      <a:endParaRPr lang="en-US" sz="1200" b="1" kern="0" dirty="0">
                        <a:solidFill>
                          <a:schemeClr val="dk1"/>
                        </a:solidFill>
                        <a:effectLst/>
                        <a:latin typeface="Merriweather" pitchFamily="2" charset="77"/>
                        <a:ea typeface="+mn-ea"/>
                        <a:cs typeface="+mn-cs"/>
                      </a:endParaRPr>
                    </a:p>
                  </a:txBody>
                  <a:tcPr marL="67456" marR="67456" marT="44971" marB="44971"/>
                </a:tc>
                <a:tc>
                  <a:txBody>
                    <a:bodyPr/>
                    <a:lstStyle/>
                    <a:p>
                      <a:pPr marL="0" marR="0" algn="l" defTabSz="457200" rtl="0" eaLnBrk="1" latinLnBrk="0" hangingPunct="1">
                        <a:lnSpc>
                          <a:spcPct val="115000"/>
                        </a:lnSpc>
                        <a:spcBef>
                          <a:spcPts val="600"/>
                        </a:spcBef>
                        <a:spcAft>
                          <a:spcPts val="800"/>
                        </a:spcAft>
                        <a:buNone/>
                      </a:pPr>
                      <a:r>
                        <a:rPr lang="en-US" sz="1200" b="1" kern="0">
                          <a:solidFill>
                            <a:schemeClr val="dk1"/>
                          </a:solidFill>
                          <a:effectLst/>
                          <a:latin typeface="Merriweather" pitchFamily="2" charset="77"/>
                        </a:rPr>
                        <a:t>Variables (Features)</a:t>
                      </a:r>
                      <a:endParaRPr lang="en-US" sz="1200" b="1" kern="0">
                        <a:solidFill>
                          <a:schemeClr val="dk1"/>
                        </a:solidFill>
                        <a:effectLst/>
                        <a:latin typeface="Merriweather" pitchFamily="2" charset="77"/>
                        <a:ea typeface="+mn-ea"/>
                        <a:cs typeface="+mn-cs"/>
                      </a:endParaRPr>
                    </a:p>
                  </a:txBody>
                  <a:tcPr marL="67456" marR="67456" marT="44971" marB="44971"/>
                </a:tc>
                <a:tc>
                  <a:txBody>
                    <a:bodyPr/>
                    <a:lstStyle/>
                    <a:p>
                      <a:pPr marL="0" marR="0" algn="l" defTabSz="457200" rtl="0" eaLnBrk="1" latinLnBrk="0" hangingPunct="1">
                        <a:lnSpc>
                          <a:spcPct val="115000"/>
                        </a:lnSpc>
                        <a:spcBef>
                          <a:spcPts val="600"/>
                        </a:spcBef>
                        <a:spcAft>
                          <a:spcPts val="800"/>
                        </a:spcAft>
                        <a:buNone/>
                      </a:pPr>
                      <a:r>
                        <a:rPr lang="en-US" sz="1200" b="1" kern="0">
                          <a:solidFill>
                            <a:schemeClr val="dk1"/>
                          </a:solidFill>
                          <a:effectLst/>
                          <a:latin typeface="Merriweather" pitchFamily="2" charset="77"/>
                        </a:rPr>
                        <a:t>Why it’s Appropriate</a:t>
                      </a:r>
                      <a:endParaRPr lang="en-US" sz="1200" b="1" kern="0">
                        <a:solidFill>
                          <a:schemeClr val="dk1"/>
                        </a:solidFill>
                        <a:effectLst/>
                        <a:latin typeface="Merriweather" pitchFamily="2" charset="77"/>
                        <a:ea typeface="+mn-ea"/>
                        <a:cs typeface="+mn-cs"/>
                      </a:endParaRPr>
                    </a:p>
                  </a:txBody>
                  <a:tcPr marL="67456" marR="67456" marT="44971" marB="44971"/>
                </a:tc>
                <a:extLst>
                  <a:ext uri="{0D108BD9-81ED-4DB2-BD59-A6C34878D82A}">
                    <a16:rowId xmlns:a16="http://schemas.microsoft.com/office/drawing/2014/main" val="3605308596"/>
                  </a:ext>
                </a:extLst>
              </a:tr>
              <a:tr h="866902">
                <a:tc>
                  <a:txBody>
                    <a:bodyPr/>
                    <a:lstStyle/>
                    <a:p>
                      <a:pPr marL="0" marR="0" algn="l" defTabSz="457200" rtl="0" eaLnBrk="1" latinLnBrk="0" hangingPunct="1">
                        <a:lnSpc>
                          <a:spcPct val="115000"/>
                        </a:lnSpc>
                        <a:spcBef>
                          <a:spcPts val="600"/>
                        </a:spcBef>
                        <a:spcAft>
                          <a:spcPts val="800"/>
                        </a:spcAft>
                        <a:buNone/>
                      </a:pPr>
                      <a:r>
                        <a:rPr lang="en-US" sz="1200" b="1" kern="0" dirty="0">
                          <a:solidFill>
                            <a:schemeClr val="dk1"/>
                          </a:solidFill>
                          <a:effectLst/>
                          <a:latin typeface="Merriweather" pitchFamily="2" charset="77"/>
                        </a:rPr>
                        <a:t>Target Variable</a:t>
                      </a:r>
                      <a:endParaRPr lang="en-US" sz="1200" b="1" kern="0" dirty="0">
                        <a:solidFill>
                          <a:schemeClr val="dk1"/>
                        </a:solidFill>
                        <a:effectLst/>
                        <a:latin typeface="Merriweather" pitchFamily="2" charset="77"/>
                        <a:ea typeface="+mn-ea"/>
                        <a:cs typeface="+mn-cs"/>
                      </a:endParaRPr>
                    </a:p>
                  </a:txBody>
                  <a:tcPr marL="67456" marR="67456" marT="44971" marB="44971"/>
                </a:tc>
                <a:tc>
                  <a:txBody>
                    <a:bodyPr/>
                    <a:lstStyle/>
                    <a:p>
                      <a:pPr marL="0" marR="0" algn="l" defTabSz="457200" rtl="0" eaLnBrk="1" latinLnBrk="0" hangingPunct="1">
                        <a:lnSpc>
                          <a:spcPct val="115000"/>
                        </a:lnSpc>
                        <a:spcAft>
                          <a:spcPts val="800"/>
                        </a:spcAft>
                        <a:buNone/>
                      </a:pPr>
                      <a:r>
                        <a:rPr lang="en-US" sz="1200" b="1" kern="0">
                          <a:solidFill>
                            <a:schemeClr val="dk1"/>
                          </a:solidFill>
                          <a:effectLst/>
                          <a:latin typeface="Merriweather" pitchFamily="2" charset="77"/>
                        </a:rPr>
                        <a:t>U.S. Census PEP (Population Estimates Program)</a:t>
                      </a:r>
                    </a:p>
                    <a:p>
                      <a:pPr marL="0" marR="0" algn="l" defTabSz="457200" rtl="0" eaLnBrk="1" latinLnBrk="0" hangingPunct="1">
                        <a:lnSpc>
                          <a:spcPct val="115000"/>
                        </a:lnSpc>
                        <a:spcAft>
                          <a:spcPts val="800"/>
                        </a:spcAft>
                        <a:buNone/>
                      </a:pPr>
                      <a:r>
                        <a:rPr lang="en-US" sz="1200" b="1" kern="0">
                          <a:solidFill>
                            <a:schemeClr val="dk1"/>
                          </a:solidFill>
                          <a:effectLst/>
                          <a:latin typeface="Merriweather" pitchFamily="2" charset="77"/>
                        </a:rPr>
                        <a:t> </a:t>
                      </a:r>
                      <a:endParaRPr lang="en-US" sz="1200" b="1" kern="0">
                        <a:solidFill>
                          <a:schemeClr val="dk1"/>
                        </a:solidFill>
                        <a:effectLst/>
                        <a:latin typeface="Merriweather" pitchFamily="2" charset="77"/>
                        <a:ea typeface="+mn-ea"/>
                        <a:cs typeface="+mn-cs"/>
                      </a:endParaRPr>
                    </a:p>
                  </a:txBody>
                  <a:tcPr marL="67456" marR="67456" marT="44971" marB="44971"/>
                </a:tc>
                <a:tc>
                  <a:txBody>
                    <a:bodyPr/>
                    <a:lstStyle/>
                    <a:p>
                      <a:pPr marL="0" marR="0" algn="l" defTabSz="457200" rtl="0" eaLnBrk="1" latinLnBrk="0" hangingPunct="1">
                        <a:lnSpc>
                          <a:spcPct val="115000"/>
                        </a:lnSpc>
                        <a:spcAft>
                          <a:spcPts val="800"/>
                        </a:spcAft>
                        <a:buNone/>
                      </a:pPr>
                      <a:r>
                        <a:rPr lang="en-US" sz="1200" b="1" kern="0" dirty="0">
                          <a:solidFill>
                            <a:schemeClr val="dk1"/>
                          </a:solidFill>
                          <a:effectLst/>
                          <a:latin typeface="Merriweather" pitchFamily="2" charset="77"/>
                        </a:rPr>
                        <a:t>• Total Population</a:t>
                      </a:r>
                    </a:p>
                    <a:p>
                      <a:pPr marL="0" marR="0" algn="l" defTabSz="457200" rtl="0" eaLnBrk="1" latinLnBrk="0" hangingPunct="1">
                        <a:lnSpc>
                          <a:spcPct val="115000"/>
                        </a:lnSpc>
                        <a:spcAft>
                          <a:spcPts val="800"/>
                        </a:spcAft>
                        <a:buNone/>
                      </a:pPr>
                      <a:r>
                        <a:rPr lang="en-US" sz="1200" b="1" kern="0" dirty="0">
                          <a:solidFill>
                            <a:schemeClr val="dk1"/>
                          </a:solidFill>
                          <a:effectLst/>
                          <a:latin typeface="Merriweather" pitchFamily="2" charset="77"/>
                        </a:rPr>
                        <a:t>• Net Migration</a:t>
                      </a:r>
                      <a:endParaRPr lang="en-US" sz="1200" b="1" kern="0" dirty="0">
                        <a:solidFill>
                          <a:schemeClr val="dk1"/>
                        </a:solidFill>
                        <a:effectLst/>
                        <a:latin typeface="Merriweather" pitchFamily="2" charset="77"/>
                        <a:ea typeface="+mn-ea"/>
                        <a:cs typeface="+mn-cs"/>
                      </a:endParaRPr>
                    </a:p>
                  </a:txBody>
                  <a:tcPr marL="67456" marR="67456" marT="44971" marB="44971"/>
                </a:tc>
                <a:tc>
                  <a:txBody>
                    <a:bodyPr/>
                    <a:lstStyle/>
                    <a:p>
                      <a:pPr marL="0" marR="0" algn="l" defTabSz="457200" rtl="0" eaLnBrk="1" latinLnBrk="0" hangingPunct="1">
                        <a:lnSpc>
                          <a:spcPct val="115000"/>
                        </a:lnSpc>
                        <a:spcBef>
                          <a:spcPts val="600"/>
                        </a:spcBef>
                        <a:spcAft>
                          <a:spcPts val="800"/>
                        </a:spcAft>
                        <a:buNone/>
                      </a:pPr>
                      <a:r>
                        <a:rPr lang="en-US" sz="1200" b="1" kern="0" dirty="0">
                          <a:solidFill>
                            <a:schemeClr val="dk1"/>
                          </a:solidFill>
                          <a:effectLst/>
                          <a:latin typeface="Merriweather" pitchFamily="2" charset="77"/>
                        </a:rPr>
                        <a:t>This is the Ground Truth variable we are trying to predict.</a:t>
                      </a:r>
                      <a:endParaRPr lang="en-US" sz="1200" b="1" kern="0" dirty="0">
                        <a:solidFill>
                          <a:schemeClr val="dk1"/>
                        </a:solidFill>
                        <a:effectLst/>
                        <a:latin typeface="Merriweather" pitchFamily="2" charset="77"/>
                        <a:ea typeface="+mn-ea"/>
                        <a:cs typeface="+mn-cs"/>
                      </a:endParaRPr>
                    </a:p>
                  </a:txBody>
                  <a:tcPr marL="67456" marR="67456" marT="44971" marB="44971"/>
                </a:tc>
                <a:extLst>
                  <a:ext uri="{0D108BD9-81ED-4DB2-BD59-A6C34878D82A}">
                    <a16:rowId xmlns:a16="http://schemas.microsoft.com/office/drawing/2014/main" val="838205945"/>
                  </a:ext>
                </a:extLst>
              </a:tr>
              <a:tr h="855097">
                <a:tc>
                  <a:txBody>
                    <a:bodyPr/>
                    <a:lstStyle/>
                    <a:p>
                      <a:pPr marL="0" marR="0" algn="l" defTabSz="457200" rtl="0" eaLnBrk="1" latinLnBrk="0" hangingPunct="1">
                        <a:lnSpc>
                          <a:spcPct val="115000"/>
                        </a:lnSpc>
                        <a:spcBef>
                          <a:spcPts val="600"/>
                        </a:spcBef>
                        <a:spcAft>
                          <a:spcPts val="800"/>
                        </a:spcAft>
                        <a:buNone/>
                      </a:pPr>
                      <a:r>
                        <a:rPr lang="en-US" sz="1200" b="1" kern="0" dirty="0">
                          <a:solidFill>
                            <a:schemeClr val="dk1"/>
                          </a:solidFill>
                          <a:effectLst/>
                          <a:latin typeface="Merriweather" pitchFamily="2" charset="77"/>
                        </a:rPr>
                        <a:t>Demographic Structure</a:t>
                      </a:r>
                      <a:endParaRPr lang="en-US" sz="1200" b="1" kern="0" dirty="0">
                        <a:solidFill>
                          <a:schemeClr val="dk1"/>
                        </a:solidFill>
                        <a:effectLst/>
                        <a:latin typeface="Merriweather" pitchFamily="2" charset="77"/>
                        <a:ea typeface="+mn-ea"/>
                        <a:cs typeface="+mn-cs"/>
                      </a:endParaRPr>
                    </a:p>
                  </a:txBody>
                  <a:tcPr marL="67456" marR="67456" marT="44971" marB="44971"/>
                </a:tc>
                <a:tc>
                  <a:txBody>
                    <a:bodyPr/>
                    <a:lstStyle/>
                    <a:p>
                      <a:pPr marL="0" marR="0" algn="l" defTabSz="457200" rtl="0" eaLnBrk="1" latinLnBrk="0" hangingPunct="1">
                        <a:lnSpc>
                          <a:spcPct val="115000"/>
                        </a:lnSpc>
                        <a:spcAft>
                          <a:spcPts val="800"/>
                        </a:spcAft>
                        <a:buNone/>
                      </a:pPr>
                      <a:r>
                        <a:rPr lang="en-US" sz="1200" b="1" kern="0" dirty="0">
                          <a:solidFill>
                            <a:schemeClr val="dk1"/>
                          </a:solidFill>
                          <a:effectLst/>
                          <a:latin typeface="Merriweather" pitchFamily="2" charset="77"/>
                        </a:rPr>
                        <a:t>U.S. Census / Vital Stats</a:t>
                      </a:r>
                    </a:p>
                    <a:p>
                      <a:pPr marL="0" marR="0" algn="l" defTabSz="457200" rtl="0" eaLnBrk="1" latinLnBrk="0" hangingPunct="1">
                        <a:lnSpc>
                          <a:spcPct val="115000"/>
                        </a:lnSpc>
                        <a:spcAft>
                          <a:spcPts val="800"/>
                        </a:spcAft>
                        <a:buNone/>
                      </a:pPr>
                      <a:r>
                        <a:rPr lang="en-US" sz="1200" b="1" kern="0" dirty="0">
                          <a:solidFill>
                            <a:schemeClr val="dk1"/>
                          </a:solidFill>
                          <a:effectLst/>
                          <a:latin typeface="Merriweather" pitchFamily="2" charset="77"/>
                        </a:rPr>
                        <a:t> </a:t>
                      </a:r>
                      <a:endParaRPr lang="en-US" sz="1200" b="1" kern="0" dirty="0">
                        <a:solidFill>
                          <a:schemeClr val="dk1"/>
                        </a:solidFill>
                        <a:effectLst/>
                        <a:latin typeface="Merriweather" pitchFamily="2" charset="77"/>
                        <a:ea typeface="+mn-ea"/>
                        <a:cs typeface="+mn-cs"/>
                      </a:endParaRPr>
                    </a:p>
                  </a:txBody>
                  <a:tcPr marL="67456" marR="67456" marT="44971" marB="44971"/>
                </a:tc>
                <a:tc>
                  <a:txBody>
                    <a:bodyPr/>
                    <a:lstStyle/>
                    <a:p>
                      <a:pPr marL="0" marR="0" algn="l" defTabSz="457200" rtl="0" eaLnBrk="1" latinLnBrk="0" hangingPunct="1">
                        <a:lnSpc>
                          <a:spcPct val="115000"/>
                        </a:lnSpc>
                        <a:spcAft>
                          <a:spcPts val="800"/>
                        </a:spcAft>
                        <a:buNone/>
                      </a:pPr>
                      <a:r>
                        <a:rPr lang="en-US" sz="1200" b="1" kern="0" dirty="0">
                          <a:solidFill>
                            <a:schemeClr val="dk1"/>
                          </a:solidFill>
                          <a:effectLst/>
                          <a:latin typeface="Merriweather" pitchFamily="2" charset="77"/>
                        </a:rPr>
                        <a:t>• Age Structure (% under 15, % over 65)</a:t>
                      </a:r>
                    </a:p>
                    <a:p>
                      <a:pPr marL="0" marR="0" algn="l" defTabSz="457200" rtl="0" eaLnBrk="1" latinLnBrk="0" hangingPunct="1">
                        <a:lnSpc>
                          <a:spcPct val="115000"/>
                        </a:lnSpc>
                        <a:spcAft>
                          <a:spcPts val="800"/>
                        </a:spcAft>
                        <a:buNone/>
                      </a:pPr>
                      <a:r>
                        <a:rPr lang="en-US" sz="1200" b="1" kern="0" dirty="0">
                          <a:solidFill>
                            <a:schemeClr val="dk1"/>
                          </a:solidFill>
                          <a:effectLst/>
                          <a:latin typeface="Merriweather" pitchFamily="2" charset="77"/>
                        </a:rPr>
                        <a:t>• Crude Birth Rate</a:t>
                      </a:r>
                      <a:endParaRPr lang="en-US" sz="1200" b="1" kern="0" dirty="0">
                        <a:solidFill>
                          <a:schemeClr val="dk1"/>
                        </a:solidFill>
                        <a:effectLst/>
                        <a:latin typeface="Merriweather" pitchFamily="2" charset="77"/>
                        <a:ea typeface="+mn-ea"/>
                        <a:cs typeface="+mn-cs"/>
                      </a:endParaRPr>
                    </a:p>
                  </a:txBody>
                  <a:tcPr marL="67456" marR="67456" marT="44971" marB="44971"/>
                </a:tc>
                <a:tc>
                  <a:txBody>
                    <a:bodyPr/>
                    <a:lstStyle/>
                    <a:p>
                      <a:pPr marL="0" marR="0" algn="l" defTabSz="457200" rtl="0" eaLnBrk="1" latinLnBrk="0" hangingPunct="1">
                        <a:lnSpc>
                          <a:spcPct val="115000"/>
                        </a:lnSpc>
                        <a:spcBef>
                          <a:spcPts val="600"/>
                        </a:spcBef>
                        <a:spcAft>
                          <a:spcPts val="800"/>
                        </a:spcAft>
                        <a:buNone/>
                      </a:pPr>
                      <a:r>
                        <a:rPr lang="en-US" sz="1200" b="1" kern="0" dirty="0">
                          <a:solidFill>
                            <a:schemeClr val="dk1"/>
                          </a:solidFill>
                          <a:effectLst/>
                          <a:latin typeface="Merriweather" pitchFamily="2" charset="77"/>
                        </a:rPr>
                        <a:t>These proxy Demographic Momentum—the internal speed of decline regardless of hurricanes.</a:t>
                      </a:r>
                      <a:endParaRPr lang="en-US" sz="1200" b="1" kern="0" dirty="0">
                        <a:solidFill>
                          <a:schemeClr val="dk1"/>
                        </a:solidFill>
                        <a:effectLst/>
                        <a:latin typeface="Merriweather" pitchFamily="2" charset="77"/>
                        <a:ea typeface="+mn-ea"/>
                        <a:cs typeface="+mn-cs"/>
                      </a:endParaRPr>
                    </a:p>
                  </a:txBody>
                  <a:tcPr marL="67456" marR="67456" marT="44971" marB="44971"/>
                </a:tc>
                <a:extLst>
                  <a:ext uri="{0D108BD9-81ED-4DB2-BD59-A6C34878D82A}">
                    <a16:rowId xmlns:a16="http://schemas.microsoft.com/office/drawing/2014/main" val="1606772923"/>
                  </a:ext>
                </a:extLst>
              </a:tr>
              <a:tr h="962408">
                <a:tc>
                  <a:txBody>
                    <a:bodyPr/>
                    <a:lstStyle/>
                    <a:p>
                      <a:pPr marL="0" marR="0" algn="l" defTabSz="457200" rtl="0" eaLnBrk="1" latinLnBrk="0" hangingPunct="1">
                        <a:lnSpc>
                          <a:spcPct val="115000"/>
                        </a:lnSpc>
                        <a:spcBef>
                          <a:spcPts val="600"/>
                        </a:spcBef>
                        <a:spcAft>
                          <a:spcPts val="800"/>
                        </a:spcAft>
                        <a:buNone/>
                      </a:pPr>
                      <a:r>
                        <a:rPr lang="en-US" sz="1200" b="1" kern="0">
                          <a:solidFill>
                            <a:schemeClr val="dk1"/>
                          </a:solidFill>
                          <a:effectLst/>
                          <a:latin typeface="Merriweather" pitchFamily="2" charset="77"/>
                        </a:rPr>
                        <a:t>Economic Resilience</a:t>
                      </a:r>
                      <a:endParaRPr lang="en-US" sz="1200" b="1" kern="0">
                        <a:solidFill>
                          <a:schemeClr val="dk1"/>
                        </a:solidFill>
                        <a:effectLst/>
                        <a:latin typeface="Merriweather" pitchFamily="2" charset="77"/>
                        <a:ea typeface="+mn-ea"/>
                        <a:cs typeface="+mn-cs"/>
                      </a:endParaRPr>
                    </a:p>
                  </a:txBody>
                  <a:tcPr marL="67456" marR="67456" marT="44971" marB="44971"/>
                </a:tc>
                <a:tc>
                  <a:txBody>
                    <a:bodyPr/>
                    <a:lstStyle/>
                    <a:p>
                      <a:pPr marL="0" marR="0" algn="l" defTabSz="457200" rtl="0" eaLnBrk="1" latinLnBrk="0" hangingPunct="1">
                        <a:lnSpc>
                          <a:spcPct val="115000"/>
                        </a:lnSpc>
                        <a:spcAft>
                          <a:spcPts val="800"/>
                        </a:spcAft>
                        <a:buNone/>
                      </a:pPr>
                      <a:r>
                        <a:rPr lang="en-US" sz="1200" b="1" kern="0" dirty="0">
                          <a:solidFill>
                            <a:schemeClr val="dk1"/>
                          </a:solidFill>
                          <a:effectLst/>
                          <a:latin typeface="Merriweather" pitchFamily="2" charset="77"/>
                        </a:rPr>
                        <a:t> </a:t>
                      </a:r>
                    </a:p>
                    <a:p>
                      <a:pPr marL="0" marR="0" algn="l" defTabSz="457200" rtl="0" eaLnBrk="1" latinLnBrk="0" hangingPunct="1">
                        <a:lnSpc>
                          <a:spcPct val="115000"/>
                        </a:lnSpc>
                        <a:spcAft>
                          <a:spcPts val="800"/>
                        </a:spcAft>
                        <a:buNone/>
                      </a:pPr>
                      <a:r>
                        <a:rPr lang="en-US" sz="1200" b="1" kern="0" dirty="0">
                          <a:solidFill>
                            <a:schemeClr val="dk1"/>
                          </a:solidFill>
                          <a:effectLst/>
                          <a:latin typeface="Merriweather" pitchFamily="2" charset="77"/>
                        </a:rPr>
                        <a:t>ACS (American Community Survey) &amp; County Business Patterns</a:t>
                      </a:r>
                    </a:p>
                  </a:txBody>
                  <a:tcPr marL="67456" marR="67456" marT="44971" marB="44971"/>
                </a:tc>
                <a:tc>
                  <a:txBody>
                    <a:bodyPr/>
                    <a:lstStyle/>
                    <a:p>
                      <a:pPr marL="0" marR="0" algn="l" defTabSz="457200" rtl="0" eaLnBrk="1" latinLnBrk="0" hangingPunct="1">
                        <a:lnSpc>
                          <a:spcPct val="115000"/>
                        </a:lnSpc>
                        <a:spcAft>
                          <a:spcPts val="800"/>
                        </a:spcAft>
                        <a:buNone/>
                      </a:pPr>
                      <a:r>
                        <a:rPr lang="en-US" sz="1200" b="1" kern="0" dirty="0">
                          <a:solidFill>
                            <a:schemeClr val="dk1"/>
                          </a:solidFill>
                          <a:effectLst/>
                          <a:latin typeface="Merriweather" pitchFamily="2" charset="77"/>
                        </a:rPr>
                        <a:t>• Unemployment Rate</a:t>
                      </a:r>
                    </a:p>
                    <a:p>
                      <a:pPr marL="0" marR="0" algn="l" defTabSz="457200" rtl="0" eaLnBrk="1" latinLnBrk="0" hangingPunct="1">
                        <a:lnSpc>
                          <a:spcPct val="115000"/>
                        </a:lnSpc>
                        <a:spcAft>
                          <a:spcPts val="800"/>
                        </a:spcAft>
                        <a:buNone/>
                      </a:pPr>
                      <a:r>
                        <a:rPr lang="en-US" sz="1200" b="1" kern="0" dirty="0">
                          <a:solidFill>
                            <a:schemeClr val="dk1"/>
                          </a:solidFill>
                          <a:effectLst/>
                          <a:latin typeface="Merriweather" pitchFamily="2" charset="77"/>
                        </a:rPr>
                        <a:t>• Payroll Counts</a:t>
                      </a:r>
                    </a:p>
                    <a:p>
                      <a:pPr marL="0" marR="0" algn="l" defTabSz="457200" rtl="0" eaLnBrk="1" latinLnBrk="0" hangingPunct="1">
                        <a:lnSpc>
                          <a:spcPct val="115000"/>
                        </a:lnSpc>
                        <a:spcAft>
                          <a:spcPts val="800"/>
                        </a:spcAft>
                        <a:buNone/>
                      </a:pPr>
                      <a:r>
                        <a:rPr lang="en-US" sz="1200" b="1" kern="0" dirty="0">
                          <a:solidFill>
                            <a:schemeClr val="dk1"/>
                          </a:solidFill>
                          <a:effectLst/>
                          <a:latin typeface="Merriweather" pitchFamily="2" charset="77"/>
                        </a:rPr>
                        <a:t>• Establishment Counts</a:t>
                      </a:r>
                      <a:endParaRPr lang="en-US" sz="1200" b="1" kern="0" dirty="0">
                        <a:solidFill>
                          <a:schemeClr val="dk1"/>
                        </a:solidFill>
                        <a:effectLst/>
                        <a:latin typeface="Merriweather" pitchFamily="2" charset="77"/>
                        <a:ea typeface="+mn-ea"/>
                        <a:cs typeface="+mn-cs"/>
                      </a:endParaRPr>
                    </a:p>
                  </a:txBody>
                  <a:tcPr marL="67456" marR="67456" marT="44971" marB="44971"/>
                </a:tc>
                <a:tc>
                  <a:txBody>
                    <a:bodyPr/>
                    <a:lstStyle/>
                    <a:p>
                      <a:pPr marL="0" marR="0" algn="l" defTabSz="457200" rtl="0" eaLnBrk="1" latinLnBrk="0" hangingPunct="1">
                        <a:lnSpc>
                          <a:spcPct val="115000"/>
                        </a:lnSpc>
                        <a:spcBef>
                          <a:spcPts val="600"/>
                        </a:spcBef>
                        <a:spcAft>
                          <a:spcPts val="800"/>
                        </a:spcAft>
                        <a:buNone/>
                      </a:pPr>
                      <a:r>
                        <a:rPr lang="en-US" sz="1200" b="1" kern="0" dirty="0">
                          <a:solidFill>
                            <a:schemeClr val="dk1"/>
                          </a:solidFill>
                          <a:effectLst/>
                          <a:latin typeface="Merriweather" pitchFamily="2" charset="77"/>
                        </a:rPr>
                        <a:t>Economic health acts as a "buffer." Towns with jobs may retain people better after a storm.</a:t>
                      </a:r>
                      <a:endParaRPr lang="en-US" sz="1200" b="1" kern="0" dirty="0">
                        <a:solidFill>
                          <a:schemeClr val="dk1"/>
                        </a:solidFill>
                        <a:effectLst/>
                        <a:latin typeface="Merriweather" pitchFamily="2" charset="77"/>
                        <a:ea typeface="+mn-ea"/>
                        <a:cs typeface="+mn-cs"/>
                      </a:endParaRPr>
                    </a:p>
                  </a:txBody>
                  <a:tcPr marL="67456" marR="67456" marT="44971" marB="44971"/>
                </a:tc>
                <a:extLst>
                  <a:ext uri="{0D108BD9-81ED-4DB2-BD59-A6C34878D82A}">
                    <a16:rowId xmlns:a16="http://schemas.microsoft.com/office/drawing/2014/main" val="3744685404"/>
                  </a:ext>
                </a:extLst>
              </a:tr>
              <a:tr h="975694">
                <a:tc>
                  <a:txBody>
                    <a:bodyPr/>
                    <a:lstStyle/>
                    <a:p>
                      <a:pPr marL="0" marR="0" algn="l" defTabSz="457200" rtl="0" eaLnBrk="1" latinLnBrk="0" hangingPunct="1">
                        <a:lnSpc>
                          <a:spcPct val="115000"/>
                        </a:lnSpc>
                        <a:spcBef>
                          <a:spcPts val="600"/>
                        </a:spcBef>
                        <a:spcAft>
                          <a:spcPts val="800"/>
                        </a:spcAft>
                        <a:buNone/>
                      </a:pPr>
                      <a:r>
                        <a:rPr lang="en-US" sz="1200" b="1" kern="0">
                          <a:solidFill>
                            <a:schemeClr val="dk1"/>
                          </a:solidFill>
                          <a:effectLst/>
                          <a:latin typeface="Merriweather" pitchFamily="2" charset="77"/>
                        </a:rPr>
                        <a:t>Social Vulnerability</a:t>
                      </a:r>
                      <a:endParaRPr lang="en-US" sz="1200" b="1" kern="0">
                        <a:solidFill>
                          <a:schemeClr val="dk1"/>
                        </a:solidFill>
                        <a:effectLst/>
                        <a:latin typeface="Merriweather" pitchFamily="2" charset="77"/>
                        <a:ea typeface="+mn-ea"/>
                        <a:cs typeface="+mn-cs"/>
                      </a:endParaRPr>
                    </a:p>
                  </a:txBody>
                  <a:tcPr marL="67456" marR="67456" marT="44971" marB="44971"/>
                </a:tc>
                <a:tc>
                  <a:txBody>
                    <a:bodyPr/>
                    <a:lstStyle/>
                    <a:p>
                      <a:pPr marL="0" marR="0" algn="l" defTabSz="457200" rtl="0" eaLnBrk="1" latinLnBrk="0" hangingPunct="1">
                        <a:lnSpc>
                          <a:spcPct val="115000"/>
                        </a:lnSpc>
                        <a:spcBef>
                          <a:spcPts val="600"/>
                        </a:spcBef>
                        <a:spcAft>
                          <a:spcPts val="800"/>
                        </a:spcAft>
                        <a:buNone/>
                      </a:pPr>
                      <a:r>
                        <a:rPr lang="en-US" sz="1200" b="1" kern="0" dirty="0">
                          <a:solidFill>
                            <a:schemeClr val="dk1"/>
                          </a:solidFill>
                          <a:effectLst/>
                          <a:latin typeface="Merriweather" pitchFamily="2" charset="77"/>
                        </a:rPr>
                        <a:t>CDC SVI (Social Vulnerability </a:t>
                      </a:r>
                      <a:r>
                        <a:rPr lang="en-US" sz="1200" b="1" kern="0">
                          <a:solidFill>
                            <a:schemeClr val="dk1"/>
                          </a:solidFill>
                          <a:effectLst/>
                          <a:latin typeface="Merriweather" pitchFamily="2" charset="77"/>
                        </a:rPr>
                        <a:t>Index)</a:t>
                      </a:r>
                      <a:endParaRPr lang="en-US" sz="1200" b="1" kern="0" dirty="0">
                        <a:solidFill>
                          <a:schemeClr val="dk1"/>
                        </a:solidFill>
                        <a:effectLst/>
                        <a:latin typeface="Merriweather" pitchFamily="2" charset="77"/>
                        <a:ea typeface="+mn-ea"/>
                        <a:cs typeface="+mn-cs"/>
                      </a:endParaRPr>
                    </a:p>
                  </a:txBody>
                  <a:tcPr marL="67456" marR="67456" marT="44971" marB="44971"/>
                </a:tc>
                <a:tc>
                  <a:txBody>
                    <a:bodyPr/>
                    <a:lstStyle/>
                    <a:p>
                      <a:pPr marL="0" marR="0" algn="l" defTabSz="457200" rtl="0" eaLnBrk="1" latinLnBrk="0" hangingPunct="1">
                        <a:lnSpc>
                          <a:spcPct val="115000"/>
                        </a:lnSpc>
                        <a:spcAft>
                          <a:spcPts val="800"/>
                        </a:spcAft>
                        <a:buNone/>
                      </a:pPr>
                      <a:r>
                        <a:rPr lang="en-US" sz="1200" b="1" kern="0" dirty="0">
                          <a:solidFill>
                            <a:schemeClr val="dk1"/>
                          </a:solidFill>
                          <a:effectLst/>
                          <a:latin typeface="Merriweather" pitchFamily="2" charset="77"/>
                        </a:rPr>
                        <a:t>• Poverty Rate, Single parent</a:t>
                      </a:r>
                    </a:p>
                    <a:p>
                      <a:pPr marL="0" marR="0" algn="l" defTabSz="457200" rtl="0" eaLnBrk="1" latinLnBrk="0" hangingPunct="1">
                        <a:lnSpc>
                          <a:spcPct val="115000"/>
                        </a:lnSpc>
                        <a:spcAft>
                          <a:spcPts val="800"/>
                        </a:spcAft>
                        <a:buNone/>
                      </a:pPr>
                      <a:r>
                        <a:rPr lang="en-US" sz="1200" b="1" kern="0" dirty="0">
                          <a:solidFill>
                            <a:schemeClr val="dk1"/>
                          </a:solidFill>
                          <a:effectLst/>
                          <a:latin typeface="Merriweather" pitchFamily="2" charset="77"/>
                        </a:rPr>
                        <a:t>• Transportation / % No Vehicle</a:t>
                      </a:r>
                    </a:p>
                    <a:p>
                      <a:pPr marL="0" marR="0" algn="l" defTabSz="457200" rtl="0" eaLnBrk="1" latinLnBrk="0" hangingPunct="1">
                        <a:lnSpc>
                          <a:spcPct val="115000"/>
                        </a:lnSpc>
                        <a:spcAft>
                          <a:spcPts val="800"/>
                        </a:spcAft>
                        <a:buNone/>
                      </a:pPr>
                      <a:r>
                        <a:rPr lang="en-US" sz="1200" b="1" kern="0" dirty="0">
                          <a:solidFill>
                            <a:schemeClr val="dk1"/>
                          </a:solidFill>
                          <a:effectLst/>
                          <a:latin typeface="Merriweather" pitchFamily="2" charset="77"/>
                        </a:rPr>
                        <a:t>• % Disabled, etc.</a:t>
                      </a:r>
                      <a:endParaRPr lang="en-US" sz="1200" b="1" kern="0" dirty="0">
                        <a:solidFill>
                          <a:schemeClr val="dk1"/>
                        </a:solidFill>
                        <a:effectLst/>
                        <a:latin typeface="Merriweather" pitchFamily="2" charset="77"/>
                        <a:ea typeface="+mn-ea"/>
                        <a:cs typeface="+mn-cs"/>
                      </a:endParaRPr>
                    </a:p>
                  </a:txBody>
                  <a:tcPr marL="67456" marR="67456" marT="44971" marB="44971"/>
                </a:tc>
                <a:tc>
                  <a:txBody>
                    <a:bodyPr/>
                    <a:lstStyle/>
                    <a:p>
                      <a:pPr marL="0" marR="0" algn="l" defTabSz="457200" rtl="0" eaLnBrk="1" latinLnBrk="0" hangingPunct="1">
                        <a:lnSpc>
                          <a:spcPct val="115000"/>
                        </a:lnSpc>
                        <a:spcBef>
                          <a:spcPts val="600"/>
                        </a:spcBef>
                        <a:spcAft>
                          <a:spcPts val="800"/>
                        </a:spcAft>
                        <a:buNone/>
                      </a:pPr>
                      <a:r>
                        <a:rPr lang="en-US" sz="1200" b="1" kern="0" dirty="0">
                          <a:solidFill>
                            <a:schemeClr val="dk1"/>
                          </a:solidFill>
                          <a:effectLst/>
                          <a:latin typeface="Merriweather" pitchFamily="2" charset="77"/>
                          <a:ea typeface="+mn-ea"/>
                          <a:cs typeface="+mn-cs"/>
                        </a:rPr>
                        <a:t>15 census-based variables</a:t>
                      </a:r>
                    </a:p>
                  </a:txBody>
                  <a:tcPr marL="67456" marR="67456" marT="44971" marB="44971"/>
                </a:tc>
                <a:extLst>
                  <a:ext uri="{0D108BD9-81ED-4DB2-BD59-A6C34878D82A}">
                    <a16:rowId xmlns:a16="http://schemas.microsoft.com/office/drawing/2014/main" val="423358637"/>
                  </a:ext>
                </a:extLst>
              </a:tr>
              <a:tr h="866902">
                <a:tc>
                  <a:txBody>
                    <a:bodyPr/>
                    <a:lstStyle/>
                    <a:p>
                      <a:pPr marL="0" marR="0" algn="l" defTabSz="457200" rtl="0" eaLnBrk="1" latinLnBrk="0" hangingPunct="1">
                        <a:lnSpc>
                          <a:spcPct val="115000"/>
                        </a:lnSpc>
                        <a:spcBef>
                          <a:spcPts val="600"/>
                        </a:spcBef>
                        <a:spcAft>
                          <a:spcPts val="800"/>
                        </a:spcAft>
                        <a:buNone/>
                      </a:pPr>
                      <a:r>
                        <a:rPr lang="en-US" sz="1200" b="1" kern="0" dirty="0">
                          <a:solidFill>
                            <a:schemeClr val="dk1"/>
                          </a:solidFill>
                          <a:effectLst/>
                          <a:latin typeface="Merriweather" pitchFamily="2" charset="77"/>
                        </a:rPr>
                        <a:t>External Shocks</a:t>
                      </a:r>
                      <a:endParaRPr lang="en-US" sz="1200" b="1" kern="0" dirty="0">
                        <a:solidFill>
                          <a:schemeClr val="dk1"/>
                        </a:solidFill>
                        <a:effectLst/>
                        <a:latin typeface="Merriweather" pitchFamily="2" charset="77"/>
                        <a:ea typeface="+mn-ea"/>
                        <a:cs typeface="+mn-cs"/>
                      </a:endParaRPr>
                    </a:p>
                  </a:txBody>
                  <a:tcPr marL="67456" marR="67456" marT="44971" marB="44971"/>
                </a:tc>
                <a:tc>
                  <a:txBody>
                    <a:bodyPr/>
                    <a:lstStyle/>
                    <a:p>
                      <a:pPr marL="0" marR="0" algn="l" defTabSz="457200" rtl="0" eaLnBrk="1" latinLnBrk="0" hangingPunct="1">
                        <a:lnSpc>
                          <a:spcPct val="115000"/>
                        </a:lnSpc>
                        <a:spcAft>
                          <a:spcPts val="800"/>
                        </a:spcAft>
                        <a:buNone/>
                      </a:pPr>
                      <a:r>
                        <a:rPr lang="en-US" sz="1200" b="1" kern="0" dirty="0">
                          <a:solidFill>
                            <a:schemeClr val="dk1"/>
                          </a:solidFill>
                          <a:effectLst/>
                          <a:latin typeface="Merriweather" pitchFamily="2" charset="77"/>
                        </a:rPr>
                        <a:t> NOAA &amp; USGS</a:t>
                      </a:r>
                    </a:p>
                    <a:p>
                      <a:pPr marL="0" marR="0" algn="l" defTabSz="457200" rtl="0" eaLnBrk="1" latinLnBrk="0" hangingPunct="1">
                        <a:lnSpc>
                          <a:spcPct val="115000"/>
                        </a:lnSpc>
                        <a:spcAft>
                          <a:spcPts val="800"/>
                        </a:spcAft>
                        <a:buNone/>
                      </a:pPr>
                      <a:r>
                        <a:rPr lang="en-US" sz="1200" b="1" kern="0" dirty="0">
                          <a:solidFill>
                            <a:schemeClr val="dk1"/>
                          </a:solidFill>
                          <a:effectLst/>
                          <a:latin typeface="Merriweather" pitchFamily="2" charset="77"/>
                        </a:rPr>
                        <a:t> </a:t>
                      </a:r>
                      <a:endParaRPr lang="en-US" sz="1200" b="1" kern="0" dirty="0">
                        <a:solidFill>
                          <a:schemeClr val="dk1"/>
                        </a:solidFill>
                        <a:effectLst/>
                        <a:latin typeface="Merriweather" pitchFamily="2" charset="77"/>
                        <a:ea typeface="+mn-ea"/>
                        <a:cs typeface="+mn-cs"/>
                      </a:endParaRPr>
                    </a:p>
                  </a:txBody>
                  <a:tcPr marL="67456" marR="67456" marT="44971" marB="44971"/>
                </a:tc>
                <a:tc>
                  <a:txBody>
                    <a:bodyPr/>
                    <a:lstStyle/>
                    <a:p>
                      <a:pPr marL="0" marR="0" algn="l" defTabSz="457200" rtl="0" eaLnBrk="1" latinLnBrk="0" hangingPunct="1">
                        <a:lnSpc>
                          <a:spcPct val="115000"/>
                        </a:lnSpc>
                        <a:spcAft>
                          <a:spcPts val="800"/>
                        </a:spcAft>
                        <a:buNone/>
                      </a:pPr>
                      <a:r>
                        <a:rPr lang="en-US" sz="1200" b="1" kern="0" dirty="0">
                          <a:solidFill>
                            <a:schemeClr val="dk1"/>
                          </a:solidFill>
                          <a:effectLst/>
                          <a:latin typeface="Merriweather" pitchFamily="2" charset="77"/>
                        </a:rPr>
                        <a:t>• Hurricane Strike (Binary/Categorical)</a:t>
                      </a:r>
                    </a:p>
                    <a:p>
                      <a:pPr marL="0" marR="0" algn="l" defTabSz="457200" rtl="0" eaLnBrk="1" latinLnBrk="0" hangingPunct="1">
                        <a:lnSpc>
                          <a:spcPct val="115000"/>
                        </a:lnSpc>
                        <a:spcAft>
                          <a:spcPts val="800"/>
                        </a:spcAft>
                        <a:buNone/>
                      </a:pPr>
                      <a:r>
                        <a:rPr lang="en-US" sz="1200" b="1" kern="0" dirty="0">
                          <a:solidFill>
                            <a:schemeClr val="dk1"/>
                          </a:solidFill>
                          <a:effectLst/>
                          <a:latin typeface="Merriweather" pitchFamily="2" charset="77"/>
                        </a:rPr>
                        <a:t>• Earthquake Intensity</a:t>
                      </a:r>
                      <a:endParaRPr lang="en-US" sz="1200" b="1" kern="0" dirty="0">
                        <a:solidFill>
                          <a:schemeClr val="dk1"/>
                        </a:solidFill>
                        <a:effectLst/>
                        <a:latin typeface="Merriweather" pitchFamily="2" charset="77"/>
                        <a:ea typeface="+mn-ea"/>
                        <a:cs typeface="+mn-cs"/>
                      </a:endParaRPr>
                    </a:p>
                  </a:txBody>
                  <a:tcPr marL="67456" marR="67456" marT="44971" marB="44971"/>
                </a:tc>
                <a:tc>
                  <a:txBody>
                    <a:bodyPr/>
                    <a:lstStyle/>
                    <a:p>
                      <a:pPr marL="0" marR="0" algn="l" defTabSz="457200" rtl="0" eaLnBrk="1" latinLnBrk="0" hangingPunct="1">
                        <a:lnSpc>
                          <a:spcPct val="115000"/>
                        </a:lnSpc>
                        <a:spcBef>
                          <a:spcPts val="600"/>
                        </a:spcBef>
                        <a:spcAft>
                          <a:spcPts val="800"/>
                        </a:spcAft>
                        <a:buNone/>
                      </a:pPr>
                      <a:r>
                        <a:rPr lang="en-US" sz="1200" b="1" kern="0" dirty="0">
                          <a:solidFill>
                            <a:schemeClr val="dk1"/>
                          </a:solidFill>
                          <a:effectLst/>
                          <a:latin typeface="Merriweather" pitchFamily="2" charset="77"/>
                        </a:rPr>
                        <a:t>Allows the model to distinguish "shock years" (2017, 2020) from "normal years."</a:t>
                      </a:r>
                      <a:endParaRPr lang="en-US" sz="1200" b="1" kern="0" dirty="0">
                        <a:solidFill>
                          <a:schemeClr val="dk1"/>
                        </a:solidFill>
                        <a:effectLst/>
                        <a:latin typeface="Merriweather" pitchFamily="2" charset="77"/>
                        <a:ea typeface="+mn-ea"/>
                        <a:cs typeface="+mn-cs"/>
                      </a:endParaRPr>
                    </a:p>
                  </a:txBody>
                  <a:tcPr marL="67456" marR="67456" marT="44971" marB="44971"/>
                </a:tc>
                <a:extLst>
                  <a:ext uri="{0D108BD9-81ED-4DB2-BD59-A6C34878D82A}">
                    <a16:rowId xmlns:a16="http://schemas.microsoft.com/office/drawing/2014/main" val="2831891992"/>
                  </a:ext>
                </a:extLst>
              </a:tr>
              <a:tr h="525651">
                <a:tc>
                  <a:txBody>
                    <a:bodyPr/>
                    <a:lstStyle/>
                    <a:p>
                      <a:pPr marL="0" marR="0" algn="l" defTabSz="457200" rtl="0" eaLnBrk="1" latinLnBrk="0" hangingPunct="1">
                        <a:lnSpc>
                          <a:spcPct val="115000"/>
                        </a:lnSpc>
                        <a:spcBef>
                          <a:spcPts val="600"/>
                        </a:spcBef>
                        <a:spcAft>
                          <a:spcPts val="800"/>
                        </a:spcAft>
                        <a:buNone/>
                      </a:pPr>
                      <a:r>
                        <a:rPr lang="en-US" sz="1200" b="1" kern="0" dirty="0">
                          <a:solidFill>
                            <a:schemeClr val="dk1"/>
                          </a:solidFill>
                          <a:effectLst/>
                          <a:latin typeface="Merriweather" pitchFamily="2" charset="77"/>
                          <a:ea typeface="+mn-ea"/>
                          <a:cs typeface="+mn-cs"/>
                        </a:rPr>
                        <a:t>Safety &amp; Security</a:t>
                      </a:r>
                    </a:p>
                  </a:txBody>
                  <a:tcPr marL="67456" marR="67456" marT="44971" marB="44971"/>
                </a:tc>
                <a:tc>
                  <a:txBody>
                    <a:bodyPr/>
                    <a:lstStyle/>
                    <a:p>
                      <a:pPr marL="0" marR="0" algn="l" defTabSz="457200" rtl="0" eaLnBrk="1" latinLnBrk="0" hangingPunct="1">
                        <a:lnSpc>
                          <a:spcPct val="115000"/>
                        </a:lnSpc>
                        <a:spcBef>
                          <a:spcPts val="600"/>
                        </a:spcBef>
                        <a:spcAft>
                          <a:spcPts val="800"/>
                        </a:spcAft>
                        <a:buNone/>
                      </a:pPr>
                      <a:r>
                        <a:rPr lang="en-US" sz="1200" b="1" kern="0" dirty="0">
                          <a:solidFill>
                            <a:schemeClr val="dk1"/>
                          </a:solidFill>
                          <a:effectLst/>
                          <a:latin typeface="Merriweather" pitchFamily="2" charset="77"/>
                          <a:ea typeface="+mn-ea"/>
                          <a:cs typeface="+mn-cs"/>
                        </a:rPr>
                        <a:t>Puerto Rico Police Bureau</a:t>
                      </a:r>
                    </a:p>
                  </a:txBody>
                  <a:tcPr marL="67456" marR="67456" marT="44971" marB="44971"/>
                </a:tc>
                <a:tc>
                  <a:txBody>
                    <a:bodyPr/>
                    <a:lstStyle/>
                    <a:p>
                      <a:pPr marL="0" marR="0" algn="l" defTabSz="457200" rtl="0" eaLnBrk="1" latinLnBrk="0" hangingPunct="1">
                        <a:lnSpc>
                          <a:spcPct val="115000"/>
                        </a:lnSpc>
                        <a:spcBef>
                          <a:spcPts val="600"/>
                        </a:spcBef>
                        <a:spcAft>
                          <a:spcPts val="800"/>
                        </a:spcAft>
                        <a:buNone/>
                      </a:pPr>
                      <a:r>
                        <a:rPr lang="en-US" sz="1200" b="1" kern="0" dirty="0">
                          <a:solidFill>
                            <a:schemeClr val="dk1"/>
                          </a:solidFill>
                          <a:effectLst/>
                          <a:latin typeface="Merriweather" pitchFamily="2" charset="77"/>
                          <a:ea typeface="+mn-ea"/>
                          <a:cs typeface="+mn-cs"/>
                        </a:rPr>
                        <a:t>Violent and Property Crime Rates </a:t>
                      </a:r>
                      <a:r>
                        <a:rPr lang="en-US" sz="1200" b="1" kern="0">
                          <a:solidFill>
                            <a:schemeClr val="dk1"/>
                          </a:solidFill>
                          <a:effectLst/>
                          <a:latin typeface="Merriweather" pitchFamily="2" charset="77"/>
                          <a:ea typeface="+mn-ea"/>
                          <a:cs typeface="+mn-cs"/>
                        </a:rPr>
                        <a:t>per capita</a:t>
                      </a:r>
                      <a:endParaRPr lang="en-US" sz="1200" b="1" kern="0" dirty="0">
                        <a:solidFill>
                          <a:schemeClr val="dk1"/>
                        </a:solidFill>
                        <a:effectLst/>
                        <a:latin typeface="Merriweather" pitchFamily="2" charset="77"/>
                        <a:ea typeface="+mn-ea"/>
                        <a:cs typeface="+mn-cs"/>
                      </a:endParaRPr>
                    </a:p>
                  </a:txBody>
                  <a:tcPr marL="67456" marR="67456" marT="44971" marB="44971"/>
                </a:tc>
                <a:tc>
                  <a:txBody>
                    <a:bodyPr/>
                    <a:lstStyle/>
                    <a:p>
                      <a:pPr marL="0" marR="0" algn="l" defTabSz="457200" rtl="0" eaLnBrk="1" latinLnBrk="0" hangingPunct="1">
                        <a:lnSpc>
                          <a:spcPct val="115000"/>
                        </a:lnSpc>
                        <a:spcBef>
                          <a:spcPts val="600"/>
                        </a:spcBef>
                        <a:spcAft>
                          <a:spcPts val="800"/>
                        </a:spcAft>
                        <a:buNone/>
                      </a:pPr>
                      <a:r>
                        <a:rPr lang="en-US" sz="1200" b="1" kern="0" dirty="0">
                          <a:solidFill>
                            <a:schemeClr val="dk1"/>
                          </a:solidFill>
                          <a:effectLst/>
                          <a:latin typeface="Merriweather" pitchFamily="2" charset="77"/>
                          <a:ea typeface="+mn-ea"/>
                          <a:cs typeface="+mn-cs"/>
                        </a:rPr>
                        <a:t>Controls for "Safety-Driven Displacement"</a:t>
                      </a:r>
                    </a:p>
                  </a:txBody>
                  <a:tcPr marL="67456" marR="67456" marT="44971" marB="44971"/>
                </a:tc>
                <a:extLst>
                  <a:ext uri="{0D108BD9-81ED-4DB2-BD59-A6C34878D82A}">
                    <a16:rowId xmlns:a16="http://schemas.microsoft.com/office/drawing/2014/main" val="3646814754"/>
                  </a:ext>
                </a:extLst>
              </a:tr>
            </a:tbl>
          </a:graphicData>
        </a:graphic>
      </p:graphicFrame>
      <p:sp>
        <p:nvSpPr>
          <p:cNvPr id="4" name="Google Shape;148;p16">
            <a:extLst>
              <a:ext uri="{FF2B5EF4-FFF2-40B4-BE49-F238E27FC236}">
                <a16:creationId xmlns:a16="http://schemas.microsoft.com/office/drawing/2014/main" id="{9788B4DA-6EB7-10A5-7B03-B5C288E6CF2B}"/>
              </a:ext>
            </a:extLst>
          </p:cNvPr>
          <p:cNvSpPr txBox="1"/>
          <p:nvPr/>
        </p:nvSpPr>
        <p:spPr>
          <a:xfrm>
            <a:off x="571500" y="571500"/>
            <a:ext cx="11601450" cy="55399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600" b="1" i="0" u="none" strike="noStrike" cap="none" dirty="0">
                <a:latin typeface="Merriweather"/>
                <a:ea typeface="Merriweather"/>
                <a:cs typeface="Merriweather"/>
                <a:sym typeface="Merriweather"/>
              </a:rPr>
              <a:t>Integrated Data Architecture</a:t>
            </a:r>
            <a:endParaRPr dirty="0"/>
          </a:p>
        </p:txBody>
      </p:sp>
      <p:sp>
        <p:nvSpPr>
          <p:cNvPr id="5" name="Rectangle 4">
            <a:extLst>
              <a:ext uri="{FF2B5EF4-FFF2-40B4-BE49-F238E27FC236}">
                <a16:creationId xmlns:a16="http://schemas.microsoft.com/office/drawing/2014/main" id="{C7E982BD-80E2-A391-B2CA-6E69F5DAED35}"/>
              </a:ext>
            </a:extLst>
          </p:cNvPr>
          <p:cNvSpPr/>
          <p:nvPr/>
        </p:nvSpPr>
        <p:spPr>
          <a:xfrm>
            <a:off x="6291072" y="1450339"/>
            <a:ext cx="2865120" cy="5407661"/>
          </a:xfrm>
          <a:prstGeom prst="rect">
            <a:avLst/>
          </a:prstGeom>
          <a:noFill/>
          <a:ln w="76200">
            <a:solidFill>
              <a:schemeClr val="tx2">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Google Shape;122;p15">
            <a:extLst>
              <a:ext uri="{FF2B5EF4-FFF2-40B4-BE49-F238E27FC236}">
                <a16:creationId xmlns:a16="http://schemas.microsoft.com/office/drawing/2014/main" id="{5BAC4574-73F5-5AAA-EA20-73A33BCBBC7D}"/>
              </a:ext>
            </a:extLst>
          </p:cNvPr>
          <p:cNvSpPr/>
          <p:nvPr/>
        </p:nvSpPr>
        <p:spPr>
          <a:xfrm>
            <a:off x="571500" y="1214437"/>
            <a:ext cx="11049000" cy="28575"/>
          </a:xfrm>
          <a:prstGeom prst="rect">
            <a:avLst/>
          </a:prstGeom>
          <a:solidFill>
            <a:srgbClr val="00508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13462146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8">
          <a:extLst>
            <a:ext uri="{FF2B5EF4-FFF2-40B4-BE49-F238E27FC236}">
              <a16:creationId xmlns:a16="http://schemas.microsoft.com/office/drawing/2014/main" id="{D0C07351-CC76-64D7-C97C-E8135D91FB20}"/>
            </a:ext>
          </a:extLst>
        </p:cNvPr>
        <p:cNvGrpSpPr/>
        <p:nvPr/>
      </p:nvGrpSpPr>
      <p:grpSpPr>
        <a:xfrm>
          <a:off x="0" y="0"/>
          <a:ext cx="0" cy="0"/>
          <a:chOff x="0" y="0"/>
          <a:chExt cx="0" cy="0"/>
        </a:xfrm>
      </p:grpSpPr>
      <p:sp>
        <p:nvSpPr>
          <p:cNvPr id="121" name="Google Shape;121;p15">
            <a:extLst>
              <a:ext uri="{FF2B5EF4-FFF2-40B4-BE49-F238E27FC236}">
                <a16:creationId xmlns:a16="http://schemas.microsoft.com/office/drawing/2014/main" id="{27173301-C0B4-7274-AA7A-A48B56300CA0}"/>
              </a:ext>
            </a:extLst>
          </p:cNvPr>
          <p:cNvSpPr txBox="1"/>
          <p:nvPr/>
        </p:nvSpPr>
        <p:spPr>
          <a:xfrm>
            <a:off x="571500" y="500062"/>
            <a:ext cx="11601450" cy="553998"/>
          </a:xfrm>
          <a:prstGeom prst="rect">
            <a:avLst/>
          </a:prstGeom>
          <a:noFill/>
          <a:ln>
            <a:noFill/>
          </a:ln>
        </p:spPr>
        <p:txBody>
          <a:bodyPr spcFirstLastPara="1" wrap="square" lIns="0" tIns="0" rIns="0" bIns="0" anchor="t" anchorCtr="0">
            <a:spAutoFit/>
          </a:bodyPr>
          <a:lstStyle/>
          <a:p>
            <a:pPr lvl="0"/>
            <a:r>
              <a:rPr lang="en-US" sz="3600" b="1" dirty="0">
                <a:latin typeface="Merriweather"/>
              </a:rPr>
              <a:t>Data Structure (The Input Vector) </a:t>
            </a:r>
            <a:endParaRPr sz="3600" b="1" dirty="0">
              <a:latin typeface="Merriweather"/>
            </a:endParaRPr>
          </a:p>
        </p:txBody>
      </p:sp>
      <p:sp>
        <p:nvSpPr>
          <p:cNvPr id="122" name="Google Shape;122;p15">
            <a:extLst>
              <a:ext uri="{FF2B5EF4-FFF2-40B4-BE49-F238E27FC236}">
                <a16:creationId xmlns:a16="http://schemas.microsoft.com/office/drawing/2014/main" id="{29885471-EFF5-F924-9293-F9C828DED3F9}"/>
              </a:ext>
            </a:extLst>
          </p:cNvPr>
          <p:cNvSpPr/>
          <p:nvPr/>
        </p:nvSpPr>
        <p:spPr>
          <a:xfrm>
            <a:off x="571500" y="1214437"/>
            <a:ext cx="11049000" cy="28575"/>
          </a:xfrm>
          <a:prstGeom prst="rect">
            <a:avLst/>
          </a:prstGeom>
          <a:solidFill>
            <a:srgbClr val="00508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C27CDE3B-CC27-BB7E-3635-7B0660CD3FBA}"/>
                  </a:ext>
                </a:extLst>
              </p:cNvPr>
              <p:cNvSpPr txBox="1"/>
              <p:nvPr/>
            </p:nvSpPr>
            <p:spPr>
              <a:xfrm>
                <a:off x="472643" y="1519363"/>
                <a:ext cx="9336375" cy="4926092"/>
              </a:xfrm>
              <a:prstGeom prst="rect">
                <a:avLst/>
              </a:prstGeom>
              <a:noFill/>
            </p:spPr>
            <p:txBody>
              <a:bodyPr wrap="square">
                <a:spAutoFit/>
              </a:bodyPr>
              <a:lstStyle/>
              <a:p>
                <a:pPr marL="285750" indent="-285750">
                  <a:buFont typeface="Arial" panose="020B0604020202020204" pitchFamily="34" charset="0"/>
                  <a:buChar char="•"/>
                </a:pPr>
                <a:r>
                  <a:rPr lang="en-US" sz="2400" dirty="0">
                    <a:latin typeface="Merriweather" pitchFamily="2" charset="77"/>
                  </a:rPr>
                  <a:t>Input Vector:</a:t>
                </a:r>
              </a:p>
              <a:p>
                <a:pPr marL="285750" indent="-285750">
                  <a:buFont typeface="Arial" panose="020B0604020202020204" pitchFamily="34" charset="0"/>
                  <a:buChar char="•"/>
                </a:pPr>
                <a:endParaRPr lang="en-US" sz="2400" dirty="0">
                  <a:latin typeface="Merriweather" pitchFamily="2" charset="77"/>
                </a:endParaRPr>
              </a:p>
              <a:p>
                <a:pPr lvl="1"/>
                <a:r>
                  <a:rPr lang="en-US" sz="2400" dirty="0">
                    <a:latin typeface="Merriweather" pitchFamily="2" charset="77"/>
                  </a:rPr>
                  <a:t>For a specific Municipality </a:t>
                </a:r>
                <a:r>
                  <a:rPr lang="en-US" sz="2000" i="1" dirty="0">
                    <a:latin typeface="Merriweather" pitchFamily="2" charset="77"/>
                  </a:rPr>
                  <a:t>m</a:t>
                </a:r>
                <a:r>
                  <a:rPr lang="en-US" sz="2400" dirty="0">
                    <a:latin typeface="Merriweather" pitchFamily="2" charset="77"/>
                  </a:rPr>
                  <a:t> at a specific Year </a:t>
                </a:r>
                <a:r>
                  <a:rPr lang="en-US" sz="2000" i="1" dirty="0">
                    <a:latin typeface="Merriweather" pitchFamily="2" charset="77"/>
                  </a:rPr>
                  <a:t>t</a:t>
                </a:r>
                <a:r>
                  <a:rPr lang="en-US" sz="2400" dirty="0">
                    <a:latin typeface="Merriweather" pitchFamily="2" charset="77"/>
                  </a:rPr>
                  <a:t>, the data point </a:t>
                </a:r>
                <a14:m>
                  <m:oMath xmlns:m="http://schemas.openxmlformats.org/officeDocument/2006/math">
                    <m:sSub>
                      <m:sSubPr>
                        <m:ctrlPr>
                          <a:rPr lang="en-US" sz="2400" i="1" smtClean="0">
                            <a:latin typeface="Cambria Math" panose="02040503050406030204" pitchFamily="18" charset="0"/>
                          </a:rPr>
                        </m:ctrlPr>
                      </m:sSubPr>
                      <m:e>
                        <m:r>
                          <a:rPr lang="en-US" sz="2400" b="0" i="1" smtClean="0">
                            <a:latin typeface="Cambria Math" panose="02040503050406030204" pitchFamily="18" charset="0"/>
                          </a:rPr>
                          <m:t>𝑋</m:t>
                        </m:r>
                      </m:e>
                      <m:sub>
                        <m:r>
                          <a:rPr lang="en-US" sz="2400" b="0" i="1" smtClean="0">
                            <a:latin typeface="Cambria Math" panose="02040503050406030204" pitchFamily="18" charset="0"/>
                          </a:rPr>
                          <m:t>𝑚</m:t>
                        </m:r>
                        <m:r>
                          <a:rPr lang="en-US" sz="2400" b="0" i="1" smtClean="0">
                            <a:latin typeface="Cambria Math" panose="02040503050406030204" pitchFamily="18" charset="0"/>
                          </a:rPr>
                          <m:t>,</m:t>
                        </m:r>
                        <m:r>
                          <a:rPr lang="en-US" sz="2400" b="0" i="1" smtClean="0">
                            <a:latin typeface="Cambria Math" panose="02040503050406030204" pitchFamily="18" charset="0"/>
                          </a:rPr>
                          <m:t>𝑡</m:t>
                        </m:r>
                      </m:sub>
                    </m:sSub>
                  </m:oMath>
                </a14:m>
                <a:r>
                  <a:rPr lang="en-US" sz="2400" dirty="0">
                    <a:latin typeface="Merriweather" pitchFamily="2" charset="77"/>
                  </a:rPr>
                  <a:t> is a vector containing all variables information:</a:t>
                </a:r>
              </a:p>
              <a:p>
                <a:pPr marL="742950" lvl="1" indent="-285750">
                  <a:buFont typeface="Arial" panose="020B0604020202020204" pitchFamily="34" charset="0"/>
                  <a:buChar char="•"/>
                </a:pPr>
                <a:endParaRPr lang="en-US" sz="2400" dirty="0">
                  <a:latin typeface="Merriweather" pitchFamily="2" charset="77"/>
                </a:endParaRPr>
              </a:p>
              <a:p>
                <a:pPr lvl="1"/>
                <a:r>
                  <a:rPr lang="en-US" dirty="0">
                    <a:latin typeface="Merriweather" pitchFamily="2" charset="77"/>
                  </a:rPr>
                  <a:t>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𝑋</m:t>
                        </m:r>
                      </m:e>
                      <m:sub>
                        <m:r>
                          <a:rPr lang="en-US" i="1">
                            <a:latin typeface="Cambria Math" panose="02040503050406030204" pitchFamily="18" charset="0"/>
                          </a:rPr>
                          <m:t>𝑚</m:t>
                        </m:r>
                        <m:r>
                          <a:rPr lang="en-US" i="1">
                            <a:latin typeface="Cambria Math" panose="02040503050406030204" pitchFamily="18" charset="0"/>
                          </a:rPr>
                          <m:t>,</m:t>
                        </m:r>
                        <m:r>
                          <a:rPr lang="en-US" i="1">
                            <a:latin typeface="Cambria Math" panose="02040503050406030204" pitchFamily="18" charset="0"/>
                          </a:rPr>
                          <m:t>𝑡</m:t>
                        </m:r>
                      </m:sub>
                    </m:sSub>
                    <m:r>
                      <a:rPr lang="en-US" i="1">
                        <a:latin typeface="Cambria Math" panose="02040503050406030204" pitchFamily="18" charset="0"/>
                      </a:rPr>
                      <m:t>=</m:t>
                    </m:r>
                    <m:d>
                      <m:dPr>
                        <m:begChr m:val="["/>
                        <m:endChr m:val="]"/>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𝐷</m:t>
                            </m:r>
                          </m:e>
                          <m:sub>
                            <m:r>
                              <a:rPr lang="en-US" i="1">
                                <a:latin typeface="Cambria Math" panose="02040503050406030204" pitchFamily="18" charset="0"/>
                              </a:rPr>
                              <m:t>𝑏𝑖𝑟𝑡h</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𝐷</m:t>
                            </m:r>
                          </m:e>
                          <m:sub>
                            <m:r>
                              <a:rPr lang="en-US" i="1">
                                <a:latin typeface="Cambria Math" panose="02040503050406030204" pitchFamily="18" charset="0"/>
                              </a:rPr>
                              <m:t>𝑎𝑔𝑒</m:t>
                            </m:r>
                            <m:r>
                              <a:rPr lang="en-US" i="1">
                                <a:latin typeface="Cambria Math" panose="02040503050406030204" pitchFamily="18" charset="0"/>
                              </a:rPr>
                              <m:t>65</m:t>
                            </m:r>
                          </m:sub>
                        </m:sSub>
                        <m:r>
                          <a:rPr lang="en-US" i="1">
                            <a:latin typeface="Cambria Math" panose="02040503050406030204" pitchFamily="18" charset="0"/>
                          </a:rPr>
                          <m:t>,</m:t>
                        </m:r>
                        <m:r>
                          <a:rPr lang="en-US">
                            <a:latin typeface="Cambria Math" panose="02040503050406030204" pitchFamily="18" charset="0"/>
                          </a:rPr>
                          <m:t>…</m:t>
                        </m:r>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𝐸</m:t>
                            </m:r>
                          </m:e>
                          <m:sub>
                            <m:r>
                              <a:rPr lang="en-US" i="1">
                                <a:latin typeface="Cambria Math" panose="02040503050406030204" pitchFamily="18" charset="0"/>
                              </a:rPr>
                              <m:t>𝑢𝑛𝑒𝑚𝑝</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𝐸</m:t>
                            </m:r>
                          </m:e>
                          <m:sub>
                            <m:r>
                              <a:rPr lang="en-US" i="1">
                                <a:latin typeface="Cambria Math" panose="02040503050406030204" pitchFamily="18" charset="0"/>
                              </a:rPr>
                              <m:t>𝑝𝑎𝑦𝑟𝑜𝑙𝑙</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𝑆</m:t>
                            </m:r>
                          </m:e>
                          <m:sub>
                            <m:r>
                              <a:rPr lang="en-US" i="1">
                                <a:latin typeface="Cambria Math" panose="02040503050406030204" pitchFamily="18" charset="0"/>
                              </a:rPr>
                              <m:t>𝑝𝑜𝑣</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𝑆</m:t>
                            </m:r>
                          </m:e>
                          <m:sub>
                            <m:r>
                              <a:rPr lang="en-US" b="0" i="1" smtClean="0">
                                <a:latin typeface="Cambria Math" panose="02040503050406030204" pitchFamily="18" charset="0"/>
                              </a:rPr>
                              <m:t>𝑡𝑟𝑎𝑛𝑠𝑝𝑜𝑟𝑡𝑎𝑡𝑖𝑜𝑛</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𝐻</m:t>
                            </m:r>
                          </m:e>
                          <m:sub>
                            <m:r>
                              <a:rPr lang="en-US" b="0" i="1" smtClean="0">
                                <a:latin typeface="Cambria Math" panose="02040503050406030204" pitchFamily="18" charset="0"/>
                              </a:rPr>
                              <m:t>h𝑎𝑧𝑎𝑟𝑑</m:t>
                            </m:r>
                          </m:sub>
                        </m:sSub>
                      </m:e>
                    </m:d>
                  </m:oMath>
                </a14:m>
                <a:r>
                  <a:rPr lang="en-US" sz="2400" dirty="0">
                    <a:effectLst/>
                    <a:latin typeface="Merriweather" pitchFamily="2" charset="77"/>
                  </a:rPr>
                  <a:t> </a:t>
                </a:r>
                <a:endParaRPr lang="en-US" sz="2400" b="1" dirty="0">
                  <a:solidFill>
                    <a:schemeClr val="tx1">
                      <a:lumMod val="75000"/>
                      <a:lumOff val="25000"/>
                    </a:schemeClr>
                  </a:solidFill>
                  <a:latin typeface="Merriweather" pitchFamily="2" charset="77"/>
                </a:endParaRPr>
              </a:p>
              <a:p>
                <a:pPr lvl="1"/>
                <a:endParaRPr lang="en-US" sz="2400" b="1" dirty="0">
                  <a:solidFill>
                    <a:schemeClr val="tx1">
                      <a:lumMod val="75000"/>
                      <a:lumOff val="25000"/>
                    </a:schemeClr>
                  </a:solidFill>
                  <a:latin typeface="Merriweather" pitchFamily="2" charset="77"/>
                </a:endParaRPr>
              </a:p>
              <a:p>
                <a:pPr marL="342900" indent="-342900">
                  <a:buFont typeface="Arial" panose="020B0604020202020204" pitchFamily="34" charset="0"/>
                  <a:buChar char="•"/>
                </a:pPr>
                <a:r>
                  <a:rPr lang="en-US" sz="2400" dirty="0">
                    <a:latin typeface="Merriweather" pitchFamily="2" charset="77"/>
                  </a:rPr>
                  <a:t>Target </a:t>
                </a:r>
                <a14:m>
                  <m:oMath xmlns:m="http://schemas.openxmlformats.org/officeDocument/2006/math">
                    <m:sSub>
                      <m:sSubPr>
                        <m:ctrlPr>
                          <a:rPr lang="en-US" sz="2400" i="1">
                            <a:latin typeface="Cambria Math" panose="02040503050406030204" pitchFamily="18" charset="0"/>
                          </a:rPr>
                        </m:ctrlPr>
                      </m:sSubPr>
                      <m:e>
                        <m:r>
                          <a:rPr lang="en-US" sz="2400" b="0" i="1" smtClean="0">
                            <a:latin typeface="Cambria Math" panose="02040503050406030204" pitchFamily="18" charset="0"/>
                          </a:rPr>
                          <m:t>𝑌</m:t>
                        </m:r>
                      </m:e>
                      <m:sub>
                        <m:r>
                          <a:rPr lang="en-US" sz="2400" b="0" i="1">
                            <a:latin typeface="Cambria Math" panose="02040503050406030204" pitchFamily="18" charset="0"/>
                          </a:rPr>
                          <m:t>𝑚</m:t>
                        </m:r>
                        <m:r>
                          <a:rPr lang="en-US" sz="2400" b="0" i="1">
                            <a:latin typeface="Cambria Math" panose="02040503050406030204" pitchFamily="18" charset="0"/>
                          </a:rPr>
                          <m:t>,</m:t>
                        </m:r>
                        <m:r>
                          <a:rPr lang="en-US" sz="2400" b="0" i="1">
                            <a:latin typeface="Cambria Math" panose="02040503050406030204" pitchFamily="18" charset="0"/>
                          </a:rPr>
                          <m:t>𝑡</m:t>
                        </m:r>
                      </m:sub>
                    </m:sSub>
                  </m:oMath>
                </a14:m>
                <a:r>
                  <a:rPr lang="en-US" sz="2400" dirty="0">
                    <a:latin typeface="Merriweather" pitchFamily="2" charset="77"/>
                  </a:rPr>
                  <a:t> </a:t>
                </a:r>
              </a:p>
              <a:p>
                <a:pPr marL="342900" indent="-342900">
                  <a:buFont typeface="Arial" panose="020B0604020202020204" pitchFamily="34" charset="0"/>
                  <a:buChar char="•"/>
                </a:pPr>
                <a:endParaRPr lang="en-US" sz="2400" b="1" dirty="0">
                  <a:latin typeface="Merriweather" pitchFamily="2" charset="77"/>
                </a:endParaRPr>
              </a:p>
              <a:p>
                <a:pPr lvl="1"/>
                <a:r>
                  <a:rPr lang="en-US" sz="2400" dirty="0">
                    <a:latin typeface="Merriweather" pitchFamily="2" charset="77"/>
                  </a:rPr>
                  <a:t>The population change (or net migration) we are trying to predict</a:t>
                </a:r>
                <a:endParaRPr lang="en-US" sz="2400" b="1" dirty="0">
                  <a:solidFill>
                    <a:schemeClr val="tx1">
                      <a:lumMod val="75000"/>
                      <a:lumOff val="25000"/>
                    </a:schemeClr>
                  </a:solidFill>
                  <a:latin typeface="Merriweather" pitchFamily="2" charset="77"/>
                </a:endParaRPr>
              </a:p>
              <a:p>
                <a:pPr marL="742950" lvl="1" indent="-285750">
                  <a:buFont typeface="Arial" panose="020B0604020202020204" pitchFamily="34" charset="0"/>
                  <a:buChar char="•"/>
                </a:pPr>
                <a:endParaRPr lang="en-US" sz="2400" b="1" dirty="0">
                  <a:solidFill>
                    <a:schemeClr val="tx1">
                      <a:lumMod val="75000"/>
                      <a:lumOff val="25000"/>
                    </a:schemeClr>
                  </a:solidFill>
                  <a:latin typeface="Merriweather" pitchFamily="2" charset="77"/>
                </a:endParaRPr>
              </a:p>
              <a:p>
                <a:pPr marL="742950" lvl="1" indent="-285750">
                  <a:buFont typeface="Arial" panose="020B0604020202020204" pitchFamily="34" charset="0"/>
                  <a:buChar char="•"/>
                </a:pPr>
                <a:endParaRPr lang="en-US" sz="2400" b="1" dirty="0">
                  <a:solidFill>
                    <a:schemeClr val="tx1">
                      <a:lumMod val="75000"/>
                      <a:lumOff val="25000"/>
                    </a:schemeClr>
                  </a:solidFill>
                  <a:latin typeface="Merriweather" pitchFamily="2" charset="77"/>
                </a:endParaRPr>
              </a:p>
            </p:txBody>
          </p:sp>
        </mc:Choice>
        <mc:Fallback xmlns="">
          <p:sp>
            <p:nvSpPr>
              <p:cNvPr id="2" name="TextBox 1">
                <a:extLst>
                  <a:ext uri="{FF2B5EF4-FFF2-40B4-BE49-F238E27FC236}">
                    <a16:creationId xmlns:a16="http://schemas.microsoft.com/office/drawing/2014/main" id="{C27CDE3B-CC27-BB7E-3635-7B0660CD3FBA}"/>
                  </a:ext>
                </a:extLst>
              </p:cNvPr>
              <p:cNvSpPr txBox="1">
                <a:spLocks noRot="1" noChangeAspect="1" noMove="1" noResize="1" noEditPoints="1" noAdjustHandles="1" noChangeArrowheads="1" noChangeShapeType="1" noTextEdit="1"/>
              </p:cNvSpPr>
              <p:nvPr/>
            </p:nvSpPr>
            <p:spPr>
              <a:xfrm>
                <a:off x="472643" y="1519363"/>
                <a:ext cx="9336375" cy="4926092"/>
              </a:xfrm>
              <a:prstGeom prst="rect">
                <a:avLst/>
              </a:prstGeom>
              <a:blipFill>
                <a:blip r:embed="rId3"/>
                <a:stretch>
                  <a:fillRect l="-951" t="-1028" r="-1766"/>
                </a:stretch>
              </a:blipFill>
            </p:spPr>
            <p:txBody>
              <a:bodyPr/>
              <a:lstStyle/>
              <a:p>
                <a:r>
                  <a:rPr lang="en-US">
                    <a:noFill/>
                  </a:rPr>
                  <a:t> </a:t>
                </a:r>
              </a:p>
            </p:txBody>
          </p:sp>
        </mc:Fallback>
      </mc:AlternateContent>
    </p:spTree>
    <p:extLst>
      <p:ext uri="{BB962C8B-B14F-4D97-AF65-F5344CB8AC3E}">
        <p14:creationId xmlns:p14="http://schemas.microsoft.com/office/powerpoint/2010/main" val="126326178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94">
          <a:extLst>
            <a:ext uri="{FF2B5EF4-FFF2-40B4-BE49-F238E27FC236}">
              <a16:creationId xmlns:a16="http://schemas.microsoft.com/office/drawing/2014/main" id="{48DC5FCB-68BE-A7B2-3048-3FBEB45CF53E}"/>
            </a:ext>
          </a:extLst>
        </p:cNvPr>
        <p:cNvGrpSpPr/>
        <p:nvPr/>
      </p:nvGrpSpPr>
      <p:grpSpPr>
        <a:xfrm>
          <a:off x="0" y="0"/>
          <a:ext cx="0" cy="0"/>
          <a:chOff x="0" y="0"/>
          <a:chExt cx="0" cy="0"/>
        </a:xfrm>
      </p:grpSpPr>
      <p:sp>
        <p:nvSpPr>
          <p:cNvPr id="103" name="Google Shape;103;p14">
            <a:extLst>
              <a:ext uri="{FF2B5EF4-FFF2-40B4-BE49-F238E27FC236}">
                <a16:creationId xmlns:a16="http://schemas.microsoft.com/office/drawing/2014/main" id="{689DF898-FDBD-E2CF-EFC4-3D418AD1E87D}"/>
              </a:ext>
            </a:extLst>
          </p:cNvPr>
          <p:cNvSpPr txBox="1"/>
          <p:nvPr/>
        </p:nvSpPr>
        <p:spPr>
          <a:xfrm>
            <a:off x="571500" y="571500"/>
            <a:ext cx="11601450" cy="553998"/>
          </a:xfrm>
          <a:prstGeom prst="rect">
            <a:avLst/>
          </a:prstGeom>
          <a:noFill/>
          <a:ln>
            <a:noFill/>
          </a:ln>
        </p:spPr>
        <p:txBody>
          <a:bodyPr spcFirstLastPara="1" wrap="square" lIns="0" tIns="0" rIns="0" bIns="0" anchor="t" anchorCtr="0">
            <a:spAutoFit/>
          </a:bodyPr>
          <a:lstStyle/>
          <a:p>
            <a:pPr fontAlgn="base"/>
            <a:r>
              <a:rPr lang="en-US" sz="3600" b="1" dirty="0">
                <a:latin typeface="Merriweather" pitchFamily="2" charset="77"/>
              </a:rPr>
              <a:t>Data Viability &amp; Limitations</a:t>
            </a:r>
            <a:endParaRPr lang="en-US" sz="3600" dirty="0">
              <a:latin typeface="Merriweather" pitchFamily="2" charset="77"/>
            </a:endParaRPr>
          </a:p>
        </p:txBody>
      </p:sp>
      <p:sp>
        <p:nvSpPr>
          <p:cNvPr id="104" name="Google Shape;104;p14">
            <a:extLst>
              <a:ext uri="{FF2B5EF4-FFF2-40B4-BE49-F238E27FC236}">
                <a16:creationId xmlns:a16="http://schemas.microsoft.com/office/drawing/2014/main" id="{A75E8988-69E4-1A49-C73D-13D35757ED39}"/>
              </a:ext>
            </a:extLst>
          </p:cNvPr>
          <p:cNvSpPr/>
          <p:nvPr/>
        </p:nvSpPr>
        <p:spPr>
          <a:xfrm>
            <a:off x="571500" y="1285875"/>
            <a:ext cx="11049000" cy="28575"/>
          </a:xfrm>
          <a:prstGeom prst="rect">
            <a:avLst/>
          </a:prstGeom>
          <a:solidFill>
            <a:srgbClr val="00508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 name="TextBox 1">
            <a:extLst>
              <a:ext uri="{FF2B5EF4-FFF2-40B4-BE49-F238E27FC236}">
                <a16:creationId xmlns:a16="http://schemas.microsoft.com/office/drawing/2014/main" id="{A575159E-617B-692E-E980-557348AEFC4D}"/>
              </a:ext>
            </a:extLst>
          </p:cNvPr>
          <p:cNvSpPr txBox="1"/>
          <p:nvPr/>
        </p:nvSpPr>
        <p:spPr>
          <a:xfrm>
            <a:off x="571500" y="1469167"/>
            <a:ext cx="9393290" cy="4524315"/>
          </a:xfrm>
          <a:prstGeom prst="rect">
            <a:avLst/>
          </a:prstGeom>
          <a:noFill/>
        </p:spPr>
        <p:txBody>
          <a:bodyPr wrap="square">
            <a:spAutoFit/>
          </a:bodyPr>
          <a:lstStyle/>
          <a:p>
            <a:pPr marL="285750" lvl="0" indent="-285750" fontAlgn="base">
              <a:buFont typeface="Arial" panose="020B0604020202020204" pitchFamily="34" charset="0"/>
              <a:buChar char="•"/>
            </a:pPr>
            <a:r>
              <a:rPr lang="en-US" sz="2400" b="1" dirty="0">
                <a:latin typeface="Merriweather" pitchFamily="2" charset="77"/>
              </a:rPr>
              <a:t>Viability:</a:t>
            </a:r>
            <a:r>
              <a:rPr lang="en-US" sz="2400" dirty="0">
                <a:latin typeface="Merriweather" pitchFamily="2" charset="77"/>
              </a:rPr>
              <a:t> </a:t>
            </a:r>
          </a:p>
          <a:p>
            <a:pPr lvl="1" fontAlgn="base"/>
            <a:r>
              <a:rPr lang="en-US" sz="2400" dirty="0">
                <a:latin typeface="Merriweather" pitchFamily="2" charset="77"/>
              </a:rPr>
              <a:t>All data is publicly available, government-certified, and covers the exact same geographic boundaries (78 Municipalities of Puerto Rico)</a:t>
            </a:r>
          </a:p>
          <a:p>
            <a:pPr lvl="0" fontAlgn="base"/>
            <a:endParaRPr lang="en-US" sz="2400" dirty="0">
              <a:latin typeface="Merriweather" pitchFamily="2" charset="77"/>
            </a:endParaRPr>
          </a:p>
          <a:p>
            <a:pPr marL="285750" lvl="0" indent="-285750" fontAlgn="base">
              <a:buFont typeface="Arial" panose="020B0604020202020204" pitchFamily="34" charset="0"/>
              <a:buChar char="•"/>
            </a:pPr>
            <a:r>
              <a:rPr lang="en-US" sz="2400" b="1" dirty="0">
                <a:latin typeface="Merriweather" pitchFamily="2" charset="77"/>
              </a:rPr>
              <a:t>Limitation:</a:t>
            </a:r>
          </a:p>
          <a:p>
            <a:pPr lvl="1" fontAlgn="base"/>
            <a:r>
              <a:rPr lang="en-US" sz="2400" dirty="0">
                <a:latin typeface="Merriweather" pitchFamily="2" charset="77"/>
              </a:rPr>
              <a:t>Migration data at the town/</a:t>
            </a:r>
            <a:r>
              <a:rPr lang="en-US" sz="2400" dirty="0" err="1">
                <a:latin typeface="Merriweather" pitchFamily="2" charset="77"/>
              </a:rPr>
              <a:t>monucipality</a:t>
            </a:r>
            <a:r>
              <a:rPr lang="en-US" sz="2400" dirty="0">
                <a:latin typeface="Merriweather" pitchFamily="2" charset="77"/>
              </a:rPr>
              <a:t> level can be "noisy" (volatile)</a:t>
            </a:r>
          </a:p>
          <a:p>
            <a:pPr lvl="0" fontAlgn="base"/>
            <a:endParaRPr lang="en-US" sz="2400" dirty="0">
              <a:latin typeface="Merriweather" pitchFamily="2" charset="77"/>
            </a:endParaRPr>
          </a:p>
          <a:p>
            <a:pPr marL="285750" indent="-285750">
              <a:buFont typeface="Arial" panose="020B0604020202020204" pitchFamily="34" charset="0"/>
              <a:buChar char="•"/>
            </a:pPr>
            <a:r>
              <a:rPr lang="en-US" sz="2400" b="1" dirty="0">
                <a:latin typeface="Merriweather" pitchFamily="2" charset="77"/>
              </a:rPr>
              <a:t>Mitigation:</a:t>
            </a:r>
            <a:r>
              <a:rPr lang="en-US" sz="2400" dirty="0">
                <a:latin typeface="Merriweather" pitchFamily="2" charset="77"/>
              </a:rPr>
              <a:t> </a:t>
            </a:r>
          </a:p>
          <a:p>
            <a:pPr lvl="1"/>
            <a:r>
              <a:rPr lang="en-US" sz="2400" dirty="0">
                <a:latin typeface="Merriweather" pitchFamily="2" charset="77"/>
              </a:rPr>
              <a:t>Smooth this noise using Regularization techniques (Ridge/Lasso) that penalize outliers.</a:t>
            </a:r>
            <a:r>
              <a:rPr lang="en-US" sz="2000" dirty="0">
                <a:latin typeface="Merriweather" pitchFamily="2" charset="77"/>
              </a:rPr>
              <a:t> </a:t>
            </a:r>
            <a:endParaRPr lang="en-US" sz="2000" b="1" dirty="0">
              <a:solidFill>
                <a:schemeClr val="tx1">
                  <a:lumMod val="75000"/>
                  <a:lumOff val="25000"/>
                </a:schemeClr>
              </a:solidFill>
              <a:latin typeface="Merriweather" pitchFamily="2" charset="77"/>
            </a:endParaRPr>
          </a:p>
        </p:txBody>
      </p:sp>
    </p:spTree>
    <p:extLst>
      <p:ext uri="{BB962C8B-B14F-4D97-AF65-F5344CB8AC3E}">
        <p14:creationId xmlns:p14="http://schemas.microsoft.com/office/powerpoint/2010/main" val="31156401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Shape 94">
          <a:extLst>
            <a:ext uri="{FF2B5EF4-FFF2-40B4-BE49-F238E27FC236}">
              <a16:creationId xmlns:a16="http://schemas.microsoft.com/office/drawing/2014/main" id="{4E4F5DC9-795D-CC18-37BF-4CFCF2810051}"/>
            </a:ext>
          </a:extLst>
        </p:cNvPr>
        <p:cNvGrpSpPr/>
        <p:nvPr/>
      </p:nvGrpSpPr>
      <p:grpSpPr>
        <a:xfrm>
          <a:off x="0" y="0"/>
          <a:ext cx="0" cy="0"/>
          <a:chOff x="0" y="0"/>
          <a:chExt cx="0" cy="0"/>
        </a:xfrm>
      </p:grpSpPr>
      <p:sp>
        <p:nvSpPr>
          <p:cNvPr id="103" name="Google Shape;103;p14">
            <a:extLst>
              <a:ext uri="{FF2B5EF4-FFF2-40B4-BE49-F238E27FC236}">
                <a16:creationId xmlns:a16="http://schemas.microsoft.com/office/drawing/2014/main" id="{FFAF89E1-923A-4B82-1DE1-1B9A7315B5AC}"/>
              </a:ext>
            </a:extLst>
          </p:cNvPr>
          <p:cNvSpPr txBox="1"/>
          <p:nvPr/>
        </p:nvSpPr>
        <p:spPr>
          <a:xfrm>
            <a:off x="571500" y="571500"/>
            <a:ext cx="11601450" cy="492443"/>
          </a:xfrm>
          <a:prstGeom prst="rect">
            <a:avLst/>
          </a:prstGeom>
          <a:noFill/>
          <a:ln>
            <a:noFill/>
          </a:ln>
        </p:spPr>
        <p:txBody>
          <a:bodyPr spcFirstLastPara="1" wrap="square" lIns="0" tIns="0" rIns="0" bIns="0" anchor="t" anchorCtr="0">
            <a:spAutoFit/>
          </a:bodyPr>
          <a:lstStyle/>
          <a:p>
            <a:pPr fontAlgn="base"/>
            <a:r>
              <a:rPr lang="en-US" sz="3200" b="1" dirty="0">
                <a:latin typeface="Merriweather" pitchFamily="2" charset="77"/>
              </a:rPr>
              <a:t>Framework: Predictive Population Modeling Pipeline</a:t>
            </a:r>
          </a:p>
        </p:txBody>
      </p:sp>
      <p:sp>
        <p:nvSpPr>
          <p:cNvPr id="104" name="Google Shape;104;p14">
            <a:extLst>
              <a:ext uri="{FF2B5EF4-FFF2-40B4-BE49-F238E27FC236}">
                <a16:creationId xmlns:a16="http://schemas.microsoft.com/office/drawing/2014/main" id="{27293AA5-CB60-FDDA-812E-DEE5ADE83372}"/>
              </a:ext>
            </a:extLst>
          </p:cNvPr>
          <p:cNvSpPr/>
          <p:nvPr/>
        </p:nvSpPr>
        <p:spPr>
          <a:xfrm>
            <a:off x="571500" y="1285875"/>
            <a:ext cx="11049000" cy="28575"/>
          </a:xfrm>
          <a:prstGeom prst="rect">
            <a:avLst/>
          </a:prstGeom>
          <a:solidFill>
            <a:srgbClr val="00508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mc:AlternateContent xmlns:mc="http://schemas.openxmlformats.org/markup-compatibility/2006">
        <mc:Choice xmlns:a14="http://schemas.microsoft.com/office/drawing/2010/main" Requires="a14">
          <p:graphicFrame>
            <p:nvGraphicFramePr>
              <p:cNvPr id="3" name="Table 2">
                <a:extLst>
                  <a:ext uri="{FF2B5EF4-FFF2-40B4-BE49-F238E27FC236}">
                    <a16:creationId xmlns:a16="http://schemas.microsoft.com/office/drawing/2014/main" id="{3058126B-38FF-E368-B130-AA4CE033FEF8}"/>
                  </a:ext>
                </a:extLst>
              </p:cNvPr>
              <p:cNvGraphicFramePr>
                <a:graphicFrameLocks noGrp="1"/>
              </p:cNvGraphicFramePr>
              <p:nvPr>
                <p:extLst>
                  <p:ext uri="{D42A27DB-BD31-4B8C-83A1-F6EECF244321}">
                    <p14:modId xmlns:p14="http://schemas.microsoft.com/office/powerpoint/2010/main" val="748374606"/>
                  </p:ext>
                </p:extLst>
              </p:nvPr>
            </p:nvGraphicFramePr>
            <p:xfrm>
              <a:off x="571500" y="1536381"/>
              <a:ext cx="11049000" cy="5035136"/>
            </p:xfrm>
            <a:graphic>
              <a:graphicData uri="http://schemas.openxmlformats.org/drawingml/2006/table">
                <a:tbl>
                  <a:tblPr>
                    <a:tableStyleId>{16D9F66E-5EB9-4882-86FB-DCBF35E3C3E4}</a:tableStyleId>
                  </a:tblPr>
                  <a:tblGrid>
                    <a:gridCol w="2439080">
                      <a:extLst>
                        <a:ext uri="{9D8B030D-6E8A-4147-A177-3AD203B41FA5}">
                          <a16:colId xmlns:a16="http://schemas.microsoft.com/office/drawing/2014/main" val="3694778825"/>
                        </a:ext>
                      </a:extLst>
                    </a:gridCol>
                    <a:gridCol w="8609920">
                      <a:extLst>
                        <a:ext uri="{9D8B030D-6E8A-4147-A177-3AD203B41FA5}">
                          <a16:colId xmlns:a16="http://schemas.microsoft.com/office/drawing/2014/main" val="4070141092"/>
                        </a:ext>
                      </a:extLst>
                    </a:gridCol>
                  </a:tblGrid>
                  <a:tr h="513899">
                    <a:tc>
                      <a:txBody>
                        <a:bodyPr/>
                        <a:lstStyle/>
                        <a:p>
                          <a:pPr rtl="0">
                            <a:buNone/>
                          </a:pPr>
                          <a:r>
                            <a:rPr lang="en-US" sz="1600" b="1" dirty="0">
                              <a:solidFill>
                                <a:srgbClr val="1F1F1F"/>
                              </a:solidFill>
                              <a:effectLst/>
                              <a:latin typeface="Merriweather" pitchFamily="2" charset="77"/>
                            </a:rPr>
                            <a:t>Component</a:t>
                          </a:r>
                        </a:p>
                      </a:txBody>
                      <a:tcPr marL="38711" marR="38711" marT="25807" marB="25807" anchor="ctr"/>
                    </a:tc>
                    <a:tc>
                      <a:txBody>
                        <a:bodyPr/>
                        <a:lstStyle/>
                        <a:p>
                          <a:pPr rtl="0">
                            <a:buNone/>
                          </a:pPr>
                          <a:r>
                            <a:rPr lang="en-US" sz="1600" b="1" dirty="0">
                              <a:solidFill>
                                <a:srgbClr val="1F1F1F"/>
                              </a:solidFill>
                              <a:effectLst/>
                              <a:latin typeface="Merriweather" pitchFamily="2" charset="77"/>
                            </a:rPr>
                            <a:t>Detail</a:t>
                          </a:r>
                        </a:p>
                      </a:txBody>
                      <a:tcPr marL="38711" marR="38711" marT="25807" marB="25807" anchor="ctr"/>
                    </a:tc>
                    <a:extLst>
                      <a:ext uri="{0D108BD9-81ED-4DB2-BD59-A6C34878D82A}">
                        <a16:rowId xmlns:a16="http://schemas.microsoft.com/office/drawing/2014/main" val="2336597303"/>
                      </a:ext>
                    </a:extLst>
                  </a:tr>
                  <a:tr h="1732794">
                    <a:tc>
                      <a:txBody>
                        <a:bodyPr/>
                        <a:lstStyle/>
                        <a:p>
                          <a:pPr rtl="0">
                            <a:buNone/>
                          </a:pPr>
                          <a:r>
                            <a:rPr lang="en-US" sz="1200" b="1" dirty="0">
                              <a:solidFill>
                                <a:srgbClr val="1F1F1F"/>
                              </a:solidFill>
                              <a:effectLst/>
                              <a:latin typeface="Merriweather" pitchFamily="2" charset="77"/>
                            </a:rPr>
                            <a:t>Inputs (</a:t>
                          </a:r>
                          <a14:m>
                            <m:oMath xmlns:m="http://schemas.openxmlformats.org/officeDocument/2006/math">
                              <m:sSub>
                                <m:sSubPr>
                                  <m:ctrlPr>
                                    <a:rPr lang="en-US" sz="1200" i="1" smtClean="0">
                                      <a:latin typeface="Cambria Math" panose="02040503050406030204" pitchFamily="18" charset="0"/>
                                    </a:rPr>
                                  </m:ctrlPr>
                                </m:sSubPr>
                                <m:e>
                                  <m:r>
                                    <a:rPr lang="en-US" sz="1200" i="1">
                                      <a:latin typeface="Cambria Math" panose="02040503050406030204" pitchFamily="18" charset="0"/>
                                    </a:rPr>
                                    <m:t>𝑋</m:t>
                                  </m:r>
                                </m:e>
                                <m:sub>
                                  <m:r>
                                    <a:rPr lang="en-US" sz="1200" i="1">
                                      <a:latin typeface="Cambria Math" panose="02040503050406030204" pitchFamily="18" charset="0"/>
                                    </a:rPr>
                                    <m:t>𝑚</m:t>
                                  </m:r>
                                  <m:r>
                                    <a:rPr lang="en-US" sz="1200" i="1">
                                      <a:latin typeface="Cambria Math" panose="02040503050406030204" pitchFamily="18" charset="0"/>
                                    </a:rPr>
                                    <m:t>,</m:t>
                                  </m:r>
                                  <m:r>
                                    <a:rPr lang="en-US" sz="1200" i="1">
                                      <a:latin typeface="Cambria Math" panose="02040503050406030204" pitchFamily="18" charset="0"/>
                                    </a:rPr>
                                    <m:t>𝑡</m:t>
                                  </m:r>
                                </m:sub>
                              </m:sSub>
                            </m:oMath>
                          </a14:m>
                          <a:r>
                            <a:rPr lang="en-US" sz="1200" b="1" dirty="0">
                              <a:solidFill>
                                <a:srgbClr val="1F1F1F"/>
                              </a:solidFill>
                              <a:effectLst/>
                              <a:latin typeface="Merriweather" pitchFamily="2" charset="77"/>
                            </a:rPr>
                            <a:t>)</a:t>
                          </a:r>
                        </a:p>
                      </a:txBody>
                      <a:tcPr marL="38711" marR="38711" marT="25807" marB="25807" anchor="ctr"/>
                    </a:tc>
                    <a:tc>
                      <a:txBody>
                        <a:bodyPr/>
                        <a:lstStyle/>
                        <a:p>
                          <a:pPr marL="171450" indent="-171450" rtl="0">
                            <a:buFont typeface="Arial" panose="020B0604020202020204" pitchFamily="34" charset="0"/>
                            <a:buChar char="•"/>
                          </a:pPr>
                          <a:r>
                            <a:rPr lang="en-US" sz="1200" b="1" dirty="0">
                              <a:solidFill>
                                <a:srgbClr val="1F1F1F"/>
                              </a:solidFill>
                              <a:effectLst/>
                              <a:latin typeface="Merriweather" pitchFamily="2" charset="77"/>
                            </a:rPr>
                            <a:t>Structural: Birth rates, Age structure (% &lt;15, % &gt;65)</a:t>
                          </a:r>
                          <a:br>
                            <a:rPr lang="en-US" sz="1200" b="1" dirty="0">
                              <a:solidFill>
                                <a:srgbClr val="1F1F1F"/>
                              </a:solidFill>
                              <a:effectLst/>
                              <a:latin typeface="Merriweather" pitchFamily="2" charset="77"/>
                            </a:rPr>
                          </a:br>
                          <a:endParaRPr lang="en-US" sz="1200" b="1" dirty="0">
                            <a:solidFill>
                              <a:srgbClr val="1F1F1F"/>
                            </a:solidFill>
                            <a:effectLst/>
                            <a:latin typeface="Merriweather" pitchFamily="2" charset="77"/>
                          </a:endParaRPr>
                        </a:p>
                        <a:p>
                          <a:pPr marL="171450" indent="-171450" rtl="0">
                            <a:buFont typeface="Arial" panose="020B0604020202020204" pitchFamily="34" charset="0"/>
                            <a:buChar char="•"/>
                          </a:pPr>
                          <a:r>
                            <a:rPr lang="en-US" sz="1200" b="1" dirty="0">
                              <a:solidFill>
                                <a:srgbClr val="1F1F1F"/>
                              </a:solidFill>
                              <a:effectLst/>
                              <a:latin typeface="Merriweather" pitchFamily="2" charset="77"/>
                            </a:rPr>
                            <a:t>Resilience: Unemployment, Payroll, Establishment counts</a:t>
                          </a:r>
                          <a:br>
                            <a:rPr lang="en-US" sz="1200" b="1" dirty="0">
                              <a:solidFill>
                                <a:srgbClr val="1F1F1F"/>
                              </a:solidFill>
                              <a:effectLst/>
                              <a:latin typeface="Merriweather" pitchFamily="2" charset="77"/>
                            </a:rPr>
                          </a:br>
                          <a:endParaRPr lang="en-US" sz="1200" b="1" dirty="0">
                            <a:solidFill>
                              <a:srgbClr val="1F1F1F"/>
                            </a:solidFill>
                            <a:effectLst/>
                            <a:latin typeface="Merriweather" pitchFamily="2" charset="77"/>
                          </a:endParaRPr>
                        </a:p>
                        <a:p>
                          <a:pPr marL="171450" indent="-171450" rtl="0">
                            <a:buFont typeface="Arial" panose="020B0604020202020204" pitchFamily="34" charset="0"/>
                            <a:buChar char="•"/>
                          </a:pPr>
                          <a:r>
                            <a:rPr lang="en-US" sz="1200" b="1" dirty="0">
                              <a:solidFill>
                                <a:srgbClr val="1F1F1F"/>
                              </a:solidFill>
                              <a:effectLst/>
                              <a:latin typeface="Merriweather" pitchFamily="2" charset="77"/>
                            </a:rPr>
                            <a:t>Vulnerability: CDC SVI (Poverty, Transportation, Housing) </a:t>
                          </a:r>
                          <a:br>
                            <a:rPr lang="en-US" sz="1200" b="1" dirty="0">
                              <a:solidFill>
                                <a:srgbClr val="1F1F1F"/>
                              </a:solidFill>
                              <a:effectLst/>
                              <a:latin typeface="Merriweather" pitchFamily="2" charset="77"/>
                            </a:rPr>
                          </a:br>
                          <a:endParaRPr lang="en-US" sz="1200" b="1" dirty="0">
                            <a:solidFill>
                              <a:srgbClr val="1F1F1F"/>
                            </a:solidFill>
                            <a:effectLst/>
                            <a:latin typeface="Merriweather" pitchFamily="2" charset="77"/>
                          </a:endParaRPr>
                        </a:p>
                        <a:p>
                          <a:pPr marL="171450" indent="-171450" rtl="0">
                            <a:buFont typeface="Arial" panose="020B0604020202020204" pitchFamily="34" charset="0"/>
                            <a:buChar char="•"/>
                          </a:pPr>
                          <a:r>
                            <a:rPr lang="en-US" sz="1200" b="1" dirty="0">
                              <a:solidFill>
                                <a:srgbClr val="1F1F1F"/>
                              </a:solidFill>
                              <a:effectLst/>
                              <a:latin typeface="Merriweather" pitchFamily="2" charset="77"/>
                            </a:rPr>
                            <a:t>Shocks: Hurricane strikes, Earthquake intensity</a:t>
                          </a:r>
                        </a:p>
                      </a:txBody>
                      <a:tcPr marL="38711" marR="38711" marT="25807" marB="25807" anchor="ctr"/>
                    </a:tc>
                    <a:extLst>
                      <a:ext uri="{0D108BD9-81ED-4DB2-BD59-A6C34878D82A}">
                        <a16:rowId xmlns:a16="http://schemas.microsoft.com/office/drawing/2014/main" val="3283726042"/>
                      </a:ext>
                    </a:extLst>
                  </a:tr>
                  <a:tr h="1187687">
                    <a:tc>
                      <a:txBody>
                        <a:bodyPr/>
                        <a:lstStyle/>
                        <a:p>
                          <a:pPr rtl="0">
                            <a:buNone/>
                          </a:pPr>
                          <a:r>
                            <a:rPr lang="en-US" sz="1200" b="1">
                              <a:solidFill>
                                <a:srgbClr val="1F1F1F"/>
                              </a:solidFill>
                              <a:effectLst/>
                              <a:latin typeface="Merriweather" pitchFamily="2" charset="77"/>
                            </a:rPr>
                            <a:t>Methods</a:t>
                          </a:r>
                        </a:p>
                      </a:txBody>
                      <a:tcPr marL="38711" marR="38711" marT="25807" marB="25807" anchor="ctr"/>
                    </a:tc>
                    <a:tc>
                      <a:txBody>
                        <a:bodyPr/>
                        <a:lstStyle/>
                        <a:p>
                          <a:pPr rtl="0">
                            <a:buNone/>
                          </a:pPr>
                          <a:r>
                            <a:rPr lang="en-US" sz="1200" b="1" dirty="0">
                              <a:solidFill>
                                <a:srgbClr val="1F1F1F"/>
                              </a:solidFill>
                              <a:effectLst/>
                              <a:latin typeface="Merriweather" pitchFamily="2" charset="77"/>
                            </a:rPr>
                            <a:t>Phase I (Supervised): Lasso Regression (feature selection) and Random Forest (capturing "shock cliffs")</a:t>
                          </a:r>
                          <a:br>
                            <a:rPr lang="en-US" sz="1200" b="1" dirty="0">
                              <a:solidFill>
                                <a:srgbClr val="1F1F1F"/>
                              </a:solidFill>
                              <a:effectLst/>
                              <a:latin typeface="Merriweather" pitchFamily="2" charset="77"/>
                            </a:rPr>
                          </a:br>
                          <a:endParaRPr lang="en-US" sz="1200" b="1" dirty="0">
                            <a:solidFill>
                              <a:srgbClr val="1F1F1F"/>
                            </a:solidFill>
                            <a:effectLst/>
                            <a:latin typeface="Merriweather" pitchFamily="2" charset="77"/>
                          </a:endParaRPr>
                        </a:p>
                        <a:p>
                          <a:pPr rtl="0">
                            <a:buNone/>
                          </a:pPr>
                          <a:r>
                            <a:rPr lang="en-US" sz="1200" b="1" dirty="0">
                              <a:solidFill>
                                <a:srgbClr val="1F1F1F"/>
                              </a:solidFill>
                              <a:effectLst/>
                              <a:latin typeface="Merriweather" pitchFamily="2" charset="77"/>
                            </a:rPr>
                            <a:t>Phase II (Unsupervised): K-Means/Hierarchical Clustering for typology profiling</a:t>
                          </a:r>
                        </a:p>
                      </a:txBody>
                      <a:tcPr marL="38711" marR="38711" marT="25807" marB="25807" anchor="ctr"/>
                    </a:tc>
                    <a:extLst>
                      <a:ext uri="{0D108BD9-81ED-4DB2-BD59-A6C34878D82A}">
                        <a16:rowId xmlns:a16="http://schemas.microsoft.com/office/drawing/2014/main" val="2145505174"/>
                      </a:ext>
                    </a:extLst>
                  </a:tr>
                  <a:tr h="861992">
                    <a:tc>
                      <a:txBody>
                        <a:bodyPr/>
                        <a:lstStyle/>
                        <a:p>
                          <a:pPr rtl="0">
                            <a:buNone/>
                          </a:pPr>
                          <a:r>
                            <a:rPr lang="en-US" sz="1200" b="1" dirty="0">
                              <a:solidFill>
                                <a:srgbClr val="1F1F1F"/>
                              </a:solidFill>
                              <a:effectLst/>
                              <a:latin typeface="Merriweather" pitchFamily="2" charset="77"/>
                            </a:rPr>
                            <a:t>Outputs (</a:t>
                          </a:r>
                          <a14:m>
                            <m:oMath xmlns:m="http://schemas.openxmlformats.org/officeDocument/2006/math">
                              <m:sSub>
                                <m:sSubPr>
                                  <m:ctrlPr>
                                    <a:rPr lang="en-US" sz="1200" i="1" smtClean="0">
                                      <a:latin typeface="Cambria Math" panose="02040503050406030204" pitchFamily="18" charset="0"/>
                                    </a:rPr>
                                  </m:ctrlPr>
                                </m:sSubPr>
                                <m:e>
                                  <m:r>
                                    <a:rPr lang="en-US" sz="1200" b="0" i="1" smtClean="0">
                                      <a:latin typeface="Cambria Math" panose="02040503050406030204" pitchFamily="18" charset="0"/>
                                    </a:rPr>
                                    <m:t>𝑌</m:t>
                                  </m:r>
                                </m:e>
                                <m:sub>
                                  <m:r>
                                    <a:rPr lang="en-US" sz="1200" b="0" i="1">
                                      <a:latin typeface="Cambria Math" panose="02040503050406030204" pitchFamily="18" charset="0"/>
                                    </a:rPr>
                                    <m:t>𝑚</m:t>
                                  </m:r>
                                  <m:r>
                                    <a:rPr lang="en-US" sz="1200" b="0" i="1">
                                      <a:latin typeface="Cambria Math" panose="02040503050406030204" pitchFamily="18" charset="0"/>
                                    </a:rPr>
                                    <m:t>,</m:t>
                                  </m:r>
                                  <m:r>
                                    <a:rPr lang="en-US" sz="1200" b="0" i="1">
                                      <a:latin typeface="Cambria Math" panose="02040503050406030204" pitchFamily="18" charset="0"/>
                                    </a:rPr>
                                    <m:t>𝑡</m:t>
                                  </m:r>
                                </m:sub>
                              </m:sSub>
                            </m:oMath>
                          </a14:m>
                          <a:r>
                            <a:rPr lang="en-US" sz="1200" b="1" dirty="0">
                              <a:solidFill>
                                <a:srgbClr val="1F1F1F"/>
                              </a:solidFill>
                              <a:effectLst/>
                              <a:latin typeface="Merriweather" pitchFamily="2" charset="77"/>
                            </a:rPr>
                            <a:t>)</a:t>
                          </a:r>
                        </a:p>
                      </a:txBody>
                      <a:tcPr marL="38711" marR="38711" marT="25807" marB="25807" anchor="ctr"/>
                    </a:tc>
                    <a:tc>
                      <a:txBody>
                        <a:bodyPr/>
                        <a:lstStyle/>
                        <a:p>
                          <a:pPr rtl="0">
                            <a:buNone/>
                          </a:pPr>
                          <a:r>
                            <a:rPr lang="en-US" sz="1200" b="1" dirty="0">
                              <a:solidFill>
                                <a:srgbClr val="1F1F1F"/>
                              </a:solidFill>
                              <a:effectLst/>
                              <a:latin typeface="Merriweather" pitchFamily="2" charset="77"/>
                            </a:rPr>
                            <a:t>Primary: Population change / Net migration forecast </a:t>
                          </a:r>
                        </a:p>
                        <a:p>
                          <a:pPr rtl="0">
                            <a:buNone/>
                          </a:pPr>
                          <a:endParaRPr lang="en-US" sz="1200" b="1" dirty="0">
                            <a:solidFill>
                              <a:srgbClr val="1F1F1F"/>
                            </a:solidFill>
                            <a:effectLst/>
                            <a:latin typeface="Merriweather" pitchFamily="2" charset="77"/>
                          </a:endParaRPr>
                        </a:p>
                        <a:p>
                          <a:pPr rtl="0">
                            <a:buNone/>
                          </a:pPr>
                          <a:r>
                            <a:rPr lang="en-US" sz="1200" b="1" dirty="0">
                              <a:solidFill>
                                <a:srgbClr val="1F1F1F"/>
                              </a:solidFill>
                              <a:effectLst/>
                              <a:latin typeface="Merriweather" pitchFamily="2" charset="77"/>
                            </a:rPr>
                            <a:t>Secondary: Composite Municipal Demographic Vulnerability Score (0–1)</a:t>
                          </a:r>
                        </a:p>
                      </a:txBody>
                      <a:tcPr marL="38711" marR="38711" marT="25807" marB="25807" anchor="ctr"/>
                    </a:tc>
                    <a:extLst>
                      <a:ext uri="{0D108BD9-81ED-4DB2-BD59-A6C34878D82A}">
                        <a16:rowId xmlns:a16="http://schemas.microsoft.com/office/drawing/2014/main" val="2992905786"/>
                      </a:ext>
                    </a:extLst>
                  </a:tr>
                  <a:tr h="738764">
                    <a:tc>
                      <a:txBody>
                        <a:bodyPr/>
                        <a:lstStyle/>
                        <a:p>
                          <a:pPr rtl="0">
                            <a:buNone/>
                          </a:pPr>
                          <a:r>
                            <a:rPr lang="en-US" sz="1200" b="1" dirty="0">
                              <a:solidFill>
                                <a:srgbClr val="1F1F1F"/>
                              </a:solidFill>
                              <a:effectLst/>
                              <a:latin typeface="Merriweather" pitchFamily="2" charset="77"/>
                            </a:rPr>
                            <a:t>Goal</a:t>
                          </a:r>
                        </a:p>
                      </a:txBody>
                      <a:tcPr marL="38711" marR="38711" marT="25807" marB="25807" anchor="ctr"/>
                    </a:tc>
                    <a:tc>
                      <a:txBody>
                        <a:bodyPr/>
                        <a:lstStyle/>
                        <a:p>
                          <a:pPr rtl="0">
                            <a:buNone/>
                          </a:pPr>
                          <a:r>
                            <a:rPr lang="en-US" sz="1200" b="1" dirty="0">
                              <a:solidFill>
                                <a:srgbClr val="1F1F1F"/>
                              </a:solidFill>
                              <a:effectLst/>
                              <a:latin typeface="Merriweather" pitchFamily="2" charset="77"/>
                            </a:rPr>
                            <a:t>Distinguish between "natural" demographic momentum and shock-driven emptying to inform resource allocation for the PR Planning Board </a:t>
                          </a:r>
                        </a:p>
                      </a:txBody>
                      <a:tcPr marL="38711" marR="38711" marT="25807" marB="25807" anchor="ctr"/>
                    </a:tc>
                    <a:extLst>
                      <a:ext uri="{0D108BD9-81ED-4DB2-BD59-A6C34878D82A}">
                        <a16:rowId xmlns:a16="http://schemas.microsoft.com/office/drawing/2014/main" val="428703941"/>
                      </a:ext>
                    </a:extLst>
                  </a:tr>
                </a:tbl>
              </a:graphicData>
            </a:graphic>
          </p:graphicFrame>
        </mc:Choice>
        <mc:Fallback>
          <p:graphicFrame>
            <p:nvGraphicFramePr>
              <p:cNvPr id="3" name="Table 2">
                <a:extLst>
                  <a:ext uri="{FF2B5EF4-FFF2-40B4-BE49-F238E27FC236}">
                    <a16:creationId xmlns:a16="http://schemas.microsoft.com/office/drawing/2014/main" id="{3058126B-38FF-E368-B130-AA4CE033FEF8}"/>
                  </a:ext>
                </a:extLst>
              </p:cNvPr>
              <p:cNvGraphicFramePr>
                <a:graphicFrameLocks noGrp="1"/>
              </p:cNvGraphicFramePr>
              <p:nvPr>
                <p:extLst>
                  <p:ext uri="{D42A27DB-BD31-4B8C-83A1-F6EECF244321}">
                    <p14:modId xmlns:p14="http://schemas.microsoft.com/office/powerpoint/2010/main" val="748374606"/>
                  </p:ext>
                </p:extLst>
              </p:nvPr>
            </p:nvGraphicFramePr>
            <p:xfrm>
              <a:off x="571500" y="1536381"/>
              <a:ext cx="11049000" cy="5035136"/>
            </p:xfrm>
            <a:graphic>
              <a:graphicData uri="http://schemas.openxmlformats.org/drawingml/2006/table">
                <a:tbl>
                  <a:tblPr>
                    <a:tableStyleId>{16D9F66E-5EB9-4882-86FB-DCBF35E3C3E4}</a:tableStyleId>
                  </a:tblPr>
                  <a:tblGrid>
                    <a:gridCol w="2439080">
                      <a:extLst>
                        <a:ext uri="{9D8B030D-6E8A-4147-A177-3AD203B41FA5}">
                          <a16:colId xmlns:a16="http://schemas.microsoft.com/office/drawing/2014/main" val="3694778825"/>
                        </a:ext>
                      </a:extLst>
                    </a:gridCol>
                    <a:gridCol w="8609920">
                      <a:extLst>
                        <a:ext uri="{9D8B030D-6E8A-4147-A177-3AD203B41FA5}">
                          <a16:colId xmlns:a16="http://schemas.microsoft.com/office/drawing/2014/main" val="4070141092"/>
                        </a:ext>
                      </a:extLst>
                    </a:gridCol>
                  </a:tblGrid>
                  <a:tr h="513899">
                    <a:tc>
                      <a:txBody>
                        <a:bodyPr/>
                        <a:lstStyle/>
                        <a:p>
                          <a:pPr rtl="0">
                            <a:buNone/>
                          </a:pPr>
                          <a:r>
                            <a:rPr lang="en-US" sz="1600" b="1" dirty="0">
                              <a:solidFill>
                                <a:srgbClr val="1F1F1F"/>
                              </a:solidFill>
                              <a:effectLst/>
                              <a:latin typeface="Merriweather" pitchFamily="2" charset="77"/>
                            </a:rPr>
                            <a:t>Component</a:t>
                          </a:r>
                        </a:p>
                      </a:txBody>
                      <a:tcPr marL="38711" marR="38711" marT="25807" marB="25807" anchor="ctr"/>
                    </a:tc>
                    <a:tc>
                      <a:txBody>
                        <a:bodyPr/>
                        <a:lstStyle/>
                        <a:p>
                          <a:pPr rtl="0">
                            <a:buNone/>
                          </a:pPr>
                          <a:r>
                            <a:rPr lang="en-US" sz="1600" b="1" dirty="0">
                              <a:solidFill>
                                <a:srgbClr val="1F1F1F"/>
                              </a:solidFill>
                              <a:effectLst/>
                              <a:latin typeface="Merriweather" pitchFamily="2" charset="77"/>
                            </a:rPr>
                            <a:t>Detail</a:t>
                          </a:r>
                        </a:p>
                      </a:txBody>
                      <a:tcPr marL="38711" marR="38711" marT="25807" marB="25807" anchor="ctr"/>
                    </a:tc>
                    <a:extLst>
                      <a:ext uri="{0D108BD9-81ED-4DB2-BD59-A6C34878D82A}">
                        <a16:rowId xmlns:a16="http://schemas.microsoft.com/office/drawing/2014/main" val="2336597303"/>
                      </a:ext>
                    </a:extLst>
                  </a:tr>
                  <a:tr h="1732794">
                    <a:tc>
                      <a:txBody>
                        <a:bodyPr/>
                        <a:lstStyle/>
                        <a:p>
                          <a:endParaRPr lang="en-US"/>
                        </a:p>
                      </a:txBody>
                      <a:tcPr marL="38711" marR="38711" marT="25807" marB="25807" anchor="ctr">
                        <a:blipFill>
                          <a:blip r:embed="rId3"/>
                          <a:stretch>
                            <a:fillRect l="-521" t="-29927" r="-354167" b="-161314"/>
                          </a:stretch>
                        </a:blipFill>
                      </a:tcPr>
                    </a:tc>
                    <a:tc>
                      <a:txBody>
                        <a:bodyPr/>
                        <a:lstStyle/>
                        <a:p>
                          <a:pPr marL="171450" indent="-171450" rtl="0">
                            <a:buFont typeface="Arial" panose="020B0604020202020204" pitchFamily="34" charset="0"/>
                            <a:buChar char="•"/>
                          </a:pPr>
                          <a:r>
                            <a:rPr lang="en-US" sz="1200" b="1" dirty="0">
                              <a:solidFill>
                                <a:srgbClr val="1F1F1F"/>
                              </a:solidFill>
                              <a:effectLst/>
                              <a:latin typeface="Merriweather" pitchFamily="2" charset="77"/>
                            </a:rPr>
                            <a:t>Structural: Birth rates, Age structure (% &lt;15, % &gt;65)</a:t>
                          </a:r>
                          <a:br>
                            <a:rPr lang="en-US" sz="1200" b="1" dirty="0">
                              <a:solidFill>
                                <a:srgbClr val="1F1F1F"/>
                              </a:solidFill>
                              <a:effectLst/>
                              <a:latin typeface="Merriweather" pitchFamily="2" charset="77"/>
                            </a:rPr>
                          </a:br>
                          <a:endParaRPr lang="en-US" sz="1200" b="1" dirty="0">
                            <a:solidFill>
                              <a:srgbClr val="1F1F1F"/>
                            </a:solidFill>
                            <a:effectLst/>
                            <a:latin typeface="Merriweather" pitchFamily="2" charset="77"/>
                          </a:endParaRPr>
                        </a:p>
                        <a:p>
                          <a:pPr marL="171450" indent="-171450" rtl="0">
                            <a:buFont typeface="Arial" panose="020B0604020202020204" pitchFamily="34" charset="0"/>
                            <a:buChar char="•"/>
                          </a:pPr>
                          <a:r>
                            <a:rPr lang="en-US" sz="1200" b="1" dirty="0">
                              <a:solidFill>
                                <a:srgbClr val="1F1F1F"/>
                              </a:solidFill>
                              <a:effectLst/>
                              <a:latin typeface="Merriweather" pitchFamily="2" charset="77"/>
                            </a:rPr>
                            <a:t>Resilience: Unemployment, Payroll, Establishment counts</a:t>
                          </a:r>
                          <a:br>
                            <a:rPr lang="en-US" sz="1200" b="1" dirty="0">
                              <a:solidFill>
                                <a:srgbClr val="1F1F1F"/>
                              </a:solidFill>
                              <a:effectLst/>
                              <a:latin typeface="Merriweather" pitchFamily="2" charset="77"/>
                            </a:rPr>
                          </a:br>
                          <a:endParaRPr lang="en-US" sz="1200" b="1" dirty="0">
                            <a:solidFill>
                              <a:srgbClr val="1F1F1F"/>
                            </a:solidFill>
                            <a:effectLst/>
                            <a:latin typeface="Merriweather" pitchFamily="2" charset="77"/>
                          </a:endParaRPr>
                        </a:p>
                        <a:p>
                          <a:pPr marL="171450" indent="-171450" rtl="0">
                            <a:buFont typeface="Arial" panose="020B0604020202020204" pitchFamily="34" charset="0"/>
                            <a:buChar char="•"/>
                          </a:pPr>
                          <a:r>
                            <a:rPr lang="en-US" sz="1200" b="1" dirty="0">
                              <a:solidFill>
                                <a:srgbClr val="1F1F1F"/>
                              </a:solidFill>
                              <a:effectLst/>
                              <a:latin typeface="Merriweather" pitchFamily="2" charset="77"/>
                            </a:rPr>
                            <a:t>Vulnerability: CDC SVI (Poverty, Transportation, Housing) </a:t>
                          </a:r>
                          <a:br>
                            <a:rPr lang="en-US" sz="1200" b="1" dirty="0">
                              <a:solidFill>
                                <a:srgbClr val="1F1F1F"/>
                              </a:solidFill>
                              <a:effectLst/>
                              <a:latin typeface="Merriweather" pitchFamily="2" charset="77"/>
                            </a:rPr>
                          </a:br>
                          <a:endParaRPr lang="en-US" sz="1200" b="1" dirty="0">
                            <a:solidFill>
                              <a:srgbClr val="1F1F1F"/>
                            </a:solidFill>
                            <a:effectLst/>
                            <a:latin typeface="Merriweather" pitchFamily="2" charset="77"/>
                          </a:endParaRPr>
                        </a:p>
                        <a:p>
                          <a:pPr marL="171450" indent="-171450" rtl="0">
                            <a:buFont typeface="Arial" panose="020B0604020202020204" pitchFamily="34" charset="0"/>
                            <a:buChar char="•"/>
                          </a:pPr>
                          <a:r>
                            <a:rPr lang="en-US" sz="1200" b="1" dirty="0">
                              <a:solidFill>
                                <a:srgbClr val="1F1F1F"/>
                              </a:solidFill>
                              <a:effectLst/>
                              <a:latin typeface="Merriweather" pitchFamily="2" charset="77"/>
                            </a:rPr>
                            <a:t>Shocks: Hurricane strikes, Earthquake intensity</a:t>
                          </a:r>
                        </a:p>
                      </a:txBody>
                      <a:tcPr marL="38711" marR="38711" marT="25807" marB="25807" anchor="ctr"/>
                    </a:tc>
                    <a:extLst>
                      <a:ext uri="{0D108BD9-81ED-4DB2-BD59-A6C34878D82A}">
                        <a16:rowId xmlns:a16="http://schemas.microsoft.com/office/drawing/2014/main" val="3283726042"/>
                      </a:ext>
                    </a:extLst>
                  </a:tr>
                  <a:tr h="1187687">
                    <a:tc>
                      <a:txBody>
                        <a:bodyPr/>
                        <a:lstStyle/>
                        <a:p>
                          <a:pPr rtl="0">
                            <a:buNone/>
                          </a:pPr>
                          <a:r>
                            <a:rPr lang="en-US" sz="1200" b="1">
                              <a:solidFill>
                                <a:srgbClr val="1F1F1F"/>
                              </a:solidFill>
                              <a:effectLst/>
                              <a:latin typeface="Merriweather" pitchFamily="2" charset="77"/>
                            </a:rPr>
                            <a:t>Methods</a:t>
                          </a:r>
                        </a:p>
                      </a:txBody>
                      <a:tcPr marL="38711" marR="38711" marT="25807" marB="25807" anchor="ctr"/>
                    </a:tc>
                    <a:tc>
                      <a:txBody>
                        <a:bodyPr/>
                        <a:lstStyle/>
                        <a:p>
                          <a:pPr rtl="0">
                            <a:buNone/>
                          </a:pPr>
                          <a:r>
                            <a:rPr lang="en-US" sz="1200" b="1" dirty="0">
                              <a:solidFill>
                                <a:srgbClr val="1F1F1F"/>
                              </a:solidFill>
                              <a:effectLst/>
                              <a:latin typeface="Merriweather" pitchFamily="2" charset="77"/>
                            </a:rPr>
                            <a:t>Phase I (Supervised): Lasso Regression (feature selection) and Random Forest (capturing "shock cliffs")</a:t>
                          </a:r>
                          <a:br>
                            <a:rPr lang="en-US" sz="1200" b="1" dirty="0">
                              <a:solidFill>
                                <a:srgbClr val="1F1F1F"/>
                              </a:solidFill>
                              <a:effectLst/>
                              <a:latin typeface="Merriweather" pitchFamily="2" charset="77"/>
                            </a:rPr>
                          </a:br>
                          <a:endParaRPr lang="en-US" sz="1200" b="1" dirty="0">
                            <a:solidFill>
                              <a:srgbClr val="1F1F1F"/>
                            </a:solidFill>
                            <a:effectLst/>
                            <a:latin typeface="Merriweather" pitchFamily="2" charset="77"/>
                          </a:endParaRPr>
                        </a:p>
                        <a:p>
                          <a:pPr rtl="0">
                            <a:buNone/>
                          </a:pPr>
                          <a:r>
                            <a:rPr lang="en-US" sz="1200" b="1" dirty="0">
                              <a:solidFill>
                                <a:srgbClr val="1F1F1F"/>
                              </a:solidFill>
                              <a:effectLst/>
                              <a:latin typeface="Merriweather" pitchFamily="2" charset="77"/>
                            </a:rPr>
                            <a:t>Phase II (Unsupervised): K-Means/Hierarchical Clustering for typology profiling</a:t>
                          </a:r>
                        </a:p>
                      </a:txBody>
                      <a:tcPr marL="38711" marR="38711" marT="25807" marB="25807" anchor="ctr"/>
                    </a:tc>
                    <a:extLst>
                      <a:ext uri="{0D108BD9-81ED-4DB2-BD59-A6C34878D82A}">
                        <a16:rowId xmlns:a16="http://schemas.microsoft.com/office/drawing/2014/main" val="2145505174"/>
                      </a:ext>
                    </a:extLst>
                  </a:tr>
                  <a:tr h="861992">
                    <a:tc>
                      <a:txBody>
                        <a:bodyPr/>
                        <a:lstStyle/>
                        <a:p>
                          <a:endParaRPr lang="en-US"/>
                        </a:p>
                      </a:txBody>
                      <a:tcPr marL="38711" marR="38711" marT="25807" marB="25807" anchor="ctr">
                        <a:blipFill>
                          <a:blip r:embed="rId3"/>
                          <a:stretch>
                            <a:fillRect l="-521" t="-392754" r="-354167" b="-85507"/>
                          </a:stretch>
                        </a:blipFill>
                      </a:tcPr>
                    </a:tc>
                    <a:tc>
                      <a:txBody>
                        <a:bodyPr/>
                        <a:lstStyle/>
                        <a:p>
                          <a:pPr rtl="0">
                            <a:buNone/>
                          </a:pPr>
                          <a:r>
                            <a:rPr lang="en-US" sz="1200" b="1" dirty="0">
                              <a:solidFill>
                                <a:srgbClr val="1F1F1F"/>
                              </a:solidFill>
                              <a:effectLst/>
                              <a:latin typeface="Merriweather" pitchFamily="2" charset="77"/>
                            </a:rPr>
                            <a:t>Primary: Population change / Net migration forecast </a:t>
                          </a:r>
                        </a:p>
                        <a:p>
                          <a:pPr rtl="0">
                            <a:buNone/>
                          </a:pPr>
                          <a:endParaRPr lang="en-US" sz="1200" b="1" dirty="0">
                            <a:solidFill>
                              <a:srgbClr val="1F1F1F"/>
                            </a:solidFill>
                            <a:effectLst/>
                            <a:latin typeface="Merriweather" pitchFamily="2" charset="77"/>
                          </a:endParaRPr>
                        </a:p>
                        <a:p>
                          <a:pPr rtl="0">
                            <a:buNone/>
                          </a:pPr>
                          <a:r>
                            <a:rPr lang="en-US" sz="1200" b="1" dirty="0">
                              <a:solidFill>
                                <a:srgbClr val="1F1F1F"/>
                              </a:solidFill>
                              <a:effectLst/>
                              <a:latin typeface="Merriweather" pitchFamily="2" charset="77"/>
                            </a:rPr>
                            <a:t>Secondary: Composite Municipal Demographic Vulnerability Score (0–1)</a:t>
                          </a:r>
                        </a:p>
                      </a:txBody>
                      <a:tcPr marL="38711" marR="38711" marT="25807" marB="25807" anchor="ctr"/>
                    </a:tc>
                    <a:extLst>
                      <a:ext uri="{0D108BD9-81ED-4DB2-BD59-A6C34878D82A}">
                        <a16:rowId xmlns:a16="http://schemas.microsoft.com/office/drawing/2014/main" val="2992905786"/>
                      </a:ext>
                    </a:extLst>
                  </a:tr>
                  <a:tr h="738764">
                    <a:tc>
                      <a:txBody>
                        <a:bodyPr/>
                        <a:lstStyle/>
                        <a:p>
                          <a:pPr rtl="0">
                            <a:buNone/>
                          </a:pPr>
                          <a:r>
                            <a:rPr lang="en-US" sz="1200" b="1" dirty="0">
                              <a:solidFill>
                                <a:srgbClr val="1F1F1F"/>
                              </a:solidFill>
                              <a:effectLst/>
                              <a:latin typeface="Merriweather" pitchFamily="2" charset="77"/>
                            </a:rPr>
                            <a:t>Goal</a:t>
                          </a:r>
                        </a:p>
                      </a:txBody>
                      <a:tcPr marL="38711" marR="38711" marT="25807" marB="25807" anchor="ctr"/>
                    </a:tc>
                    <a:tc>
                      <a:txBody>
                        <a:bodyPr/>
                        <a:lstStyle/>
                        <a:p>
                          <a:pPr rtl="0">
                            <a:buNone/>
                          </a:pPr>
                          <a:r>
                            <a:rPr lang="en-US" sz="1200" b="1" dirty="0">
                              <a:solidFill>
                                <a:srgbClr val="1F1F1F"/>
                              </a:solidFill>
                              <a:effectLst/>
                              <a:latin typeface="Merriweather" pitchFamily="2" charset="77"/>
                            </a:rPr>
                            <a:t>Distinguish between "natural" demographic momentum and shock-driven emptying to inform resource allocation for the PR Planning Board </a:t>
                          </a:r>
                        </a:p>
                      </a:txBody>
                      <a:tcPr marL="38711" marR="38711" marT="25807" marB="25807" anchor="ctr"/>
                    </a:tc>
                    <a:extLst>
                      <a:ext uri="{0D108BD9-81ED-4DB2-BD59-A6C34878D82A}">
                        <a16:rowId xmlns:a16="http://schemas.microsoft.com/office/drawing/2014/main" val="428703941"/>
                      </a:ext>
                    </a:extLst>
                  </a:tr>
                </a:tbl>
              </a:graphicData>
            </a:graphic>
          </p:graphicFrame>
        </mc:Fallback>
      </mc:AlternateContent>
    </p:spTree>
    <p:extLst>
      <p:ext uri="{BB962C8B-B14F-4D97-AF65-F5344CB8AC3E}">
        <p14:creationId xmlns:p14="http://schemas.microsoft.com/office/powerpoint/2010/main" val="355243266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3">
            <a:extLst>
              <a:ext uri="{FF2B5EF4-FFF2-40B4-BE49-F238E27FC236}">
                <a16:creationId xmlns:a16="http://schemas.microsoft.com/office/drawing/2014/main" id="{B782BB2F-A799-E069-3A55-CD50247FAF4A}"/>
              </a:ext>
            </a:extLst>
          </p:cNvPr>
          <p:cNvSpPr/>
          <p:nvPr/>
        </p:nvSpPr>
        <p:spPr>
          <a:xfrm>
            <a:off x="750276" y="1563192"/>
            <a:ext cx="2074986" cy="5180483"/>
          </a:xfrm>
          <a:prstGeom prst="roundRect">
            <a:avLst>
              <a:gd name="adj" fmla="val 4698"/>
            </a:avLst>
          </a:prstGeom>
          <a:solidFill>
            <a:srgbClr val="0070C0">
              <a:alpha val="50000"/>
            </a:srgbClr>
          </a:solidFill>
          <a:ln>
            <a:solidFill>
              <a:schemeClr val="tx1"/>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5" name="Rounded Rectangle 4">
            <a:extLst>
              <a:ext uri="{FF2B5EF4-FFF2-40B4-BE49-F238E27FC236}">
                <a16:creationId xmlns:a16="http://schemas.microsoft.com/office/drawing/2014/main" id="{BF5D0AC2-D778-7E4B-9E87-925D81EB6675}"/>
              </a:ext>
            </a:extLst>
          </p:cNvPr>
          <p:cNvSpPr/>
          <p:nvPr/>
        </p:nvSpPr>
        <p:spPr>
          <a:xfrm>
            <a:off x="3282460" y="2558787"/>
            <a:ext cx="2379785" cy="3270738"/>
          </a:xfrm>
          <a:prstGeom prst="roundRect">
            <a:avLst>
              <a:gd name="adj" fmla="val 4808"/>
            </a:avLst>
          </a:prstGeom>
          <a:solidFill>
            <a:srgbClr val="0070C0">
              <a:alpha val="50000"/>
            </a:srgbClr>
          </a:solidFill>
          <a:ln>
            <a:solidFill>
              <a:schemeClr val="tx1"/>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6" name="Rounded Rectangle 5">
            <a:extLst>
              <a:ext uri="{FF2B5EF4-FFF2-40B4-BE49-F238E27FC236}">
                <a16:creationId xmlns:a16="http://schemas.microsoft.com/office/drawing/2014/main" id="{449354FF-5CA0-8549-83AA-88B782E9FEE8}"/>
              </a:ext>
            </a:extLst>
          </p:cNvPr>
          <p:cNvSpPr/>
          <p:nvPr/>
        </p:nvSpPr>
        <p:spPr>
          <a:xfrm>
            <a:off x="6081655" y="2629839"/>
            <a:ext cx="2076839" cy="3199686"/>
          </a:xfrm>
          <a:prstGeom prst="roundRect">
            <a:avLst>
              <a:gd name="adj" fmla="val 4485"/>
            </a:avLst>
          </a:prstGeom>
          <a:solidFill>
            <a:srgbClr val="0070C0">
              <a:alpha val="50000"/>
            </a:srgbClr>
          </a:solidFill>
          <a:ln>
            <a:solidFill>
              <a:schemeClr val="tx1"/>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7" name="Rounded Rectangle 6">
            <a:extLst>
              <a:ext uri="{FF2B5EF4-FFF2-40B4-BE49-F238E27FC236}">
                <a16:creationId xmlns:a16="http://schemas.microsoft.com/office/drawing/2014/main" id="{B3B1C1E2-840A-A6A9-8E24-4387EB2EA239}"/>
              </a:ext>
            </a:extLst>
          </p:cNvPr>
          <p:cNvSpPr/>
          <p:nvPr/>
        </p:nvSpPr>
        <p:spPr>
          <a:xfrm>
            <a:off x="8581292" y="2716977"/>
            <a:ext cx="1852246" cy="2902401"/>
          </a:xfrm>
          <a:prstGeom prst="roundRect">
            <a:avLst>
              <a:gd name="adj" fmla="val 5697"/>
            </a:avLst>
          </a:prstGeom>
          <a:solidFill>
            <a:srgbClr val="0070C0">
              <a:alpha val="50000"/>
            </a:srgbClr>
          </a:solidFill>
          <a:ln>
            <a:solidFill>
              <a:schemeClr val="tx1"/>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8" name="Rounded Rectangle 7">
            <a:extLst>
              <a:ext uri="{FF2B5EF4-FFF2-40B4-BE49-F238E27FC236}">
                <a16:creationId xmlns:a16="http://schemas.microsoft.com/office/drawing/2014/main" id="{323E3F60-C717-C774-77BB-C93D4CB1E736}"/>
              </a:ext>
            </a:extLst>
          </p:cNvPr>
          <p:cNvSpPr/>
          <p:nvPr/>
        </p:nvSpPr>
        <p:spPr>
          <a:xfrm>
            <a:off x="838967" y="2043252"/>
            <a:ext cx="1881373" cy="975360"/>
          </a:xfrm>
          <a:prstGeom prst="roundRect">
            <a:avLst>
              <a:gd name="adj" fmla="val 7408"/>
            </a:avLst>
          </a:prstGeom>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9" name="Rounded Rectangle 8">
            <a:extLst>
              <a:ext uri="{FF2B5EF4-FFF2-40B4-BE49-F238E27FC236}">
                <a16:creationId xmlns:a16="http://schemas.microsoft.com/office/drawing/2014/main" id="{AE3D9521-4D44-5AF2-B797-E7AE67FB9BA2}"/>
              </a:ext>
            </a:extLst>
          </p:cNvPr>
          <p:cNvSpPr/>
          <p:nvPr/>
        </p:nvSpPr>
        <p:spPr>
          <a:xfrm>
            <a:off x="847082" y="3195100"/>
            <a:ext cx="1881373" cy="1057952"/>
          </a:xfrm>
          <a:prstGeom prst="roundRect">
            <a:avLst>
              <a:gd name="adj" fmla="val 4929"/>
            </a:avLst>
          </a:prstGeom>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 name="Rounded Rectangle 9">
            <a:extLst>
              <a:ext uri="{FF2B5EF4-FFF2-40B4-BE49-F238E27FC236}">
                <a16:creationId xmlns:a16="http://schemas.microsoft.com/office/drawing/2014/main" id="{E048FC91-9EA0-B061-5516-352FC20E75F2}"/>
              </a:ext>
            </a:extLst>
          </p:cNvPr>
          <p:cNvSpPr/>
          <p:nvPr/>
        </p:nvSpPr>
        <p:spPr>
          <a:xfrm>
            <a:off x="838967" y="4417366"/>
            <a:ext cx="1881373" cy="1057952"/>
          </a:xfrm>
          <a:prstGeom prst="roundRect">
            <a:avLst>
              <a:gd name="adj" fmla="val 5996"/>
            </a:avLst>
          </a:prstGeom>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 name="Rounded Rectangle 10">
            <a:extLst>
              <a:ext uri="{FF2B5EF4-FFF2-40B4-BE49-F238E27FC236}">
                <a16:creationId xmlns:a16="http://schemas.microsoft.com/office/drawing/2014/main" id="{3F07BC0F-16AB-7C72-C8C9-7C7A0EF278E0}"/>
              </a:ext>
            </a:extLst>
          </p:cNvPr>
          <p:cNvSpPr/>
          <p:nvPr/>
        </p:nvSpPr>
        <p:spPr>
          <a:xfrm>
            <a:off x="838966" y="5580520"/>
            <a:ext cx="1881373" cy="975360"/>
          </a:xfrm>
          <a:prstGeom prst="roundRect">
            <a:avLst>
              <a:gd name="adj" fmla="val 3935"/>
            </a:avLst>
          </a:prstGeom>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 name="Rounded Rectangle 11">
            <a:extLst>
              <a:ext uri="{FF2B5EF4-FFF2-40B4-BE49-F238E27FC236}">
                <a16:creationId xmlns:a16="http://schemas.microsoft.com/office/drawing/2014/main" id="{8CFA5395-537B-B5C0-5A4D-771A5E5C86AD}"/>
              </a:ext>
            </a:extLst>
          </p:cNvPr>
          <p:cNvSpPr/>
          <p:nvPr/>
        </p:nvSpPr>
        <p:spPr>
          <a:xfrm>
            <a:off x="3391667" y="3018612"/>
            <a:ext cx="2132833" cy="1234440"/>
          </a:xfrm>
          <a:prstGeom prst="roundRect">
            <a:avLst>
              <a:gd name="adj" fmla="val 3864"/>
            </a:avLst>
          </a:prstGeom>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3" name="Rounded Rectangle 12">
            <a:extLst>
              <a:ext uri="{FF2B5EF4-FFF2-40B4-BE49-F238E27FC236}">
                <a16:creationId xmlns:a16="http://schemas.microsoft.com/office/drawing/2014/main" id="{EDFB6069-A96C-D3E3-8FC8-719648C31FF8}"/>
              </a:ext>
            </a:extLst>
          </p:cNvPr>
          <p:cNvSpPr/>
          <p:nvPr/>
        </p:nvSpPr>
        <p:spPr>
          <a:xfrm>
            <a:off x="3391667" y="4499958"/>
            <a:ext cx="2132833" cy="1178034"/>
          </a:xfrm>
          <a:prstGeom prst="roundRect">
            <a:avLst>
              <a:gd name="adj" fmla="val 2293"/>
            </a:avLst>
          </a:prstGeom>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4" name="Rounded Rectangle 13">
            <a:extLst>
              <a:ext uri="{FF2B5EF4-FFF2-40B4-BE49-F238E27FC236}">
                <a16:creationId xmlns:a16="http://schemas.microsoft.com/office/drawing/2014/main" id="{9B751BE3-01C4-0E6A-C137-78C5B3A158D4}"/>
              </a:ext>
            </a:extLst>
          </p:cNvPr>
          <p:cNvSpPr/>
          <p:nvPr/>
        </p:nvSpPr>
        <p:spPr>
          <a:xfrm>
            <a:off x="6187439" y="3144201"/>
            <a:ext cx="1836421" cy="1120141"/>
          </a:xfrm>
          <a:prstGeom prst="roundRect">
            <a:avLst>
              <a:gd name="adj" fmla="val 2558"/>
            </a:avLst>
          </a:prstGeom>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 name="Rounded Rectangle 14">
            <a:extLst>
              <a:ext uri="{FF2B5EF4-FFF2-40B4-BE49-F238E27FC236}">
                <a16:creationId xmlns:a16="http://schemas.microsoft.com/office/drawing/2014/main" id="{79A9D1CE-515F-2AD5-FEC8-B6EC6B7410B8}"/>
              </a:ext>
            </a:extLst>
          </p:cNvPr>
          <p:cNvSpPr/>
          <p:nvPr/>
        </p:nvSpPr>
        <p:spPr>
          <a:xfrm>
            <a:off x="6187439" y="4386271"/>
            <a:ext cx="1836421" cy="1233107"/>
          </a:xfrm>
          <a:prstGeom prst="roundRect">
            <a:avLst>
              <a:gd name="adj" fmla="val 2935"/>
            </a:avLst>
          </a:prstGeom>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6" name="Rounded Rectangle 15">
            <a:extLst>
              <a:ext uri="{FF2B5EF4-FFF2-40B4-BE49-F238E27FC236}">
                <a16:creationId xmlns:a16="http://schemas.microsoft.com/office/drawing/2014/main" id="{3E7C44BE-23DD-123B-8DBC-D00F893C1708}"/>
              </a:ext>
            </a:extLst>
          </p:cNvPr>
          <p:cNvSpPr/>
          <p:nvPr/>
        </p:nvSpPr>
        <p:spPr>
          <a:xfrm>
            <a:off x="8707721" y="3175742"/>
            <a:ext cx="1609759" cy="2322154"/>
          </a:xfrm>
          <a:prstGeom prst="roundRect">
            <a:avLst>
              <a:gd name="adj" fmla="val 3343"/>
            </a:avLst>
          </a:prstGeom>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mc:AlternateContent xmlns:mc="http://schemas.openxmlformats.org/markup-compatibility/2006">
        <mc:Choice xmlns:a14="http://schemas.microsoft.com/office/drawing/2010/main" Requires="a14">
          <p:sp>
            <p:nvSpPr>
              <p:cNvPr id="19" name="TextBox 18">
                <a:extLst>
                  <a:ext uri="{FF2B5EF4-FFF2-40B4-BE49-F238E27FC236}">
                    <a16:creationId xmlns:a16="http://schemas.microsoft.com/office/drawing/2014/main" id="{C93C1D20-2035-402A-13EA-5B181AE627FA}"/>
                  </a:ext>
                </a:extLst>
              </p:cNvPr>
              <p:cNvSpPr txBox="1"/>
              <p:nvPr/>
            </p:nvSpPr>
            <p:spPr>
              <a:xfrm>
                <a:off x="1159606" y="1620847"/>
                <a:ext cx="1437125" cy="349326"/>
              </a:xfrm>
              <a:prstGeom prst="rect">
                <a:avLst/>
              </a:prstGeom>
              <a:noFill/>
            </p:spPr>
            <p:txBody>
              <a:bodyPr wrap="none" rtlCol="0">
                <a:spAutoFit/>
              </a:bodyPr>
              <a:lstStyle/>
              <a:p>
                <a:r>
                  <a:rPr lang="en-US" sz="1600" b="1" dirty="0">
                    <a:latin typeface="Arial" panose="020B0604020202020204" pitchFamily="34" charset="0"/>
                    <a:cs typeface="Arial" panose="020B0604020202020204" pitchFamily="34" charset="0"/>
                  </a:rPr>
                  <a:t>Inputs </a:t>
                </a:r>
                <a:r>
                  <a:rPr lang="en-US" sz="1600" b="1" dirty="0">
                    <a:solidFill>
                      <a:srgbClr val="1F1F1F"/>
                    </a:solidFill>
                    <a:latin typeface="Arial" panose="020B0604020202020204" pitchFamily="34" charset="0"/>
                    <a:cs typeface="Arial" panose="020B0604020202020204" pitchFamily="34" charset="0"/>
                  </a:rPr>
                  <a:t>(</a:t>
                </a:r>
                <a14:m>
                  <m:oMath xmlns:m="http://schemas.openxmlformats.org/officeDocument/2006/math">
                    <m:sSub>
                      <m:sSubPr>
                        <m:ctrlPr>
                          <a:rPr lang="en-US" sz="1600" b="1" i="1">
                            <a:latin typeface="Cambria Math" panose="02040503050406030204" pitchFamily="18" charset="0"/>
                          </a:rPr>
                        </m:ctrlPr>
                      </m:sSubPr>
                      <m:e>
                        <m:r>
                          <a:rPr lang="en-US" sz="1600" b="1" i="1">
                            <a:latin typeface="Cambria Math" panose="02040503050406030204" pitchFamily="18" charset="0"/>
                          </a:rPr>
                          <m:t>𝑿</m:t>
                        </m:r>
                      </m:e>
                      <m:sub>
                        <m:r>
                          <a:rPr lang="en-US" sz="1600" b="1" i="1">
                            <a:latin typeface="Cambria Math" panose="02040503050406030204" pitchFamily="18" charset="0"/>
                          </a:rPr>
                          <m:t>𝒎</m:t>
                        </m:r>
                        <m:r>
                          <a:rPr lang="en-US" sz="1600" b="1" i="1">
                            <a:latin typeface="Cambria Math" panose="02040503050406030204" pitchFamily="18" charset="0"/>
                          </a:rPr>
                          <m:t>,</m:t>
                        </m:r>
                        <m:r>
                          <a:rPr lang="en-US" sz="1600" b="1" i="1">
                            <a:latin typeface="Cambria Math" panose="02040503050406030204" pitchFamily="18" charset="0"/>
                          </a:rPr>
                          <m:t>𝒕</m:t>
                        </m:r>
                      </m:sub>
                    </m:sSub>
                  </m:oMath>
                </a14:m>
                <a:r>
                  <a:rPr lang="en-US" sz="1600" b="1" dirty="0">
                    <a:solidFill>
                      <a:srgbClr val="1F1F1F"/>
                    </a:solidFill>
                    <a:latin typeface="Arial" panose="020B0604020202020204" pitchFamily="34" charset="0"/>
                    <a:cs typeface="Arial" panose="020B0604020202020204" pitchFamily="34" charset="0"/>
                  </a:rPr>
                  <a:t>)</a:t>
                </a:r>
                <a:r>
                  <a:rPr lang="en-US" sz="1600" b="1" dirty="0">
                    <a:latin typeface="Arial" panose="020B0604020202020204" pitchFamily="34" charset="0"/>
                    <a:cs typeface="Arial" panose="020B0604020202020204" pitchFamily="34" charset="0"/>
                  </a:rPr>
                  <a:t> </a:t>
                </a:r>
              </a:p>
            </p:txBody>
          </p:sp>
        </mc:Choice>
        <mc:Fallback>
          <p:sp>
            <p:nvSpPr>
              <p:cNvPr id="19" name="TextBox 18">
                <a:extLst>
                  <a:ext uri="{FF2B5EF4-FFF2-40B4-BE49-F238E27FC236}">
                    <a16:creationId xmlns:a16="http://schemas.microsoft.com/office/drawing/2014/main" id="{C93C1D20-2035-402A-13EA-5B181AE627FA}"/>
                  </a:ext>
                </a:extLst>
              </p:cNvPr>
              <p:cNvSpPr txBox="1">
                <a:spLocks noRot="1" noChangeAspect="1" noMove="1" noResize="1" noEditPoints="1" noAdjustHandles="1" noChangeArrowheads="1" noChangeShapeType="1" noTextEdit="1"/>
              </p:cNvSpPr>
              <p:nvPr/>
            </p:nvSpPr>
            <p:spPr>
              <a:xfrm>
                <a:off x="1159606" y="1620847"/>
                <a:ext cx="1437125" cy="349326"/>
              </a:xfrm>
              <a:prstGeom prst="rect">
                <a:avLst/>
              </a:prstGeom>
              <a:blipFill>
                <a:blip r:embed="rId2"/>
                <a:stretch>
                  <a:fillRect l="-2632" t="-6897" b="-13793"/>
                </a:stretch>
              </a:blipFill>
            </p:spPr>
            <p:txBody>
              <a:bodyPr/>
              <a:lstStyle/>
              <a:p>
                <a:r>
                  <a:rPr lang="en-US">
                    <a:noFill/>
                  </a:rPr>
                  <a:t> </a:t>
                </a:r>
              </a:p>
            </p:txBody>
          </p:sp>
        </mc:Fallback>
      </mc:AlternateContent>
      <p:sp>
        <p:nvSpPr>
          <p:cNvPr id="20" name="TextBox 19">
            <a:extLst>
              <a:ext uri="{FF2B5EF4-FFF2-40B4-BE49-F238E27FC236}">
                <a16:creationId xmlns:a16="http://schemas.microsoft.com/office/drawing/2014/main" id="{400B4953-7E29-12F3-9BF4-1D8344124B3B}"/>
              </a:ext>
            </a:extLst>
          </p:cNvPr>
          <p:cNvSpPr txBox="1"/>
          <p:nvPr/>
        </p:nvSpPr>
        <p:spPr>
          <a:xfrm>
            <a:off x="3998761" y="2629839"/>
            <a:ext cx="1027845" cy="338554"/>
          </a:xfrm>
          <a:prstGeom prst="rect">
            <a:avLst/>
          </a:prstGeom>
          <a:noFill/>
        </p:spPr>
        <p:txBody>
          <a:bodyPr wrap="none" rtlCol="0">
            <a:spAutoFit/>
          </a:bodyPr>
          <a:lstStyle/>
          <a:p>
            <a:r>
              <a:rPr lang="en-US" sz="1600" b="1" dirty="0">
                <a:latin typeface="Arial" panose="020B0604020202020204" pitchFamily="34" charset="0"/>
                <a:cs typeface="Arial" panose="020B0604020202020204" pitchFamily="34" charset="0"/>
              </a:rPr>
              <a:t>Methods</a:t>
            </a:r>
          </a:p>
        </p:txBody>
      </p:sp>
      <mc:AlternateContent xmlns:mc="http://schemas.openxmlformats.org/markup-compatibility/2006">
        <mc:Choice xmlns:a14="http://schemas.microsoft.com/office/drawing/2010/main" Requires="a14">
          <p:sp>
            <p:nvSpPr>
              <p:cNvPr id="21" name="TextBox 20">
                <a:extLst>
                  <a:ext uri="{FF2B5EF4-FFF2-40B4-BE49-F238E27FC236}">
                    <a16:creationId xmlns:a16="http://schemas.microsoft.com/office/drawing/2014/main" id="{E3CBE6E5-623D-EAB3-49A5-FE8B7D4C866F}"/>
                  </a:ext>
                </a:extLst>
              </p:cNvPr>
              <p:cNvSpPr txBox="1"/>
              <p:nvPr/>
            </p:nvSpPr>
            <p:spPr>
              <a:xfrm>
                <a:off x="6378546" y="2716977"/>
                <a:ext cx="1567160" cy="349326"/>
              </a:xfrm>
              <a:prstGeom prst="rect">
                <a:avLst/>
              </a:prstGeom>
              <a:noFill/>
            </p:spPr>
            <p:txBody>
              <a:bodyPr wrap="none" rtlCol="0">
                <a:spAutoFit/>
              </a:bodyPr>
              <a:lstStyle/>
              <a:p>
                <a:r>
                  <a:rPr lang="en-US" sz="1600" b="1" dirty="0">
                    <a:solidFill>
                      <a:srgbClr val="1F1F1F"/>
                    </a:solidFill>
                    <a:latin typeface="Arial" panose="020B0604020202020204" pitchFamily="34" charset="0"/>
                    <a:cs typeface="Arial" panose="020B0604020202020204" pitchFamily="34" charset="0"/>
                  </a:rPr>
                  <a:t>Outputs (</a:t>
                </a:r>
                <a14:m>
                  <m:oMath xmlns:m="http://schemas.openxmlformats.org/officeDocument/2006/math">
                    <m:sSub>
                      <m:sSubPr>
                        <m:ctrlPr>
                          <a:rPr lang="en-US" sz="1600" i="1">
                            <a:latin typeface="Cambria Math" panose="02040503050406030204" pitchFamily="18" charset="0"/>
                          </a:rPr>
                        </m:ctrlPr>
                      </m:sSubPr>
                      <m:e>
                        <m:r>
                          <a:rPr lang="en-US" sz="1600" i="1">
                            <a:latin typeface="Cambria Math" panose="02040503050406030204" pitchFamily="18" charset="0"/>
                          </a:rPr>
                          <m:t>𝑌</m:t>
                        </m:r>
                      </m:e>
                      <m:sub>
                        <m:r>
                          <a:rPr lang="en-US" sz="1600" i="1">
                            <a:latin typeface="Cambria Math" panose="02040503050406030204" pitchFamily="18" charset="0"/>
                          </a:rPr>
                          <m:t>𝑚</m:t>
                        </m:r>
                        <m:r>
                          <a:rPr lang="en-US" sz="1600" i="1">
                            <a:latin typeface="Cambria Math" panose="02040503050406030204" pitchFamily="18" charset="0"/>
                          </a:rPr>
                          <m:t>,</m:t>
                        </m:r>
                        <m:r>
                          <a:rPr lang="en-US" sz="1600" i="1">
                            <a:latin typeface="Cambria Math" panose="02040503050406030204" pitchFamily="18" charset="0"/>
                          </a:rPr>
                          <m:t>𝑡</m:t>
                        </m:r>
                      </m:sub>
                    </m:sSub>
                  </m:oMath>
                </a14:m>
                <a:r>
                  <a:rPr lang="en-US" sz="1600" b="1" dirty="0">
                    <a:solidFill>
                      <a:srgbClr val="1F1F1F"/>
                    </a:solidFill>
                    <a:latin typeface="Arial" panose="020B0604020202020204" pitchFamily="34" charset="0"/>
                    <a:cs typeface="Arial" panose="020B0604020202020204" pitchFamily="34" charset="0"/>
                  </a:rPr>
                  <a:t>)</a:t>
                </a:r>
              </a:p>
            </p:txBody>
          </p:sp>
        </mc:Choice>
        <mc:Fallback>
          <p:sp>
            <p:nvSpPr>
              <p:cNvPr id="21" name="TextBox 20">
                <a:extLst>
                  <a:ext uri="{FF2B5EF4-FFF2-40B4-BE49-F238E27FC236}">
                    <a16:creationId xmlns:a16="http://schemas.microsoft.com/office/drawing/2014/main" id="{E3CBE6E5-623D-EAB3-49A5-FE8B7D4C866F}"/>
                  </a:ext>
                </a:extLst>
              </p:cNvPr>
              <p:cNvSpPr txBox="1">
                <a:spLocks noRot="1" noChangeAspect="1" noMove="1" noResize="1" noEditPoints="1" noAdjustHandles="1" noChangeArrowheads="1" noChangeShapeType="1" noTextEdit="1"/>
              </p:cNvSpPr>
              <p:nvPr/>
            </p:nvSpPr>
            <p:spPr>
              <a:xfrm>
                <a:off x="6378546" y="2716977"/>
                <a:ext cx="1567160" cy="349326"/>
              </a:xfrm>
              <a:prstGeom prst="rect">
                <a:avLst/>
              </a:prstGeom>
              <a:blipFill>
                <a:blip r:embed="rId3"/>
                <a:stretch>
                  <a:fillRect l="-2419" t="-10714" b="-17857"/>
                </a:stretch>
              </a:blipFill>
            </p:spPr>
            <p:txBody>
              <a:bodyPr/>
              <a:lstStyle/>
              <a:p>
                <a:r>
                  <a:rPr lang="en-US">
                    <a:noFill/>
                  </a:rPr>
                  <a:t> </a:t>
                </a:r>
              </a:p>
            </p:txBody>
          </p:sp>
        </mc:Fallback>
      </mc:AlternateContent>
      <p:sp>
        <p:nvSpPr>
          <p:cNvPr id="22" name="TextBox 21">
            <a:extLst>
              <a:ext uri="{FF2B5EF4-FFF2-40B4-BE49-F238E27FC236}">
                <a16:creationId xmlns:a16="http://schemas.microsoft.com/office/drawing/2014/main" id="{AB398FE8-71FC-5795-F3AA-1D428325C95B}"/>
              </a:ext>
            </a:extLst>
          </p:cNvPr>
          <p:cNvSpPr txBox="1"/>
          <p:nvPr/>
        </p:nvSpPr>
        <p:spPr>
          <a:xfrm>
            <a:off x="9197943" y="2782392"/>
            <a:ext cx="641522" cy="338554"/>
          </a:xfrm>
          <a:prstGeom prst="rect">
            <a:avLst/>
          </a:prstGeom>
          <a:noFill/>
        </p:spPr>
        <p:txBody>
          <a:bodyPr wrap="none" rtlCol="0">
            <a:spAutoFit/>
          </a:bodyPr>
          <a:lstStyle/>
          <a:p>
            <a:r>
              <a:rPr lang="en-US" sz="1600" b="1" dirty="0">
                <a:solidFill>
                  <a:srgbClr val="1F1F1F"/>
                </a:solidFill>
                <a:latin typeface="Arial" panose="020B0604020202020204" pitchFamily="34" charset="0"/>
                <a:cs typeface="Arial" panose="020B0604020202020204" pitchFamily="34" charset="0"/>
              </a:rPr>
              <a:t>Goal</a:t>
            </a:r>
          </a:p>
        </p:txBody>
      </p:sp>
      <p:sp>
        <p:nvSpPr>
          <p:cNvPr id="23" name="TextBox 22">
            <a:extLst>
              <a:ext uri="{FF2B5EF4-FFF2-40B4-BE49-F238E27FC236}">
                <a16:creationId xmlns:a16="http://schemas.microsoft.com/office/drawing/2014/main" id="{125DA522-C797-0334-5C85-6C3E5B9585DB}"/>
              </a:ext>
            </a:extLst>
          </p:cNvPr>
          <p:cNvSpPr txBox="1"/>
          <p:nvPr/>
        </p:nvSpPr>
        <p:spPr>
          <a:xfrm>
            <a:off x="1481117" y="2115433"/>
            <a:ext cx="1165704" cy="830997"/>
          </a:xfrm>
          <a:prstGeom prst="rect">
            <a:avLst/>
          </a:prstGeom>
          <a:noFill/>
        </p:spPr>
        <p:txBody>
          <a:bodyPr wrap="none" rtlCol="0">
            <a:spAutoFit/>
          </a:bodyPr>
          <a:lstStyle/>
          <a:p>
            <a:r>
              <a:rPr lang="en-US" sz="1200" b="1" dirty="0">
                <a:latin typeface="Arial" panose="020B0604020202020204" pitchFamily="34" charset="0"/>
                <a:cs typeface="Arial" panose="020B0604020202020204" pitchFamily="34" charset="0"/>
              </a:rPr>
              <a:t>Structural: </a:t>
            </a:r>
          </a:p>
          <a:p>
            <a:r>
              <a:rPr lang="en-US" sz="1200" dirty="0">
                <a:latin typeface="Arial" panose="020B0604020202020204" pitchFamily="34" charset="0"/>
                <a:cs typeface="Arial" panose="020B0604020202020204" pitchFamily="34" charset="0"/>
              </a:rPr>
              <a:t>Birth rates, </a:t>
            </a:r>
          </a:p>
          <a:p>
            <a:r>
              <a:rPr lang="en-US" sz="1200" dirty="0">
                <a:latin typeface="Arial" panose="020B0604020202020204" pitchFamily="34" charset="0"/>
                <a:cs typeface="Arial" panose="020B0604020202020204" pitchFamily="34" charset="0"/>
              </a:rPr>
              <a:t>Age structure</a:t>
            </a:r>
          </a:p>
          <a:p>
            <a:r>
              <a:rPr lang="en-US" sz="1200" dirty="0">
                <a:latin typeface="Arial" panose="020B0604020202020204" pitchFamily="34" charset="0"/>
                <a:cs typeface="Arial" panose="020B0604020202020204" pitchFamily="34" charset="0"/>
              </a:rPr>
              <a:t>(%&lt;15, %&gt;65)</a:t>
            </a:r>
          </a:p>
        </p:txBody>
      </p:sp>
      <p:sp>
        <p:nvSpPr>
          <p:cNvPr id="24" name="TextBox 23">
            <a:extLst>
              <a:ext uri="{FF2B5EF4-FFF2-40B4-BE49-F238E27FC236}">
                <a16:creationId xmlns:a16="http://schemas.microsoft.com/office/drawing/2014/main" id="{0AD121B6-10A5-F531-DAAD-2D0914DF43A4}"/>
              </a:ext>
            </a:extLst>
          </p:cNvPr>
          <p:cNvSpPr txBox="1"/>
          <p:nvPr/>
        </p:nvSpPr>
        <p:spPr>
          <a:xfrm>
            <a:off x="1469828" y="3209167"/>
            <a:ext cx="1258678" cy="1015663"/>
          </a:xfrm>
          <a:prstGeom prst="rect">
            <a:avLst/>
          </a:prstGeom>
          <a:noFill/>
        </p:spPr>
        <p:txBody>
          <a:bodyPr wrap="none" rtlCol="0">
            <a:spAutoFit/>
          </a:bodyPr>
          <a:lstStyle/>
          <a:p>
            <a:r>
              <a:rPr lang="en-US" sz="1200" b="1" dirty="0">
                <a:latin typeface="Arial" panose="020B0604020202020204" pitchFamily="34" charset="0"/>
                <a:cs typeface="Arial" panose="020B0604020202020204" pitchFamily="34" charset="0"/>
              </a:rPr>
              <a:t>Resilience: </a:t>
            </a:r>
          </a:p>
          <a:p>
            <a:r>
              <a:rPr lang="en-US" sz="1200" dirty="0">
                <a:latin typeface="Arial" panose="020B0604020202020204" pitchFamily="34" charset="0"/>
                <a:cs typeface="Arial" panose="020B0604020202020204" pitchFamily="34" charset="0"/>
              </a:rPr>
              <a:t>Unemployment,</a:t>
            </a:r>
          </a:p>
          <a:p>
            <a:r>
              <a:rPr lang="en-US" sz="1200" dirty="0">
                <a:latin typeface="Arial" panose="020B0604020202020204" pitchFamily="34" charset="0"/>
                <a:cs typeface="Arial" panose="020B0604020202020204" pitchFamily="34" charset="0"/>
              </a:rPr>
              <a:t>Payroll,</a:t>
            </a:r>
          </a:p>
          <a:p>
            <a:r>
              <a:rPr lang="en-US" sz="1200" dirty="0">
                <a:latin typeface="Arial" panose="020B0604020202020204" pitchFamily="34" charset="0"/>
                <a:cs typeface="Arial" panose="020B0604020202020204" pitchFamily="34" charset="0"/>
              </a:rPr>
              <a:t>Establishment</a:t>
            </a:r>
          </a:p>
          <a:p>
            <a:r>
              <a:rPr lang="en-US" sz="1200" dirty="0">
                <a:latin typeface="Arial" panose="020B0604020202020204" pitchFamily="34" charset="0"/>
                <a:cs typeface="Arial" panose="020B0604020202020204" pitchFamily="34" charset="0"/>
              </a:rPr>
              <a:t>counts</a:t>
            </a:r>
          </a:p>
        </p:txBody>
      </p:sp>
      <p:sp>
        <p:nvSpPr>
          <p:cNvPr id="25" name="TextBox 24">
            <a:extLst>
              <a:ext uri="{FF2B5EF4-FFF2-40B4-BE49-F238E27FC236}">
                <a16:creationId xmlns:a16="http://schemas.microsoft.com/office/drawing/2014/main" id="{25C81878-3725-BD31-83A8-5D6A0ED27617}"/>
              </a:ext>
            </a:extLst>
          </p:cNvPr>
          <p:cNvSpPr txBox="1"/>
          <p:nvPr/>
        </p:nvSpPr>
        <p:spPr>
          <a:xfrm>
            <a:off x="1452781" y="5655414"/>
            <a:ext cx="1335622" cy="830997"/>
          </a:xfrm>
          <a:prstGeom prst="rect">
            <a:avLst/>
          </a:prstGeom>
          <a:noFill/>
        </p:spPr>
        <p:txBody>
          <a:bodyPr wrap="none" rtlCol="0">
            <a:spAutoFit/>
          </a:bodyPr>
          <a:lstStyle/>
          <a:p>
            <a:r>
              <a:rPr lang="en-US" sz="1200" b="1" dirty="0">
                <a:latin typeface="Arial" panose="020B0604020202020204" pitchFamily="34" charset="0"/>
                <a:cs typeface="Arial" panose="020B0604020202020204" pitchFamily="34" charset="0"/>
              </a:rPr>
              <a:t>Shocks: </a:t>
            </a:r>
          </a:p>
          <a:p>
            <a:r>
              <a:rPr lang="en-US" sz="1200" dirty="0">
                <a:latin typeface="Arial" panose="020B0604020202020204" pitchFamily="34" charset="0"/>
                <a:cs typeface="Arial" panose="020B0604020202020204" pitchFamily="34" charset="0"/>
              </a:rPr>
              <a:t>Hurricane strikes</a:t>
            </a:r>
          </a:p>
          <a:p>
            <a:r>
              <a:rPr lang="en-US" sz="1200" dirty="0">
                <a:latin typeface="Arial" panose="020B0604020202020204" pitchFamily="34" charset="0"/>
                <a:cs typeface="Arial" panose="020B0604020202020204" pitchFamily="34" charset="0"/>
              </a:rPr>
              <a:t>Earthquake</a:t>
            </a:r>
          </a:p>
          <a:p>
            <a:r>
              <a:rPr lang="en-US" sz="1200" dirty="0">
                <a:latin typeface="Arial" panose="020B0604020202020204" pitchFamily="34" charset="0"/>
                <a:cs typeface="Arial" panose="020B0604020202020204" pitchFamily="34" charset="0"/>
              </a:rPr>
              <a:t>intensity</a:t>
            </a:r>
          </a:p>
        </p:txBody>
      </p:sp>
      <p:sp>
        <p:nvSpPr>
          <p:cNvPr id="26" name="TextBox 25">
            <a:extLst>
              <a:ext uri="{FF2B5EF4-FFF2-40B4-BE49-F238E27FC236}">
                <a16:creationId xmlns:a16="http://schemas.microsoft.com/office/drawing/2014/main" id="{3680F7AB-35C5-1258-928E-BB27283A80E4}"/>
              </a:ext>
            </a:extLst>
          </p:cNvPr>
          <p:cNvSpPr txBox="1"/>
          <p:nvPr/>
        </p:nvSpPr>
        <p:spPr>
          <a:xfrm>
            <a:off x="1474095" y="4452118"/>
            <a:ext cx="1211294" cy="1015663"/>
          </a:xfrm>
          <a:prstGeom prst="rect">
            <a:avLst/>
          </a:prstGeom>
          <a:noFill/>
        </p:spPr>
        <p:txBody>
          <a:bodyPr wrap="none" rtlCol="0">
            <a:spAutoFit/>
          </a:bodyPr>
          <a:lstStyle/>
          <a:p>
            <a:r>
              <a:rPr lang="en-US" sz="1200" b="1" dirty="0">
                <a:latin typeface="Arial" panose="020B0604020202020204" pitchFamily="34" charset="0"/>
                <a:cs typeface="Arial" panose="020B0604020202020204" pitchFamily="34" charset="0"/>
              </a:rPr>
              <a:t>Vulnerability: </a:t>
            </a:r>
          </a:p>
          <a:p>
            <a:r>
              <a:rPr lang="en-US" sz="1200" dirty="0">
                <a:latin typeface="Arial" panose="020B0604020202020204" pitchFamily="34" charset="0"/>
                <a:cs typeface="Arial" panose="020B0604020202020204" pitchFamily="34" charset="0"/>
              </a:rPr>
              <a:t>CDC SVI</a:t>
            </a:r>
          </a:p>
          <a:p>
            <a:r>
              <a:rPr lang="en-US" sz="1200" dirty="0">
                <a:latin typeface="Arial" panose="020B0604020202020204" pitchFamily="34" charset="0"/>
                <a:cs typeface="Arial" panose="020B0604020202020204" pitchFamily="34" charset="0"/>
              </a:rPr>
              <a:t>(Poverty,</a:t>
            </a:r>
          </a:p>
          <a:p>
            <a:r>
              <a:rPr lang="en-US" sz="1200" dirty="0">
                <a:latin typeface="Arial" panose="020B0604020202020204" pitchFamily="34" charset="0"/>
                <a:cs typeface="Arial" panose="020B0604020202020204" pitchFamily="34" charset="0"/>
              </a:rPr>
              <a:t>Transportation,</a:t>
            </a:r>
          </a:p>
          <a:p>
            <a:r>
              <a:rPr lang="en-US" sz="1200" dirty="0">
                <a:latin typeface="Arial" panose="020B0604020202020204" pitchFamily="34" charset="0"/>
                <a:cs typeface="Arial" panose="020B0604020202020204" pitchFamily="34" charset="0"/>
              </a:rPr>
              <a:t>Housing</a:t>
            </a:r>
          </a:p>
        </p:txBody>
      </p:sp>
      <p:sp>
        <p:nvSpPr>
          <p:cNvPr id="27" name="TextBox 26">
            <a:extLst>
              <a:ext uri="{FF2B5EF4-FFF2-40B4-BE49-F238E27FC236}">
                <a16:creationId xmlns:a16="http://schemas.microsoft.com/office/drawing/2014/main" id="{C9807C49-542E-439D-525E-29240B34505F}"/>
              </a:ext>
            </a:extLst>
          </p:cNvPr>
          <p:cNvSpPr txBox="1"/>
          <p:nvPr/>
        </p:nvSpPr>
        <p:spPr>
          <a:xfrm>
            <a:off x="3948823" y="3106379"/>
            <a:ext cx="1656223" cy="1107996"/>
          </a:xfrm>
          <a:prstGeom prst="rect">
            <a:avLst/>
          </a:prstGeom>
          <a:noFill/>
        </p:spPr>
        <p:txBody>
          <a:bodyPr wrap="none" rtlCol="0">
            <a:spAutoFit/>
          </a:bodyPr>
          <a:lstStyle/>
          <a:p>
            <a:r>
              <a:rPr lang="en-US" sz="1100" b="1" dirty="0">
                <a:latin typeface="Arial" panose="020B0604020202020204" pitchFamily="34" charset="0"/>
                <a:cs typeface="Arial" panose="020B0604020202020204" pitchFamily="34" charset="0"/>
              </a:rPr>
              <a:t>Phase I (Supervised): </a:t>
            </a:r>
          </a:p>
          <a:p>
            <a:r>
              <a:rPr lang="en-US" sz="1100" dirty="0">
                <a:latin typeface="Arial" panose="020B0604020202020204" pitchFamily="34" charset="0"/>
                <a:cs typeface="Arial" panose="020B0604020202020204" pitchFamily="34" charset="0"/>
              </a:rPr>
              <a:t>Lasso Regression</a:t>
            </a:r>
          </a:p>
          <a:p>
            <a:r>
              <a:rPr lang="en-US" sz="1100" dirty="0">
                <a:latin typeface="Arial" panose="020B0604020202020204" pitchFamily="34" charset="0"/>
                <a:cs typeface="Arial" panose="020B0604020202020204" pitchFamily="34" charset="0"/>
              </a:rPr>
              <a:t>(feature selection)</a:t>
            </a:r>
          </a:p>
          <a:p>
            <a:r>
              <a:rPr lang="en-US" sz="1100" dirty="0">
                <a:latin typeface="Arial" panose="020B0604020202020204" pitchFamily="34" charset="0"/>
                <a:cs typeface="Arial" panose="020B0604020202020204" pitchFamily="34" charset="0"/>
              </a:rPr>
              <a:t>And Random Forest</a:t>
            </a:r>
          </a:p>
          <a:p>
            <a:r>
              <a:rPr lang="en-US" sz="1100" dirty="0">
                <a:latin typeface="Arial" panose="020B0604020202020204" pitchFamily="34" charset="0"/>
                <a:cs typeface="Arial" panose="020B0604020202020204" pitchFamily="34" charset="0"/>
              </a:rPr>
              <a:t>(capturing “shock</a:t>
            </a:r>
          </a:p>
          <a:p>
            <a:r>
              <a:rPr lang="en-US" sz="1100" dirty="0">
                <a:latin typeface="Arial" panose="020B0604020202020204" pitchFamily="34" charset="0"/>
                <a:cs typeface="Arial" panose="020B0604020202020204" pitchFamily="34" charset="0"/>
              </a:rPr>
              <a:t>Cliffs”)</a:t>
            </a:r>
          </a:p>
        </p:txBody>
      </p:sp>
      <p:sp>
        <p:nvSpPr>
          <p:cNvPr id="28" name="TextBox 27">
            <a:extLst>
              <a:ext uri="{FF2B5EF4-FFF2-40B4-BE49-F238E27FC236}">
                <a16:creationId xmlns:a16="http://schemas.microsoft.com/office/drawing/2014/main" id="{D42E08B1-AD59-8362-0251-E922EEEE2F34}"/>
              </a:ext>
            </a:extLst>
          </p:cNvPr>
          <p:cNvSpPr txBox="1"/>
          <p:nvPr/>
        </p:nvSpPr>
        <p:spPr>
          <a:xfrm>
            <a:off x="3998141" y="4619615"/>
            <a:ext cx="1534394" cy="938719"/>
          </a:xfrm>
          <a:prstGeom prst="rect">
            <a:avLst/>
          </a:prstGeom>
          <a:noFill/>
        </p:spPr>
        <p:txBody>
          <a:bodyPr wrap="none" rtlCol="0">
            <a:spAutoFit/>
          </a:bodyPr>
          <a:lstStyle/>
          <a:p>
            <a:r>
              <a:rPr lang="en-US" sz="1100" b="1" dirty="0">
                <a:latin typeface="Arial" panose="020B0604020202020204" pitchFamily="34" charset="0"/>
                <a:cs typeface="Arial" panose="020B0604020202020204" pitchFamily="34" charset="0"/>
              </a:rPr>
              <a:t>Phase II </a:t>
            </a:r>
          </a:p>
          <a:p>
            <a:r>
              <a:rPr lang="en-US" sz="1100" b="1" dirty="0">
                <a:latin typeface="Arial" panose="020B0604020202020204" pitchFamily="34" charset="0"/>
                <a:cs typeface="Arial" panose="020B0604020202020204" pitchFamily="34" charset="0"/>
              </a:rPr>
              <a:t>(Unsupervised): </a:t>
            </a:r>
          </a:p>
          <a:p>
            <a:r>
              <a:rPr lang="en-US" sz="1100" dirty="0">
                <a:latin typeface="Arial" panose="020B0604020202020204" pitchFamily="34" charset="0"/>
                <a:cs typeface="Arial" panose="020B0604020202020204" pitchFamily="34" charset="0"/>
              </a:rPr>
              <a:t>K-Means/Hierarchical</a:t>
            </a:r>
          </a:p>
          <a:p>
            <a:r>
              <a:rPr lang="en-US" sz="1100" dirty="0">
                <a:latin typeface="Arial" panose="020B0604020202020204" pitchFamily="34" charset="0"/>
                <a:cs typeface="Arial" panose="020B0604020202020204" pitchFamily="34" charset="0"/>
              </a:rPr>
              <a:t>Clustering for </a:t>
            </a:r>
          </a:p>
          <a:p>
            <a:r>
              <a:rPr lang="en-US" sz="1100" dirty="0">
                <a:latin typeface="Arial" panose="020B0604020202020204" pitchFamily="34" charset="0"/>
                <a:cs typeface="Arial" panose="020B0604020202020204" pitchFamily="34" charset="0"/>
              </a:rPr>
              <a:t>Typology profiling</a:t>
            </a:r>
          </a:p>
        </p:txBody>
      </p:sp>
      <p:sp>
        <p:nvSpPr>
          <p:cNvPr id="29" name="TextBox 28">
            <a:extLst>
              <a:ext uri="{FF2B5EF4-FFF2-40B4-BE49-F238E27FC236}">
                <a16:creationId xmlns:a16="http://schemas.microsoft.com/office/drawing/2014/main" id="{6F0E5B06-8CA8-2AB3-9A4C-5CE10C9C9069}"/>
              </a:ext>
            </a:extLst>
          </p:cNvPr>
          <p:cNvSpPr txBox="1"/>
          <p:nvPr/>
        </p:nvSpPr>
        <p:spPr>
          <a:xfrm>
            <a:off x="6856946" y="3216244"/>
            <a:ext cx="1088760" cy="1015663"/>
          </a:xfrm>
          <a:prstGeom prst="rect">
            <a:avLst/>
          </a:prstGeom>
          <a:noFill/>
        </p:spPr>
        <p:txBody>
          <a:bodyPr wrap="none" rtlCol="0">
            <a:spAutoFit/>
          </a:bodyPr>
          <a:lstStyle/>
          <a:p>
            <a:r>
              <a:rPr lang="en-US" sz="1200" b="1" dirty="0">
                <a:latin typeface="Arial" panose="020B0604020202020204" pitchFamily="34" charset="0"/>
                <a:cs typeface="Arial" panose="020B0604020202020204" pitchFamily="34" charset="0"/>
              </a:rPr>
              <a:t>Primary:</a:t>
            </a:r>
          </a:p>
          <a:p>
            <a:r>
              <a:rPr lang="en-US" sz="1200" dirty="0">
                <a:latin typeface="Arial" panose="020B0604020202020204" pitchFamily="34" charset="0"/>
                <a:cs typeface="Arial" panose="020B0604020202020204" pitchFamily="34" charset="0"/>
              </a:rPr>
              <a:t>Population</a:t>
            </a:r>
          </a:p>
          <a:p>
            <a:r>
              <a:rPr lang="en-US" sz="1200" dirty="0">
                <a:latin typeface="Arial" panose="020B0604020202020204" pitchFamily="34" charset="0"/>
                <a:cs typeface="Arial" panose="020B0604020202020204" pitchFamily="34" charset="0"/>
              </a:rPr>
              <a:t>Change / Net</a:t>
            </a:r>
          </a:p>
          <a:p>
            <a:r>
              <a:rPr lang="en-US" sz="1200" dirty="0">
                <a:latin typeface="Arial" panose="020B0604020202020204" pitchFamily="34" charset="0"/>
                <a:cs typeface="Arial" panose="020B0604020202020204" pitchFamily="34" charset="0"/>
              </a:rPr>
              <a:t>Migration</a:t>
            </a:r>
          </a:p>
          <a:p>
            <a:r>
              <a:rPr lang="en-US" sz="1200" dirty="0">
                <a:latin typeface="Arial" panose="020B0604020202020204" pitchFamily="34" charset="0"/>
                <a:cs typeface="Arial" panose="020B0604020202020204" pitchFamily="34" charset="0"/>
              </a:rPr>
              <a:t>forecast</a:t>
            </a:r>
          </a:p>
        </p:txBody>
      </p:sp>
      <p:sp>
        <p:nvSpPr>
          <p:cNvPr id="30" name="TextBox 29">
            <a:extLst>
              <a:ext uri="{FF2B5EF4-FFF2-40B4-BE49-F238E27FC236}">
                <a16:creationId xmlns:a16="http://schemas.microsoft.com/office/drawing/2014/main" id="{A3987FF7-66BD-3A13-DCC2-ABE672A29562}"/>
              </a:ext>
            </a:extLst>
          </p:cNvPr>
          <p:cNvSpPr txBox="1"/>
          <p:nvPr/>
        </p:nvSpPr>
        <p:spPr>
          <a:xfrm>
            <a:off x="6850534" y="4434953"/>
            <a:ext cx="1095172" cy="1200329"/>
          </a:xfrm>
          <a:prstGeom prst="rect">
            <a:avLst/>
          </a:prstGeom>
          <a:noFill/>
        </p:spPr>
        <p:txBody>
          <a:bodyPr wrap="none" rtlCol="0">
            <a:spAutoFit/>
          </a:bodyPr>
          <a:lstStyle/>
          <a:p>
            <a:r>
              <a:rPr lang="en-US" sz="1200" b="1" dirty="0">
                <a:latin typeface="Arial" panose="020B0604020202020204" pitchFamily="34" charset="0"/>
                <a:cs typeface="Arial" panose="020B0604020202020204" pitchFamily="34" charset="0"/>
              </a:rPr>
              <a:t>Secondary:</a:t>
            </a:r>
          </a:p>
          <a:p>
            <a:r>
              <a:rPr lang="en-US" sz="1200" dirty="0">
                <a:latin typeface="Arial" panose="020B0604020202020204" pitchFamily="34" charset="0"/>
                <a:cs typeface="Arial" panose="020B0604020202020204" pitchFamily="34" charset="0"/>
              </a:rPr>
              <a:t>Composite</a:t>
            </a:r>
          </a:p>
          <a:p>
            <a:r>
              <a:rPr lang="en-US" sz="1200" dirty="0">
                <a:latin typeface="Arial" panose="020B0604020202020204" pitchFamily="34" charset="0"/>
                <a:cs typeface="Arial" panose="020B0604020202020204" pitchFamily="34" charset="0"/>
              </a:rPr>
              <a:t>Municipal</a:t>
            </a:r>
          </a:p>
          <a:p>
            <a:r>
              <a:rPr lang="en-US" sz="1200" dirty="0">
                <a:latin typeface="Arial" panose="020B0604020202020204" pitchFamily="34" charset="0"/>
                <a:cs typeface="Arial" panose="020B0604020202020204" pitchFamily="34" charset="0"/>
              </a:rPr>
              <a:t>Demographic</a:t>
            </a:r>
          </a:p>
          <a:p>
            <a:r>
              <a:rPr lang="en-US" sz="1200" dirty="0">
                <a:latin typeface="Arial" panose="020B0604020202020204" pitchFamily="34" charset="0"/>
                <a:cs typeface="Arial" panose="020B0604020202020204" pitchFamily="34" charset="0"/>
              </a:rPr>
              <a:t>Vulnerability</a:t>
            </a:r>
          </a:p>
          <a:p>
            <a:r>
              <a:rPr lang="en-US" sz="1200" dirty="0">
                <a:latin typeface="Arial" panose="020B0604020202020204" pitchFamily="34" charset="0"/>
                <a:cs typeface="Arial" panose="020B0604020202020204" pitchFamily="34" charset="0"/>
              </a:rPr>
              <a:t>Score (0-1)</a:t>
            </a:r>
          </a:p>
        </p:txBody>
      </p:sp>
      <p:sp>
        <p:nvSpPr>
          <p:cNvPr id="31" name="TextBox 30">
            <a:extLst>
              <a:ext uri="{FF2B5EF4-FFF2-40B4-BE49-F238E27FC236}">
                <a16:creationId xmlns:a16="http://schemas.microsoft.com/office/drawing/2014/main" id="{BFAEB53E-21DE-788B-07BE-F4E213847CF9}"/>
              </a:ext>
            </a:extLst>
          </p:cNvPr>
          <p:cNvSpPr txBox="1"/>
          <p:nvPr/>
        </p:nvSpPr>
        <p:spPr>
          <a:xfrm>
            <a:off x="8707721" y="3977385"/>
            <a:ext cx="1683474" cy="1569660"/>
          </a:xfrm>
          <a:prstGeom prst="rect">
            <a:avLst/>
          </a:prstGeom>
          <a:noFill/>
        </p:spPr>
        <p:txBody>
          <a:bodyPr wrap="none" rtlCol="0">
            <a:spAutoFit/>
          </a:bodyPr>
          <a:lstStyle/>
          <a:p>
            <a:pPr algn="ctr"/>
            <a:r>
              <a:rPr lang="en-US" sz="1200" dirty="0">
                <a:latin typeface="Arial" panose="020B0604020202020204" pitchFamily="34" charset="0"/>
                <a:cs typeface="Arial" panose="020B0604020202020204" pitchFamily="34" charset="0"/>
              </a:rPr>
              <a:t>Distinguish between</a:t>
            </a:r>
          </a:p>
          <a:p>
            <a:pPr algn="ctr"/>
            <a:r>
              <a:rPr lang="en-US" sz="1200" dirty="0">
                <a:latin typeface="Arial" panose="020B0604020202020204" pitchFamily="34" charset="0"/>
                <a:cs typeface="Arial" panose="020B0604020202020204" pitchFamily="34" charset="0"/>
              </a:rPr>
              <a:t>“natural” demographic</a:t>
            </a:r>
          </a:p>
          <a:p>
            <a:pPr algn="ctr"/>
            <a:r>
              <a:rPr lang="en-US" sz="1200" dirty="0">
                <a:latin typeface="Arial" panose="020B0604020202020204" pitchFamily="34" charset="0"/>
                <a:cs typeface="Arial" panose="020B0604020202020204" pitchFamily="34" charset="0"/>
              </a:rPr>
              <a:t>momentum and</a:t>
            </a:r>
          </a:p>
          <a:p>
            <a:pPr algn="ctr"/>
            <a:r>
              <a:rPr lang="en-US" sz="1200" dirty="0">
                <a:latin typeface="Arial" panose="020B0604020202020204" pitchFamily="34" charset="0"/>
                <a:cs typeface="Arial" panose="020B0604020202020204" pitchFamily="34" charset="0"/>
              </a:rPr>
              <a:t>shock-driven</a:t>
            </a:r>
          </a:p>
          <a:p>
            <a:pPr algn="ctr"/>
            <a:r>
              <a:rPr lang="en-US" sz="1200" dirty="0">
                <a:latin typeface="Arial" panose="020B0604020202020204" pitchFamily="34" charset="0"/>
                <a:cs typeface="Arial" panose="020B0604020202020204" pitchFamily="34" charset="0"/>
              </a:rPr>
              <a:t>emptying to inform</a:t>
            </a:r>
          </a:p>
          <a:p>
            <a:pPr algn="ctr"/>
            <a:r>
              <a:rPr lang="en-US" sz="1200" dirty="0">
                <a:latin typeface="Arial" panose="020B0604020202020204" pitchFamily="34" charset="0"/>
                <a:cs typeface="Arial" panose="020B0604020202020204" pitchFamily="34" charset="0"/>
              </a:rPr>
              <a:t>resource allocation</a:t>
            </a:r>
          </a:p>
          <a:p>
            <a:pPr algn="ctr"/>
            <a:r>
              <a:rPr lang="en-US" sz="1200" dirty="0">
                <a:latin typeface="Arial" panose="020B0604020202020204" pitchFamily="34" charset="0"/>
                <a:cs typeface="Arial" panose="020B0604020202020204" pitchFamily="34" charset="0"/>
              </a:rPr>
              <a:t>for the Puerto Rico</a:t>
            </a:r>
          </a:p>
          <a:p>
            <a:pPr algn="ctr"/>
            <a:r>
              <a:rPr lang="en-US" sz="1200" dirty="0">
                <a:latin typeface="Arial" panose="020B0604020202020204" pitchFamily="34" charset="0"/>
                <a:cs typeface="Arial" panose="020B0604020202020204" pitchFamily="34" charset="0"/>
              </a:rPr>
              <a:t>Planning Board</a:t>
            </a:r>
          </a:p>
        </p:txBody>
      </p:sp>
      <p:pic>
        <p:nvPicPr>
          <p:cNvPr id="33" name="Picture 32" descr="A group of people with a clock&#10;&#10;AI-generated content may be incorrect.">
            <a:extLst>
              <a:ext uri="{FF2B5EF4-FFF2-40B4-BE49-F238E27FC236}">
                <a16:creationId xmlns:a16="http://schemas.microsoft.com/office/drawing/2014/main" id="{13176C64-3096-4A25-0F9B-68BDA3010D98}"/>
              </a:ext>
            </a:extLst>
          </p:cNvPr>
          <p:cNvPicPr>
            <a:picLocks noChangeAspect="1"/>
          </p:cNvPicPr>
          <p:nvPr/>
        </p:nvPicPr>
        <p:blipFill>
          <a:blip r:embed="rId4">
            <a:extLst>
              <a:ext uri="{BEBA8EAE-BF5A-486C-A8C5-ECC9F3942E4B}">
                <a14:imgProps xmlns:a14="http://schemas.microsoft.com/office/drawing/2010/main">
                  <a14:imgLayer r:embed="rId5">
                    <a14:imgEffect>
                      <a14:brightnessContrast bright="20000" contrast="20000"/>
                    </a14:imgEffect>
                  </a14:imgLayer>
                </a14:imgProps>
              </a:ext>
            </a:extLst>
          </a:blip>
          <a:stretch>
            <a:fillRect/>
          </a:stretch>
        </p:blipFill>
        <p:spPr>
          <a:xfrm>
            <a:off x="888610" y="2198403"/>
            <a:ext cx="613898" cy="665056"/>
          </a:xfrm>
          <a:prstGeom prst="rect">
            <a:avLst/>
          </a:prstGeom>
        </p:spPr>
      </p:pic>
      <p:pic>
        <p:nvPicPr>
          <p:cNvPr id="35" name="Picture 34">
            <a:extLst>
              <a:ext uri="{FF2B5EF4-FFF2-40B4-BE49-F238E27FC236}">
                <a16:creationId xmlns:a16="http://schemas.microsoft.com/office/drawing/2014/main" id="{513F2F91-5292-62AC-AAD7-209F5D64463C}"/>
              </a:ext>
            </a:extLst>
          </p:cNvPr>
          <p:cNvPicPr>
            <a:picLocks noChangeAspect="1"/>
          </p:cNvPicPr>
          <p:nvPr/>
        </p:nvPicPr>
        <p:blipFill>
          <a:blip r:embed="rId6">
            <a:extLst>
              <a:ext uri="{BEBA8EAE-BF5A-486C-A8C5-ECC9F3942E4B}">
                <a14:imgProps xmlns:a14="http://schemas.microsoft.com/office/drawing/2010/main">
                  <a14:imgLayer r:embed="rId7">
                    <a14:imgEffect>
                      <a14:brightnessContrast bright="20000" contrast="20000"/>
                    </a14:imgEffect>
                  </a14:imgLayer>
                </a14:imgProps>
              </a:ext>
            </a:extLst>
          </a:blip>
          <a:stretch>
            <a:fillRect/>
          </a:stretch>
        </p:blipFill>
        <p:spPr>
          <a:xfrm>
            <a:off x="874727" y="3368927"/>
            <a:ext cx="627781" cy="671987"/>
          </a:xfrm>
          <a:prstGeom prst="rect">
            <a:avLst/>
          </a:prstGeom>
        </p:spPr>
      </p:pic>
      <p:pic>
        <p:nvPicPr>
          <p:cNvPr id="37" name="Picture 36" descr="A chain with a house and a broken chain&#10;&#10;AI-generated content may be incorrect.">
            <a:extLst>
              <a:ext uri="{FF2B5EF4-FFF2-40B4-BE49-F238E27FC236}">
                <a16:creationId xmlns:a16="http://schemas.microsoft.com/office/drawing/2014/main" id="{8E98BF4A-C70B-CD19-B7A1-CE2392901619}"/>
              </a:ext>
            </a:extLst>
          </p:cNvPr>
          <p:cNvPicPr>
            <a:picLocks noChangeAspect="1"/>
          </p:cNvPicPr>
          <p:nvPr/>
        </p:nvPicPr>
        <p:blipFill>
          <a:blip r:embed="rId8">
            <a:extLst>
              <a:ext uri="{BEBA8EAE-BF5A-486C-A8C5-ECC9F3942E4B}">
                <a14:imgProps xmlns:a14="http://schemas.microsoft.com/office/drawing/2010/main">
                  <a14:imgLayer r:embed="rId9">
                    <a14:imgEffect>
                      <a14:brightnessContrast bright="20000" contrast="20000"/>
                    </a14:imgEffect>
                  </a14:imgLayer>
                </a14:imgProps>
              </a:ext>
            </a:extLst>
          </a:blip>
          <a:stretch>
            <a:fillRect/>
          </a:stretch>
        </p:blipFill>
        <p:spPr>
          <a:xfrm>
            <a:off x="895583" y="4619615"/>
            <a:ext cx="606305" cy="651775"/>
          </a:xfrm>
          <a:prstGeom prst="rect">
            <a:avLst/>
          </a:prstGeom>
        </p:spPr>
      </p:pic>
      <p:pic>
        <p:nvPicPr>
          <p:cNvPr id="39" name="Picture 38">
            <a:extLst>
              <a:ext uri="{FF2B5EF4-FFF2-40B4-BE49-F238E27FC236}">
                <a16:creationId xmlns:a16="http://schemas.microsoft.com/office/drawing/2014/main" id="{C1648C76-2B30-DEC4-584B-9CE8432ABDBE}"/>
              </a:ext>
            </a:extLst>
          </p:cNvPr>
          <p:cNvPicPr>
            <a:picLocks noChangeAspect="1"/>
          </p:cNvPicPr>
          <p:nvPr/>
        </p:nvPicPr>
        <p:blipFill>
          <a:blip r:embed="rId10">
            <a:extLst>
              <a:ext uri="{BEBA8EAE-BF5A-486C-A8C5-ECC9F3942E4B}">
                <a14:imgProps xmlns:a14="http://schemas.microsoft.com/office/drawing/2010/main">
                  <a14:imgLayer r:embed="rId11">
                    <a14:imgEffect>
                      <a14:brightnessContrast bright="20000" contrast="20000"/>
                    </a14:imgEffect>
                  </a14:imgLayer>
                </a14:imgProps>
              </a:ext>
            </a:extLst>
          </a:blip>
          <a:stretch>
            <a:fillRect/>
          </a:stretch>
        </p:blipFill>
        <p:spPr>
          <a:xfrm>
            <a:off x="908603" y="5715306"/>
            <a:ext cx="593285" cy="736600"/>
          </a:xfrm>
          <a:prstGeom prst="rect">
            <a:avLst/>
          </a:prstGeom>
        </p:spPr>
      </p:pic>
      <p:pic>
        <p:nvPicPr>
          <p:cNvPr id="41" name="Picture 40" descr="A close up of a diagram&#10;&#10;AI-generated content may be incorrect.">
            <a:extLst>
              <a:ext uri="{FF2B5EF4-FFF2-40B4-BE49-F238E27FC236}">
                <a16:creationId xmlns:a16="http://schemas.microsoft.com/office/drawing/2014/main" id="{2045DDD0-7191-ED8B-7F82-74512CB28E18}"/>
              </a:ext>
            </a:extLst>
          </p:cNvPr>
          <p:cNvPicPr>
            <a:picLocks noChangeAspect="1"/>
          </p:cNvPicPr>
          <p:nvPr/>
        </p:nvPicPr>
        <p:blipFill>
          <a:blip r:embed="rId12">
            <a:extLst>
              <a:ext uri="{BEBA8EAE-BF5A-486C-A8C5-ECC9F3942E4B}">
                <a14:imgProps xmlns:a14="http://schemas.microsoft.com/office/drawing/2010/main">
                  <a14:imgLayer r:embed="rId13">
                    <a14:imgEffect>
                      <a14:brightnessContrast bright="20000" contrast="20000"/>
                    </a14:imgEffect>
                  </a14:imgLayer>
                </a14:imgProps>
              </a:ext>
            </a:extLst>
          </a:blip>
          <a:stretch>
            <a:fillRect/>
          </a:stretch>
        </p:blipFill>
        <p:spPr>
          <a:xfrm>
            <a:off x="3462007" y="3195100"/>
            <a:ext cx="549748" cy="933202"/>
          </a:xfrm>
          <a:prstGeom prst="rect">
            <a:avLst/>
          </a:prstGeom>
        </p:spPr>
      </p:pic>
      <p:pic>
        <p:nvPicPr>
          <p:cNvPr id="43" name="Picture 42" descr="A group of dots in a circle&#10;&#10;AI-generated content may be incorrect.">
            <a:extLst>
              <a:ext uri="{FF2B5EF4-FFF2-40B4-BE49-F238E27FC236}">
                <a16:creationId xmlns:a16="http://schemas.microsoft.com/office/drawing/2014/main" id="{0258D567-C951-4BA8-BB98-AC6FF7DF5372}"/>
              </a:ext>
            </a:extLst>
          </p:cNvPr>
          <p:cNvPicPr>
            <a:picLocks noChangeAspect="1"/>
          </p:cNvPicPr>
          <p:nvPr/>
        </p:nvPicPr>
        <p:blipFill>
          <a:blip r:embed="rId14">
            <a:extLst>
              <a:ext uri="{BEBA8EAE-BF5A-486C-A8C5-ECC9F3942E4B}">
                <a14:imgProps xmlns:a14="http://schemas.microsoft.com/office/drawing/2010/main">
                  <a14:imgLayer r:embed="rId15">
                    <a14:imgEffect>
                      <a14:brightnessContrast bright="20000" contrast="20000"/>
                    </a14:imgEffect>
                  </a14:imgLayer>
                </a14:imgProps>
              </a:ext>
            </a:extLst>
          </a:blip>
          <a:stretch>
            <a:fillRect/>
          </a:stretch>
        </p:blipFill>
        <p:spPr>
          <a:xfrm>
            <a:off x="3454268" y="4761967"/>
            <a:ext cx="566476" cy="695780"/>
          </a:xfrm>
          <a:prstGeom prst="rect">
            <a:avLst/>
          </a:prstGeom>
        </p:spPr>
      </p:pic>
      <p:pic>
        <p:nvPicPr>
          <p:cNvPr id="45" name="Picture 44" descr="A graph with a red arrow down&#10;&#10;AI-generated content may be incorrect.">
            <a:extLst>
              <a:ext uri="{FF2B5EF4-FFF2-40B4-BE49-F238E27FC236}">
                <a16:creationId xmlns:a16="http://schemas.microsoft.com/office/drawing/2014/main" id="{08D7EFFC-F398-080A-BF8C-A5283070D0C9}"/>
              </a:ext>
            </a:extLst>
          </p:cNvPr>
          <p:cNvPicPr>
            <a:picLocks noChangeAspect="1"/>
          </p:cNvPicPr>
          <p:nvPr/>
        </p:nvPicPr>
        <p:blipFill>
          <a:blip r:embed="rId16">
            <a:extLst>
              <a:ext uri="{BEBA8EAE-BF5A-486C-A8C5-ECC9F3942E4B}">
                <a14:imgProps xmlns:a14="http://schemas.microsoft.com/office/drawing/2010/main">
                  <a14:imgLayer r:embed="rId17">
                    <a14:imgEffect>
                      <a14:brightnessContrast bright="20000" contrast="20000"/>
                    </a14:imgEffect>
                  </a14:imgLayer>
                </a14:imgProps>
              </a:ext>
            </a:extLst>
          </a:blip>
          <a:stretch>
            <a:fillRect/>
          </a:stretch>
        </p:blipFill>
        <p:spPr>
          <a:xfrm>
            <a:off x="6274553" y="3404528"/>
            <a:ext cx="561926" cy="657573"/>
          </a:xfrm>
          <a:prstGeom prst="rect">
            <a:avLst/>
          </a:prstGeom>
        </p:spPr>
      </p:pic>
      <p:pic>
        <p:nvPicPr>
          <p:cNvPr id="47" name="Picture 46" descr="A colorful gauge with a needle&#10;&#10;AI-generated content may be incorrect.">
            <a:extLst>
              <a:ext uri="{FF2B5EF4-FFF2-40B4-BE49-F238E27FC236}">
                <a16:creationId xmlns:a16="http://schemas.microsoft.com/office/drawing/2014/main" id="{F9D0FC81-C643-FD55-2334-BF166FF51104}"/>
              </a:ext>
            </a:extLst>
          </p:cNvPr>
          <p:cNvPicPr>
            <a:picLocks noChangeAspect="1"/>
          </p:cNvPicPr>
          <p:nvPr/>
        </p:nvPicPr>
        <p:blipFill>
          <a:blip r:embed="rId18">
            <a:extLst>
              <a:ext uri="{BEBA8EAE-BF5A-486C-A8C5-ECC9F3942E4B}">
                <a14:imgProps xmlns:a14="http://schemas.microsoft.com/office/drawing/2010/main">
                  <a14:imgLayer r:embed="rId19">
                    <a14:imgEffect>
                      <a14:brightnessContrast bright="20000" contrast="20000"/>
                    </a14:imgEffect>
                  </a14:imgLayer>
                </a14:imgProps>
              </a:ext>
            </a:extLst>
          </a:blip>
          <a:stretch>
            <a:fillRect/>
          </a:stretch>
        </p:blipFill>
        <p:spPr>
          <a:xfrm>
            <a:off x="6254054" y="4524669"/>
            <a:ext cx="602892" cy="603993"/>
          </a:xfrm>
          <a:prstGeom prst="rect">
            <a:avLst/>
          </a:prstGeom>
        </p:spPr>
      </p:pic>
      <p:pic>
        <p:nvPicPr>
          <p:cNvPr id="51" name="Picture 50" descr="A map of the country with gears&#10;&#10;AI-generated content may be incorrect.">
            <a:extLst>
              <a:ext uri="{FF2B5EF4-FFF2-40B4-BE49-F238E27FC236}">
                <a16:creationId xmlns:a16="http://schemas.microsoft.com/office/drawing/2014/main" id="{1D080A1D-2AB5-CEC1-1B63-535B40DE637C}"/>
              </a:ext>
            </a:extLst>
          </p:cNvPr>
          <p:cNvPicPr>
            <a:picLocks noChangeAspect="1"/>
          </p:cNvPicPr>
          <p:nvPr/>
        </p:nvPicPr>
        <p:blipFill>
          <a:blip r:embed="rId20">
            <a:extLst>
              <a:ext uri="{BEBA8EAE-BF5A-486C-A8C5-ECC9F3942E4B}">
                <a14:imgProps xmlns:a14="http://schemas.microsoft.com/office/drawing/2010/main">
                  <a14:imgLayer r:embed="rId21">
                    <a14:imgEffect>
                      <a14:backgroundRemoval t="10000" b="90000" l="904" r="96988">
                        <a14:foregroundMark x1="9940" y1="17143" x2="10542" y2="14286"/>
                        <a14:foregroundMark x1="5723" y1="24286" x2="904" y2="24286"/>
                        <a14:foregroundMark x1="82831" y1="36429" x2="95181" y2="33214"/>
                        <a14:foregroundMark x1="94578" y1="23571" x2="94578" y2="23571"/>
                        <a14:foregroundMark x1="62349" y1="58571" x2="61145" y2="67500"/>
                        <a14:foregroundMark x1="58434" y1="25357" x2="58735" y2="16071"/>
                        <a14:foregroundMark x1="76506" y1="21786" x2="80120" y2="31071"/>
                        <a14:foregroundMark x1="93072" y1="24643" x2="96988" y2="26429"/>
                        <a14:foregroundMark x1="77410" y1="21786" x2="79518" y2="25714"/>
                        <a14:foregroundMark x1="78614" y1="28571" x2="81627" y2="30000"/>
                        <a14:foregroundMark x1="77711" y1="24286" x2="80723" y2="21071"/>
                      </a14:backgroundRemoval>
                    </a14:imgEffect>
                    <a14:imgEffect>
                      <a14:brightnessContrast bright="20000" contrast="20000"/>
                    </a14:imgEffect>
                  </a14:imgLayer>
                </a14:imgProps>
              </a:ext>
            </a:extLst>
          </a:blip>
          <a:stretch>
            <a:fillRect/>
          </a:stretch>
        </p:blipFill>
        <p:spPr>
          <a:xfrm>
            <a:off x="8965723" y="3178624"/>
            <a:ext cx="1170894" cy="784106"/>
          </a:xfrm>
          <a:prstGeom prst="rect">
            <a:avLst/>
          </a:prstGeom>
        </p:spPr>
      </p:pic>
      <p:sp>
        <p:nvSpPr>
          <p:cNvPr id="52" name="Right Arrow 51">
            <a:extLst>
              <a:ext uri="{FF2B5EF4-FFF2-40B4-BE49-F238E27FC236}">
                <a16:creationId xmlns:a16="http://schemas.microsoft.com/office/drawing/2014/main" id="{D6EECCC1-CF19-A665-169F-30F844393266}"/>
              </a:ext>
            </a:extLst>
          </p:cNvPr>
          <p:cNvSpPr/>
          <p:nvPr/>
        </p:nvSpPr>
        <p:spPr>
          <a:xfrm>
            <a:off x="8099133" y="4093485"/>
            <a:ext cx="534873" cy="406473"/>
          </a:xfrm>
          <a:prstGeom prst="rightArrow">
            <a:avLst>
              <a:gd name="adj1" fmla="val 50000"/>
              <a:gd name="adj2" fmla="val 50000"/>
            </a:avLst>
          </a:prstGeom>
          <a:solidFill>
            <a:schemeClr val="tx2">
              <a:lumMod val="60000"/>
              <a:lumOff val="40000"/>
            </a:schemeClr>
          </a:solidFill>
          <a:ln>
            <a:solidFill>
              <a:schemeClr val="bg2"/>
            </a:solidFill>
          </a:ln>
          <a:effectLst>
            <a:glow rad="139700">
              <a:schemeClr val="accent3">
                <a:satMod val="175000"/>
                <a:alpha val="40000"/>
              </a:schemeClr>
            </a:glow>
            <a:outerShdw blurRad="50800" dist="38100" dir="10800000" algn="r" rotWithShape="0">
              <a:prstClr val="black">
                <a:alpha val="40000"/>
              </a:prstClr>
            </a:outerShdw>
          </a:effectLst>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a:p>
        </p:txBody>
      </p:sp>
      <p:sp>
        <p:nvSpPr>
          <p:cNvPr id="53" name="Right Arrow 52">
            <a:extLst>
              <a:ext uri="{FF2B5EF4-FFF2-40B4-BE49-F238E27FC236}">
                <a16:creationId xmlns:a16="http://schemas.microsoft.com/office/drawing/2014/main" id="{C7FFD8CD-08D8-4872-100D-B63F60E86E0B}"/>
              </a:ext>
            </a:extLst>
          </p:cNvPr>
          <p:cNvSpPr/>
          <p:nvPr/>
        </p:nvSpPr>
        <p:spPr>
          <a:xfrm>
            <a:off x="5589351" y="4133582"/>
            <a:ext cx="534873" cy="406473"/>
          </a:xfrm>
          <a:prstGeom prst="rightArrow">
            <a:avLst>
              <a:gd name="adj1" fmla="val 50000"/>
              <a:gd name="adj2" fmla="val 50000"/>
            </a:avLst>
          </a:prstGeom>
          <a:solidFill>
            <a:schemeClr val="tx2">
              <a:lumMod val="60000"/>
              <a:lumOff val="40000"/>
            </a:schemeClr>
          </a:solidFill>
          <a:ln>
            <a:solidFill>
              <a:schemeClr val="bg2"/>
            </a:solidFill>
          </a:ln>
          <a:effectLst>
            <a:glow rad="139700">
              <a:schemeClr val="accent3">
                <a:satMod val="175000"/>
                <a:alpha val="40000"/>
              </a:schemeClr>
            </a:glow>
            <a:outerShdw blurRad="50800" dist="38100" dir="10800000" algn="r" rotWithShape="0">
              <a:prstClr val="black">
                <a:alpha val="40000"/>
              </a:prstClr>
            </a:outerShdw>
          </a:effectLst>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a:p>
        </p:txBody>
      </p:sp>
      <p:sp>
        <p:nvSpPr>
          <p:cNvPr id="54" name="Right Arrow 53">
            <a:extLst>
              <a:ext uri="{FF2B5EF4-FFF2-40B4-BE49-F238E27FC236}">
                <a16:creationId xmlns:a16="http://schemas.microsoft.com/office/drawing/2014/main" id="{E8700B6C-A951-AB62-DA9A-B84EC158A28A}"/>
              </a:ext>
            </a:extLst>
          </p:cNvPr>
          <p:cNvSpPr/>
          <p:nvPr/>
        </p:nvSpPr>
        <p:spPr>
          <a:xfrm>
            <a:off x="2791173" y="4136637"/>
            <a:ext cx="534873" cy="406473"/>
          </a:xfrm>
          <a:prstGeom prst="rightArrow">
            <a:avLst>
              <a:gd name="adj1" fmla="val 50000"/>
              <a:gd name="adj2" fmla="val 50000"/>
            </a:avLst>
          </a:prstGeom>
          <a:solidFill>
            <a:schemeClr val="tx2">
              <a:lumMod val="60000"/>
              <a:lumOff val="40000"/>
            </a:schemeClr>
          </a:solidFill>
          <a:ln>
            <a:solidFill>
              <a:schemeClr val="bg2"/>
            </a:solidFill>
          </a:ln>
          <a:effectLst>
            <a:glow rad="139700">
              <a:schemeClr val="accent3">
                <a:satMod val="175000"/>
                <a:alpha val="40000"/>
              </a:schemeClr>
            </a:glow>
            <a:outerShdw blurRad="50800" dist="38100" dir="10800000" algn="r" rotWithShape="0">
              <a:prstClr val="black">
                <a:alpha val="40000"/>
              </a:prstClr>
            </a:outerShdw>
          </a:effectLst>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a:p>
        </p:txBody>
      </p:sp>
      <p:sp>
        <p:nvSpPr>
          <p:cNvPr id="55" name="Right Arrow 54">
            <a:extLst>
              <a:ext uri="{FF2B5EF4-FFF2-40B4-BE49-F238E27FC236}">
                <a16:creationId xmlns:a16="http://schemas.microsoft.com/office/drawing/2014/main" id="{C2DA985D-D677-02AD-132C-F14F0B5561A3}"/>
              </a:ext>
            </a:extLst>
          </p:cNvPr>
          <p:cNvSpPr/>
          <p:nvPr/>
        </p:nvSpPr>
        <p:spPr>
          <a:xfrm rot="5400000">
            <a:off x="4458164" y="4209344"/>
            <a:ext cx="438708" cy="353855"/>
          </a:xfrm>
          <a:prstGeom prst="rightArrow">
            <a:avLst>
              <a:gd name="adj1" fmla="val 50000"/>
              <a:gd name="adj2" fmla="val 50000"/>
            </a:avLst>
          </a:prstGeom>
          <a:solidFill>
            <a:schemeClr val="tx2">
              <a:lumMod val="60000"/>
              <a:lumOff val="40000"/>
            </a:schemeClr>
          </a:solidFill>
          <a:ln>
            <a:solidFill>
              <a:schemeClr val="bg2"/>
            </a:solidFill>
          </a:ln>
          <a:effectLst>
            <a:glow rad="139700">
              <a:schemeClr val="accent3">
                <a:satMod val="175000"/>
                <a:alpha val="40000"/>
              </a:schemeClr>
            </a:glow>
            <a:outerShdw blurRad="50800" dist="38100" dir="10800000" algn="r" rotWithShape="0">
              <a:prstClr val="black">
                <a:alpha val="40000"/>
              </a:prstClr>
            </a:outerShdw>
          </a:effectLst>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a:p>
        </p:txBody>
      </p:sp>
      <p:sp>
        <p:nvSpPr>
          <p:cNvPr id="56" name="Google Shape;103;p14">
            <a:extLst>
              <a:ext uri="{FF2B5EF4-FFF2-40B4-BE49-F238E27FC236}">
                <a16:creationId xmlns:a16="http://schemas.microsoft.com/office/drawing/2014/main" id="{F803CAFA-46D6-9E23-5C01-6D20A7888976}"/>
              </a:ext>
            </a:extLst>
          </p:cNvPr>
          <p:cNvSpPr txBox="1"/>
          <p:nvPr/>
        </p:nvSpPr>
        <p:spPr>
          <a:xfrm>
            <a:off x="571500" y="571500"/>
            <a:ext cx="11601450" cy="492443"/>
          </a:xfrm>
          <a:prstGeom prst="rect">
            <a:avLst/>
          </a:prstGeom>
          <a:noFill/>
          <a:ln>
            <a:noFill/>
          </a:ln>
        </p:spPr>
        <p:txBody>
          <a:bodyPr spcFirstLastPara="1" wrap="square" lIns="0" tIns="0" rIns="0" bIns="0" anchor="t" anchorCtr="0">
            <a:spAutoFit/>
          </a:bodyPr>
          <a:lstStyle/>
          <a:p>
            <a:pPr fontAlgn="base"/>
            <a:r>
              <a:rPr lang="en-US" sz="3200" b="1" dirty="0">
                <a:latin typeface="Merriweather" pitchFamily="2" charset="77"/>
              </a:rPr>
              <a:t>Framework: Predictive Population Modeling Pipeline</a:t>
            </a:r>
          </a:p>
        </p:txBody>
      </p:sp>
      <p:sp>
        <p:nvSpPr>
          <p:cNvPr id="57" name="Google Shape;104;p14">
            <a:extLst>
              <a:ext uri="{FF2B5EF4-FFF2-40B4-BE49-F238E27FC236}">
                <a16:creationId xmlns:a16="http://schemas.microsoft.com/office/drawing/2014/main" id="{68F0F239-5E26-7C61-F79B-47593127C51D}"/>
              </a:ext>
            </a:extLst>
          </p:cNvPr>
          <p:cNvSpPr/>
          <p:nvPr/>
        </p:nvSpPr>
        <p:spPr>
          <a:xfrm>
            <a:off x="571500" y="1285875"/>
            <a:ext cx="11049000" cy="28575"/>
          </a:xfrm>
          <a:prstGeom prst="rect">
            <a:avLst/>
          </a:prstGeom>
          <a:solidFill>
            <a:srgbClr val="00508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18990892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Shape 94">
          <a:extLst>
            <a:ext uri="{FF2B5EF4-FFF2-40B4-BE49-F238E27FC236}">
              <a16:creationId xmlns:a16="http://schemas.microsoft.com/office/drawing/2014/main" id="{C12AD92B-5EFF-17E1-59E0-0CD8731455F1}"/>
            </a:ext>
          </a:extLst>
        </p:cNvPr>
        <p:cNvGrpSpPr/>
        <p:nvPr/>
      </p:nvGrpSpPr>
      <p:grpSpPr>
        <a:xfrm>
          <a:off x="0" y="0"/>
          <a:ext cx="0" cy="0"/>
          <a:chOff x="0" y="0"/>
          <a:chExt cx="0" cy="0"/>
        </a:xfrm>
      </p:grpSpPr>
      <p:sp>
        <p:nvSpPr>
          <p:cNvPr id="103" name="Google Shape;103;p14">
            <a:extLst>
              <a:ext uri="{FF2B5EF4-FFF2-40B4-BE49-F238E27FC236}">
                <a16:creationId xmlns:a16="http://schemas.microsoft.com/office/drawing/2014/main" id="{4631FD4D-0CE6-C1EC-D381-C2EC7A088827}"/>
              </a:ext>
            </a:extLst>
          </p:cNvPr>
          <p:cNvSpPr txBox="1"/>
          <p:nvPr/>
        </p:nvSpPr>
        <p:spPr>
          <a:xfrm>
            <a:off x="571500" y="571500"/>
            <a:ext cx="11601450" cy="492443"/>
          </a:xfrm>
          <a:prstGeom prst="rect">
            <a:avLst/>
          </a:prstGeom>
          <a:noFill/>
          <a:ln>
            <a:noFill/>
          </a:ln>
        </p:spPr>
        <p:txBody>
          <a:bodyPr spcFirstLastPara="1" wrap="square" lIns="0" tIns="0" rIns="0" bIns="0" anchor="t" anchorCtr="0">
            <a:spAutoFit/>
          </a:bodyPr>
          <a:lstStyle/>
          <a:p>
            <a:pPr fontAlgn="base"/>
            <a:r>
              <a:rPr lang="en-US" sz="3200" b="1" dirty="0">
                <a:latin typeface="Merriweather" pitchFamily="2" charset="77"/>
              </a:rPr>
              <a:t>Pipeline Risk Assessment &amp; Mitigation</a:t>
            </a:r>
          </a:p>
        </p:txBody>
      </p:sp>
      <p:sp>
        <p:nvSpPr>
          <p:cNvPr id="104" name="Google Shape;104;p14">
            <a:extLst>
              <a:ext uri="{FF2B5EF4-FFF2-40B4-BE49-F238E27FC236}">
                <a16:creationId xmlns:a16="http://schemas.microsoft.com/office/drawing/2014/main" id="{4A73C043-2007-954D-954B-1877AF35EF5B}"/>
              </a:ext>
            </a:extLst>
          </p:cNvPr>
          <p:cNvSpPr/>
          <p:nvPr/>
        </p:nvSpPr>
        <p:spPr>
          <a:xfrm>
            <a:off x="571500" y="1285875"/>
            <a:ext cx="11049000" cy="28575"/>
          </a:xfrm>
          <a:prstGeom prst="rect">
            <a:avLst/>
          </a:prstGeom>
          <a:solidFill>
            <a:srgbClr val="00508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aphicFrame>
        <p:nvGraphicFramePr>
          <p:cNvPr id="2" name="Table 1">
            <a:extLst>
              <a:ext uri="{FF2B5EF4-FFF2-40B4-BE49-F238E27FC236}">
                <a16:creationId xmlns:a16="http://schemas.microsoft.com/office/drawing/2014/main" id="{EC87F503-1C3E-90A6-C8CE-1DF98F92D601}"/>
              </a:ext>
            </a:extLst>
          </p:cNvPr>
          <p:cNvGraphicFramePr>
            <a:graphicFrameLocks noGrp="1"/>
          </p:cNvGraphicFramePr>
          <p:nvPr>
            <p:extLst>
              <p:ext uri="{D42A27DB-BD31-4B8C-83A1-F6EECF244321}">
                <p14:modId xmlns:p14="http://schemas.microsoft.com/office/powerpoint/2010/main" val="2646216559"/>
              </p:ext>
            </p:extLst>
          </p:nvPr>
        </p:nvGraphicFramePr>
        <p:xfrm>
          <a:off x="571500" y="1536382"/>
          <a:ext cx="11049000" cy="5189860"/>
        </p:xfrm>
        <a:graphic>
          <a:graphicData uri="http://schemas.openxmlformats.org/drawingml/2006/table">
            <a:tbl>
              <a:tblPr>
                <a:tableStyleId>{16D9F66E-5EB9-4882-86FB-DCBF35E3C3E4}</a:tableStyleId>
              </a:tblPr>
              <a:tblGrid>
                <a:gridCol w="3683000">
                  <a:extLst>
                    <a:ext uri="{9D8B030D-6E8A-4147-A177-3AD203B41FA5}">
                      <a16:colId xmlns:a16="http://schemas.microsoft.com/office/drawing/2014/main" val="932660012"/>
                    </a:ext>
                  </a:extLst>
                </a:gridCol>
                <a:gridCol w="2404208">
                  <a:extLst>
                    <a:ext uri="{9D8B030D-6E8A-4147-A177-3AD203B41FA5}">
                      <a16:colId xmlns:a16="http://schemas.microsoft.com/office/drawing/2014/main" val="781832915"/>
                    </a:ext>
                  </a:extLst>
                </a:gridCol>
                <a:gridCol w="4961792">
                  <a:extLst>
                    <a:ext uri="{9D8B030D-6E8A-4147-A177-3AD203B41FA5}">
                      <a16:colId xmlns:a16="http://schemas.microsoft.com/office/drawing/2014/main" val="1037379593"/>
                    </a:ext>
                  </a:extLst>
                </a:gridCol>
              </a:tblGrid>
              <a:tr h="259557">
                <a:tc>
                  <a:txBody>
                    <a:bodyPr/>
                    <a:lstStyle/>
                    <a:p>
                      <a:pPr rtl="0">
                        <a:buNone/>
                      </a:pPr>
                      <a:r>
                        <a:rPr lang="en-US" sz="1600" b="1" dirty="0">
                          <a:solidFill>
                            <a:srgbClr val="1F1F1F"/>
                          </a:solidFill>
                          <a:effectLst/>
                          <a:latin typeface="Merriweather" pitchFamily="2" charset="77"/>
                        </a:rPr>
                        <a:t>Risk Identified</a:t>
                      </a:r>
                    </a:p>
                  </a:txBody>
                  <a:tcPr marL="52547" marR="52547" marT="35031" marB="35031" anchor="ctr"/>
                </a:tc>
                <a:tc>
                  <a:txBody>
                    <a:bodyPr/>
                    <a:lstStyle/>
                    <a:p>
                      <a:pPr algn="ctr" rtl="0">
                        <a:buNone/>
                      </a:pPr>
                      <a:r>
                        <a:rPr lang="en-US" sz="1600" b="1" dirty="0">
                          <a:solidFill>
                            <a:srgbClr val="1F1F1F"/>
                          </a:solidFill>
                          <a:effectLst/>
                          <a:latin typeface="Merriweather" pitchFamily="2" charset="77"/>
                        </a:rPr>
                        <a:t>Level</a:t>
                      </a:r>
                    </a:p>
                  </a:txBody>
                  <a:tcPr marL="52547" marR="52547" marT="35031" marB="35031" anchor="ctr"/>
                </a:tc>
                <a:tc>
                  <a:txBody>
                    <a:bodyPr/>
                    <a:lstStyle/>
                    <a:p>
                      <a:pPr rtl="0">
                        <a:buNone/>
                      </a:pPr>
                      <a:r>
                        <a:rPr lang="en-US" sz="1600" b="1" dirty="0">
                          <a:solidFill>
                            <a:srgbClr val="1F1F1F"/>
                          </a:solidFill>
                          <a:effectLst/>
                          <a:latin typeface="Merriweather" pitchFamily="2" charset="77"/>
                        </a:rPr>
                        <a:t>Mitigation Plan</a:t>
                      </a:r>
                    </a:p>
                  </a:txBody>
                  <a:tcPr marL="52547" marR="52547" marT="35031" marB="35031" anchor="ctr"/>
                </a:tc>
                <a:extLst>
                  <a:ext uri="{0D108BD9-81ED-4DB2-BD59-A6C34878D82A}">
                    <a16:rowId xmlns:a16="http://schemas.microsoft.com/office/drawing/2014/main" val="2868988395"/>
                  </a:ext>
                </a:extLst>
              </a:tr>
              <a:tr h="1260704">
                <a:tc>
                  <a:txBody>
                    <a:bodyPr/>
                    <a:lstStyle/>
                    <a:p>
                      <a:pPr rtl="0">
                        <a:buNone/>
                      </a:pPr>
                      <a:r>
                        <a:rPr lang="en-US" sz="1200" b="1" dirty="0">
                          <a:solidFill>
                            <a:srgbClr val="1F1F1F"/>
                          </a:solidFill>
                          <a:effectLst/>
                          <a:latin typeface="Merriweather" pitchFamily="2" charset="77"/>
                        </a:rPr>
                        <a:t>Data Volatility ("Noise"): </a:t>
                      </a:r>
                    </a:p>
                    <a:p>
                      <a:pPr rtl="0">
                        <a:buNone/>
                      </a:pPr>
                      <a:r>
                        <a:rPr lang="en-US" sz="1200" b="1" dirty="0">
                          <a:solidFill>
                            <a:srgbClr val="1F1F1F"/>
                          </a:solidFill>
                          <a:effectLst/>
                          <a:latin typeface="Merriweather" pitchFamily="2" charset="77"/>
                        </a:rPr>
                        <a:t>Migration data at the town level can be noisy. </a:t>
                      </a:r>
                    </a:p>
                  </a:txBody>
                  <a:tcPr marL="52547" marR="52547" marT="35031" marB="35031" anchor="ctr"/>
                </a:tc>
                <a:tc>
                  <a:txBody>
                    <a:bodyPr/>
                    <a:lstStyle/>
                    <a:p>
                      <a:pPr algn="ctr" rtl="0">
                        <a:buNone/>
                      </a:pPr>
                      <a:r>
                        <a:rPr lang="en-US" sz="1200" b="1" dirty="0">
                          <a:solidFill>
                            <a:srgbClr val="1F1F1F"/>
                          </a:solidFill>
                          <a:effectLst/>
                          <a:latin typeface="Merriweather" pitchFamily="2" charset="77"/>
                        </a:rPr>
                        <a:t>Medium</a:t>
                      </a:r>
                    </a:p>
                  </a:txBody>
                  <a:tcPr marL="52547" marR="52547" marT="35031" marB="35031" anchor="ctr"/>
                </a:tc>
                <a:tc>
                  <a:txBody>
                    <a:bodyPr/>
                    <a:lstStyle/>
                    <a:p>
                      <a:pPr rtl="0">
                        <a:buNone/>
                      </a:pPr>
                      <a:r>
                        <a:rPr lang="en-US" sz="1200" b="1" dirty="0">
                          <a:solidFill>
                            <a:srgbClr val="1F1F1F"/>
                          </a:solidFill>
                          <a:effectLst/>
                          <a:latin typeface="Merriweather" pitchFamily="2" charset="77"/>
                        </a:rPr>
                        <a:t>Regularization: </a:t>
                      </a:r>
                    </a:p>
                    <a:p>
                      <a:pPr rtl="0">
                        <a:buNone/>
                      </a:pPr>
                      <a:r>
                        <a:rPr lang="en-US" sz="1200" b="1" dirty="0">
                          <a:solidFill>
                            <a:srgbClr val="1F1F1F"/>
                          </a:solidFill>
                          <a:effectLst/>
                          <a:latin typeface="Merriweather" pitchFamily="2" charset="77"/>
                        </a:rPr>
                        <a:t>Utilize Lasso (L1) and Ridge regression techniques to penalize outliers and force the model to focus only on significant drivers.</a:t>
                      </a:r>
                    </a:p>
                  </a:txBody>
                  <a:tcPr marL="52547" marR="52547" marT="35031" marB="35031" anchor="ctr"/>
                </a:tc>
                <a:extLst>
                  <a:ext uri="{0D108BD9-81ED-4DB2-BD59-A6C34878D82A}">
                    <a16:rowId xmlns:a16="http://schemas.microsoft.com/office/drawing/2014/main" val="3536900230"/>
                  </a:ext>
                </a:extLst>
              </a:tr>
              <a:tr h="1260704">
                <a:tc>
                  <a:txBody>
                    <a:bodyPr/>
                    <a:lstStyle/>
                    <a:p>
                      <a:pPr rtl="0">
                        <a:buNone/>
                      </a:pPr>
                      <a:r>
                        <a:rPr lang="en-US" sz="1200" b="1" dirty="0">
                          <a:solidFill>
                            <a:srgbClr val="1F1F1F"/>
                          </a:solidFill>
                          <a:effectLst/>
                          <a:latin typeface="Merriweather" pitchFamily="2" charset="77"/>
                        </a:rPr>
                        <a:t>Non-Linear Shocks:</a:t>
                      </a:r>
                    </a:p>
                    <a:p>
                      <a:pPr rtl="0">
                        <a:buNone/>
                      </a:pPr>
                      <a:r>
                        <a:rPr lang="en-US" sz="1200" b="1" dirty="0">
                          <a:solidFill>
                            <a:srgbClr val="1F1F1F"/>
                          </a:solidFill>
                          <a:effectLst/>
                          <a:latin typeface="Merriweather" pitchFamily="2" charset="77"/>
                        </a:rPr>
                        <a:t>Standard linear models may fail to predict the "cliff-like" population drops caused by disasters</a:t>
                      </a:r>
                    </a:p>
                  </a:txBody>
                  <a:tcPr marL="52547" marR="52547" marT="35031" marB="35031" anchor="ctr"/>
                </a:tc>
                <a:tc>
                  <a:txBody>
                    <a:bodyPr/>
                    <a:lstStyle/>
                    <a:p>
                      <a:pPr algn="ctr" rtl="0">
                        <a:buNone/>
                      </a:pPr>
                      <a:r>
                        <a:rPr lang="en-US" sz="1200" b="1" dirty="0">
                          <a:solidFill>
                            <a:srgbClr val="1F1F1F"/>
                          </a:solidFill>
                          <a:effectLst/>
                          <a:latin typeface="Merriweather" pitchFamily="2" charset="77"/>
                        </a:rPr>
                        <a:t>Medium</a:t>
                      </a:r>
                    </a:p>
                  </a:txBody>
                  <a:tcPr marL="52547" marR="52547" marT="35031" marB="35031" anchor="ctr"/>
                </a:tc>
                <a:tc>
                  <a:txBody>
                    <a:bodyPr/>
                    <a:lstStyle/>
                    <a:p>
                      <a:pPr rtl="0">
                        <a:buNone/>
                      </a:pPr>
                      <a:r>
                        <a:rPr lang="en-US" sz="1200" b="1" dirty="0">
                          <a:solidFill>
                            <a:srgbClr val="1F1F1F"/>
                          </a:solidFill>
                          <a:effectLst/>
                          <a:latin typeface="Merriweather" pitchFamily="2" charset="77"/>
                        </a:rPr>
                        <a:t>Non-Linear Algorithms: </a:t>
                      </a:r>
                    </a:p>
                    <a:p>
                      <a:pPr rtl="0">
                        <a:buNone/>
                      </a:pPr>
                      <a:r>
                        <a:rPr lang="en-US" sz="1200" b="1" dirty="0">
                          <a:solidFill>
                            <a:srgbClr val="1F1F1F"/>
                          </a:solidFill>
                          <a:effectLst/>
                          <a:latin typeface="Merriweather" pitchFamily="2" charset="77"/>
                        </a:rPr>
                        <a:t>Use Random Forest and Gradient Boosting to capture abrupt shifts that traditional demographic tools (DAPPS) miss</a:t>
                      </a:r>
                    </a:p>
                  </a:txBody>
                  <a:tcPr marL="52547" marR="52547" marT="35031" marB="35031" anchor="ctr"/>
                </a:tc>
                <a:extLst>
                  <a:ext uri="{0D108BD9-81ED-4DB2-BD59-A6C34878D82A}">
                    <a16:rowId xmlns:a16="http://schemas.microsoft.com/office/drawing/2014/main" val="3996495823"/>
                  </a:ext>
                </a:extLst>
              </a:tr>
              <a:tr h="1260704">
                <a:tc>
                  <a:txBody>
                    <a:bodyPr/>
                    <a:lstStyle/>
                    <a:p>
                      <a:pPr rtl="0">
                        <a:buNone/>
                      </a:pPr>
                      <a:r>
                        <a:rPr lang="en-US" sz="1200" b="1" dirty="0">
                          <a:solidFill>
                            <a:srgbClr val="1F1F1F"/>
                          </a:solidFill>
                          <a:effectLst/>
                          <a:latin typeface="Merriweather" pitchFamily="2" charset="77"/>
                        </a:rPr>
                        <a:t>Dataset Alignment: </a:t>
                      </a:r>
                    </a:p>
                    <a:p>
                      <a:pPr rtl="0">
                        <a:buNone/>
                      </a:pPr>
                      <a:r>
                        <a:rPr lang="en-US" sz="1200" b="1" dirty="0">
                          <a:solidFill>
                            <a:srgbClr val="1F1F1F"/>
                          </a:solidFill>
                          <a:effectLst/>
                          <a:latin typeface="Merriweather" pitchFamily="2" charset="77"/>
                        </a:rPr>
                        <a:t>Harmonizing time-series data from 5+ disparate sources (Census, NOAA, Police Bureau, etc.)</a:t>
                      </a:r>
                    </a:p>
                  </a:txBody>
                  <a:tcPr marL="52547" marR="52547" marT="35031" marB="35031" anchor="ctr"/>
                </a:tc>
                <a:tc>
                  <a:txBody>
                    <a:bodyPr/>
                    <a:lstStyle/>
                    <a:p>
                      <a:pPr algn="ctr" rtl="0">
                        <a:buNone/>
                      </a:pPr>
                      <a:r>
                        <a:rPr lang="en-US" sz="1200" b="1" dirty="0">
                          <a:solidFill>
                            <a:srgbClr val="1F1F1F"/>
                          </a:solidFill>
                          <a:effectLst/>
                          <a:latin typeface="Merriweather" pitchFamily="2" charset="77"/>
                        </a:rPr>
                        <a:t>Medium</a:t>
                      </a:r>
                    </a:p>
                  </a:txBody>
                  <a:tcPr marL="52547" marR="52547" marT="35031" marB="35031" anchor="ctr"/>
                </a:tc>
                <a:tc>
                  <a:txBody>
                    <a:bodyPr/>
                    <a:lstStyle/>
                    <a:p>
                      <a:pPr rtl="0">
                        <a:buNone/>
                      </a:pPr>
                      <a:r>
                        <a:rPr lang="en-US" sz="1200" b="1" dirty="0">
                          <a:solidFill>
                            <a:srgbClr val="1F1F1F"/>
                          </a:solidFill>
                          <a:effectLst/>
                          <a:latin typeface="Merriweather" pitchFamily="2" charset="77"/>
                        </a:rPr>
                        <a:t>ETL Pipeline: </a:t>
                      </a:r>
                    </a:p>
                    <a:p>
                      <a:pPr rtl="0">
                        <a:buNone/>
                      </a:pPr>
                      <a:r>
                        <a:rPr lang="en-US" sz="1200" b="1" dirty="0">
                          <a:solidFill>
                            <a:srgbClr val="1F1F1F"/>
                          </a:solidFill>
                          <a:effectLst/>
                          <a:latin typeface="Merriweather" pitchFamily="2" charset="77"/>
                        </a:rPr>
                        <a:t>Implement a reproducible Python/Pandas pipeline to standardize FIPS codes and temporal resolution into a single municipal-level panel</a:t>
                      </a:r>
                    </a:p>
                  </a:txBody>
                  <a:tcPr marL="52547" marR="52547" marT="35031" marB="35031" anchor="ctr"/>
                </a:tc>
                <a:extLst>
                  <a:ext uri="{0D108BD9-81ED-4DB2-BD59-A6C34878D82A}">
                    <a16:rowId xmlns:a16="http://schemas.microsoft.com/office/drawing/2014/main" val="18919873"/>
                  </a:ext>
                </a:extLst>
              </a:tr>
              <a:tr h="1093846">
                <a:tc>
                  <a:txBody>
                    <a:bodyPr/>
                    <a:lstStyle/>
                    <a:p>
                      <a:pPr rtl="0">
                        <a:buNone/>
                      </a:pPr>
                      <a:r>
                        <a:rPr lang="en-US" sz="1200" b="1" dirty="0">
                          <a:solidFill>
                            <a:srgbClr val="1F1F1F"/>
                          </a:solidFill>
                          <a:effectLst/>
                          <a:latin typeface="Merriweather" pitchFamily="2" charset="77"/>
                        </a:rPr>
                        <a:t>Model Generalization: </a:t>
                      </a:r>
                    </a:p>
                    <a:p>
                      <a:pPr rtl="0">
                        <a:buNone/>
                      </a:pPr>
                      <a:r>
                        <a:rPr lang="en-US" sz="1200" b="1" dirty="0">
                          <a:solidFill>
                            <a:srgbClr val="1F1F1F"/>
                          </a:solidFill>
                          <a:effectLst/>
                          <a:latin typeface="Merriweather" pitchFamily="2" charset="77"/>
                        </a:rPr>
                        <a:t>Risk of the model overfitting to a specific "shock" year (like Maria) </a:t>
                      </a:r>
                    </a:p>
                  </a:txBody>
                  <a:tcPr marL="52547" marR="52547" marT="35031" marB="35031" anchor="ctr"/>
                </a:tc>
                <a:tc>
                  <a:txBody>
                    <a:bodyPr/>
                    <a:lstStyle/>
                    <a:p>
                      <a:pPr algn="ctr" rtl="0">
                        <a:buNone/>
                      </a:pPr>
                      <a:r>
                        <a:rPr lang="en-US" sz="1200" b="1" dirty="0">
                          <a:solidFill>
                            <a:srgbClr val="1F1F1F"/>
                          </a:solidFill>
                          <a:effectLst/>
                          <a:latin typeface="Merriweather" pitchFamily="2" charset="77"/>
                        </a:rPr>
                        <a:t>Low</a:t>
                      </a:r>
                    </a:p>
                  </a:txBody>
                  <a:tcPr marL="52547" marR="52547" marT="35031" marB="35031" anchor="ctr"/>
                </a:tc>
                <a:tc>
                  <a:txBody>
                    <a:bodyPr/>
                    <a:lstStyle/>
                    <a:p>
                      <a:pPr rtl="0">
                        <a:buNone/>
                      </a:pPr>
                      <a:r>
                        <a:rPr lang="en-US" sz="1200" b="1" dirty="0">
                          <a:solidFill>
                            <a:srgbClr val="1F1F1F"/>
                          </a:solidFill>
                          <a:effectLst/>
                          <a:latin typeface="Merriweather" pitchFamily="2" charset="77"/>
                        </a:rPr>
                        <a:t>Validation Strategy: </a:t>
                      </a:r>
                    </a:p>
                    <a:p>
                      <a:pPr rtl="0">
                        <a:buNone/>
                      </a:pPr>
                      <a:r>
                        <a:rPr lang="en-US" sz="1200" b="1" dirty="0">
                          <a:solidFill>
                            <a:srgbClr val="1F1F1F"/>
                          </a:solidFill>
                          <a:effectLst/>
                          <a:latin typeface="Merriweather" pitchFamily="2" charset="77"/>
                        </a:rPr>
                        <a:t>Train in 2010–2016 data and test specifically on the 2017 "Maria crash" to verify the model's ability to interpret shocks </a:t>
                      </a:r>
                    </a:p>
                  </a:txBody>
                  <a:tcPr marL="52547" marR="52547" marT="35031" marB="35031" anchor="ctr"/>
                </a:tc>
                <a:extLst>
                  <a:ext uri="{0D108BD9-81ED-4DB2-BD59-A6C34878D82A}">
                    <a16:rowId xmlns:a16="http://schemas.microsoft.com/office/drawing/2014/main" val="2723698170"/>
                  </a:ext>
                </a:extLst>
              </a:tr>
            </a:tbl>
          </a:graphicData>
        </a:graphic>
      </p:graphicFrame>
    </p:spTree>
    <p:extLst>
      <p:ext uri="{BB962C8B-B14F-4D97-AF65-F5344CB8AC3E}">
        <p14:creationId xmlns:p14="http://schemas.microsoft.com/office/powerpoint/2010/main" val="230472268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10"/>
        <p:cNvGrpSpPr/>
        <p:nvPr/>
      </p:nvGrpSpPr>
      <p:grpSpPr>
        <a:xfrm>
          <a:off x="0" y="0"/>
          <a:ext cx="0" cy="0"/>
          <a:chOff x="0" y="0"/>
          <a:chExt cx="0" cy="0"/>
        </a:xfrm>
      </p:grpSpPr>
      <p:sp>
        <p:nvSpPr>
          <p:cNvPr id="216" name="Google Shape;216;p21"/>
          <p:cNvSpPr txBox="1"/>
          <p:nvPr/>
        </p:nvSpPr>
        <p:spPr>
          <a:xfrm>
            <a:off x="571500" y="571500"/>
            <a:ext cx="11601450" cy="55399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600" b="1" i="0" u="none" strike="noStrike" cap="none" dirty="0">
                <a:latin typeface="Merriweather"/>
                <a:ea typeface="Merriweather"/>
                <a:cs typeface="Merriweather"/>
                <a:sym typeface="Merriweather"/>
              </a:rPr>
              <a:t>Timeline and Milestones </a:t>
            </a:r>
            <a:endParaRPr dirty="0"/>
          </a:p>
        </p:txBody>
      </p:sp>
      <p:sp>
        <p:nvSpPr>
          <p:cNvPr id="217" name="Google Shape;217;p21"/>
          <p:cNvSpPr/>
          <p:nvPr/>
        </p:nvSpPr>
        <p:spPr>
          <a:xfrm>
            <a:off x="571500" y="1285875"/>
            <a:ext cx="11049000" cy="28575"/>
          </a:xfrm>
          <a:prstGeom prst="rect">
            <a:avLst/>
          </a:prstGeom>
          <a:solidFill>
            <a:srgbClr val="00508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aphicFrame>
        <p:nvGraphicFramePr>
          <p:cNvPr id="2" name="Table 1">
            <a:extLst>
              <a:ext uri="{FF2B5EF4-FFF2-40B4-BE49-F238E27FC236}">
                <a16:creationId xmlns:a16="http://schemas.microsoft.com/office/drawing/2014/main" id="{6FB321E9-64B3-87B4-341C-34471D9A24C4}"/>
              </a:ext>
            </a:extLst>
          </p:cNvPr>
          <p:cNvGraphicFramePr>
            <a:graphicFrameLocks noGrp="1"/>
          </p:cNvGraphicFramePr>
          <p:nvPr>
            <p:extLst>
              <p:ext uri="{D42A27DB-BD31-4B8C-83A1-F6EECF244321}">
                <p14:modId xmlns:p14="http://schemas.microsoft.com/office/powerpoint/2010/main" val="1943519082"/>
              </p:ext>
            </p:extLst>
          </p:nvPr>
        </p:nvGraphicFramePr>
        <p:xfrm>
          <a:off x="571497" y="1474827"/>
          <a:ext cx="11049000" cy="5135208"/>
        </p:xfrm>
        <a:graphic>
          <a:graphicData uri="http://schemas.openxmlformats.org/drawingml/2006/table">
            <a:tbl>
              <a:tblPr firstRow="1" firstCol="1" bandRow="1">
                <a:tableStyleId>{16D9F66E-5EB9-4882-86FB-DCBF35E3C3E4}</a:tableStyleId>
              </a:tblPr>
              <a:tblGrid>
                <a:gridCol w="2762250">
                  <a:extLst>
                    <a:ext uri="{9D8B030D-6E8A-4147-A177-3AD203B41FA5}">
                      <a16:colId xmlns:a16="http://schemas.microsoft.com/office/drawing/2014/main" val="1544926438"/>
                    </a:ext>
                  </a:extLst>
                </a:gridCol>
                <a:gridCol w="2762250">
                  <a:extLst>
                    <a:ext uri="{9D8B030D-6E8A-4147-A177-3AD203B41FA5}">
                      <a16:colId xmlns:a16="http://schemas.microsoft.com/office/drawing/2014/main" val="3827530210"/>
                    </a:ext>
                  </a:extLst>
                </a:gridCol>
                <a:gridCol w="2762250">
                  <a:extLst>
                    <a:ext uri="{9D8B030D-6E8A-4147-A177-3AD203B41FA5}">
                      <a16:colId xmlns:a16="http://schemas.microsoft.com/office/drawing/2014/main" val="163946974"/>
                    </a:ext>
                  </a:extLst>
                </a:gridCol>
                <a:gridCol w="2762250">
                  <a:extLst>
                    <a:ext uri="{9D8B030D-6E8A-4147-A177-3AD203B41FA5}">
                      <a16:colId xmlns:a16="http://schemas.microsoft.com/office/drawing/2014/main" val="3546596856"/>
                    </a:ext>
                  </a:extLst>
                </a:gridCol>
              </a:tblGrid>
              <a:tr h="281543">
                <a:tc>
                  <a:txBody>
                    <a:bodyPr/>
                    <a:lstStyle/>
                    <a:p>
                      <a:pPr marL="0" marR="0" algn="l" defTabSz="457200" rtl="0" eaLnBrk="1" latinLnBrk="0" hangingPunct="1">
                        <a:lnSpc>
                          <a:spcPct val="115000"/>
                        </a:lnSpc>
                        <a:spcAft>
                          <a:spcPts val="800"/>
                        </a:spcAft>
                        <a:buNone/>
                      </a:pPr>
                      <a:r>
                        <a:rPr lang="en-US" sz="1200" b="1" kern="0">
                          <a:solidFill>
                            <a:schemeClr val="dk1"/>
                          </a:solidFill>
                          <a:effectLst/>
                          <a:latin typeface="Merriweather" pitchFamily="2" charset="77"/>
                        </a:rPr>
                        <a:t>Phase</a:t>
                      </a:r>
                      <a:endParaRPr lang="en-US" sz="1200" b="1" kern="0">
                        <a:solidFill>
                          <a:schemeClr val="dk1"/>
                        </a:solidFill>
                        <a:effectLst/>
                        <a:latin typeface="Merriweather" pitchFamily="2" charset="77"/>
                        <a:ea typeface="+mn-ea"/>
                        <a:cs typeface="+mn-cs"/>
                      </a:endParaRPr>
                    </a:p>
                  </a:txBody>
                  <a:tcPr marL="72582" marR="72582" marT="48388" marB="48388" anchor="ctr"/>
                </a:tc>
                <a:tc>
                  <a:txBody>
                    <a:bodyPr/>
                    <a:lstStyle/>
                    <a:p>
                      <a:pPr marL="0" marR="0" algn="l" defTabSz="457200" rtl="0" eaLnBrk="1" latinLnBrk="0" hangingPunct="1">
                        <a:lnSpc>
                          <a:spcPct val="115000"/>
                        </a:lnSpc>
                        <a:spcAft>
                          <a:spcPts val="800"/>
                        </a:spcAft>
                        <a:buNone/>
                      </a:pPr>
                      <a:r>
                        <a:rPr lang="en-US" sz="1200" b="1" kern="0">
                          <a:solidFill>
                            <a:schemeClr val="dk1"/>
                          </a:solidFill>
                          <a:effectLst/>
                          <a:latin typeface="Merriweather" pitchFamily="2" charset="77"/>
                        </a:rPr>
                        <a:t>Timeline</a:t>
                      </a:r>
                      <a:endParaRPr lang="en-US" sz="1200" b="1" kern="0">
                        <a:solidFill>
                          <a:schemeClr val="dk1"/>
                        </a:solidFill>
                        <a:effectLst/>
                        <a:latin typeface="Merriweather" pitchFamily="2" charset="77"/>
                        <a:ea typeface="+mn-ea"/>
                        <a:cs typeface="+mn-cs"/>
                      </a:endParaRPr>
                    </a:p>
                  </a:txBody>
                  <a:tcPr marL="72582" marR="72582" marT="48388" marB="48388" anchor="ctr"/>
                </a:tc>
                <a:tc>
                  <a:txBody>
                    <a:bodyPr/>
                    <a:lstStyle/>
                    <a:p>
                      <a:pPr marL="0" marR="0" algn="l" defTabSz="457200" rtl="0" eaLnBrk="1" latinLnBrk="0" hangingPunct="1">
                        <a:lnSpc>
                          <a:spcPct val="115000"/>
                        </a:lnSpc>
                        <a:spcAft>
                          <a:spcPts val="800"/>
                        </a:spcAft>
                        <a:buNone/>
                      </a:pPr>
                      <a:r>
                        <a:rPr lang="en-US" sz="1200" b="1" kern="0">
                          <a:solidFill>
                            <a:schemeClr val="dk1"/>
                          </a:solidFill>
                          <a:effectLst/>
                          <a:latin typeface="Merriweather" pitchFamily="2" charset="77"/>
                        </a:rPr>
                        <a:t>Key Activities</a:t>
                      </a:r>
                      <a:endParaRPr lang="en-US" sz="1200" b="1" kern="0">
                        <a:solidFill>
                          <a:schemeClr val="dk1"/>
                        </a:solidFill>
                        <a:effectLst/>
                        <a:latin typeface="Merriweather" pitchFamily="2" charset="77"/>
                        <a:ea typeface="+mn-ea"/>
                        <a:cs typeface="+mn-cs"/>
                      </a:endParaRPr>
                    </a:p>
                  </a:txBody>
                  <a:tcPr marL="72582" marR="72582" marT="48388" marB="48388" anchor="ctr"/>
                </a:tc>
                <a:tc>
                  <a:txBody>
                    <a:bodyPr/>
                    <a:lstStyle/>
                    <a:p>
                      <a:pPr marL="0" marR="0" algn="l" defTabSz="457200" rtl="0" eaLnBrk="1" latinLnBrk="0" hangingPunct="1">
                        <a:lnSpc>
                          <a:spcPct val="115000"/>
                        </a:lnSpc>
                        <a:spcAft>
                          <a:spcPts val="800"/>
                        </a:spcAft>
                        <a:buNone/>
                      </a:pPr>
                      <a:r>
                        <a:rPr lang="en-US" sz="1200" b="1" kern="0">
                          <a:solidFill>
                            <a:schemeClr val="dk1"/>
                          </a:solidFill>
                          <a:effectLst/>
                          <a:latin typeface="Merriweather" pitchFamily="2" charset="77"/>
                        </a:rPr>
                        <a:t>Milestones &amp; Deliverables</a:t>
                      </a:r>
                      <a:endParaRPr lang="en-US" sz="1200" b="1" kern="0">
                        <a:solidFill>
                          <a:schemeClr val="dk1"/>
                        </a:solidFill>
                        <a:effectLst/>
                        <a:latin typeface="Merriweather" pitchFamily="2" charset="77"/>
                        <a:ea typeface="+mn-ea"/>
                        <a:cs typeface="+mn-cs"/>
                      </a:endParaRPr>
                    </a:p>
                  </a:txBody>
                  <a:tcPr marL="72582" marR="72582" marT="48388" marB="48388" anchor="ctr"/>
                </a:tc>
                <a:extLst>
                  <a:ext uri="{0D108BD9-81ED-4DB2-BD59-A6C34878D82A}">
                    <a16:rowId xmlns:a16="http://schemas.microsoft.com/office/drawing/2014/main" val="1318399390"/>
                  </a:ext>
                </a:extLst>
              </a:tr>
              <a:tr h="1252935">
                <a:tc>
                  <a:txBody>
                    <a:bodyPr/>
                    <a:lstStyle/>
                    <a:p>
                      <a:pPr marL="0" marR="0" algn="l" defTabSz="457200" rtl="0" eaLnBrk="1" latinLnBrk="0" hangingPunct="1">
                        <a:lnSpc>
                          <a:spcPct val="115000"/>
                        </a:lnSpc>
                        <a:spcAft>
                          <a:spcPts val="800"/>
                        </a:spcAft>
                        <a:buNone/>
                      </a:pPr>
                      <a:r>
                        <a:rPr lang="en-US" sz="1200" b="1" kern="0" dirty="0">
                          <a:solidFill>
                            <a:schemeClr val="dk1"/>
                          </a:solidFill>
                          <a:effectLst/>
                          <a:latin typeface="Merriweather" pitchFamily="2" charset="77"/>
                        </a:rPr>
                        <a:t>I: Data Engineering</a:t>
                      </a:r>
                      <a:endParaRPr lang="en-US" sz="1200" b="1" kern="0" dirty="0">
                        <a:solidFill>
                          <a:schemeClr val="dk1"/>
                        </a:solidFill>
                        <a:effectLst/>
                        <a:latin typeface="Merriweather" pitchFamily="2" charset="77"/>
                        <a:ea typeface="+mn-ea"/>
                        <a:cs typeface="+mn-cs"/>
                      </a:endParaRPr>
                    </a:p>
                  </a:txBody>
                  <a:tcPr marL="72582" marR="72582" marT="48388" marB="48388" anchor="ctr"/>
                </a:tc>
                <a:tc>
                  <a:txBody>
                    <a:bodyPr/>
                    <a:lstStyle/>
                    <a:p>
                      <a:pPr marL="0" marR="0" algn="l" defTabSz="457200" rtl="0" eaLnBrk="1" latinLnBrk="0" hangingPunct="1">
                        <a:lnSpc>
                          <a:spcPct val="115000"/>
                        </a:lnSpc>
                        <a:spcAft>
                          <a:spcPts val="800"/>
                        </a:spcAft>
                        <a:buNone/>
                      </a:pPr>
                      <a:r>
                        <a:rPr lang="en-US" sz="1200" b="1" kern="0">
                          <a:solidFill>
                            <a:schemeClr val="dk1"/>
                          </a:solidFill>
                          <a:effectLst/>
                          <a:latin typeface="Merriweather" pitchFamily="2" charset="77"/>
                        </a:rPr>
                        <a:t>Weeks 1–3</a:t>
                      </a:r>
                      <a:endParaRPr lang="en-US" sz="1200" b="1" kern="0">
                        <a:solidFill>
                          <a:schemeClr val="dk1"/>
                        </a:solidFill>
                        <a:effectLst/>
                        <a:latin typeface="Merriweather" pitchFamily="2" charset="77"/>
                        <a:ea typeface="+mn-ea"/>
                        <a:cs typeface="+mn-cs"/>
                      </a:endParaRPr>
                    </a:p>
                  </a:txBody>
                  <a:tcPr marL="72582" marR="72582" marT="48388" marB="48388" anchor="ctr"/>
                </a:tc>
                <a:tc>
                  <a:txBody>
                    <a:bodyPr/>
                    <a:lstStyle/>
                    <a:p>
                      <a:pPr marL="0" marR="0" algn="l" defTabSz="457200" rtl="0" eaLnBrk="1" latinLnBrk="0" hangingPunct="1">
                        <a:lnSpc>
                          <a:spcPct val="115000"/>
                        </a:lnSpc>
                        <a:spcAft>
                          <a:spcPts val="800"/>
                        </a:spcAft>
                        <a:buNone/>
                      </a:pPr>
                      <a:r>
                        <a:rPr lang="en-US" sz="1200" b="1" kern="0" dirty="0">
                          <a:solidFill>
                            <a:schemeClr val="dk1"/>
                          </a:solidFill>
                          <a:effectLst/>
                          <a:latin typeface="Merriweather" pitchFamily="2" charset="77"/>
                        </a:rPr>
                        <a:t>Data acquisition and harmonization of Census, Vital Statistics, and hazard data into a municipal-level panel. </a:t>
                      </a:r>
                      <a:endParaRPr lang="en-US" sz="1200" b="1" kern="0" dirty="0">
                        <a:solidFill>
                          <a:schemeClr val="dk1"/>
                        </a:solidFill>
                        <a:effectLst/>
                        <a:latin typeface="Merriweather" pitchFamily="2" charset="77"/>
                        <a:ea typeface="+mn-ea"/>
                        <a:cs typeface="+mn-cs"/>
                      </a:endParaRPr>
                    </a:p>
                  </a:txBody>
                  <a:tcPr marL="72582" marR="72582" marT="48388" marB="48388" anchor="ctr"/>
                </a:tc>
                <a:tc>
                  <a:txBody>
                    <a:bodyPr/>
                    <a:lstStyle/>
                    <a:p>
                      <a:pPr marL="0" marR="0" algn="l" defTabSz="457200" rtl="0" eaLnBrk="1" latinLnBrk="0" hangingPunct="1">
                        <a:lnSpc>
                          <a:spcPct val="115000"/>
                        </a:lnSpc>
                        <a:spcAft>
                          <a:spcPts val="800"/>
                        </a:spcAft>
                        <a:buNone/>
                      </a:pPr>
                      <a:r>
                        <a:rPr lang="en-US" sz="1200" b="1" kern="0" dirty="0">
                          <a:solidFill>
                            <a:schemeClr val="dk1"/>
                          </a:solidFill>
                          <a:effectLst/>
                          <a:latin typeface="Merriweather" pitchFamily="2" charset="77"/>
                        </a:rPr>
                        <a:t>Milestone: Finalized, standardized wide-format JSON/CSV dataset ready for modeling.</a:t>
                      </a:r>
                      <a:endParaRPr lang="en-US" sz="1200" b="1" kern="0" dirty="0">
                        <a:solidFill>
                          <a:schemeClr val="dk1"/>
                        </a:solidFill>
                        <a:effectLst/>
                        <a:latin typeface="Merriweather" pitchFamily="2" charset="77"/>
                        <a:ea typeface="+mn-ea"/>
                        <a:cs typeface="+mn-cs"/>
                      </a:endParaRPr>
                    </a:p>
                  </a:txBody>
                  <a:tcPr marL="72582" marR="72582" marT="48388" marB="48388" anchor="ctr"/>
                </a:tc>
                <a:extLst>
                  <a:ext uri="{0D108BD9-81ED-4DB2-BD59-A6C34878D82A}">
                    <a16:rowId xmlns:a16="http://schemas.microsoft.com/office/drawing/2014/main" val="2308954954"/>
                  </a:ext>
                </a:extLst>
              </a:tr>
              <a:tr h="1414983">
                <a:tc>
                  <a:txBody>
                    <a:bodyPr/>
                    <a:lstStyle/>
                    <a:p>
                      <a:pPr marL="0" marR="0" algn="l" defTabSz="457200" rtl="0" eaLnBrk="1" latinLnBrk="0" hangingPunct="1">
                        <a:lnSpc>
                          <a:spcPct val="115000"/>
                        </a:lnSpc>
                        <a:spcAft>
                          <a:spcPts val="800"/>
                        </a:spcAft>
                        <a:buNone/>
                      </a:pPr>
                      <a:r>
                        <a:rPr lang="en-US" sz="1200" b="1" kern="0">
                          <a:solidFill>
                            <a:schemeClr val="dk1"/>
                          </a:solidFill>
                          <a:effectLst/>
                          <a:latin typeface="Merriweather" pitchFamily="2" charset="77"/>
                        </a:rPr>
                        <a:t>II: Supervised Modeling</a:t>
                      </a:r>
                      <a:endParaRPr lang="en-US" sz="1200" b="1" kern="0">
                        <a:solidFill>
                          <a:schemeClr val="dk1"/>
                        </a:solidFill>
                        <a:effectLst/>
                        <a:latin typeface="Merriweather" pitchFamily="2" charset="77"/>
                        <a:ea typeface="+mn-ea"/>
                        <a:cs typeface="+mn-cs"/>
                      </a:endParaRPr>
                    </a:p>
                  </a:txBody>
                  <a:tcPr marL="72582" marR="72582" marT="48388" marB="48388" anchor="ctr"/>
                </a:tc>
                <a:tc>
                  <a:txBody>
                    <a:bodyPr/>
                    <a:lstStyle/>
                    <a:p>
                      <a:pPr marL="0" marR="0" algn="l" defTabSz="457200" rtl="0" eaLnBrk="1" latinLnBrk="0" hangingPunct="1">
                        <a:lnSpc>
                          <a:spcPct val="115000"/>
                        </a:lnSpc>
                        <a:spcAft>
                          <a:spcPts val="800"/>
                        </a:spcAft>
                        <a:buNone/>
                      </a:pPr>
                      <a:r>
                        <a:rPr lang="en-US" sz="1200" b="1" kern="0">
                          <a:solidFill>
                            <a:schemeClr val="dk1"/>
                          </a:solidFill>
                          <a:effectLst/>
                          <a:latin typeface="Merriweather" pitchFamily="2" charset="77"/>
                        </a:rPr>
                        <a:t>Weeks 4–6</a:t>
                      </a:r>
                      <a:endParaRPr lang="en-US" sz="1200" b="1" kern="0">
                        <a:solidFill>
                          <a:schemeClr val="dk1"/>
                        </a:solidFill>
                        <a:effectLst/>
                        <a:latin typeface="Merriweather" pitchFamily="2" charset="77"/>
                        <a:ea typeface="+mn-ea"/>
                        <a:cs typeface="+mn-cs"/>
                      </a:endParaRPr>
                    </a:p>
                  </a:txBody>
                  <a:tcPr marL="72582" marR="72582" marT="48388" marB="48388" anchor="ctr"/>
                </a:tc>
                <a:tc>
                  <a:txBody>
                    <a:bodyPr/>
                    <a:lstStyle/>
                    <a:p>
                      <a:pPr marL="0" marR="0" algn="l" defTabSz="457200" rtl="0" eaLnBrk="1" latinLnBrk="0" hangingPunct="1">
                        <a:lnSpc>
                          <a:spcPct val="115000"/>
                        </a:lnSpc>
                        <a:spcAft>
                          <a:spcPts val="800"/>
                        </a:spcAft>
                        <a:buNone/>
                      </a:pPr>
                      <a:r>
                        <a:rPr lang="en-US" sz="1200" b="1" kern="0" dirty="0">
                          <a:solidFill>
                            <a:schemeClr val="dk1"/>
                          </a:solidFill>
                          <a:effectLst/>
                          <a:latin typeface="Merriweather" pitchFamily="2" charset="77"/>
                        </a:rPr>
                        <a:t>Development and tuning of Ridge/Lasso and tree-based forecasting models. </a:t>
                      </a:r>
                      <a:endParaRPr lang="en-US" sz="1200" b="1" kern="0" dirty="0">
                        <a:solidFill>
                          <a:schemeClr val="dk1"/>
                        </a:solidFill>
                        <a:effectLst/>
                        <a:latin typeface="Merriweather" pitchFamily="2" charset="77"/>
                        <a:ea typeface="+mn-ea"/>
                        <a:cs typeface="+mn-cs"/>
                      </a:endParaRPr>
                    </a:p>
                  </a:txBody>
                  <a:tcPr marL="72582" marR="72582" marT="48388" marB="48388" anchor="ctr"/>
                </a:tc>
                <a:tc>
                  <a:txBody>
                    <a:bodyPr/>
                    <a:lstStyle/>
                    <a:p>
                      <a:pPr marL="0" marR="0" algn="l" defTabSz="457200" rtl="0" eaLnBrk="1" latinLnBrk="0" hangingPunct="1">
                        <a:lnSpc>
                          <a:spcPct val="115000"/>
                        </a:lnSpc>
                        <a:spcAft>
                          <a:spcPts val="800"/>
                        </a:spcAft>
                        <a:buNone/>
                      </a:pPr>
                      <a:r>
                        <a:rPr lang="en-US" sz="1200" b="1" kern="0" dirty="0">
                          <a:solidFill>
                            <a:schemeClr val="dk1"/>
                          </a:solidFill>
                          <a:effectLst/>
                          <a:latin typeface="Merriweather" pitchFamily="2" charset="77"/>
                        </a:rPr>
                        <a:t>Milestone: Validated population change forecasts with documented metrics.</a:t>
                      </a:r>
                      <a:endParaRPr lang="en-US" sz="1200" b="1" kern="0" dirty="0">
                        <a:solidFill>
                          <a:schemeClr val="dk1"/>
                        </a:solidFill>
                        <a:effectLst/>
                        <a:latin typeface="Merriweather" pitchFamily="2" charset="77"/>
                        <a:ea typeface="+mn-ea"/>
                        <a:cs typeface="+mn-cs"/>
                      </a:endParaRPr>
                    </a:p>
                  </a:txBody>
                  <a:tcPr marL="72582" marR="72582" marT="48388" marB="48388" anchor="ctr"/>
                </a:tc>
                <a:extLst>
                  <a:ext uri="{0D108BD9-81ED-4DB2-BD59-A6C34878D82A}">
                    <a16:rowId xmlns:a16="http://schemas.microsoft.com/office/drawing/2014/main" val="1972961095"/>
                  </a:ext>
                </a:extLst>
              </a:tr>
              <a:tr h="827334">
                <a:tc>
                  <a:txBody>
                    <a:bodyPr/>
                    <a:lstStyle/>
                    <a:p>
                      <a:pPr marL="0" marR="0" algn="l" defTabSz="457200" rtl="0" eaLnBrk="1" latinLnBrk="0" hangingPunct="1">
                        <a:lnSpc>
                          <a:spcPct val="115000"/>
                        </a:lnSpc>
                        <a:spcAft>
                          <a:spcPts val="800"/>
                        </a:spcAft>
                        <a:buNone/>
                      </a:pPr>
                      <a:r>
                        <a:rPr lang="en-US" sz="1200" b="1" kern="0" dirty="0">
                          <a:solidFill>
                            <a:schemeClr val="dk1"/>
                          </a:solidFill>
                          <a:effectLst/>
                          <a:latin typeface="Merriweather" pitchFamily="2" charset="77"/>
                        </a:rPr>
                        <a:t>III: Unsupervised Modeling</a:t>
                      </a:r>
                      <a:endParaRPr lang="en-US" sz="1200" b="1" kern="0" dirty="0">
                        <a:solidFill>
                          <a:schemeClr val="dk1"/>
                        </a:solidFill>
                        <a:effectLst/>
                        <a:latin typeface="Merriweather" pitchFamily="2" charset="77"/>
                        <a:ea typeface="+mn-ea"/>
                        <a:cs typeface="+mn-cs"/>
                      </a:endParaRPr>
                    </a:p>
                  </a:txBody>
                  <a:tcPr marL="72582" marR="72582" marT="48388" marB="48388" anchor="ctr"/>
                </a:tc>
                <a:tc>
                  <a:txBody>
                    <a:bodyPr/>
                    <a:lstStyle/>
                    <a:p>
                      <a:pPr marL="0" marR="0" algn="l" defTabSz="457200" rtl="0" eaLnBrk="1" latinLnBrk="0" hangingPunct="1">
                        <a:lnSpc>
                          <a:spcPct val="115000"/>
                        </a:lnSpc>
                        <a:spcAft>
                          <a:spcPts val="800"/>
                        </a:spcAft>
                        <a:buNone/>
                      </a:pPr>
                      <a:r>
                        <a:rPr lang="en-US" sz="1200" b="1" kern="0">
                          <a:solidFill>
                            <a:schemeClr val="dk1"/>
                          </a:solidFill>
                          <a:effectLst/>
                          <a:latin typeface="Merriweather" pitchFamily="2" charset="77"/>
                        </a:rPr>
                        <a:t>Weeks 7–9</a:t>
                      </a:r>
                      <a:endParaRPr lang="en-US" sz="1200" b="1" kern="0">
                        <a:solidFill>
                          <a:schemeClr val="dk1"/>
                        </a:solidFill>
                        <a:effectLst/>
                        <a:latin typeface="Merriweather" pitchFamily="2" charset="77"/>
                        <a:ea typeface="+mn-ea"/>
                        <a:cs typeface="+mn-cs"/>
                      </a:endParaRPr>
                    </a:p>
                  </a:txBody>
                  <a:tcPr marL="72582" marR="72582" marT="48388" marB="48388" anchor="ctr"/>
                </a:tc>
                <a:tc>
                  <a:txBody>
                    <a:bodyPr/>
                    <a:lstStyle/>
                    <a:p>
                      <a:pPr marL="0" marR="0" algn="l" defTabSz="457200" rtl="0" eaLnBrk="1" latinLnBrk="0" hangingPunct="1">
                        <a:lnSpc>
                          <a:spcPct val="115000"/>
                        </a:lnSpc>
                        <a:spcAft>
                          <a:spcPts val="800"/>
                        </a:spcAft>
                        <a:buNone/>
                      </a:pPr>
                      <a:r>
                        <a:rPr lang="en-US" sz="1200" b="1" kern="0" dirty="0">
                          <a:solidFill>
                            <a:schemeClr val="dk1"/>
                          </a:solidFill>
                          <a:effectLst/>
                          <a:latin typeface="Merriweather" pitchFamily="2" charset="77"/>
                        </a:rPr>
                        <a:t>Application of K-means/hierarchical clustering to establish municipal typologies. </a:t>
                      </a:r>
                      <a:endParaRPr lang="en-US" sz="1200" b="1" kern="0" dirty="0">
                        <a:solidFill>
                          <a:schemeClr val="dk1"/>
                        </a:solidFill>
                        <a:effectLst/>
                        <a:latin typeface="Merriweather" pitchFamily="2" charset="77"/>
                        <a:ea typeface="+mn-ea"/>
                        <a:cs typeface="+mn-cs"/>
                      </a:endParaRPr>
                    </a:p>
                  </a:txBody>
                  <a:tcPr marL="72582" marR="72582" marT="48388" marB="48388" anchor="ctr"/>
                </a:tc>
                <a:tc>
                  <a:txBody>
                    <a:bodyPr/>
                    <a:lstStyle/>
                    <a:p>
                      <a:pPr marL="0" marR="0" algn="l" defTabSz="457200" rtl="0" eaLnBrk="1" latinLnBrk="0" hangingPunct="1">
                        <a:lnSpc>
                          <a:spcPct val="115000"/>
                        </a:lnSpc>
                        <a:spcAft>
                          <a:spcPts val="800"/>
                        </a:spcAft>
                        <a:buNone/>
                      </a:pPr>
                      <a:r>
                        <a:rPr lang="en-US" sz="1200" b="1" kern="0">
                          <a:solidFill>
                            <a:schemeClr val="dk1"/>
                          </a:solidFill>
                          <a:effectLst/>
                          <a:latin typeface="Merriweather" pitchFamily="2" charset="77"/>
                        </a:rPr>
                        <a:t>Milestone: Composite Municipal Demographic Vulnerability Scores and driver rankings.</a:t>
                      </a:r>
                      <a:endParaRPr lang="en-US" sz="1200" b="1" kern="0">
                        <a:solidFill>
                          <a:schemeClr val="dk1"/>
                        </a:solidFill>
                        <a:effectLst/>
                        <a:latin typeface="Merriweather" pitchFamily="2" charset="77"/>
                        <a:ea typeface="+mn-ea"/>
                        <a:cs typeface="+mn-cs"/>
                      </a:endParaRPr>
                    </a:p>
                  </a:txBody>
                  <a:tcPr marL="72582" marR="72582" marT="48388" marB="48388" anchor="ctr"/>
                </a:tc>
                <a:extLst>
                  <a:ext uri="{0D108BD9-81ED-4DB2-BD59-A6C34878D82A}">
                    <a16:rowId xmlns:a16="http://schemas.microsoft.com/office/drawing/2014/main" val="1367157351"/>
                  </a:ext>
                </a:extLst>
              </a:tr>
              <a:tr h="1090888">
                <a:tc>
                  <a:txBody>
                    <a:bodyPr/>
                    <a:lstStyle/>
                    <a:p>
                      <a:pPr marL="0" marR="0" algn="l" defTabSz="457200" rtl="0" eaLnBrk="1" latinLnBrk="0" hangingPunct="1">
                        <a:lnSpc>
                          <a:spcPct val="115000"/>
                        </a:lnSpc>
                        <a:spcAft>
                          <a:spcPts val="800"/>
                        </a:spcAft>
                        <a:buNone/>
                      </a:pPr>
                      <a:r>
                        <a:rPr lang="en-US" sz="1200" b="1" kern="0">
                          <a:solidFill>
                            <a:schemeClr val="dk1"/>
                          </a:solidFill>
                          <a:effectLst/>
                          <a:latin typeface="Merriweather" pitchFamily="2" charset="77"/>
                        </a:rPr>
                        <a:t>IV: Synthesis &amp; Reporting</a:t>
                      </a:r>
                      <a:endParaRPr lang="en-US" sz="1200" b="1" kern="0">
                        <a:solidFill>
                          <a:schemeClr val="dk1"/>
                        </a:solidFill>
                        <a:effectLst/>
                        <a:latin typeface="Merriweather" pitchFamily="2" charset="77"/>
                        <a:ea typeface="+mn-ea"/>
                        <a:cs typeface="+mn-cs"/>
                      </a:endParaRPr>
                    </a:p>
                  </a:txBody>
                  <a:tcPr marL="72582" marR="72582" marT="48388" marB="48388" anchor="ctr"/>
                </a:tc>
                <a:tc>
                  <a:txBody>
                    <a:bodyPr/>
                    <a:lstStyle/>
                    <a:p>
                      <a:pPr marL="0" marR="0" algn="l" defTabSz="457200" rtl="0" eaLnBrk="1" latinLnBrk="0" hangingPunct="1">
                        <a:lnSpc>
                          <a:spcPct val="115000"/>
                        </a:lnSpc>
                        <a:spcAft>
                          <a:spcPts val="800"/>
                        </a:spcAft>
                        <a:buNone/>
                      </a:pPr>
                      <a:r>
                        <a:rPr lang="en-US" sz="1200" b="1" kern="0">
                          <a:solidFill>
                            <a:schemeClr val="dk1"/>
                          </a:solidFill>
                          <a:effectLst/>
                          <a:latin typeface="Merriweather" pitchFamily="2" charset="77"/>
                        </a:rPr>
                        <a:t>Weeks 10–12</a:t>
                      </a:r>
                      <a:endParaRPr lang="en-US" sz="1200" b="1" kern="0">
                        <a:solidFill>
                          <a:schemeClr val="dk1"/>
                        </a:solidFill>
                        <a:effectLst/>
                        <a:latin typeface="Merriweather" pitchFamily="2" charset="77"/>
                        <a:ea typeface="+mn-ea"/>
                        <a:cs typeface="+mn-cs"/>
                      </a:endParaRPr>
                    </a:p>
                  </a:txBody>
                  <a:tcPr marL="72582" marR="72582" marT="48388" marB="48388" anchor="ctr"/>
                </a:tc>
                <a:tc>
                  <a:txBody>
                    <a:bodyPr/>
                    <a:lstStyle/>
                    <a:p>
                      <a:pPr marL="0" marR="0" algn="l" defTabSz="457200" rtl="0" eaLnBrk="1" latinLnBrk="0" hangingPunct="1">
                        <a:lnSpc>
                          <a:spcPct val="115000"/>
                        </a:lnSpc>
                        <a:spcAft>
                          <a:spcPts val="800"/>
                        </a:spcAft>
                        <a:buNone/>
                      </a:pPr>
                      <a:r>
                        <a:rPr lang="en-US" sz="1200" b="1" kern="0" dirty="0">
                          <a:solidFill>
                            <a:schemeClr val="dk1"/>
                          </a:solidFill>
                          <a:effectLst/>
                          <a:latin typeface="Merriweather" pitchFamily="2" charset="77"/>
                        </a:rPr>
                        <a:t>Scenario simulation and development of spatial visualizations for the dashboard. Drafting of the final capstone report and presentation materials.</a:t>
                      </a:r>
                      <a:endParaRPr lang="en-US" sz="1200" b="1" kern="0" dirty="0">
                        <a:solidFill>
                          <a:schemeClr val="dk1"/>
                        </a:solidFill>
                        <a:effectLst/>
                        <a:latin typeface="Merriweather" pitchFamily="2" charset="77"/>
                        <a:ea typeface="+mn-ea"/>
                        <a:cs typeface="+mn-cs"/>
                      </a:endParaRPr>
                    </a:p>
                  </a:txBody>
                  <a:tcPr marL="72582" marR="72582" marT="48388" marB="48388" anchor="ctr"/>
                </a:tc>
                <a:tc>
                  <a:txBody>
                    <a:bodyPr/>
                    <a:lstStyle/>
                    <a:p>
                      <a:pPr marL="0" marR="0" algn="l" defTabSz="457200" rtl="0" eaLnBrk="1" latinLnBrk="0" hangingPunct="1">
                        <a:lnSpc>
                          <a:spcPct val="115000"/>
                        </a:lnSpc>
                        <a:spcAft>
                          <a:spcPts val="800"/>
                        </a:spcAft>
                        <a:buNone/>
                      </a:pPr>
                      <a:r>
                        <a:rPr lang="en-US" sz="1200" b="1" kern="0" dirty="0">
                          <a:solidFill>
                            <a:schemeClr val="dk1"/>
                          </a:solidFill>
                          <a:effectLst/>
                          <a:latin typeface="Merriweather" pitchFamily="2" charset="77"/>
                        </a:rPr>
                        <a:t>Milestone: Final submission of report, code repository, poster, and live dashboard demo.</a:t>
                      </a:r>
                      <a:endParaRPr lang="en-US" sz="1200" b="1" kern="0" dirty="0">
                        <a:solidFill>
                          <a:schemeClr val="dk1"/>
                        </a:solidFill>
                        <a:effectLst/>
                        <a:latin typeface="Merriweather" pitchFamily="2" charset="77"/>
                        <a:ea typeface="+mn-ea"/>
                        <a:cs typeface="+mn-cs"/>
                      </a:endParaRPr>
                    </a:p>
                  </a:txBody>
                  <a:tcPr marL="72582" marR="72582" marT="48388" marB="48388" anchor="ctr"/>
                </a:tc>
                <a:extLst>
                  <a:ext uri="{0D108BD9-81ED-4DB2-BD59-A6C34878D82A}">
                    <a16:rowId xmlns:a16="http://schemas.microsoft.com/office/drawing/2014/main" val="3485564295"/>
                  </a:ext>
                </a:extLst>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08">
          <a:extLst>
            <a:ext uri="{FF2B5EF4-FFF2-40B4-BE49-F238E27FC236}">
              <a16:creationId xmlns:a16="http://schemas.microsoft.com/office/drawing/2014/main" id="{71507631-EC4E-2BB8-0A9E-B79C2D08B07E}"/>
            </a:ext>
          </a:extLst>
        </p:cNvPr>
        <p:cNvGrpSpPr/>
        <p:nvPr/>
      </p:nvGrpSpPr>
      <p:grpSpPr>
        <a:xfrm>
          <a:off x="0" y="0"/>
          <a:ext cx="0" cy="0"/>
          <a:chOff x="0" y="0"/>
          <a:chExt cx="0" cy="0"/>
        </a:xfrm>
      </p:grpSpPr>
      <p:sp>
        <p:nvSpPr>
          <p:cNvPr id="121" name="Google Shape;121;p15">
            <a:extLst>
              <a:ext uri="{FF2B5EF4-FFF2-40B4-BE49-F238E27FC236}">
                <a16:creationId xmlns:a16="http://schemas.microsoft.com/office/drawing/2014/main" id="{68B3B535-048D-C9CF-CB92-97CC6687BC27}"/>
              </a:ext>
            </a:extLst>
          </p:cNvPr>
          <p:cNvSpPr txBox="1"/>
          <p:nvPr/>
        </p:nvSpPr>
        <p:spPr>
          <a:xfrm>
            <a:off x="571500" y="500062"/>
            <a:ext cx="11601450" cy="553998"/>
          </a:xfrm>
          <a:prstGeom prst="rect">
            <a:avLst/>
          </a:prstGeom>
          <a:noFill/>
          <a:ln>
            <a:noFill/>
          </a:ln>
        </p:spPr>
        <p:txBody>
          <a:bodyPr spcFirstLastPara="1" wrap="square" lIns="0" tIns="0" rIns="0" bIns="0" anchor="t" anchorCtr="0">
            <a:spAutoFit/>
          </a:bodyPr>
          <a:lstStyle/>
          <a:p>
            <a:pPr lvl="0"/>
            <a:r>
              <a:rPr lang="en-US" sz="3600" b="1" dirty="0">
                <a:latin typeface="Merriweather"/>
              </a:rPr>
              <a:t>Methodology </a:t>
            </a:r>
            <a:endParaRPr sz="3600" b="1" dirty="0">
              <a:latin typeface="Merriweather"/>
            </a:endParaRPr>
          </a:p>
        </p:txBody>
      </p:sp>
      <p:sp>
        <p:nvSpPr>
          <p:cNvPr id="122" name="Google Shape;122;p15">
            <a:extLst>
              <a:ext uri="{FF2B5EF4-FFF2-40B4-BE49-F238E27FC236}">
                <a16:creationId xmlns:a16="http://schemas.microsoft.com/office/drawing/2014/main" id="{C15D9706-E0EF-8182-5E30-B4347AD7686D}"/>
              </a:ext>
            </a:extLst>
          </p:cNvPr>
          <p:cNvSpPr/>
          <p:nvPr/>
        </p:nvSpPr>
        <p:spPr>
          <a:xfrm>
            <a:off x="571500" y="1214437"/>
            <a:ext cx="11049000" cy="28575"/>
          </a:xfrm>
          <a:prstGeom prst="rect">
            <a:avLst/>
          </a:prstGeom>
          <a:solidFill>
            <a:srgbClr val="00508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 name="TextBox 1">
            <a:extLst>
              <a:ext uri="{FF2B5EF4-FFF2-40B4-BE49-F238E27FC236}">
                <a16:creationId xmlns:a16="http://schemas.microsoft.com/office/drawing/2014/main" id="{E212188C-A8E7-6CBA-C8DB-92BA37D564E4}"/>
              </a:ext>
            </a:extLst>
          </p:cNvPr>
          <p:cNvSpPr txBox="1"/>
          <p:nvPr/>
        </p:nvSpPr>
        <p:spPr>
          <a:xfrm>
            <a:off x="472643" y="1519363"/>
            <a:ext cx="9336375" cy="5016758"/>
          </a:xfrm>
          <a:prstGeom prst="rect">
            <a:avLst/>
          </a:prstGeom>
          <a:noFill/>
        </p:spPr>
        <p:txBody>
          <a:bodyPr wrap="square">
            <a:spAutoFit/>
          </a:bodyPr>
          <a:lstStyle/>
          <a:p>
            <a:pPr marL="285750" indent="-285750">
              <a:buFont typeface="Arial" panose="020B0604020202020204" pitchFamily="34" charset="0"/>
              <a:buChar char="•"/>
            </a:pPr>
            <a:r>
              <a:rPr lang="en-US" sz="2000" b="1" dirty="0">
                <a:latin typeface="Merriweather" pitchFamily="2" charset="77"/>
              </a:rPr>
              <a:t>Phase I: Supervised Forecasting (The "Prediction")</a:t>
            </a:r>
          </a:p>
          <a:p>
            <a:pPr lvl="1" fontAlgn="base"/>
            <a:r>
              <a:rPr lang="en-US" sz="2000" b="1" dirty="0">
                <a:latin typeface="Merriweather" pitchFamily="2" charset="77"/>
              </a:rPr>
              <a:t>Objective:</a:t>
            </a:r>
            <a:r>
              <a:rPr lang="en-US" sz="2000" dirty="0">
                <a:latin typeface="Merriweather" pitchFamily="2" charset="77"/>
              </a:rPr>
              <a:t> Predict the population change for each municipality based on the variables above</a:t>
            </a:r>
          </a:p>
          <a:p>
            <a:pPr lvl="1" fontAlgn="base"/>
            <a:endParaRPr lang="en-US" sz="2000" dirty="0">
              <a:latin typeface="Merriweather" pitchFamily="2" charset="77"/>
            </a:endParaRPr>
          </a:p>
          <a:p>
            <a:pPr marL="285750" lvl="0" indent="-285750" fontAlgn="base">
              <a:buFont typeface="Arial" panose="020B0604020202020204" pitchFamily="34" charset="0"/>
              <a:buChar char="•"/>
            </a:pPr>
            <a:r>
              <a:rPr lang="en-US" sz="2000" b="1" dirty="0">
                <a:latin typeface="Merriweather" pitchFamily="2" charset="77"/>
              </a:rPr>
              <a:t>Algorithms:</a:t>
            </a:r>
            <a:endParaRPr lang="en-US" sz="2000" dirty="0">
              <a:latin typeface="Merriweather" pitchFamily="2" charset="77"/>
            </a:endParaRPr>
          </a:p>
          <a:p>
            <a:pPr marL="742950" lvl="1" indent="-285750" fontAlgn="base">
              <a:buFont typeface="Arial" panose="020B0604020202020204" pitchFamily="34" charset="0"/>
              <a:buChar char="•"/>
            </a:pPr>
            <a:r>
              <a:rPr lang="en-US" sz="2000" b="1" dirty="0">
                <a:latin typeface="Merriweather" pitchFamily="2" charset="77"/>
              </a:rPr>
              <a:t>Lasso Regression:</a:t>
            </a:r>
            <a:r>
              <a:rPr lang="en-US" sz="2000" dirty="0">
                <a:latin typeface="Merriweather" pitchFamily="2" charset="77"/>
              </a:rPr>
              <a:t> To identify which variables (e.g., Poverty vs. Age) drive the decline and filter out noise</a:t>
            </a:r>
          </a:p>
          <a:p>
            <a:pPr marL="742950" lvl="1" indent="-285750" fontAlgn="base">
              <a:buFont typeface="Arial" panose="020B0604020202020204" pitchFamily="34" charset="0"/>
              <a:buChar char="•"/>
            </a:pPr>
            <a:endParaRPr lang="en-US" sz="2000" dirty="0">
              <a:latin typeface="Merriweather" pitchFamily="2" charset="77"/>
            </a:endParaRPr>
          </a:p>
          <a:p>
            <a:pPr marL="742950" lvl="1" indent="-285750" fontAlgn="base">
              <a:buFont typeface="Arial" panose="020B0604020202020204" pitchFamily="34" charset="0"/>
              <a:buChar char="•"/>
            </a:pPr>
            <a:r>
              <a:rPr lang="en-US" sz="2000" b="1" dirty="0">
                <a:latin typeface="Merriweather" pitchFamily="2" charset="77"/>
              </a:rPr>
              <a:t>Random Forest / Gradient Boosting:</a:t>
            </a:r>
            <a:r>
              <a:rPr lang="en-US" sz="2000" dirty="0">
                <a:latin typeface="Merriweather" pitchFamily="2" charset="77"/>
              </a:rPr>
              <a:t> To capture "non-linear" events. (Example: Population doesn't drop in a straight line; it "cliffs" after a hurricane. Trees handle these cliffs better than linear regression)</a:t>
            </a:r>
            <a:br>
              <a:rPr lang="en-US" sz="2000" dirty="0">
                <a:latin typeface="Merriweather" pitchFamily="2" charset="77"/>
              </a:rPr>
            </a:br>
            <a:endParaRPr lang="en-US" sz="2000" dirty="0">
              <a:latin typeface="Merriweather" pitchFamily="2" charset="77"/>
            </a:endParaRPr>
          </a:p>
          <a:p>
            <a:pPr marL="285750" indent="-285750">
              <a:buFont typeface="Arial" panose="020B0604020202020204" pitchFamily="34" charset="0"/>
              <a:buChar char="•"/>
            </a:pPr>
            <a:r>
              <a:rPr lang="en-US" sz="2000" b="1" dirty="0">
                <a:latin typeface="Merriweather" pitchFamily="2" charset="77"/>
              </a:rPr>
              <a:t>Validation Strategy:</a:t>
            </a:r>
            <a:r>
              <a:rPr lang="en-US" sz="2000" dirty="0">
                <a:latin typeface="Merriweather" pitchFamily="2" charset="77"/>
              </a:rPr>
              <a:t> Train the model on data from </a:t>
            </a:r>
            <a:r>
              <a:rPr lang="en-US" sz="2000" b="1" dirty="0">
                <a:latin typeface="Merriweather" pitchFamily="2" charset="77"/>
              </a:rPr>
              <a:t>2010–2016</a:t>
            </a:r>
            <a:r>
              <a:rPr lang="en-US" sz="2000" dirty="0">
                <a:latin typeface="Merriweather" pitchFamily="2" charset="77"/>
              </a:rPr>
              <a:t> and test if it can accurately predict the crash in </a:t>
            </a:r>
            <a:r>
              <a:rPr lang="en-US" sz="2000" b="1" dirty="0">
                <a:latin typeface="Merriweather" pitchFamily="2" charset="77"/>
              </a:rPr>
              <a:t>2017 (Hurricane Maria)</a:t>
            </a:r>
            <a:r>
              <a:rPr lang="en-US" sz="2000" dirty="0">
                <a:latin typeface="Merriweather" pitchFamily="2" charset="77"/>
              </a:rPr>
              <a:t>. This proves the model understands "shocks"</a:t>
            </a:r>
            <a:endParaRPr lang="en-US" sz="4400" b="1" dirty="0">
              <a:solidFill>
                <a:schemeClr val="tx1">
                  <a:lumMod val="75000"/>
                  <a:lumOff val="25000"/>
                </a:schemeClr>
              </a:solidFill>
              <a:latin typeface="Merriweather" pitchFamily="2" charset="77"/>
            </a:endParaRPr>
          </a:p>
        </p:txBody>
      </p:sp>
    </p:spTree>
    <p:extLst>
      <p:ext uri="{BB962C8B-B14F-4D97-AF65-F5344CB8AC3E}">
        <p14:creationId xmlns:p14="http://schemas.microsoft.com/office/powerpoint/2010/main" val="123629363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08">
          <a:extLst>
            <a:ext uri="{FF2B5EF4-FFF2-40B4-BE49-F238E27FC236}">
              <a16:creationId xmlns:a16="http://schemas.microsoft.com/office/drawing/2014/main" id="{6AAE5B3E-124A-0E53-265B-B432CE9573A3}"/>
            </a:ext>
          </a:extLst>
        </p:cNvPr>
        <p:cNvGrpSpPr/>
        <p:nvPr/>
      </p:nvGrpSpPr>
      <p:grpSpPr>
        <a:xfrm>
          <a:off x="0" y="0"/>
          <a:ext cx="0" cy="0"/>
          <a:chOff x="0" y="0"/>
          <a:chExt cx="0" cy="0"/>
        </a:xfrm>
      </p:grpSpPr>
      <p:sp>
        <p:nvSpPr>
          <p:cNvPr id="121" name="Google Shape;121;p15">
            <a:extLst>
              <a:ext uri="{FF2B5EF4-FFF2-40B4-BE49-F238E27FC236}">
                <a16:creationId xmlns:a16="http://schemas.microsoft.com/office/drawing/2014/main" id="{6A154461-7246-4411-1A17-724F54EEB480}"/>
              </a:ext>
            </a:extLst>
          </p:cNvPr>
          <p:cNvSpPr txBox="1"/>
          <p:nvPr/>
        </p:nvSpPr>
        <p:spPr>
          <a:xfrm>
            <a:off x="571500" y="500062"/>
            <a:ext cx="11601450" cy="553998"/>
          </a:xfrm>
          <a:prstGeom prst="rect">
            <a:avLst/>
          </a:prstGeom>
          <a:noFill/>
          <a:ln>
            <a:noFill/>
          </a:ln>
        </p:spPr>
        <p:txBody>
          <a:bodyPr spcFirstLastPara="1" wrap="square" lIns="0" tIns="0" rIns="0" bIns="0" anchor="t" anchorCtr="0">
            <a:spAutoFit/>
          </a:bodyPr>
          <a:lstStyle/>
          <a:p>
            <a:pPr lvl="0"/>
            <a:r>
              <a:rPr lang="en-US" sz="3600" b="1" dirty="0">
                <a:latin typeface="Merriweather"/>
              </a:rPr>
              <a:t>Methodology (Cont.) </a:t>
            </a:r>
            <a:endParaRPr sz="3600" b="1" dirty="0">
              <a:latin typeface="Merriweather"/>
            </a:endParaRPr>
          </a:p>
        </p:txBody>
      </p:sp>
      <p:sp>
        <p:nvSpPr>
          <p:cNvPr id="122" name="Google Shape;122;p15">
            <a:extLst>
              <a:ext uri="{FF2B5EF4-FFF2-40B4-BE49-F238E27FC236}">
                <a16:creationId xmlns:a16="http://schemas.microsoft.com/office/drawing/2014/main" id="{1133CDFA-74F4-61AC-3D6A-1EC8EC724E02}"/>
              </a:ext>
            </a:extLst>
          </p:cNvPr>
          <p:cNvSpPr/>
          <p:nvPr/>
        </p:nvSpPr>
        <p:spPr>
          <a:xfrm>
            <a:off x="571500" y="1214437"/>
            <a:ext cx="11049000" cy="28575"/>
          </a:xfrm>
          <a:prstGeom prst="rect">
            <a:avLst/>
          </a:prstGeom>
          <a:solidFill>
            <a:srgbClr val="00508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 name="TextBox 1">
            <a:extLst>
              <a:ext uri="{FF2B5EF4-FFF2-40B4-BE49-F238E27FC236}">
                <a16:creationId xmlns:a16="http://schemas.microsoft.com/office/drawing/2014/main" id="{E13DB30C-D98C-0DD2-A6C5-50F382E70EA8}"/>
              </a:ext>
            </a:extLst>
          </p:cNvPr>
          <p:cNvSpPr txBox="1"/>
          <p:nvPr/>
        </p:nvSpPr>
        <p:spPr>
          <a:xfrm>
            <a:off x="472643" y="1519363"/>
            <a:ext cx="9170121" cy="4814267"/>
          </a:xfrm>
          <a:prstGeom prst="rect">
            <a:avLst/>
          </a:prstGeom>
          <a:noFill/>
        </p:spPr>
        <p:txBody>
          <a:bodyPr wrap="square">
            <a:spAutoFit/>
          </a:bodyPr>
          <a:lstStyle/>
          <a:p>
            <a:pPr marL="285750" indent="-285750">
              <a:buFont typeface="Arial" panose="020B0604020202020204" pitchFamily="34" charset="0"/>
              <a:buChar char="•"/>
            </a:pPr>
            <a:r>
              <a:rPr lang="en-US" sz="2000" b="1" dirty="0">
                <a:latin typeface="Merriweather" pitchFamily="2" charset="77"/>
              </a:rPr>
              <a:t>Phase II: Unsupervised Clustering (The "Typology")</a:t>
            </a:r>
          </a:p>
          <a:p>
            <a:pPr lvl="1"/>
            <a:r>
              <a:rPr lang="en-US" sz="2000" b="1" dirty="0">
                <a:latin typeface="Merriweather" pitchFamily="2" charset="77"/>
              </a:rPr>
              <a:t>Objective:</a:t>
            </a:r>
            <a:r>
              <a:rPr lang="en-US" sz="2000" dirty="0">
                <a:latin typeface="Merriweather" pitchFamily="2" charset="77"/>
              </a:rPr>
              <a:t> Group the 78 municipalities into "Types" based on their risk factors</a:t>
            </a:r>
          </a:p>
          <a:p>
            <a:pPr marL="285750" lvl="0" indent="-285750" fontAlgn="base">
              <a:buFont typeface="Arial" panose="020B0604020202020204" pitchFamily="34" charset="0"/>
              <a:buChar char="•"/>
            </a:pPr>
            <a:endParaRPr lang="en-US" sz="2000" dirty="0">
              <a:latin typeface="Merriweather" pitchFamily="2" charset="77"/>
            </a:endParaRPr>
          </a:p>
          <a:p>
            <a:pPr marL="285750" lvl="0" indent="-285750" fontAlgn="base">
              <a:buFont typeface="Arial" panose="020B0604020202020204" pitchFamily="34" charset="0"/>
              <a:buChar char="•"/>
            </a:pPr>
            <a:r>
              <a:rPr lang="en-US" sz="2000" b="1" dirty="0">
                <a:latin typeface="Merriweather" pitchFamily="2" charset="77"/>
              </a:rPr>
              <a:t>Algorithm:</a:t>
            </a:r>
            <a:r>
              <a:rPr lang="en-US" sz="2000" dirty="0">
                <a:latin typeface="Merriweather" pitchFamily="2" charset="77"/>
              </a:rPr>
              <a:t> </a:t>
            </a:r>
            <a:r>
              <a:rPr lang="en-US" sz="2000" b="1" dirty="0">
                <a:latin typeface="Merriweather" pitchFamily="2" charset="77"/>
              </a:rPr>
              <a:t>K-Means Clustering</a:t>
            </a:r>
            <a:r>
              <a:rPr lang="en-US" sz="2000" dirty="0">
                <a:latin typeface="Merriweather" pitchFamily="2" charset="77"/>
              </a:rPr>
              <a:t> or </a:t>
            </a:r>
            <a:r>
              <a:rPr lang="en-US" sz="2000" b="1" dirty="0">
                <a:latin typeface="Merriweather" pitchFamily="2" charset="77"/>
              </a:rPr>
              <a:t>Hierarchical Clustering</a:t>
            </a:r>
            <a:br>
              <a:rPr lang="en-US" sz="2000" dirty="0">
                <a:latin typeface="Merriweather" pitchFamily="2" charset="77"/>
              </a:rPr>
            </a:br>
            <a:endParaRPr lang="en-US" sz="2000" dirty="0">
              <a:latin typeface="Merriweather" pitchFamily="2" charset="77"/>
            </a:endParaRPr>
          </a:p>
          <a:p>
            <a:pPr marL="285750" lvl="0" indent="-285750" fontAlgn="base">
              <a:buFont typeface="Arial" panose="020B0604020202020204" pitchFamily="34" charset="0"/>
              <a:buChar char="•"/>
            </a:pPr>
            <a:r>
              <a:rPr lang="en-US" sz="2000" b="1" dirty="0">
                <a:latin typeface="Merriweather" pitchFamily="2" charset="77"/>
              </a:rPr>
              <a:t>Output:</a:t>
            </a:r>
            <a:r>
              <a:rPr lang="en-US" sz="2000" dirty="0">
                <a:latin typeface="Merriweather" pitchFamily="2" charset="77"/>
              </a:rPr>
              <a:t> Instead of just a list of 78 names, we get interpretable groups like:</a:t>
            </a:r>
          </a:p>
          <a:p>
            <a:pPr marL="742950" lvl="1" indent="-285750" fontAlgn="base">
              <a:lnSpc>
                <a:spcPct val="150000"/>
              </a:lnSpc>
              <a:buFont typeface="Arial" panose="020B0604020202020204" pitchFamily="34" charset="0"/>
              <a:buChar char="•"/>
            </a:pPr>
            <a:r>
              <a:rPr lang="en-US" sz="2000" i="1" dirty="0">
                <a:latin typeface="Merriweather" pitchFamily="2" charset="77"/>
              </a:rPr>
              <a:t>Cluster A:</a:t>
            </a:r>
            <a:r>
              <a:rPr lang="en-US" sz="2000" dirty="0">
                <a:latin typeface="Merriweather" pitchFamily="2" charset="77"/>
              </a:rPr>
              <a:t> "Resilient Urban Centers" (Stable pop, high economy)</a:t>
            </a:r>
          </a:p>
          <a:p>
            <a:pPr marL="742950" lvl="1" indent="-285750" fontAlgn="base">
              <a:lnSpc>
                <a:spcPct val="150000"/>
              </a:lnSpc>
              <a:buFont typeface="Arial" panose="020B0604020202020204" pitchFamily="34" charset="0"/>
              <a:buChar char="•"/>
            </a:pPr>
            <a:r>
              <a:rPr lang="en-US" sz="2000" i="1" dirty="0">
                <a:latin typeface="Merriweather" pitchFamily="2" charset="77"/>
              </a:rPr>
              <a:t>Cluster B:</a:t>
            </a:r>
            <a:r>
              <a:rPr lang="en-US" sz="2000" dirty="0">
                <a:latin typeface="Merriweather" pitchFamily="2" charset="77"/>
              </a:rPr>
              <a:t> "Rapidly Aging Rural" (High decline due to age, low migration)</a:t>
            </a:r>
          </a:p>
          <a:p>
            <a:pPr marL="742950" lvl="1" indent="-285750" fontAlgn="base">
              <a:lnSpc>
                <a:spcPct val="150000"/>
              </a:lnSpc>
              <a:buFont typeface="Arial" panose="020B0604020202020204" pitchFamily="34" charset="0"/>
              <a:buChar char="•"/>
            </a:pPr>
            <a:r>
              <a:rPr lang="en-US" sz="2000" i="1" dirty="0">
                <a:latin typeface="Merriweather" pitchFamily="2" charset="77"/>
              </a:rPr>
              <a:t>Cluster C:</a:t>
            </a:r>
            <a:r>
              <a:rPr lang="en-US" sz="2000" dirty="0">
                <a:latin typeface="Merriweather" pitchFamily="2" charset="77"/>
              </a:rPr>
              <a:t> "Shock-Sensitive Coastal" (Population drops only when storms hit)</a:t>
            </a:r>
          </a:p>
        </p:txBody>
      </p:sp>
    </p:spTree>
    <p:extLst>
      <p:ext uri="{BB962C8B-B14F-4D97-AF65-F5344CB8AC3E}">
        <p14:creationId xmlns:p14="http://schemas.microsoft.com/office/powerpoint/2010/main" val="70604616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08">
          <a:extLst>
            <a:ext uri="{FF2B5EF4-FFF2-40B4-BE49-F238E27FC236}">
              <a16:creationId xmlns:a16="http://schemas.microsoft.com/office/drawing/2014/main" id="{90365F6B-ACB6-96DF-6331-AF6791825B78}"/>
            </a:ext>
          </a:extLst>
        </p:cNvPr>
        <p:cNvGrpSpPr/>
        <p:nvPr/>
      </p:nvGrpSpPr>
      <p:grpSpPr>
        <a:xfrm>
          <a:off x="0" y="0"/>
          <a:ext cx="0" cy="0"/>
          <a:chOff x="0" y="0"/>
          <a:chExt cx="0" cy="0"/>
        </a:xfrm>
      </p:grpSpPr>
      <p:sp>
        <p:nvSpPr>
          <p:cNvPr id="121" name="Google Shape;121;p15">
            <a:extLst>
              <a:ext uri="{FF2B5EF4-FFF2-40B4-BE49-F238E27FC236}">
                <a16:creationId xmlns:a16="http://schemas.microsoft.com/office/drawing/2014/main" id="{B5A6A27E-58C5-3E9A-6DD2-52B58A608983}"/>
              </a:ext>
            </a:extLst>
          </p:cNvPr>
          <p:cNvSpPr txBox="1"/>
          <p:nvPr/>
        </p:nvSpPr>
        <p:spPr>
          <a:xfrm>
            <a:off x="571500" y="764076"/>
            <a:ext cx="11601450" cy="430887"/>
          </a:xfrm>
          <a:prstGeom prst="rect">
            <a:avLst/>
          </a:prstGeom>
          <a:noFill/>
          <a:ln>
            <a:noFill/>
          </a:ln>
        </p:spPr>
        <p:txBody>
          <a:bodyPr spcFirstLastPara="1" wrap="square" lIns="0" tIns="0" rIns="0" bIns="0" anchor="t" anchorCtr="0">
            <a:spAutoFit/>
          </a:bodyPr>
          <a:lstStyle/>
          <a:p>
            <a:pPr lvl="0"/>
            <a:r>
              <a:rPr lang="en-US" sz="2800" b="1" dirty="0">
                <a:latin typeface="Merriweather" pitchFamily="2" charset="77"/>
              </a:rPr>
              <a:t>Evaluation Metrics </a:t>
            </a:r>
            <a:endParaRPr sz="2800" b="1" dirty="0">
              <a:latin typeface="Merriweather" pitchFamily="2" charset="77"/>
            </a:endParaRPr>
          </a:p>
        </p:txBody>
      </p:sp>
      <p:sp>
        <p:nvSpPr>
          <p:cNvPr id="122" name="Google Shape;122;p15">
            <a:extLst>
              <a:ext uri="{FF2B5EF4-FFF2-40B4-BE49-F238E27FC236}">
                <a16:creationId xmlns:a16="http://schemas.microsoft.com/office/drawing/2014/main" id="{84854FF3-0B15-2815-6A27-99AD372C25AF}"/>
              </a:ext>
            </a:extLst>
          </p:cNvPr>
          <p:cNvSpPr/>
          <p:nvPr/>
        </p:nvSpPr>
        <p:spPr>
          <a:xfrm>
            <a:off x="571500" y="1214437"/>
            <a:ext cx="11049000" cy="28575"/>
          </a:xfrm>
          <a:prstGeom prst="rect">
            <a:avLst/>
          </a:prstGeom>
          <a:solidFill>
            <a:srgbClr val="00508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BD6AE68B-8B99-82FA-204B-F37FC1707BD3}"/>
                  </a:ext>
                </a:extLst>
              </p:cNvPr>
              <p:cNvSpPr txBox="1"/>
              <p:nvPr/>
            </p:nvSpPr>
            <p:spPr>
              <a:xfrm>
                <a:off x="472643" y="1519363"/>
                <a:ext cx="9336375" cy="5242782"/>
              </a:xfrm>
              <a:prstGeom prst="rect">
                <a:avLst/>
              </a:prstGeom>
              <a:noFill/>
            </p:spPr>
            <p:txBody>
              <a:bodyPr wrap="square">
                <a:spAutoFit/>
              </a:bodyPr>
              <a:lstStyle/>
              <a:p>
                <a:pPr marL="285750" indent="-285750">
                  <a:buFont typeface="Arial" panose="020B0604020202020204" pitchFamily="34" charset="0"/>
                  <a:buChar char="•"/>
                </a:pPr>
                <a:r>
                  <a:rPr lang="en-US" sz="1600" dirty="0">
                    <a:latin typeface="Merriweather" pitchFamily="2" charset="77"/>
                  </a:rPr>
                  <a:t>To define "Success", we will use these formulas to grade the  forecast:</a:t>
                </a:r>
              </a:p>
              <a:p>
                <a:endParaRPr lang="en-US" sz="1600" dirty="0">
                  <a:latin typeface="Merriweather" pitchFamily="2" charset="77"/>
                </a:endParaRPr>
              </a:p>
              <a:p>
                <a:pPr marL="742950" lvl="1" indent="-285750">
                  <a:buFont typeface="Arial" panose="020B0604020202020204" pitchFamily="34" charset="0"/>
                  <a:buChar char="•"/>
                </a:pPr>
                <a:r>
                  <a:rPr lang="en-US" sz="1600" b="1" dirty="0">
                    <a:latin typeface="Merriweather" pitchFamily="2" charset="77"/>
                  </a:rPr>
                  <a:t>MAE (Mean Absolute Error):</a:t>
                </a:r>
                <a:r>
                  <a:rPr lang="en-US" sz="1600" dirty="0">
                    <a:latin typeface="Merriweather" pitchFamily="2" charset="77"/>
                  </a:rPr>
                  <a:t> The average size of the mistake.</a:t>
                </a:r>
              </a:p>
              <a:p>
                <a:pPr marL="742950" lvl="1" indent="-285750">
                  <a:buFont typeface="Arial" panose="020B0604020202020204" pitchFamily="34" charset="0"/>
                  <a:buChar char="•"/>
                </a:pPr>
                <a:endParaRPr lang="en-US" sz="1600" dirty="0">
                  <a:latin typeface="Merriweather" pitchFamily="2" charset="77"/>
                </a:endParaRPr>
              </a:p>
              <a:p>
                <a:pPr lvl="1"/>
                <a14:m>
                  <m:oMathPara xmlns:m="http://schemas.openxmlformats.org/officeDocument/2006/math">
                    <m:oMathParaPr>
                      <m:jc m:val="centerGroup"/>
                    </m:oMathParaPr>
                    <m:oMath xmlns:m="http://schemas.openxmlformats.org/officeDocument/2006/math">
                      <m:r>
                        <a:rPr lang="en-US" sz="1400" i="1" smtClean="0">
                          <a:latin typeface="Cambria Math" panose="02040503050406030204" pitchFamily="18" charset="0"/>
                        </a:rPr>
                        <m:t>𝑀𝐴𝐸</m:t>
                      </m:r>
                      <m:r>
                        <a:rPr lang="en-US" sz="1400" i="1" smtClean="0">
                          <a:latin typeface="Cambria Math" panose="02040503050406030204" pitchFamily="18" charset="0"/>
                        </a:rPr>
                        <m:t>=</m:t>
                      </m:r>
                      <m:f>
                        <m:fPr>
                          <m:ctrlPr>
                            <a:rPr lang="en-US" sz="1400" i="1">
                              <a:latin typeface="Cambria Math" panose="02040503050406030204" pitchFamily="18" charset="0"/>
                            </a:rPr>
                          </m:ctrlPr>
                        </m:fPr>
                        <m:num>
                          <m:r>
                            <a:rPr lang="en-US" sz="1400" i="1">
                              <a:latin typeface="Cambria Math" panose="02040503050406030204" pitchFamily="18" charset="0"/>
                            </a:rPr>
                            <m:t>1</m:t>
                          </m:r>
                        </m:num>
                        <m:den>
                          <m:r>
                            <a:rPr lang="en-US" sz="1400" i="1">
                              <a:latin typeface="Cambria Math" panose="02040503050406030204" pitchFamily="18" charset="0"/>
                            </a:rPr>
                            <m:t>𝑛</m:t>
                          </m:r>
                        </m:den>
                      </m:f>
                      <m:nary>
                        <m:naryPr>
                          <m:chr m:val="∑"/>
                          <m:ctrlPr>
                            <a:rPr lang="en-US" sz="1400" i="1">
                              <a:latin typeface="Cambria Math" panose="02040503050406030204" pitchFamily="18" charset="0"/>
                            </a:rPr>
                          </m:ctrlPr>
                        </m:naryPr>
                        <m:sub>
                          <m:r>
                            <a:rPr lang="en-US" sz="1400" i="1">
                              <a:latin typeface="Cambria Math" panose="02040503050406030204" pitchFamily="18" charset="0"/>
                            </a:rPr>
                            <m:t>𝑖</m:t>
                          </m:r>
                          <m:r>
                            <a:rPr lang="en-US" sz="1400" i="1">
                              <a:latin typeface="Cambria Math" panose="02040503050406030204" pitchFamily="18" charset="0"/>
                            </a:rPr>
                            <m:t>=1</m:t>
                          </m:r>
                        </m:sub>
                        <m:sup>
                          <m:r>
                            <a:rPr lang="en-US" sz="1400" i="1">
                              <a:latin typeface="Cambria Math" panose="02040503050406030204" pitchFamily="18" charset="0"/>
                            </a:rPr>
                            <m:t>𝑛</m:t>
                          </m:r>
                        </m:sup>
                        <m:e>
                          <m:d>
                            <m:dPr>
                              <m:begChr m:val="|"/>
                              <m:endChr m:val="|"/>
                              <m:ctrlPr>
                                <a:rPr lang="en-US" sz="1400" i="1">
                                  <a:latin typeface="Cambria Math" panose="02040503050406030204" pitchFamily="18" charset="0"/>
                                </a:rPr>
                              </m:ctrlPr>
                            </m:dPr>
                            <m:e>
                              <m:sSub>
                                <m:sSubPr>
                                  <m:ctrlPr>
                                    <a:rPr lang="en-US" sz="1400" i="1">
                                      <a:latin typeface="Cambria Math" panose="02040503050406030204" pitchFamily="18" charset="0"/>
                                    </a:rPr>
                                  </m:ctrlPr>
                                </m:sSubPr>
                                <m:e>
                                  <m:r>
                                    <a:rPr lang="en-US" sz="1400" i="1">
                                      <a:latin typeface="Cambria Math" panose="02040503050406030204" pitchFamily="18" charset="0"/>
                                    </a:rPr>
                                    <m:t>𝑦</m:t>
                                  </m:r>
                                </m:e>
                                <m:sub>
                                  <m:r>
                                    <a:rPr lang="en-US" sz="1400" i="1">
                                      <a:latin typeface="Cambria Math" panose="02040503050406030204" pitchFamily="18" charset="0"/>
                                    </a:rPr>
                                    <m:t>𝑖</m:t>
                                  </m:r>
                                </m:sub>
                              </m:sSub>
                              <m:r>
                                <a:rPr lang="en-US" sz="1400" i="1">
                                  <a:latin typeface="Cambria Math" panose="02040503050406030204" pitchFamily="18" charset="0"/>
                                </a:rPr>
                                <m:t>−</m:t>
                              </m:r>
                              <m:acc>
                                <m:accPr>
                                  <m:chr m:val="̂"/>
                                  <m:ctrlPr>
                                    <a:rPr lang="en-US" sz="1400" i="1">
                                      <a:latin typeface="Cambria Math" panose="02040503050406030204" pitchFamily="18" charset="0"/>
                                    </a:rPr>
                                  </m:ctrlPr>
                                </m:accPr>
                                <m:e>
                                  <m:sSub>
                                    <m:sSubPr>
                                      <m:ctrlPr>
                                        <a:rPr lang="en-US" sz="1400" i="1">
                                          <a:latin typeface="Cambria Math" panose="02040503050406030204" pitchFamily="18" charset="0"/>
                                        </a:rPr>
                                      </m:ctrlPr>
                                    </m:sSubPr>
                                    <m:e>
                                      <m:r>
                                        <a:rPr lang="en-US" sz="1400" i="1">
                                          <a:latin typeface="Cambria Math" panose="02040503050406030204" pitchFamily="18" charset="0"/>
                                        </a:rPr>
                                        <m:t>𝑦</m:t>
                                      </m:r>
                                    </m:e>
                                    <m:sub>
                                      <m:r>
                                        <a:rPr lang="en-US" sz="1400" i="1">
                                          <a:latin typeface="Cambria Math" panose="02040503050406030204" pitchFamily="18" charset="0"/>
                                        </a:rPr>
                                        <m:t>𝑖</m:t>
                                      </m:r>
                                    </m:sub>
                                  </m:sSub>
                                </m:e>
                              </m:acc>
                            </m:e>
                          </m:d>
                        </m:e>
                      </m:nary>
                    </m:oMath>
                  </m:oMathPara>
                </a14:m>
                <a:endParaRPr lang="en-US" sz="1600" dirty="0">
                  <a:latin typeface="Merriweather" pitchFamily="2" charset="77"/>
                </a:endParaRPr>
              </a:p>
              <a:p>
                <a:pPr marL="742950" lvl="1" indent="-285750">
                  <a:buFont typeface="Arial" panose="020B0604020202020204" pitchFamily="34" charset="0"/>
                  <a:buChar char="•"/>
                </a:pPr>
                <a:endParaRPr lang="en-US" sz="1600" dirty="0">
                  <a:latin typeface="Merriweather" pitchFamily="2" charset="77"/>
                </a:endParaRPr>
              </a:p>
              <a:p>
                <a:pPr marL="742950" lvl="1" indent="-285750">
                  <a:buFont typeface="Arial" panose="020B0604020202020204" pitchFamily="34" charset="0"/>
                  <a:buChar char="•"/>
                </a:pPr>
                <a:endParaRPr lang="en-US" sz="1600" dirty="0">
                  <a:latin typeface="Merriweather" pitchFamily="2" charset="77"/>
                </a:endParaRPr>
              </a:p>
              <a:p>
                <a:r>
                  <a:rPr lang="en-US" sz="1600" i="1" dirty="0">
                    <a:latin typeface="Merriweather" pitchFamily="2" charset="77"/>
                  </a:rPr>
                  <a:t>		Interpretation:</a:t>
                </a:r>
                <a:r>
                  <a:rPr lang="en-US" sz="1600" dirty="0">
                    <a:latin typeface="Merriweather" pitchFamily="2" charset="77"/>
                  </a:rPr>
                  <a:t> "On average, my model is off by  </a:t>
                </a:r>
                <a14:m>
                  <m:oMath xmlns:m="http://schemas.openxmlformats.org/officeDocument/2006/math">
                    <m:r>
                      <a:rPr lang="en-US" sz="1600" i="1" smtClean="0">
                        <a:latin typeface="Cambria Math" panose="02040503050406030204" pitchFamily="18" charset="0"/>
                        <a:ea typeface="Cambria Math" panose="02040503050406030204" pitchFamily="18" charset="0"/>
                      </a:rPr>
                      <m:t>±</m:t>
                    </m:r>
                    <m:r>
                      <a:rPr lang="en-US" sz="1600" b="0" i="1" smtClean="0">
                        <a:latin typeface="Cambria Math" panose="02040503050406030204" pitchFamily="18" charset="0"/>
                        <a:ea typeface="Cambria Math" panose="02040503050406030204" pitchFamily="18" charset="0"/>
                      </a:rPr>
                      <m:t>200 </m:t>
                    </m:r>
                  </m:oMath>
                </a14:m>
                <a:r>
                  <a:rPr lang="en-US" sz="1600" dirty="0">
                    <a:latin typeface="Merriweather" pitchFamily="2" charset="77"/>
                  </a:rPr>
                  <a:t> people per town."</a:t>
                </a:r>
              </a:p>
              <a:p>
                <a:endParaRPr lang="en-US" sz="1600" b="1" dirty="0">
                  <a:latin typeface="Merriweather" pitchFamily="2" charset="77"/>
                </a:endParaRPr>
              </a:p>
              <a:p>
                <a:pPr marL="742950" lvl="1" indent="-285750">
                  <a:buFont typeface="Arial" panose="020B0604020202020204" pitchFamily="34" charset="0"/>
                  <a:buChar char="•"/>
                </a:pPr>
                <a:r>
                  <a:rPr lang="en-US" sz="1600" b="1" dirty="0">
                    <a:latin typeface="Merriweather" pitchFamily="2" charset="77"/>
                  </a:rPr>
                  <a:t>RMSE (Root Mean Squared Error):</a:t>
                </a:r>
                <a:r>
                  <a:rPr lang="en-US" sz="1600" dirty="0">
                    <a:latin typeface="Merriweather" pitchFamily="2" charset="77"/>
                  </a:rPr>
                  <a:t> Penalizes </a:t>
                </a:r>
                <a:r>
                  <a:rPr lang="en-US" sz="1600" i="1" dirty="0">
                    <a:latin typeface="Merriweather" pitchFamily="2" charset="77"/>
                  </a:rPr>
                  <a:t>large</a:t>
                </a:r>
                <a:r>
                  <a:rPr lang="en-US" sz="1600" dirty="0">
                    <a:latin typeface="Merriweather" pitchFamily="2" charset="77"/>
                  </a:rPr>
                  <a:t> mistakes more heavily.</a:t>
                </a:r>
              </a:p>
              <a:p>
                <a:endParaRPr lang="en-US" sz="1600" dirty="0">
                  <a:latin typeface="Merriweather" pitchFamily="2" charset="77"/>
                </a:endParaRPr>
              </a:p>
              <a:p>
                <a:pPr/>
                <a14:m>
                  <m:oMathPara xmlns:m="http://schemas.openxmlformats.org/officeDocument/2006/math">
                    <m:oMathParaPr>
                      <m:jc m:val="centerGroup"/>
                    </m:oMathParaPr>
                    <m:oMath xmlns:m="http://schemas.openxmlformats.org/officeDocument/2006/math">
                      <m:r>
                        <a:rPr lang="en-US" sz="1400" b="1" i="1" smtClean="0">
                          <a:solidFill>
                            <a:schemeClr val="tx1">
                              <a:lumMod val="75000"/>
                              <a:lumOff val="25000"/>
                            </a:schemeClr>
                          </a:solidFill>
                          <a:latin typeface="Cambria Math" panose="02040503050406030204" pitchFamily="18" charset="0"/>
                        </a:rPr>
                        <m:t>𝑹𝑴𝑺𝑬</m:t>
                      </m:r>
                      <m:r>
                        <a:rPr lang="en-US" sz="1400" b="1" i="1" smtClean="0">
                          <a:solidFill>
                            <a:schemeClr val="tx1">
                              <a:lumMod val="75000"/>
                              <a:lumOff val="25000"/>
                            </a:schemeClr>
                          </a:solidFill>
                          <a:latin typeface="Cambria Math" panose="02040503050406030204" pitchFamily="18" charset="0"/>
                        </a:rPr>
                        <m:t>=</m:t>
                      </m:r>
                      <m:rad>
                        <m:radPr>
                          <m:degHide m:val="on"/>
                          <m:ctrlPr>
                            <a:rPr lang="en-US" sz="1400" b="1" i="1">
                              <a:solidFill>
                                <a:schemeClr val="tx1">
                                  <a:lumMod val="75000"/>
                                  <a:lumOff val="25000"/>
                                </a:schemeClr>
                              </a:solidFill>
                              <a:latin typeface="Cambria Math" panose="02040503050406030204" pitchFamily="18" charset="0"/>
                            </a:rPr>
                          </m:ctrlPr>
                        </m:radPr>
                        <m:deg/>
                        <m:e>
                          <m:f>
                            <m:fPr>
                              <m:ctrlPr>
                                <a:rPr lang="en-US" sz="1400" b="1" i="1">
                                  <a:solidFill>
                                    <a:schemeClr val="tx1">
                                      <a:lumMod val="75000"/>
                                      <a:lumOff val="25000"/>
                                    </a:schemeClr>
                                  </a:solidFill>
                                  <a:latin typeface="Cambria Math" panose="02040503050406030204" pitchFamily="18" charset="0"/>
                                </a:rPr>
                              </m:ctrlPr>
                            </m:fPr>
                            <m:num>
                              <m:r>
                                <a:rPr lang="en-US" sz="1400" b="1" i="1">
                                  <a:solidFill>
                                    <a:schemeClr val="tx1">
                                      <a:lumMod val="75000"/>
                                      <a:lumOff val="25000"/>
                                    </a:schemeClr>
                                  </a:solidFill>
                                  <a:latin typeface="Cambria Math" panose="02040503050406030204" pitchFamily="18" charset="0"/>
                                </a:rPr>
                                <m:t>𝟏</m:t>
                              </m:r>
                            </m:num>
                            <m:den>
                              <m:r>
                                <a:rPr lang="en-US" sz="1400" b="1" i="1">
                                  <a:solidFill>
                                    <a:schemeClr val="tx1">
                                      <a:lumMod val="75000"/>
                                      <a:lumOff val="25000"/>
                                    </a:schemeClr>
                                  </a:solidFill>
                                  <a:latin typeface="Cambria Math" panose="02040503050406030204" pitchFamily="18" charset="0"/>
                                </a:rPr>
                                <m:t>𝒏</m:t>
                              </m:r>
                            </m:den>
                          </m:f>
                          <m:nary>
                            <m:naryPr>
                              <m:chr m:val="∑"/>
                              <m:ctrlPr>
                                <a:rPr lang="en-US" sz="1400" b="1" i="1">
                                  <a:solidFill>
                                    <a:schemeClr val="tx1">
                                      <a:lumMod val="75000"/>
                                      <a:lumOff val="25000"/>
                                    </a:schemeClr>
                                  </a:solidFill>
                                  <a:latin typeface="Cambria Math" panose="02040503050406030204" pitchFamily="18" charset="0"/>
                                </a:rPr>
                              </m:ctrlPr>
                            </m:naryPr>
                            <m:sub>
                              <m:r>
                                <a:rPr lang="en-US" sz="1400" b="1" i="1">
                                  <a:solidFill>
                                    <a:schemeClr val="tx1">
                                      <a:lumMod val="75000"/>
                                      <a:lumOff val="25000"/>
                                    </a:schemeClr>
                                  </a:solidFill>
                                  <a:latin typeface="Cambria Math" panose="02040503050406030204" pitchFamily="18" charset="0"/>
                                </a:rPr>
                                <m:t>𝒊</m:t>
                              </m:r>
                              <m:r>
                                <a:rPr lang="en-US" sz="1400" b="1" i="1">
                                  <a:solidFill>
                                    <a:schemeClr val="tx1">
                                      <a:lumMod val="75000"/>
                                      <a:lumOff val="25000"/>
                                    </a:schemeClr>
                                  </a:solidFill>
                                  <a:latin typeface="Cambria Math" panose="02040503050406030204" pitchFamily="18" charset="0"/>
                                </a:rPr>
                                <m:t>=</m:t>
                              </m:r>
                              <m:r>
                                <a:rPr lang="en-US" sz="1400" b="1" i="1">
                                  <a:solidFill>
                                    <a:schemeClr val="tx1">
                                      <a:lumMod val="75000"/>
                                      <a:lumOff val="25000"/>
                                    </a:schemeClr>
                                  </a:solidFill>
                                  <a:latin typeface="Cambria Math" panose="02040503050406030204" pitchFamily="18" charset="0"/>
                                </a:rPr>
                                <m:t>𝟏</m:t>
                              </m:r>
                            </m:sub>
                            <m:sup>
                              <m:r>
                                <a:rPr lang="en-US" sz="1400" b="1" i="1">
                                  <a:solidFill>
                                    <a:schemeClr val="tx1">
                                      <a:lumMod val="75000"/>
                                      <a:lumOff val="25000"/>
                                    </a:schemeClr>
                                  </a:solidFill>
                                  <a:latin typeface="Cambria Math" panose="02040503050406030204" pitchFamily="18" charset="0"/>
                                </a:rPr>
                                <m:t>𝒏</m:t>
                              </m:r>
                            </m:sup>
                            <m:e>
                              <m:sSup>
                                <m:sSupPr>
                                  <m:ctrlPr>
                                    <a:rPr lang="en-US" sz="1400" b="1" i="1">
                                      <a:solidFill>
                                        <a:schemeClr val="tx1">
                                          <a:lumMod val="75000"/>
                                          <a:lumOff val="25000"/>
                                        </a:schemeClr>
                                      </a:solidFill>
                                      <a:latin typeface="Cambria Math" panose="02040503050406030204" pitchFamily="18" charset="0"/>
                                    </a:rPr>
                                  </m:ctrlPr>
                                </m:sSupPr>
                                <m:e>
                                  <m:d>
                                    <m:dPr>
                                      <m:ctrlPr>
                                        <a:rPr lang="en-US" sz="1400" b="1" i="1">
                                          <a:solidFill>
                                            <a:schemeClr val="tx1">
                                              <a:lumMod val="75000"/>
                                              <a:lumOff val="25000"/>
                                            </a:schemeClr>
                                          </a:solidFill>
                                          <a:latin typeface="Cambria Math" panose="02040503050406030204" pitchFamily="18" charset="0"/>
                                        </a:rPr>
                                      </m:ctrlPr>
                                    </m:dPr>
                                    <m:e>
                                      <m:sSub>
                                        <m:sSubPr>
                                          <m:ctrlPr>
                                            <a:rPr lang="en-US" sz="1400" b="1" i="1">
                                              <a:solidFill>
                                                <a:schemeClr val="tx1">
                                                  <a:lumMod val="75000"/>
                                                  <a:lumOff val="25000"/>
                                                </a:schemeClr>
                                              </a:solidFill>
                                              <a:latin typeface="Cambria Math" panose="02040503050406030204" pitchFamily="18" charset="0"/>
                                            </a:rPr>
                                          </m:ctrlPr>
                                        </m:sSubPr>
                                        <m:e>
                                          <m:r>
                                            <a:rPr lang="en-US" sz="1400" b="1" i="1">
                                              <a:solidFill>
                                                <a:schemeClr val="tx1">
                                                  <a:lumMod val="75000"/>
                                                  <a:lumOff val="25000"/>
                                                </a:schemeClr>
                                              </a:solidFill>
                                              <a:latin typeface="Cambria Math" panose="02040503050406030204" pitchFamily="18" charset="0"/>
                                            </a:rPr>
                                            <m:t>𝒚</m:t>
                                          </m:r>
                                        </m:e>
                                        <m:sub>
                                          <m:r>
                                            <a:rPr lang="en-US" sz="1400" b="1" i="1">
                                              <a:solidFill>
                                                <a:schemeClr val="tx1">
                                                  <a:lumMod val="75000"/>
                                                  <a:lumOff val="25000"/>
                                                </a:schemeClr>
                                              </a:solidFill>
                                              <a:latin typeface="Cambria Math" panose="02040503050406030204" pitchFamily="18" charset="0"/>
                                            </a:rPr>
                                            <m:t>𝒊</m:t>
                                          </m:r>
                                        </m:sub>
                                      </m:sSub>
                                      <m:r>
                                        <a:rPr lang="en-US" sz="1400" b="1" i="1">
                                          <a:solidFill>
                                            <a:schemeClr val="tx1">
                                              <a:lumMod val="75000"/>
                                              <a:lumOff val="25000"/>
                                            </a:schemeClr>
                                          </a:solidFill>
                                          <a:latin typeface="Cambria Math" panose="02040503050406030204" pitchFamily="18" charset="0"/>
                                        </a:rPr>
                                        <m:t>−</m:t>
                                      </m:r>
                                      <m:acc>
                                        <m:accPr>
                                          <m:chr m:val="̂"/>
                                          <m:ctrlPr>
                                            <a:rPr lang="en-US" sz="1400" b="1" i="1">
                                              <a:solidFill>
                                                <a:schemeClr val="tx1">
                                                  <a:lumMod val="75000"/>
                                                  <a:lumOff val="25000"/>
                                                </a:schemeClr>
                                              </a:solidFill>
                                              <a:latin typeface="Cambria Math" panose="02040503050406030204" pitchFamily="18" charset="0"/>
                                            </a:rPr>
                                          </m:ctrlPr>
                                        </m:accPr>
                                        <m:e>
                                          <m:sSub>
                                            <m:sSubPr>
                                              <m:ctrlPr>
                                                <a:rPr lang="en-US" sz="1400" b="1" i="1">
                                                  <a:solidFill>
                                                    <a:schemeClr val="tx1">
                                                      <a:lumMod val="75000"/>
                                                      <a:lumOff val="25000"/>
                                                    </a:schemeClr>
                                                  </a:solidFill>
                                                  <a:latin typeface="Cambria Math" panose="02040503050406030204" pitchFamily="18" charset="0"/>
                                                </a:rPr>
                                              </m:ctrlPr>
                                            </m:sSubPr>
                                            <m:e>
                                              <m:r>
                                                <a:rPr lang="en-US" sz="1400" b="1" i="1">
                                                  <a:solidFill>
                                                    <a:schemeClr val="tx1">
                                                      <a:lumMod val="75000"/>
                                                      <a:lumOff val="25000"/>
                                                    </a:schemeClr>
                                                  </a:solidFill>
                                                  <a:latin typeface="Cambria Math" panose="02040503050406030204" pitchFamily="18" charset="0"/>
                                                </a:rPr>
                                                <m:t>𝒚</m:t>
                                              </m:r>
                                            </m:e>
                                            <m:sub>
                                              <m:r>
                                                <a:rPr lang="en-US" sz="1400" b="1" i="1">
                                                  <a:solidFill>
                                                    <a:schemeClr val="tx1">
                                                      <a:lumMod val="75000"/>
                                                      <a:lumOff val="25000"/>
                                                    </a:schemeClr>
                                                  </a:solidFill>
                                                  <a:latin typeface="Cambria Math" panose="02040503050406030204" pitchFamily="18" charset="0"/>
                                                </a:rPr>
                                                <m:t>𝒊</m:t>
                                              </m:r>
                                            </m:sub>
                                          </m:sSub>
                                        </m:e>
                                      </m:acc>
                                    </m:e>
                                  </m:d>
                                </m:e>
                                <m:sup>
                                  <m:r>
                                    <a:rPr lang="en-US" sz="1400" b="1" i="1">
                                      <a:solidFill>
                                        <a:schemeClr val="tx1">
                                          <a:lumMod val="75000"/>
                                          <a:lumOff val="25000"/>
                                        </a:schemeClr>
                                      </a:solidFill>
                                      <a:latin typeface="Cambria Math" panose="02040503050406030204" pitchFamily="18" charset="0"/>
                                    </a:rPr>
                                    <m:t>𝟐</m:t>
                                  </m:r>
                                </m:sup>
                              </m:sSup>
                            </m:e>
                          </m:nary>
                        </m:e>
                      </m:rad>
                    </m:oMath>
                  </m:oMathPara>
                </a14:m>
                <a:endParaRPr lang="en-US" b="1" dirty="0">
                  <a:solidFill>
                    <a:schemeClr val="tx1">
                      <a:lumMod val="75000"/>
                      <a:lumOff val="25000"/>
                    </a:schemeClr>
                  </a:solidFill>
                  <a:latin typeface="Merriweather" pitchFamily="2" charset="77"/>
                </a:endParaRPr>
              </a:p>
              <a:p>
                <a:endParaRPr lang="en-US" b="1" dirty="0">
                  <a:solidFill>
                    <a:schemeClr val="tx1">
                      <a:lumMod val="75000"/>
                      <a:lumOff val="25000"/>
                    </a:schemeClr>
                  </a:solidFill>
                  <a:latin typeface="Merriweather" pitchFamily="2" charset="77"/>
                </a:endParaRPr>
              </a:p>
              <a:p>
                <a:r>
                  <a:rPr lang="en-US" sz="1600" i="1" dirty="0">
                    <a:latin typeface="Merriweather" pitchFamily="2" charset="77"/>
                  </a:rPr>
                  <a:t>		</a:t>
                </a:r>
              </a:p>
              <a:p>
                <a:r>
                  <a:rPr lang="en-US" sz="1600" i="1" dirty="0">
                    <a:latin typeface="Merriweather" pitchFamily="2" charset="77"/>
                  </a:rPr>
                  <a:t>		Interpretation:</a:t>
                </a:r>
                <a:r>
                  <a:rPr lang="en-US" sz="1600" dirty="0">
                    <a:latin typeface="Merriweather" pitchFamily="2" charset="77"/>
                  </a:rPr>
                  <a:t> If our RMSE is much higher than your MAE, it means our model is failing specifically on the extreme cases (likely the Hurricane Maria years). This is a great diagnostic tool.</a:t>
                </a:r>
                <a:endParaRPr lang="en-US" sz="1600" b="1" dirty="0">
                  <a:solidFill>
                    <a:schemeClr val="tx1">
                      <a:lumMod val="75000"/>
                      <a:lumOff val="25000"/>
                    </a:schemeClr>
                  </a:solidFill>
                  <a:latin typeface="Merriweather" pitchFamily="2" charset="77"/>
                </a:endParaRPr>
              </a:p>
            </p:txBody>
          </p:sp>
        </mc:Choice>
        <mc:Fallback xmlns="">
          <p:sp>
            <p:nvSpPr>
              <p:cNvPr id="2" name="TextBox 1">
                <a:extLst>
                  <a:ext uri="{FF2B5EF4-FFF2-40B4-BE49-F238E27FC236}">
                    <a16:creationId xmlns:a16="http://schemas.microsoft.com/office/drawing/2014/main" id="{CA8C55C5-5517-9766-E34B-469866D9E598}"/>
                  </a:ext>
                </a:extLst>
              </p:cNvPr>
              <p:cNvSpPr txBox="1">
                <a:spLocks noRot="1" noChangeAspect="1" noMove="1" noResize="1" noEditPoints="1" noAdjustHandles="1" noChangeArrowheads="1" noChangeShapeType="1" noTextEdit="1"/>
              </p:cNvSpPr>
              <p:nvPr/>
            </p:nvSpPr>
            <p:spPr>
              <a:xfrm>
                <a:off x="472643" y="1519363"/>
                <a:ext cx="9336375" cy="5242782"/>
              </a:xfrm>
              <a:prstGeom prst="rect">
                <a:avLst/>
              </a:prstGeom>
              <a:blipFill>
                <a:blip r:embed="rId3"/>
                <a:stretch>
                  <a:fillRect l="-408" t="-242" b="-242"/>
                </a:stretch>
              </a:blipFill>
            </p:spPr>
            <p:txBody>
              <a:bodyPr/>
              <a:lstStyle/>
              <a:p>
                <a:r>
                  <a:rPr lang="en-US">
                    <a:noFill/>
                  </a:rPr>
                  <a:t> </a:t>
                </a:r>
              </a:p>
            </p:txBody>
          </p:sp>
        </mc:Fallback>
      </mc:AlternateContent>
    </p:spTree>
    <p:extLst>
      <p:ext uri="{BB962C8B-B14F-4D97-AF65-F5344CB8AC3E}">
        <p14:creationId xmlns:p14="http://schemas.microsoft.com/office/powerpoint/2010/main" val="95505141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53"/>
        <p:cNvGrpSpPr/>
        <p:nvPr/>
      </p:nvGrpSpPr>
      <p:grpSpPr>
        <a:xfrm>
          <a:off x="0" y="0"/>
          <a:ext cx="0" cy="0"/>
          <a:chOff x="0" y="0"/>
          <a:chExt cx="0" cy="0"/>
        </a:xfrm>
      </p:grpSpPr>
      <p:sp>
        <p:nvSpPr>
          <p:cNvPr id="158" name="Google Shape;158;p17"/>
          <p:cNvSpPr txBox="1"/>
          <p:nvPr/>
        </p:nvSpPr>
        <p:spPr>
          <a:xfrm>
            <a:off x="846083" y="4681869"/>
            <a:ext cx="5449614" cy="369332"/>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1" i="0" u="none" strike="noStrike" cap="none" dirty="0">
                <a:latin typeface="Merriweather" pitchFamily="2" charset="77"/>
                <a:ea typeface="DM Sans"/>
                <a:cs typeface="DM Sans"/>
                <a:sym typeface="DM Sans"/>
              </a:rPr>
              <a:t>Result: A living platform that can be refreshed instantly</a:t>
            </a:r>
            <a:endParaRPr dirty="0">
              <a:latin typeface="Merriweather" pitchFamily="2" charset="77"/>
            </a:endParaRPr>
          </a:p>
        </p:txBody>
      </p:sp>
      <p:sp>
        <p:nvSpPr>
          <p:cNvPr id="161" name="Google Shape;161;p17"/>
          <p:cNvSpPr txBox="1"/>
          <p:nvPr/>
        </p:nvSpPr>
        <p:spPr>
          <a:xfrm>
            <a:off x="571500" y="1573771"/>
            <a:ext cx="5377355" cy="2462213"/>
          </a:xfrm>
          <a:prstGeom prst="rect">
            <a:avLst/>
          </a:prstGeom>
          <a:noFill/>
          <a:ln>
            <a:noFill/>
          </a:ln>
        </p:spPr>
        <p:txBody>
          <a:bodyPr spcFirstLastPara="1" wrap="square" lIns="66675" tIns="0" rIns="0" bIns="0" anchor="t" anchorCtr="0">
            <a:spAutoFit/>
          </a:bodyPr>
          <a:lstStyle/>
          <a:p>
            <a:pPr marL="285750" marR="0" lvl="0" indent="-285750" algn="l" rtl="0">
              <a:lnSpc>
                <a:spcPct val="200000"/>
              </a:lnSpc>
              <a:spcBef>
                <a:spcPts val="0"/>
              </a:spcBef>
              <a:spcAft>
                <a:spcPts val="0"/>
              </a:spcAft>
              <a:buFont typeface="Arial" panose="020B0604020202020204" pitchFamily="34" charset="0"/>
              <a:buChar char="•"/>
            </a:pPr>
            <a:r>
              <a:rPr lang="en-US" sz="1600" b="1" i="0" u="none" strike="noStrike" cap="none" dirty="0">
                <a:solidFill>
                  <a:srgbClr val="334155"/>
                </a:solidFill>
                <a:latin typeface="Merriweather" pitchFamily="2" charset="77"/>
                <a:ea typeface="DM Sans"/>
                <a:cs typeface="DM Sans"/>
                <a:sym typeface="DM Sans"/>
              </a:rPr>
              <a:t>Extract:</a:t>
            </a:r>
            <a:r>
              <a:rPr lang="en-US" sz="1600" b="0" i="0" u="none" strike="noStrike" cap="none" dirty="0">
                <a:solidFill>
                  <a:srgbClr val="334155"/>
                </a:solidFill>
                <a:latin typeface="Merriweather" pitchFamily="2" charset="77"/>
                <a:ea typeface="DM Sans"/>
                <a:cs typeface="DM Sans"/>
                <a:sym typeface="DM Sans"/>
              </a:rPr>
              <a:t> Scripts fetch JSON/CSV from Census APIs</a:t>
            </a:r>
          </a:p>
          <a:p>
            <a:pPr marL="285750" indent="-285750">
              <a:lnSpc>
                <a:spcPct val="200000"/>
              </a:lnSpc>
              <a:buFont typeface="Arial" panose="020B0604020202020204" pitchFamily="34" charset="0"/>
              <a:buChar char="•"/>
            </a:pPr>
            <a:r>
              <a:rPr lang="en-US" sz="1600" b="1" dirty="0">
                <a:solidFill>
                  <a:srgbClr val="334155"/>
                </a:solidFill>
                <a:latin typeface="Merriweather" pitchFamily="2" charset="77"/>
                <a:ea typeface="DM Sans"/>
                <a:cs typeface="DM Sans"/>
                <a:sym typeface="DM Sans"/>
              </a:rPr>
              <a:t>Transform:</a:t>
            </a:r>
            <a:r>
              <a:rPr lang="en-US" sz="1600" dirty="0">
                <a:solidFill>
                  <a:srgbClr val="334155"/>
                </a:solidFill>
                <a:latin typeface="Merriweather" pitchFamily="2" charset="77"/>
                <a:ea typeface="DM Sans"/>
                <a:cs typeface="DM Sans"/>
                <a:sym typeface="DM Sans"/>
              </a:rPr>
              <a:t> Pandas normalizes column names and handles missing values</a:t>
            </a:r>
          </a:p>
          <a:p>
            <a:pPr marL="285750" indent="-285750">
              <a:lnSpc>
                <a:spcPct val="200000"/>
              </a:lnSpc>
              <a:buFont typeface="Arial" panose="020B0604020202020204" pitchFamily="34" charset="0"/>
              <a:buChar char="•"/>
            </a:pPr>
            <a:r>
              <a:rPr lang="en-US" sz="1600" b="1" dirty="0">
                <a:solidFill>
                  <a:srgbClr val="334155"/>
                </a:solidFill>
                <a:latin typeface="Merriweather" pitchFamily="2" charset="77"/>
                <a:ea typeface="DM Sans"/>
                <a:cs typeface="DM Sans"/>
                <a:sym typeface="DM Sans"/>
              </a:rPr>
              <a:t>Load:</a:t>
            </a:r>
            <a:r>
              <a:rPr lang="en-US" sz="1600" dirty="0">
                <a:solidFill>
                  <a:srgbClr val="334155"/>
                </a:solidFill>
                <a:latin typeface="Merriweather" pitchFamily="2" charset="77"/>
                <a:ea typeface="DM Sans"/>
                <a:cs typeface="DM Sans"/>
                <a:sym typeface="DM Sans"/>
              </a:rPr>
              <a:t> Data is exported to standardized JSON files for the web</a:t>
            </a:r>
            <a:endParaRPr lang="en-US" sz="1600" dirty="0">
              <a:latin typeface="Merriweather" pitchFamily="2" charset="77"/>
            </a:endParaRPr>
          </a:p>
        </p:txBody>
      </p:sp>
      <p:pic>
        <p:nvPicPr>
          <p:cNvPr id="3" name="Picture 2" descr="A diagram of a software flow&#10;&#10;AI-generated content may be incorrect.">
            <a:extLst>
              <a:ext uri="{FF2B5EF4-FFF2-40B4-BE49-F238E27FC236}">
                <a16:creationId xmlns:a16="http://schemas.microsoft.com/office/drawing/2014/main" id="{8296C527-041B-E186-EE2C-88643D1FD619}"/>
              </a:ext>
            </a:extLst>
          </p:cNvPr>
          <p:cNvPicPr>
            <a:picLocks noChangeAspect="1"/>
          </p:cNvPicPr>
          <p:nvPr/>
        </p:nvPicPr>
        <p:blipFill>
          <a:blip r:embed="rId3"/>
          <a:stretch>
            <a:fillRect/>
          </a:stretch>
        </p:blipFill>
        <p:spPr>
          <a:xfrm>
            <a:off x="6295696" y="1225082"/>
            <a:ext cx="3485801" cy="5632918"/>
          </a:xfrm>
          <a:prstGeom prst="rect">
            <a:avLst/>
          </a:prstGeom>
        </p:spPr>
      </p:pic>
      <p:sp>
        <p:nvSpPr>
          <p:cNvPr id="2" name="Google Shape;179;p18">
            <a:extLst>
              <a:ext uri="{FF2B5EF4-FFF2-40B4-BE49-F238E27FC236}">
                <a16:creationId xmlns:a16="http://schemas.microsoft.com/office/drawing/2014/main" id="{08118FF3-0A62-C53B-487F-40729536117A}"/>
              </a:ext>
            </a:extLst>
          </p:cNvPr>
          <p:cNvSpPr txBox="1"/>
          <p:nvPr/>
        </p:nvSpPr>
        <p:spPr>
          <a:xfrm>
            <a:off x="571500" y="571500"/>
            <a:ext cx="11601450" cy="553998"/>
          </a:xfrm>
          <a:prstGeom prst="rect">
            <a:avLst/>
          </a:prstGeom>
          <a:noFill/>
          <a:ln>
            <a:noFill/>
          </a:ln>
        </p:spPr>
        <p:txBody>
          <a:bodyPr spcFirstLastPara="1" wrap="square" lIns="0" tIns="0" rIns="0" bIns="0" anchor="t" anchorCtr="0">
            <a:spAutoFit/>
          </a:bodyPr>
          <a:lstStyle/>
          <a:p>
            <a:pPr lvl="0"/>
            <a:r>
              <a:rPr lang="en-US" sz="3600" b="1" dirty="0">
                <a:latin typeface="Merriweather" pitchFamily="2" charset="77"/>
                <a:ea typeface="Merriweather"/>
                <a:cs typeface="Merriweather"/>
                <a:sym typeface="Merriweather"/>
              </a:rPr>
              <a:t>Reproducible ETL Pipeline</a:t>
            </a:r>
            <a:endParaRPr lang="en-US" sz="3600" dirty="0">
              <a:latin typeface="Merriweather" pitchFamily="2" charset="77"/>
            </a:endParaRPr>
          </a:p>
        </p:txBody>
      </p:sp>
      <p:sp>
        <p:nvSpPr>
          <p:cNvPr id="4" name="Google Shape;180;p18">
            <a:extLst>
              <a:ext uri="{FF2B5EF4-FFF2-40B4-BE49-F238E27FC236}">
                <a16:creationId xmlns:a16="http://schemas.microsoft.com/office/drawing/2014/main" id="{8A9F53D4-0DA6-93D8-963F-E269A2C4F71B}"/>
              </a:ext>
            </a:extLst>
          </p:cNvPr>
          <p:cNvSpPr/>
          <p:nvPr/>
        </p:nvSpPr>
        <p:spPr>
          <a:xfrm>
            <a:off x="571500" y="1285875"/>
            <a:ext cx="11049000" cy="28575"/>
          </a:xfrm>
          <a:prstGeom prst="rect">
            <a:avLst/>
          </a:prstGeom>
          <a:solidFill>
            <a:srgbClr val="00508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Merriweather" pitchFamily="2" charset="77"/>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25"/>
        <p:cNvGrpSpPr/>
        <p:nvPr/>
      </p:nvGrpSpPr>
      <p:grpSpPr>
        <a:xfrm>
          <a:off x="0" y="0"/>
          <a:ext cx="0" cy="0"/>
          <a:chOff x="0" y="0"/>
          <a:chExt cx="0" cy="0"/>
        </a:xfrm>
      </p:grpSpPr>
      <p:sp>
        <p:nvSpPr>
          <p:cNvPr id="227" name="Google Shape;227;p22"/>
          <p:cNvSpPr txBox="1"/>
          <p:nvPr/>
        </p:nvSpPr>
        <p:spPr>
          <a:xfrm>
            <a:off x="930415" y="2232719"/>
            <a:ext cx="9001125" cy="71437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3600" b="1" dirty="0">
                <a:latin typeface="Merriweather"/>
                <a:sym typeface="Merriweather"/>
              </a:rPr>
              <a:t>Evidence-Based</a:t>
            </a:r>
            <a:r>
              <a:rPr lang="en-US" sz="4500" b="1" i="0" u="none" strike="noStrike" cap="none" dirty="0">
                <a:latin typeface="Merriweather"/>
                <a:ea typeface="Merriweather"/>
                <a:cs typeface="Merriweather"/>
                <a:sym typeface="Merriweather"/>
              </a:rPr>
              <a:t> </a:t>
            </a:r>
            <a:r>
              <a:rPr lang="en-US" sz="3600" b="1" dirty="0">
                <a:latin typeface="Merriweather"/>
                <a:sym typeface="Merriweather"/>
              </a:rPr>
              <a:t>Resilience</a:t>
            </a:r>
            <a:endParaRPr sz="3600" b="1" dirty="0">
              <a:latin typeface="Merriweather"/>
            </a:endParaRPr>
          </a:p>
        </p:txBody>
      </p:sp>
      <p:sp>
        <p:nvSpPr>
          <p:cNvPr id="228" name="Google Shape;228;p22"/>
          <p:cNvSpPr txBox="1"/>
          <p:nvPr/>
        </p:nvSpPr>
        <p:spPr>
          <a:xfrm>
            <a:off x="1144728" y="3137594"/>
            <a:ext cx="8572500" cy="1329595"/>
          </a:xfrm>
          <a:prstGeom prst="rect">
            <a:avLst/>
          </a:prstGeom>
          <a:noFill/>
          <a:ln>
            <a:noFill/>
          </a:ln>
        </p:spPr>
        <p:txBody>
          <a:bodyPr spcFirstLastPara="1" wrap="square" lIns="0" tIns="0" rIns="0" bIns="0" anchor="t" anchorCtr="0">
            <a:spAutoFit/>
          </a:bodyPr>
          <a:lstStyle/>
          <a:p>
            <a:pPr marL="0" marR="0" lvl="0" indent="0" algn="ctr" rtl="0">
              <a:lnSpc>
                <a:spcPct val="159944"/>
              </a:lnSpc>
              <a:spcBef>
                <a:spcPts val="0"/>
              </a:spcBef>
              <a:spcAft>
                <a:spcPts val="0"/>
              </a:spcAft>
              <a:buNone/>
            </a:pPr>
            <a:r>
              <a:rPr lang="en-US" sz="1800" b="0" i="0" u="none" strike="noStrike" cap="none" dirty="0">
                <a:latin typeface="Merriweather" pitchFamily="2" charset="77"/>
                <a:ea typeface="DM Sans"/>
                <a:cs typeface="DM Sans"/>
                <a:sym typeface="DM Sans"/>
              </a:rPr>
              <a:t>Ultimately, this project wil</a:t>
            </a:r>
            <a:r>
              <a:rPr lang="en-US" dirty="0">
                <a:latin typeface="Merriweather" pitchFamily="2" charset="77"/>
                <a:ea typeface="DM Sans"/>
                <a:cs typeface="DM Sans"/>
                <a:sym typeface="DM Sans"/>
              </a:rPr>
              <a:t>l </a:t>
            </a:r>
            <a:r>
              <a:rPr lang="en-US" sz="1800" b="0" i="0" u="none" strike="noStrike" cap="none" dirty="0">
                <a:latin typeface="Merriweather" pitchFamily="2" charset="77"/>
                <a:ea typeface="DM Sans"/>
                <a:cs typeface="DM Sans"/>
                <a:sym typeface="DM Sans"/>
              </a:rPr>
              <a:t>serve as more than a technical demonstration; it is a foundational step toward empowering stakeholders with the data needed to navigate Puerto Rico's complex future</a:t>
            </a:r>
            <a:r>
              <a:rPr lang="en-US" dirty="0">
                <a:latin typeface="Merriweather" pitchFamily="2" charset="77"/>
                <a:ea typeface="DM Sans"/>
                <a:cs typeface="DM Sans"/>
                <a:sym typeface="DM Sans"/>
              </a:rPr>
              <a:t>!</a:t>
            </a:r>
            <a:endParaRPr dirty="0">
              <a:latin typeface="Merriweather" pitchFamily="2" charset="77"/>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33"/>
        <p:cNvGrpSpPr/>
        <p:nvPr/>
      </p:nvGrpSpPr>
      <p:grpSpPr>
        <a:xfrm>
          <a:off x="0" y="0"/>
          <a:ext cx="0" cy="0"/>
          <a:chOff x="0" y="0"/>
          <a:chExt cx="0" cy="0"/>
        </a:xfrm>
      </p:grpSpPr>
      <p:sp>
        <p:nvSpPr>
          <p:cNvPr id="250" name="Google Shape;250;p23"/>
          <p:cNvSpPr txBox="1"/>
          <p:nvPr/>
        </p:nvSpPr>
        <p:spPr>
          <a:xfrm>
            <a:off x="571500" y="571500"/>
            <a:ext cx="11601450" cy="55399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600" b="1" dirty="0">
                <a:latin typeface="Merriweather"/>
                <a:ea typeface="Merriweather"/>
                <a:cs typeface="Merriweather"/>
                <a:sym typeface="Merriweather"/>
              </a:rPr>
              <a:t>Res</a:t>
            </a:r>
            <a:r>
              <a:rPr lang="en-US" sz="3600" b="1" i="0" u="none" strike="noStrike" cap="none" dirty="0">
                <a:latin typeface="Merriweather"/>
                <a:ea typeface="Merriweather"/>
                <a:cs typeface="Merriweather"/>
                <a:sym typeface="Merriweather"/>
              </a:rPr>
              <a:t>ources</a:t>
            </a:r>
            <a:endParaRPr dirty="0"/>
          </a:p>
        </p:txBody>
      </p:sp>
      <p:sp>
        <p:nvSpPr>
          <p:cNvPr id="251" name="Google Shape;251;p23"/>
          <p:cNvSpPr/>
          <p:nvPr/>
        </p:nvSpPr>
        <p:spPr>
          <a:xfrm>
            <a:off x="571500" y="1285875"/>
            <a:ext cx="11049000" cy="28575"/>
          </a:xfrm>
          <a:prstGeom prst="rect">
            <a:avLst/>
          </a:prstGeom>
          <a:solidFill>
            <a:srgbClr val="00508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5" name="TextBox 4">
            <a:extLst>
              <a:ext uri="{FF2B5EF4-FFF2-40B4-BE49-F238E27FC236}">
                <a16:creationId xmlns:a16="http://schemas.microsoft.com/office/drawing/2014/main" id="{0FB95E58-2EAE-363C-3896-66B07A8ADE29}"/>
              </a:ext>
            </a:extLst>
          </p:cNvPr>
          <p:cNvSpPr txBox="1"/>
          <p:nvPr/>
        </p:nvSpPr>
        <p:spPr>
          <a:xfrm>
            <a:off x="359466" y="1474827"/>
            <a:ext cx="9433891" cy="5139869"/>
          </a:xfrm>
          <a:prstGeom prst="rect">
            <a:avLst/>
          </a:prstGeom>
          <a:noFill/>
        </p:spPr>
        <p:txBody>
          <a:bodyPr wrap="square">
            <a:spAutoFit/>
          </a:bodyPr>
          <a:lstStyle/>
          <a:p>
            <a:pPr marL="342900" marR="0" lvl="0" indent="-342900">
              <a:buFont typeface="Arial" panose="020B0604020202020204" pitchFamily="34" charset="0"/>
              <a:buChar char="•"/>
              <a:tabLst>
                <a:tab pos="457200" algn="l"/>
              </a:tabLst>
            </a:pPr>
            <a:r>
              <a:rPr lang="en-US" sz="1600" dirty="0">
                <a:effectLst/>
                <a:latin typeface="Merriweather" pitchFamily="2" charset="77"/>
                <a:ea typeface="Times New Roman" panose="02020603050405020304" pitchFamily="18" charset="0"/>
              </a:rPr>
              <a:t>U.S. Census Bureau. </a:t>
            </a:r>
            <a:r>
              <a:rPr lang="en-US" sz="1600" i="1" dirty="0">
                <a:effectLst/>
                <a:latin typeface="Merriweather" pitchFamily="2" charset="77"/>
                <a:ea typeface="Times New Roman" panose="02020603050405020304" pitchFamily="18" charset="0"/>
              </a:rPr>
              <a:t>American Community Survey (ACS) 1-Year and 5-Year Estimates: Population, Income, Housing, Labor Force, and Education Tables for Puerto Rico Municipalities.</a:t>
            </a:r>
            <a:r>
              <a:rPr lang="en-US" sz="1600" dirty="0">
                <a:effectLst/>
                <a:latin typeface="Merriweather" pitchFamily="2" charset="77"/>
                <a:ea typeface="Times New Roman" panose="02020603050405020304" pitchFamily="18" charset="0"/>
              </a:rPr>
              <a:t> U.S. Department of Commerce, 2010–2023. Available at: </a:t>
            </a:r>
            <a:r>
              <a:rPr lang="en-US" sz="1600" u="sng" dirty="0">
                <a:solidFill>
                  <a:srgbClr val="0000FF"/>
                </a:solidFill>
                <a:effectLst/>
                <a:latin typeface="Merriweather" pitchFamily="2" charset="77"/>
                <a:ea typeface="Times New Roman" panose="02020603050405020304" pitchFamily="18" charset="0"/>
                <a:hlinkClick r:id="rId3"/>
              </a:rPr>
              <a:t>https://data.census.gov</a:t>
            </a:r>
            <a:endParaRPr lang="en-US" sz="1600" u="sng" dirty="0">
              <a:solidFill>
                <a:srgbClr val="0000FF"/>
              </a:solidFill>
              <a:effectLst/>
              <a:latin typeface="Merriweather" pitchFamily="2" charset="77"/>
              <a:ea typeface="Times New Roman" panose="02020603050405020304" pitchFamily="18" charset="0"/>
            </a:endParaRPr>
          </a:p>
          <a:p>
            <a:pPr marL="342900" marR="0" lvl="0" indent="-342900">
              <a:buFont typeface="Arial" panose="020B0604020202020204" pitchFamily="34" charset="0"/>
              <a:buChar char="•"/>
              <a:tabLst>
                <a:tab pos="457200" algn="l"/>
              </a:tabLst>
            </a:pPr>
            <a:endParaRPr lang="en-US" sz="1600" dirty="0">
              <a:effectLst/>
              <a:latin typeface="Merriweather" pitchFamily="2" charset="77"/>
              <a:ea typeface="Times New Roman" panose="02020603050405020304" pitchFamily="18" charset="0"/>
            </a:endParaRPr>
          </a:p>
          <a:p>
            <a:pPr marL="342900" marR="0" lvl="0" indent="-342900">
              <a:buFont typeface="Arial" panose="020B0604020202020204" pitchFamily="34" charset="0"/>
              <a:buChar char="•"/>
              <a:tabLst>
                <a:tab pos="457200" algn="l"/>
              </a:tabLst>
            </a:pPr>
            <a:r>
              <a:rPr lang="en-US" sz="1600" dirty="0">
                <a:effectLst/>
                <a:latin typeface="Merriweather" pitchFamily="2" charset="77"/>
                <a:ea typeface="Times New Roman" panose="02020603050405020304" pitchFamily="18" charset="0"/>
              </a:rPr>
              <a:t>U.S. Census Bureau. </a:t>
            </a:r>
            <a:r>
              <a:rPr lang="en-US" sz="1600" i="1" dirty="0">
                <a:effectLst/>
                <a:latin typeface="Merriweather" pitchFamily="2" charset="77"/>
                <a:ea typeface="Times New Roman" panose="02020603050405020304" pitchFamily="18" charset="0"/>
              </a:rPr>
              <a:t>Population Estimates Program (PEP): Puerto Rico Municipal Population Estimates, Vintage 2024.</a:t>
            </a:r>
            <a:r>
              <a:rPr lang="en-US" sz="1600" dirty="0">
                <a:effectLst/>
                <a:latin typeface="Merriweather" pitchFamily="2" charset="77"/>
                <a:ea typeface="Times New Roman" panose="02020603050405020304" pitchFamily="18" charset="0"/>
              </a:rPr>
              <a:t> U.S. Department of Commerce. Available at: </a:t>
            </a:r>
            <a:r>
              <a:rPr lang="en-US" sz="1600" u="sng" dirty="0">
                <a:solidFill>
                  <a:srgbClr val="0000FF"/>
                </a:solidFill>
                <a:effectLst/>
                <a:latin typeface="Merriweather" pitchFamily="2" charset="77"/>
                <a:ea typeface="Times New Roman" panose="02020603050405020304" pitchFamily="18" charset="0"/>
                <a:hlinkClick r:id="rId4"/>
              </a:rPr>
              <a:t>https://www.census.gov/programs-surveys/popest.html</a:t>
            </a:r>
            <a:endParaRPr lang="en-US" sz="1600" u="sng" dirty="0">
              <a:solidFill>
                <a:srgbClr val="0000FF"/>
              </a:solidFill>
              <a:effectLst/>
              <a:latin typeface="Merriweather" pitchFamily="2" charset="77"/>
              <a:ea typeface="Times New Roman" panose="02020603050405020304" pitchFamily="18" charset="0"/>
            </a:endParaRPr>
          </a:p>
          <a:p>
            <a:pPr marL="342900" marR="0" lvl="0" indent="-342900">
              <a:buFont typeface="Arial" panose="020B0604020202020204" pitchFamily="34" charset="0"/>
              <a:buChar char="•"/>
              <a:tabLst>
                <a:tab pos="457200" algn="l"/>
              </a:tabLst>
            </a:pPr>
            <a:endParaRPr lang="en-US" sz="1600" dirty="0">
              <a:effectLst/>
              <a:latin typeface="Merriweather" pitchFamily="2" charset="77"/>
              <a:ea typeface="Times New Roman" panose="02020603050405020304" pitchFamily="18" charset="0"/>
            </a:endParaRPr>
          </a:p>
          <a:p>
            <a:pPr marL="342900" marR="0" lvl="0" indent="-342900">
              <a:buFont typeface="Arial" panose="020B0604020202020204" pitchFamily="34" charset="0"/>
              <a:buChar char="•"/>
              <a:tabLst>
                <a:tab pos="457200" algn="l"/>
              </a:tabLst>
            </a:pPr>
            <a:r>
              <a:rPr lang="en-US" sz="1600" dirty="0">
                <a:effectLst/>
                <a:latin typeface="Merriweather" pitchFamily="2" charset="77"/>
                <a:ea typeface="Times New Roman" panose="02020603050405020304" pitchFamily="18" charset="0"/>
              </a:rPr>
              <a:t>U.S. Census Bureau. </a:t>
            </a:r>
            <a:r>
              <a:rPr lang="en-US" sz="1600" i="1" dirty="0">
                <a:effectLst/>
                <a:latin typeface="Merriweather" pitchFamily="2" charset="77"/>
                <a:ea typeface="Times New Roman" panose="02020603050405020304" pitchFamily="18" charset="0"/>
              </a:rPr>
              <a:t>County Business Patterns (CBP) and Related Economic Statistics for Puerto Rico, 2010–2022/2023.</a:t>
            </a:r>
            <a:r>
              <a:rPr lang="en-US" sz="1600" dirty="0">
                <a:effectLst/>
                <a:latin typeface="Merriweather" pitchFamily="2" charset="77"/>
                <a:ea typeface="Times New Roman" panose="02020603050405020304" pitchFamily="18" charset="0"/>
              </a:rPr>
              <a:t> Available at: </a:t>
            </a:r>
            <a:r>
              <a:rPr lang="en-US" sz="1600" u="sng" dirty="0">
                <a:solidFill>
                  <a:srgbClr val="0000FF"/>
                </a:solidFill>
                <a:effectLst/>
                <a:latin typeface="Merriweather" pitchFamily="2" charset="77"/>
                <a:ea typeface="Times New Roman" panose="02020603050405020304" pitchFamily="18" charset="0"/>
                <a:hlinkClick r:id="rId5"/>
              </a:rPr>
              <a:t>https://www.census.gov/programs-surveys/cbp.html</a:t>
            </a:r>
            <a:endParaRPr lang="en-US" sz="1600" u="sng" dirty="0">
              <a:solidFill>
                <a:srgbClr val="0000FF"/>
              </a:solidFill>
              <a:effectLst/>
              <a:latin typeface="Merriweather" pitchFamily="2" charset="77"/>
              <a:ea typeface="Times New Roman" panose="02020603050405020304" pitchFamily="18" charset="0"/>
            </a:endParaRPr>
          </a:p>
          <a:p>
            <a:pPr marL="342900" marR="0" lvl="0" indent="-342900">
              <a:buFont typeface="Arial" panose="020B0604020202020204" pitchFamily="34" charset="0"/>
              <a:buChar char="•"/>
              <a:tabLst>
                <a:tab pos="457200" algn="l"/>
              </a:tabLst>
            </a:pPr>
            <a:endParaRPr lang="en-US" sz="1600" dirty="0">
              <a:effectLst/>
              <a:latin typeface="Merriweather" pitchFamily="2" charset="77"/>
              <a:ea typeface="Times New Roman" panose="02020603050405020304" pitchFamily="18" charset="0"/>
            </a:endParaRPr>
          </a:p>
          <a:p>
            <a:pPr marL="342900" marR="0" lvl="0" indent="-342900">
              <a:buFont typeface="Arial" panose="020B0604020202020204" pitchFamily="34" charset="0"/>
              <a:buChar char="•"/>
              <a:tabLst>
                <a:tab pos="457200" algn="l"/>
              </a:tabLst>
            </a:pPr>
            <a:r>
              <a:rPr lang="en-US" sz="1600" dirty="0">
                <a:effectLst/>
                <a:latin typeface="Merriweather" pitchFamily="2" charset="77"/>
                <a:ea typeface="Times New Roman" panose="02020603050405020304" pitchFamily="18" charset="0"/>
              </a:rPr>
              <a:t>NOAA National Hurricane Center. </a:t>
            </a:r>
            <a:r>
              <a:rPr lang="en-US" sz="1600" i="1" dirty="0">
                <a:effectLst/>
                <a:latin typeface="Merriweather" pitchFamily="2" charset="77"/>
                <a:ea typeface="Times New Roman" panose="02020603050405020304" pitchFamily="18" charset="0"/>
              </a:rPr>
              <a:t>HURDAT2 Atlantic Hurricane Database, 1851–2024.</a:t>
            </a:r>
            <a:r>
              <a:rPr lang="en-US" sz="1600" dirty="0">
                <a:effectLst/>
                <a:latin typeface="Merriweather" pitchFamily="2" charset="77"/>
                <a:ea typeface="Times New Roman" panose="02020603050405020304" pitchFamily="18" charset="0"/>
              </a:rPr>
              <a:t> National Oceanic and Atmospheric Administration. Available at: </a:t>
            </a:r>
            <a:r>
              <a:rPr lang="en-US" sz="1600" u="sng" dirty="0">
                <a:solidFill>
                  <a:srgbClr val="0000FF"/>
                </a:solidFill>
                <a:effectLst/>
                <a:latin typeface="Merriweather" pitchFamily="2" charset="77"/>
                <a:ea typeface="Times New Roman" panose="02020603050405020304" pitchFamily="18" charset="0"/>
                <a:hlinkClick r:id="rId6"/>
              </a:rPr>
              <a:t>https://www.nhc.noaa.gov/data/</a:t>
            </a:r>
            <a:endParaRPr lang="en-US" sz="1600" u="sng" dirty="0">
              <a:solidFill>
                <a:srgbClr val="0000FF"/>
              </a:solidFill>
              <a:effectLst/>
              <a:latin typeface="Merriweather" pitchFamily="2" charset="77"/>
              <a:ea typeface="Times New Roman" panose="02020603050405020304" pitchFamily="18" charset="0"/>
            </a:endParaRPr>
          </a:p>
          <a:p>
            <a:pPr marL="342900" marR="0" lvl="0" indent="-342900">
              <a:buFont typeface="Arial" panose="020B0604020202020204" pitchFamily="34" charset="0"/>
              <a:buChar char="•"/>
              <a:tabLst>
                <a:tab pos="457200" algn="l"/>
              </a:tabLst>
            </a:pPr>
            <a:endParaRPr lang="en-US" sz="1600" dirty="0">
              <a:effectLst/>
              <a:latin typeface="Merriweather" pitchFamily="2" charset="77"/>
              <a:ea typeface="Times New Roman" panose="02020603050405020304" pitchFamily="18" charset="0"/>
            </a:endParaRPr>
          </a:p>
          <a:p>
            <a:pPr marL="342900" marR="0" lvl="0" indent="-342900">
              <a:buFont typeface="Arial" panose="020B0604020202020204" pitchFamily="34" charset="0"/>
              <a:buChar char="•"/>
              <a:tabLst>
                <a:tab pos="457200" algn="l"/>
              </a:tabLst>
            </a:pPr>
            <a:r>
              <a:rPr lang="en-US" sz="1600" dirty="0">
                <a:effectLst/>
                <a:latin typeface="Merriweather" pitchFamily="2" charset="77"/>
                <a:ea typeface="Times New Roman" panose="02020603050405020304" pitchFamily="18" charset="0"/>
              </a:rPr>
              <a:t>USGS (United States Geological Survey). </a:t>
            </a:r>
            <a:r>
              <a:rPr lang="en-US" sz="1600" i="1" dirty="0">
                <a:effectLst/>
                <a:latin typeface="Merriweather" pitchFamily="2" charset="77"/>
                <a:ea typeface="Times New Roman" panose="02020603050405020304" pitchFamily="18" charset="0"/>
              </a:rPr>
              <a:t>Earthquake Catalog for Puerto Rico and the Caribbean Region.</a:t>
            </a:r>
            <a:r>
              <a:rPr lang="en-US" sz="1600" dirty="0">
                <a:effectLst/>
                <a:latin typeface="Merriweather" pitchFamily="2" charset="77"/>
                <a:ea typeface="Times New Roman" panose="02020603050405020304" pitchFamily="18" charset="0"/>
              </a:rPr>
              <a:t> U.S. Department of the Interior. Available at: </a:t>
            </a:r>
            <a:r>
              <a:rPr lang="en-US" sz="1600" u="sng" dirty="0">
                <a:solidFill>
                  <a:srgbClr val="0000FF"/>
                </a:solidFill>
                <a:effectLst/>
                <a:latin typeface="Merriweather" pitchFamily="2" charset="77"/>
                <a:ea typeface="Times New Roman" panose="02020603050405020304" pitchFamily="18" charset="0"/>
                <a:hlinkClick r:id="rId7"/>
              </a:rPr>
              <a:t>https://earthquake.usgs.gov/earthquakes/search/</a:t>
            </a:r>
            <a:endParaRPr lang="en-US" sz="1600" dirty="0">
              <a:effectLst/>
              <a:latin typeface="Merriweather" pitchFamily="2" charset="77"/>
              <a:ea typeface="Times New Roman" panose="02020603050405020304" pitchFamily="18"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33">
          <a:extLst>
            <a:ext uri="{FF2B5EF4-FFF2-40B4-BE49-F238E27FC236}">
              <a16:creationId xmlns:a16="http://schemas.microsoft.com/office/drawing/2014/main" id="{AC756361-480D-0353-5015-F80BB27970C7}"/>
            </a:ext>
          </a:extLst>
        </p:cNvPr>
        <p:cNvGrpSpPr/>
        <p:nvPr/>
      </p:nvGrpSpPr>
      <p:grpSpPr>
        <a:xfrm>
          <a:off x="0" y="0"/>
          <a:ext cx="0" cy="0"/>
          <a:chOff x="0" y="0"/>
          <a:chExt cx="0" cy="0"/>
        </a:xfrm>
      </p:grpSpPr>
      <p:sp>
        <p:nvSpPr>
          <p:cNvPr id="250" name="Google Shape;250;p23">
            <a:extLst>
              <a:ext uri="{FF2B5EF4-FFF2-40B4-BE49-F238E27FC236}">
                <a16:creationId xmlns:a16="http://schemas.microsoft.com/office/drawing/2014/main" id="{610CE911-60A4-33B0-DF5A-C994FC86E0EA}"/>
              </a:ext>
            </a:extLst>
          </p:cNvPr>
          <p:cNvSpPr txBox="1"/>
          <p:nvPr/>
        </p:nvSpPr>
        <p:spPr>
          <a:xfrm>
            <a:off x="0" y="2875002"/>
            <a:ext cx="12192000" cy="553998"/>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3600" b="1" dirty="0">
                <a:latin typeface="Merriweather"/>
                <a:ea typeface="Merriweather"/>
                <a:cs typeface="Merriweather"/>
                <a:sym typeface="Merriweather"/>
              </a:rPr>
              <a:t>Backup Slides</a:t>
            </a:r>
            <a:endParaRPr dirty="0"/>
          </a:p>
        </p:txBody>
      </p:sp>
    </p:spTree>
    <p:extLst>
      <p:ext uri="{BB962C8B-B14F-4D97-AF65-F5344CB8AC3E}">
        <p14:creationId xmlns:p14="http://schemas.microsoft.com/office/powerpoint/2010/main" val="399246781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08">
          <a:extLst>
            <a:ext uri="{FF2B5EF4-FFF2-40B4-BE49-F238E27FC236}">
              <a16:creationId xmlns:a16="http://schemas.microsoft.com/office/drawing/2014/main" id="{AD5AB897-1974-2EFF-538D-4903935420B4}"/>
            </a:ext>
          </a:extLst>
        </p:cNvPr>
        <p:cNvGrpSpPr/>
        <p:nvPr/>
      </p:nvGrpSpPr>
      <p:grpSpPr>
        <a:xfrm>
          <a:off x="0" y="0"/>
          <a:ext cx="0" cy="0"/>
          <a:chOff x="0" y="0"/>
          <a:chExt cx="0" cy="0"/>
        </a:xfrm>
      </p:grpSpPr>
      <p:sp>
        <p:nvSpPr>
          <p:cNvPr id="121" name="Google Shape;121;p15">
            <a:extLst>
              <a:ext uri="{FF2B5EF4-FFF2-40B4-BE49-F238E27FC236}">
                <a16:creationId xmlns:a16="http://schemas.microsoft.com/office/drawing/2014/main" id="{0413897F-0458-EB29-B12F-B1F119CC2D2E}"/>
              </a:ext>
            </a:extLst>
          </p:cNvPr>
          <p:cNvSpPr txBox="1"/>
          <p:nvPr/>
        </p:nvSpPr>
        <p:spPr>
          <a:xfrm>
            <a:off x="571500" y="500062"/>
            <a:ext cx="11601450" cy="553998"/>
          </a:xfrm>
          <a:prstGeom prst="rect">
            <a:avLst/>
          </a:prstGeom>
          <a:noFill/>
          <a:ln>
            <a:noFill/>
          </a:ln>
        </p:spPr>
        <p:txBody>
          <a:bodyPr spcFirstLastPara="1" wrap="square" lIns="0" tIns="0" rIns="0" bIns="0" anchor="t" anchorCtr="0">
            <a:spAutoFit/>
          </a:bodyPr>
          <a:lstStyle/>
          <a:p>
            <a:pPr lvl="0"/>
            <a:r>
              <a:rPr lang="en-US" sz="3600" b="1" dirty="0">
                <a:latin typeface="Merriweather"/>
              </a:rPr>
              <a:t>Data Structure (The Input Vector) </a:t>
            </a:r>
            <a:endParaRPr sz="3600" b="1" dirty="0">
              <a:latin typeface="Merriweather"/>
            </a:endParaRPr>
          </a:p>
        </p:txBody>
      </p:sp>
      <p:sp>
        <p:nvSpPr>
          <p:cNvPr id="122" name="Google Shape;122;p15">
            <a:extLst>
              <a:ext uri="{FF2B5EF4-FFF2-40B4-BE49-F238E27FC236}">
                <a16:creationId xmlns:a16="http://schemas.microsoft.com/office/drawing/2014/main" id="{991B08BF-AC67-B480-D6CC-4F6BE253D6C5}"/>
              </a:ext>
            </a:extLst>
          </p:cNvPr>
          <p:cNvSpPr/>
          <p:nvPr/>
        </p:nvSpPr>
        <p:spPr>
          <a:xfrm>
            <a:off x="571500" y="1214437"/>
            <a:ext cx="11049000" cy="28575"/>
          </a:xfrm>
          <a:prstGeom prst="rect">
            <a:avLst/>
          </a:prstGeom>
          <a:solidFill>
            <a:srgbClr val="00508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388D4477-5AA5-0731-D8FE-47D12D442B93}"/>
                  </a:ext>
                </a:extLst>
              </p:cNvPr>
              <p:cNvSpPr txBox="1"/>
              <p:nvPr/>
            </p:nvSpPr>
            <p:spPr>
              <a:xfrm>
                <a:off x="472643" y="1519363"/>
                <a:ext cx="9336375" cy="4926092"/>
              </a:xfrm>
              <a:prstGeom prst="rect">
                <a:avLst/>
              </a:prstGeom>
              <a:noFill/>
            </p:spPr>
            <p:txBody>
              <a:bodyPr wrap="square">
                <a:spAutoFit/>
              </a:bodyPr>
              <a:lstStyle/>
              <a:p>
                <a:pPr marL="285750" indent="-285750">
                  <a:buFont typeface="Arial" panose="020B0604020202020204" pitchFamily="34" charset="0"/>
                  <a:buChar char="•"/>
                </a:pPr>
                <a:r>
                  <a:rPr lang="en-US" sz="2400" dirty="0">
                    <a:latin typeface="Merriweather" pitchFamily="2" charset="77"/>
                  </a:rPr>
                  <a:t>Input Vector:</a:t>
                </a:r>
              </a:p>
              <a:p>
                <a:pPr marL="285750" indent="-285750">
                  <a:buFont typeface="Arial" panose="020B0604020202020204" pitchFamily="34" charset="0"/>
                  <a:buChar char="•"/>
                </a:pPr>
                <a:endParaRPr lang="en-US" sz="2400" dirty="0">
                  <a:latin typeface="Merriweather" pitchFamily="2" charset="77"/>
                </a:endParaRPr>
              </a:p>
              <a:p>
                <a:pPr lvl="1"/>
                <a:r>
                  <a:rPr lang="en-US" sz="2400" dirty="0">
                    <a:latin typeface="Merriweather" pitchFamily="2" charset="77"/>
                  </a:rPr>
                  <a:t>For a specific Municipality </a:t>
                </a:r>
                <a:r>
                  <a:rPr lang="en-US" sz="2000" i="1" dirty="0">
                    <a:latin typeface="Merriweather" pitchFamily="2" charset="77"/>
                  </a:rPr>
                  <a:t>m</a:t>
                </a:r>
                <a:r>
                  <a:rPr lang="en-US" sz="2400" dirty="0">
                    <a:latin typeface="Merriweather" pitchFamily="2" charset="77"/>
                  </a:rPr>
                  <a:t> at a specific Year </a:t>
                </a:r>
                <a:r>
                  <a:rPr lang="en-US" sz="2000" i="1" dirty="0">
                    <a:latin typeface="Merriweather" pitchFamily="2" charset="77"/>
                  </a:rPr>
                  <a:t>t</a:t>
                </a:r>
                <a:r>
                  <a:rPr lang="en-US" sz="2400" dirty="0">
                    <a:latin typeface="Merriweather" pitchFamily="2" charset="77"/>
                  </a:rPr>
                  <a:t>, the data point </a:t>
                </a:r>
                <a14:m>
                  <m:oMath xmlns:m="http://schemas.openxmlformats.org/officeDocument/2006/math">
                    <m:sSub>
                      <m:sSubPr>
                        <m:ctrlPr>
                          <a:rPr lang="en-US" sz="2400" i="1" smtClean="0">
                            <a:latin typeface="Cambria Math" panose="02040503050406030204" pitchFamily="18" charset="0"/>
                          </a:rPr>
                        </m:ctrlPr>
                      </m:sSubPr>
                      <m:e>
                        <m:r>
                          <a:rPr lang="en-US" sz="2400" b="0" i="1" smtClean="0">
                            <a:latin typeface="Cambria Math" panose="02040503050406030204" pitchFamily="18" charset="0"/>
                          </a:rPr>
                          <m:t>𝑋</m:t>
                        </m:r>
                      </m:e>
                      <m:sub>
                        <m:r>
                          <a:rPr lang="en-US" sz="2400" b="0" i="1" smtClean="0">
                            <a:latin typeface="Cambria Math" panose="02040503050406030204" pitchFamily="18" charset="0"/>
                          </a:rPr>
                          <m:t>𝑚</m:t>
                        </m:r>
                        <m:r>
                          <a:rPr lang="en-US" sz="2400" b="0" i="1" smtClean="0">
                            <a:latin typeface="Cambria Math" panose="02040503050406030204" pitchFamily="18" charset="0"/>
                          </a:rPr>
                          <m:t>,</m:t>
                        </m:r>
                        <m:r>
                          <a:rPr lang="en-US" sz="2400" b="0" i="1" smtClean="0">
                            <a:latin typeface="Cambria Math" panose="02040503050406030204" pitchFamily="18" charset="0"/>
                          </a:rPr>
                          <m:t>𝑡</m:t>
                        </m:r>
                      </m:sub>
                    </m:sSub>
                  </m:oMath>
                </a14:m>
                <a:r>
                  <a:rPr lang="en-US" sz="2400" dirty="0">
                    <a:latin typeface="Merriweather" pitchFamily="2" charset="77"/>
                  </a:rPr>
                  <a:t> is a vector containing all predictors:</a:t>
                </a:r>
              </a:p>
              <a:p>
                <a:pPr marL="742950" lvl="1" indent="-285750">
                  <a:buFont typeface="Arial" panose="020B0604020202020204" pitchFamily="34" charset="0"/>
                  <a:buChar char="•"/>
                </a:pPr>
                <a:endParaRPr lang="en-US" sz="2400" dirty="0">
                  <a:latin typeface="Merriweather" pitchFamily="2" charset="77"/>
                </a:endParaRPr>
              </a:p>
              <a:p>
                <a:pPr lvl="1"/>
                <a:r>
                  <a:rPr lang="en-US" dirty="0">
                    <a:latin typeface="Merriweather" pitchFamily="2" charset="77"/>
                  </a:rPr>
                  <a:t>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𝑋</m:t>
                        </m:r>
                      </m:e>
                      <m:sub>
                        <m:r>
                          <a:rPr lang="en-US" i="1">
                            <a:latin typeface="Cambria Math" panose="02040503050406030204" pitchFamily="18" charset="0"/>
                          </a:rPr>
                          <m:t>𝑚</m:t>
                        </m:r>
                        <m:r>
                          <a:rPr lang="en-US" i="1">
                            <a:latin typeface="Cambria Math" panose="02040503050406030204" pitchFamily="18" charset="0"/>
                          </a:rPr>
                          <m:t>,</m:t>
                        </m:r>
                        <m:r>
                          <a:rPr lang="en-US" i="1">
                            <a:latin typeface="Cambria Math" panose="02040503050406030204" pitchFamily="18" charset="0"/>
                          </a:rPr>
                          <m:t>𝑡</m:t>
                        </m:r>
                      </m:sub>
                    </m:sSub>
                    <m:r>
                      <a:rPr lang="en-US" i="1">
                        <a:latin typeface="Cambria Math" panose="02040503050406030204" pitchFamily="18" charset="0"/>
                      </a:rPr>
                      <m:t>=</m:t>
                    </m:r>
                    <m:d>
                      <m:dPr>
                        <m:begChr m:val="["/>
                        <m:endChr m:val="]"/>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𝐷</m:t>
                            </m:r>
                          </m:e>
                          <m:sub>
                            <m:r>
                              <a:rPr lang="en-US" i="1">
                                <a:latin typeface="Cambria Math" panose="02040503050406030204" pitchFamily="18" charset="0"/>
                              </a:rPr>
                              <m:t>𝑏𝑖𝑟𝑡h</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𝐷</m:t>
                            </m:r>
                          </m:e>
                          <m:sub>
                            <m:r>
                              <a:rPr lang="en-US" i="1">
                                <a:latin typeface="Cambria Math" panose="02040503050406030204" pitchFamily="18" charset="0"/>
                              </a:rPr>
                              <m:t>𝑎𝑔𝑒</m:t>
                            </m:r>
                            <m:r>
                              <a:rPr lang="en-US" i="1">
                                <a:latin typeface="Cambria Math" panose="02040503050406030204" pitchFamily="18" charset="0"/>
                              </a:rPr>
                              <m:t>65</m:t>
                            </m:r>
                          </m:sub>
                        </m:sSub>
                        <m:r>
                          <a:rPr lang="en-US" i="1">
                            <a:latin typeface="Cambria Math" panose="02040503050406030204" pitchFamily="18" charset="0"/>
                          </a:rPr>
                          <m:t>,</m:t>
                        </m:r>
                        <m:r>
                          <a:rPr lang="en-US">
                            <a:latin typeface="Cambria Math" panose="02040503050406030204" pitchFamily="18" charset="0"/>
                          </a:rPr>
                          <m:t>…</m:t>
                        </m:r>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𝐸</m:t>
                            </m:r>
                          </m:e>
                          <m:sub>
                            <m:r>
                              <a:rPr lang="en-US" i="1">
                                <a:latin typeface="Cambria Math" panose="02040503050406030204" pitchFamily="18" charset="0"/>
                              </a:rPr>
                              <m:t>𝑢𝑛𝑒𝑚𝑝</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𝐸</m:t>
                            </m:r>
                          </m:e>
                          <m:sub>
                            <m:r>
                              <a:rPr lang="en-US" i="1">
                                <a:latin typeface="Cambria Math" panose="02040503050406030204" pitchFamily="18" charset="0"/>
                              </a:rPr>
                              <m:t>𝑝𝑎𝑦𝑟𝑜𝑙𝑙</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𝑆</m:t>
                            </m:r>
                          </m:e>
                          <m:sub>
                            <m:r>
                              <a:rPr lang="en-US" i="1">
                                <a:latin typeface="Cambria Math" panose="02040503050406030204" pitchFamily="18" charset="0"/>
                              </a:rPr>
                              <m:t>𝑝𝑜𝑣</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𝑆</m:t>
                            </m:r>
                          </m:e>
                          <m:sub>
                            <m:r>
                              <a:rPr lang="en-US" b="0" i="1" smtClean="0">
                                <a:latin typeface="Cambria Math" panose="02040503050406030204" pitchFamily="18" charset="0"/>
                              </a:rPr>
                              <m:t>𝑡𝑟𝑎𝑛𝑠𝑝𝑜𝑟𝑡𝑎𝑡𝑖𝑜𝑛</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𝐻</m:t>
                            </m:r>
                          </m:e>
                          <m:sub>
                            <m:r>
                              <a:rPr lang="en-US" b="0" i="1" smtClean="0">
                                <a:latin typeface="Cambria Math" panose="02040503050406030204" pitchFamily="18" charset="0"/>
                              </a:rPr>
                              <m:t>h𝑎𝑧𝑎𝑟𝑑</m:t>
                            </m:r>
                          </m:sub>
                        </m:sSub>
                      </m:e>
                    </m:d>
                  </m:oMath>
                </a14:m>
                <a:r>
                  <a:rPr lang="en-US" sz="2400" dirty="0">
                    <a:effectLst/>
                    <a:latin typeface="Merriweather" pitchFamily="2" charset="77"/>
                  </a:rPr>
                  <a:t> </a:t>
                </a:r>
                <a:endParaRPr lang="en-US" sz="2400" b="1" dirty="0">
                  <a:solidFill>
                    <a:schemeClr val="tx1">
                      <a:lumMod val="75000"/>
                      <a:lumOff val="25000"/>
                    </a:schemeClr>
                  </a:solidFill>
                  <a:latin typeface="Merriweather" pitchFamily="2" charset="77"/>
                </a:endParaRPr>
              </a:p>
              <a:p>
                <a:pPr lvl="1"/>
                <a:endParaRPr lang="en-US" sz="2400" b="1" dirty="0">
                  <a:solidFill>
                    <a:schemeClr val="tx1">
                      <a:lumMod val="75000"/>
                      <a:lumOff val="25000"/>
                    </a:schemeClr>
                  </a:solidFill>
                  <a:latin typeface="Merriweather" pitchFamily="2" charset="77"/>
                </a:endParaRPr>
              </a:p>
              <a:p>
                <a:pPr marL="342900" indent="-342900">
                  <a:buFont typeface="Arial" panose="020B0604020202020204" pitchFamily="34" charset="0"/>
                  <a:buChar char="•"/>
                </a:pPr>
                <a:r>
                  <a:rPr lang="en-US" sz="2400" dirty="0">
                    <a:latin typeface="Merriweather" pitchFamily="2" charset="77"/>
                  </a:rPr>
                  <a:t>Target </a:t>
                </a:r>
                <a14:m>
                  <m:oMath xmlns:m="http://schemas.openxmlformats.org/officeDocument/2006/math">
                    <m:sSub>
                      <m:sSubPr>
                        <m:ctrlPr>
                          <a:rPr lang="en-US" sz="2400" i="1">
                            <a:latin typeface="Cambria Math" panose="02040503050406030204" pitchFamily="18" charset="0"/>
                          </a:rPr>
                        </m:ctrlPr>
                      </m:sSubPr>
                      <m:e>
                        <m:r>
                          <a:rPr lang="en-US" sz="2400" b="0" i="1" smtClean="0">
                            <a:latin typeface="Cambria Math" panose="02040503050406030204" pitchFamily="18" charset="0"/>
                          </a:rPr>
                          <m:t>𝑌</m:t>
                        </m:r>
                      </m:e>
                      <m:sub>
                        <m:r>
                          <a:rPr lang="en-US" sz="2400" b="0" i="1">
                            <a:latin typeface="Cambria Math" panose="02040503050406030204" pitchFamily="18" charset="0"/>
                          </a:rPr>
                          <m:t>𝑚</m:t>
                        </m:r>
                        <m:r>
                          <a:rPr lang="en-US" sz="2400" b="0" i="1">
                            <a:latin typeface="Cambria Math" panose="02040503050406030204" pitchFamily="18" charset="0"/>
                          </a:rPr>
                          <m:t>,</m:t>
                        </m:r>
                        <m:r>
                          <a:rPr lang="en-US" sz="2400" b="0" i="1">
                            <a:latin typeface="Cambria Math" panose="02040503050406030204" pitchFamily="18" charset="0"/>
                          </a:rPr>
                          <m:t>𝑡</m:t>
                        </m:r>
                      </m:sub>
                    </m:sSub>
                  </m:oMath>
                </a14:m>
                <a:r>
                  <a:rPr lang="en-US" sz="2400" dirty="0">
                    <a:latin typeface="Merriweather" pitchFamily="2" charset="77"/>
                  </a:rPr>
                  <a:t> </a:t>
                </a:r>
              </a:p>
              <a:p>
                <a:pPr marL="342900" indent="-342900">
                  <a:buFont typeface="Arial" panose="020B0604020202020204" pitchFamily="34" charset="0"/>
                  <a:buChar char="•"/>
                </a:pPr>
                <a:endParaRPr lang="en-US" sz="2400" b="1" dirty="0">
                  <a:latin typeface="Merriweather" pitchFamily="2" charset="77"/>
                </a:endParaRPr>
              </a:p>
              <a:p>
                <a:pPr lvl="1"/>
                <a:r>
                  <a:rPr lang="en-US" sz="2400" dirty="0">
                    <a:latin typeface="Merriweather" pitchFamily="2" charset="77"/>
                  </a:rPr>
                  <a:t>The population change (or net migration) we are trying to predict</a:t>
                </a:r>
                <a:endParaRPr lang="en-US" sz="2400" b="1" dirty="0">
                  <a:solidFill>
                    <a:schemeClr val="tx1">
                      <a:lumMod val="75000"/>
                      <a:lumOff val="25000"/>
                    </a:schemeClr>
                  </a:solidFill>
                  <a:latin typeface="Merriweather" pitchFamily="2" charset="77"/>
                </a:endParaRPr>
              </a:p>
              <a:p>
                <a:pPr marL="742950" lvl="1" indent="-285750">
                  <a:buFont typeface="Arial" panose="020B0604020202020204" pitchFamily="34" charset="0"/>
                  <a:buChar char="•"/>
                </a:pPr>
                <a:endParaRPr lang="en-US" sz="2400" b="1" dirty="0">
                  <a:solidFill>
                    <a:schemeClr val="tx1">
                      <a:lumMod val="75000"/>
                      <a:lumOff val="25000"/>
                    </a:schemeClr>
                  </a:solidFill>
                  <a:latin typeface="Merriweather" pitchFamily="2" charset="77"/>
                </a:endParaRPr>
              </a:p>
              <a:p>
                <a:pPr marL="742950" lvl="1" indent="-285750">
                  <a:buFont typeface="Arial" panose="020B0604020202020204" pitchFamily="34" charset="0"/>
                  <a:buChar char="•"/>
                </a:pPr>
                <a:endParaRPr lang="en-US" sz="2400" b="1" dirty="0">
                  <a:solidFill>
                    <a:schemeClr val="tx1">
                      <a:lumMod val="75000"/>
                      <a:lumOff val="25000"/>
                    </a:schemeClr>
                  </a:solidFill>
                  <a:latin typeface="Merriweather" pitchFamily="2" charset="77"/>
                </a:endParaRPr>
              </a:p>
            </p:txBody>
          </p:sp>
        </mc:Choice>
        <mc:Fallback xmlns="">
          <p:sp>
            <p:nvSpPr>
              <p:cNvPr id="2" name="TextBox 1">
                <a:extLst>
                  <a:ext uri="{FF2B5EF4-FFF2-40B4-BE49-F238E27FC236}">
                    <a16:creationId xmlns:a16="http://schemas.microsoft.com/office/drawing/2014/main" id="{388D4477-5AA5-0731-D8FE-47D12D442B93}"/>
                  </a:ext>
                </a:extLst>
              </p:cNvPr>
              <p:cNvSpPr txBox="1">
                <a:spLocks noRot="1" noChangeAspect="1" noMove="1" noResize="1" noEditPoints="1" noAdjustHandles="1" noChangeArrowheads="1" noChangeShapeType="1" noTextEdit="1"/>
              </p:cNvSpPr>
              <p:nvPr/>
            </p:nvSpPr>
            <p:spPr>
              <a:xfrm>
                <a:off x="472643" y="1519363"/>
                <a:ext cx="9336375" cy="4926092"/>
              </a:xfrm>
              <a:prstGeom prst="rect">
                <a:avLst/>
              </a:prstGeom>
              <a:blipFill>
                <a:blip r:embed="rId3"/>
                <a:stretch>
                  <a:fillRect l="-951" t="-1028" r="-1766"/>
                </a:stretch>
              </a:blipFill>
            </p:spPr>
            <p:txBody>
              <a:bodyPr/>
              <a:lstStyle/>
              <a:p>
                <a:r>
                  <a:rPr lang="en-US">
                    <a:noFill/>
                  </a:rPr>
                  <a:t> </a:t>
                </a:r>
              </a:p>
            </p:txBody>
          </p:sp>
        </mc:Fallback>
      </mc:AlternateContent>
    </p:spTree>
    <p:extLst>
      <p:ext uri="{BB962C8B-B14F-4D97-AF65-F5344CB8AC3E}">
        <p14:creationId xmlns:p14="http://schemas.microsoft.com/office/powerpoint/2010/main" val="11691261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08">
          <a:extLst>
            <a:ext uri="{FF2B5EF4-FFF2-40B4-BE49-F238E27FC236}">
              <a16:creationId xmlns:a16="http://schemas.microsoft.com/office/drawing/2014/main" id="{CFFEEB00-8F6E-F48B-9F4C-DD64AFAE21D2}"/>
            </a:ext>
          </a:extLst>
        </p:cNvPr>
        <p:cNvGrpSpPr/>
        <p:nvPr/>
      </p:nvGrpSpPr>
      <p:grpSpPr>
        <a:xfrm>
          <a:off x="0" y="0"/>
          <a:ext cx="0" cy="0"/>
          <a:chOff x="0" y="0"/>
          <a:chExt cx="0" cy="0"/>
        </a:xfrm>
      </p:grpSpPr>
      <p:sp>
        <p:nvSpPr>
          <p:cNvPr id="122" name="Google Shape;122;p15">
            <a:extLst>
              <a:ext uri="{FF2B5EF4-FFF2-40B4-BE49-F238E27FC236}">
                <a16:creationId xmlns:a16="http://schemas.microsoft.com/office/drawing/2014/main" id="{3ED45A06-FA0A-E2E0-182E-DDB1DFB5584B}"/>
              </a:ext>
            </a:extLst>
          </p:cNvPr>
          <p:cNvSpPr/>
          <p:nvPr/>
        </p:nvSpPr>
        <p:spPr>
          <a:xfrm>
            <a:off x="571500" y="1214437"/>
            <a:ext cx="11049000" cy="28575"/>
          </a:xfrm>
          <a:prstGeom prst="rect">
            <a:avLst/>
          </a:prstGeom>
          <a:solidFill>
            <a:srgbClr val="00508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4AACAB45-0C6E-B5C3-02F1-829E465F3DE6}"/>
                  </a:ext>
                </a:extLst>
              </p:cNvPr>
              <p:cNvSpPr txBox="1"/>
              <p:nvPr/>
            </p:nvSpPr>
            <p:spPr>
              <a:xfrm>
                <a:off x="472643" y="1519363"/>
                <a:ext cx="9336375" cy="5248168"/>
              </a:xfrm>
              <a:prstGeom prst="rect">
                <a:avLst/>
              </a:prstGeom>
              <a:noFill/>
            </p:spPr>
            <p:txBody>
              <a:bodyPr wrap="square">
                <a:spAutoFit/>
              </a:bodyPr>
              <a:lstStyle/>
              <a:p>
                <a:pPr marL="285750" indent="-285750">
                  <a:buFont typeface="Arial" panose="020B0604020202020204" pitchFamily="34" charset="0"/>
                  <a:buChar char="•"/>
                </a:pPr>
                <a:r>
                  <a:rPr lang="en-US" sz="2000" b="1" dirty="0">
                    <a:latin typeface="Merriweather" pitchFamily="2" charset="77"/>
                  </a:rPr>
                  <a:t>Lasso Regression (L1 Regularization)</a:t>
                </a:r>
              </a:p>
              <a:p>
                <a:pPr marL="742950" lvl="1" indent="-285750">
                  <a:buFont typeface="Arial" panose="020B0604020202020204" pitchFamily="34" charset="0"/>
                  <a:buChar char="•"/>
                </a:pPr>
                <a:r>
                  <a:rPr lang="en-US" sz="1600" b="1" dirty="0">
                    <a:latin typeface="Merriweather" pitchFamily="2" charset="77"/>
                  </a:rPr>
                  <a:t>Why use it?</a:t>
                </a:r>
                <a:r>
                  <a:rPr lang="en-US" sz="1600" dirty="0">
                    <a:latin typeface="Merriweather" pitchFamily="2" charset="77"/>
                  </a:rPr>
                  <a:t> We have many correlated variables (Poverty Rate and Unemployment are often linked). Lasso forces the model to choose only the </a:t>
                </a:r>
                <a:r>
                  <a:rPr lang="en-US" sz="1600" i="1" dirty="0">
                    <a:latin typeface="Merriweather" pitchFamily="2" charset="77"/>
                  </a:rPr>
                  <a:t>most important</a:t>
                </a:r>
                <a:r>
                  <a:rPr lang="en-US" sz="1600" dirty="0">
                    <a:latin typeface="Merriweather" pitchFamily="2" charset="77"/>
                  </a:rPr>
                  <a:t> ones and sets the others to zero. This solves the "noise" problem.</a:t>
                </a:r>
              </a:p>
              <a:p>
                <a:pPr marL="742950" lvl="1" indent="-285750">
                  <a:buFont typeface="Arial" panose="020B0604020202020204" pitchFamily="34" charset="0"/>
                  <a:buChar char="•"/>
                </a:pPr>
                <a:endParaRPr lang="en-US" sz="1600" dirty="0">
                  <a:latin typeface="Merriweather" pitchFamily="2" charset="77"/>
                </a:endParaRPr>
              </a:p>
              <a:p>
                <a:pPr marL="742950" lvl="1" indent="-285750">
                  <a:buFont typeface="Arial" panose="020B0604020202020204" pitchFamily="34" charset="0"/>
                  <a:buChar char="•"/>
                </a:pPr>
                <a:r>
                  <a:rPr lang="en-US" sz="1600" b="1" dirty="0">
                    <a:latin typeface="Merriweather" pitchFamily="2" charset="77"/>
                  </a:rPr>
                  <a:t>The Equation:</a:t>
                </a:r>
                <a:r>
                  <a:rPr lang="en-US" sz="1600" dirty="0">
                    <a:latin typeface="Merriweather" pitchFamily="2" charset="77"/>
                  </a:rPr>
                  <a:t> The model tries to minimize the error (difference between predicted </a:t>
                </a:r>
                <a14:m>
                  <m:oMath xmlns:m="http://schemas.openxmlformats.org/officeDocument/2006/math">
                    <m:acc>
                      <m:accPr>
                        <m:chr m:val="̂"/>
                        <m:ctrlPr>
                          <a:rPr lang="en-US" sz="1600" b="1" i="1">
                            <a:solidFill>
                              <a:schemeClr val="tx1">
                                <a:lumMod val="75000"/>
                                <a:lumOff val="25000"/>
                              </a:schemeClr>
                            </a:solidFill>
                            <a:latin typeface="Cambria Math" panose="02040503050406030204" pitchFamily="18" charset="0"/>
                          </a:rPr>
                        </m:ctrlPr>
                      </m:accPr>
                      <m:e>
                        <m:r>
                          <a:rPr lang="en-US" sz="1600" b="1" i="0" smtClean="0">
                            <a:solidFill>
                              <a:schemeClr val="tx1">
                                <a:lumMod val="75000"/>
                                <a:lumOff val="25000"/>
                              </a:schemeClr>
                            </a:solidFill>
                            <a:latin typeface="Cambria Math" panose="02040503050406030204" pitchFamily="18" charset="0"/>
                          </a:rPr>
                          <m:t>𝐲</m:t>
                        </m:r>
                      </m:e>
                    </m:acc>
                  </m:oMath>
                </a14:m>
                <a:r>
                  <a:rPr lang="en-US" sz="1600" b="1" dirty="0">
                    <a:latin typeface="Merriweather" pitchFamily="2" charset="77"/>
                  </a:rPr>
                  <a:t> </a:t>
                </a:r>
                <a:r>
                  <a:rPr lang="en-US" sz="1600" dirty="0">
                    <a:latin typeface="Merriweather" pitchFamily="2" charset="77"/>
                  </a:rPr>
                  <a:t>and actual </a:t>
                </a:r>
                <a14:m>
                  <m:oMath xmlns:m="http://schemas.openxmlformats.org/officeDocument/2006/math">
                    <m:r>
                      <a:rPr lang="en-US" sz="1600" b="1" i="1">
                        <a:solidFill>
                          <a:schemeClr val="tx1">
                            <a:lumMod val="75000"/>
                            <a:lumOff val="25000"/>
                          </a:schemeClr>
                        </a:solidFill>
                        <a:latin typeface="Cambria Math" panose="02040503050406030204" pitchFamily="18" charset="0"/>
                      </a:rPr>
                      <m:t>𝒚</m:t>
                    </m:r>
                  </m:oMath>
                </a14:m>
                <a:r>
                  <a:rPr lang="en-US" sz="1600" dirty="0">
                    <a:latin typeface="Merriweather" pitchFamily="2" charset="77"/>
                  </a:rPr>
                  <a:t>) plus a "penalty" for using too many variables.</a:t>
                </a:r>
              </a:p>
              <a:p>
                <a:r>
                  <a:rPr lang="en-US" sz="1600" dirty="0"/>
                  <a:t> </a:t>
                </a:r>
                <a:endParaRPr lang="en-US" sz="2000" dirty="0">
                  <a:latin typeface="Merriweather" pitchFamily="2" charset="77"/>
                </a:endParaRPr>
              </a:p>
              <a:p>
                <a:pPr lvl="1"/>
                <a14:m>
                  <m:oMathPara xmlns:m="http://schemas.openxmlformats.org/officeDocument/2006/math">
                    <m:oMathParaPr>
                      <m:jc m:val="centerGroup"/>
                    </m:oMathParaPr>
                    <m:oMath xmlns:m="http://schemas.openxmlformats.org/officeDocument/2006/math">
                      <m:r>
                        <m:rPr>
                          <m:nor/>
                        </m:rPr>
                        <a:rPr lang="en-US" sz="1600" b="1" i="0" smtClean="0">
                          <a:solidFill>
                            <a:schemeClr val="tx1">
                              <a:lumMod val="75000"/>
                              <a:lumOff val="25000"/>
                            </a:schemeClr>
                          </a:solidFill>
                          <a:latin typeface="Cambria Math" panose="02040503050406030204" pitchFamily="18" charset="0"/>
                        </a:rPr>
                        <m:t>Minimize</m:t>
                      </m:r>
                      <m:d>
                        <m:dPr>
                          <m:ctrlPr>
                            <a:rPr lang="en-US" sz="1600" b="1" i="1">
                              <a:solidFill>
                                <a:schemeClr val="tx1">
                                  <a:lumMod val="75000"/>
                                  <a:lumOff val="25000"/>
                                </a:schemeClr>
                              </a:solidFill>
                              <a:latin typeface="Cambria Math" panose="02040503050406030204" pitchFamily="18" charset="0"/>
                            </a:rPr>
                          </m:ctrlPr>
                        </m:dPr>
                        <m:e>
                          <m:nary>
                            <m:naryPr>
                              <m:chr m:val="∑"/>
                              <m:ctrlPr>
                                <a:rPr lang="en-US" sz="1600" b="1" i="1">
                                  <a:solidFill>
                                    <a:schemeClr val="tx1">
                                      <a:lumMod val="75000"/>
                                      <a:lumOff val="25000"/>
                                    </a:schemeClr>
                                  </a:solidFill>
                                  <a:latin typeface="Cambria Math" panose="02040503050406030204" pitchFamily="18" charset="0"/>
                                </a:rPr>
                              </m:ctrlPr>
                            </m:naryPr>
                            <m:sub>
                              <m:r>
                                <a:rPr lang="en-US" sz="1600" b="1" i="1">
                                  <a:solidFill>
                                    <a:schemeClr val="tx1">
                                      <a:lumMod val="75000"/>
                                      <a:lumOff val="25000"/>
                                    </a:schemeClr>
                                  </a:solidFill>
                                  <a:latin typeface="Cambria Math" panose="02040503050406030204" pitchFamily="18" charset="0"/>
                                </a:rPr>
                                <m:t>𝒊</m:t>
                              </m:r>
                              <m:r>
                                <a:rPr lang="en-US" sz="1600" b="1" i="1">
                                  <a:solidFill>
                                    <a:schemeClr val="tx1">
                                      <a:lumMod val="75000"/>
                                      <a:lumOff val="25000"/>
                                    </a:schemeClr>
                                  </a:solidFill>
                                  <a:latin typeface="Cambria Math" panose="02040503050406030204" pitchFamily="18" charset="0"/>
                                </a:rPr>
                                <m:t>=</m:t>
                              </m:r>
                              <m:r>
                                <a:rPr lang="en-US" sz="1600" b="1" i="1">
                                  <a:solidFill>
                                    <a:schemeClr val="tx1">
                                      <a:lumMod val="75000"/>
                                      <a:lumOff val="25000"/>
                                    </a:schemeClr>
                                  </a:solidFill>
                                  <a:latin typeface="Cambria Math" panose="02040503050406030204" pitchFamily="18" charset="0"/>
                                </a:rPr>
                                <m:t>𝟏</m:t>
                              </m:r>
                            </m:sub>
                            <m:sup>
                              <m:r>
                                <a:rPr lang="en-US" sz="1600" b="1" i="1">
                                  <a:solidFill>
                                    <a:schemeClr val="tx1">
                                      <a:lumMod val="75000"/>
                                      <a:lumOff val="25000"/>
                                    </a:schemeClr>
                                  </a:solidFill>
                                  <a:latin typeface="Cambria Math" panose="02040503050406030204" pitchFamily="18" charset="0"/>
                                </a:rPr>
                                <m:t>𝒏</m:t>
                              </m:r>
                            </m:sup>
                            <m:e>
                              <m:sSup>
                                <m:sSupPr>
                                  <m:ctrlPr>
                                    <a:rPr lang="en-US" sz="1600" b="1" i="1">
                                      <a:solidFill>
                                        <a:schemeClr val="tx1">
                                          <a:lumMod val="75000"/>
                                          <a:lumOff val="25000"/>
                                        </a:schemeClr>
                                      </a:solidFill>
                                      <a:latin typeface="Cambria Math" panose="02040503050406030204" pitchFamily="18" charset="0"/>
                                    </a:rPr>
                                  </m:ctrlPr>
                                </m:sSupPr>
                                <m:e>
                                  <m:d>
                                    <m:dPr>
                                      <m:ctrlPr>
                                        <a:rPr lang="en-US" sz="1600" b="1" i="1">
                                          <a:solidFill>
                                            <a:schemeClr val="tx1">
                                              <a:lumMod val="75000"/>
                                              <a:lumOff val="25000"/>
                                            </a:schemeClr>
                                          </a:solidFill>
                                          <a:latin typeface="Cambria Math" panose="02040503050406030204" pitchFamily="18" charset="0"/>
                                        </a:rPr>
                                      </m:ctrlPr>
                                    </m:dPr>
                                    <m:e>
                                      <m:sSub>
                                        <m:sSubPr>
                                          <m:ctrlPr>
                                            <a:rPr lang="en-US" sz="1600" b="1" i="1">
                                              <a:solidFill>
                                                <a:schemeClr val="tx1">
                                                  <a:lumMod val="75000"/>
                                                  <a:lumOff val="25000"/>
                                                </a:schemeClr>
                                              </a:solidFill>
                                              <a:latin typeface="Cambria Math" panose="02040503050406030204" pitchFamily="18" charset="0"/>
                                            </a:rPr>
                                          </m:ctrlPr>
                                        </m:sSubPr>
                                        <m:e>
                                          <m:r>
                                            <a:rPr lang="en-US" sz="1600" b="1" i="1">
                                              <a:solidFill>
                                                <a:schemeClr val="tx1">
                                                  <a:lumMod val="75000"/>
                                                  <a:lumOff val="25000"/>
                                                </a:schemeClr>
                                              </a:solidFill>
                                              <a:latin typeface="Cambria Math" panose="02040503050406030204" pitchFamily="18" charset="0"/>
                                            </a:rPr>
                                            <m:t>𝒚</m:t>
                                          </m:r>
                                        </m:e>
                                        <m:sub>
                                          <m:r>
                                            <a:rPr lang="en-US" sz="1600" b="1" i="1">
                                              <a:solidFill>
                                                <a:schemeClr val="tx1">
                                                  <a:lumMod val="75000"/>
                                                  <a:lumOff val="25000"/>
                                                </a:schemeClr>
                                              </a:solidFill>
                                              <a:latin typeface="Cambria Math" panose="02040503050406030204" pitchFamily="18" charset="0"/>
                                            </a:rPr>
                                            <m:t>𝒊</m:t>
                                          </m:r>
                                        </m:sub>
                                      </m:sSub>
                                      <m:r>
                                        <a:rPr lang="en-US" sz="1600" b="1" i="1">
                                          <a:solidFill>
                                            <a:schemeClr val="tx1">
                                              <a:lumMod val="75000"/>
                                              <a:lumOff val="25000"/>
                                            </a:schemeClr>
                                          </a:solidFill>
                                          <a:latin typeface="Cambria Math" panose="02040503050406030204" pitchFamily="18" charset="0"/>
                                        </a:rPr>
                                        <m:t>−</m:t>
                                      </m:r>
                                      <m:acc>
                                        <m:accPr>
                                          <m:chr m:val="̂"/>
                                          <m:ctrlPr>
                                            <a:rPr lang="en-US" sz="1600" b="1" i="1">
                                              <a:solidFill>
                                                <a:schemeClr val="tx1">
                                                  <a:lumMod val="75000"/>
                                                  <a:lumOff val="25000"/>
                                                </a:schemeClr>
                                              </a:solidFill>
                                              <a:latin typeface="Cambria Math" panose="02040503050406030204" pitchFamily="18" charset="0"/>
                                            </a:rPr>
                                          </m:ctrlPr>
                                        </m:accPr>
                                        <m:e>
                                          <m:sSub>
                                            <m:sSubPr>
                                              <m:ctrlPr>
                                                <a:rPr lang="en-US" sz="1600" b="1" i="1">
                                                  <a:solidFill>
                                                    <a:schemeClr val="tx1">
                                                      <a:lumMod val="75000"/>
                                                      <a:lumOff val="25000"/>
                                                    </a:schemeClr>
                                                  </a:solidFill>
                                                  <a:latin typeface="Cambria Math" panose="02040503050406030204" pitchFamily="18" charset="0"/>
                                                </a:rPr>
                                              </m:ctrlPr>
                                            </m:sSubPr>
                                            <m:e>
                                              <m:r>
                                                <a:rPr lang="en-US" sz="1600" b="1" i="1">
                                                  <a:solidFill>
                                                    <a:schemeClr val="tx1">
                                                      <a:lumMod val="75000"/>
                                                      <a:lumOff val="25000"/>
                                                    </a:schemeClr>
                                                  </a:solidFill>
                                                  <a:latin typeface="Cambria Math" panose="02040503050406030204" pitchFamily="18" charset="0"/>
                                                </a:rPr>
                                                <m:t>𝒚</m:t>
                                              </m:r>
                                            </m:e>
                                            <m:sub>
                                              <m:r>
                                                <a:rPr lang="en-US" sz="1600" b="1" i="1">
                                                  <a:solidFill>
                                                    <a:schemeClr val="tx1">
                                                      <a:lumMod val="75000"/>
                                                      <a:lumOff val="25000"/>
                                                    </a:schemeClr>
                                                  </a:solidFill>
                                                  <a:latin typeface="Cambria Math" panose="02040503050406030204" pitchFamily="18" charset="0"/>
                                                </a:rPr>
                                                <m:t>𝒊</m:t>
                                              </m:r>
                                            </m:sub>
                                          </m:sSub>
                                        </m:e>
                                      </m:acc>
                                    </m:e>
                                  </m:d>
                                </m:e>
                                <m:sup>
                                  <m:r>
                                    <a:rPr lang="en-US" sz="1600" b="1" i="1">
                                      <a:solidFill>
                                        <a:schemeClr val="tx1">
                                          <a:lumMod val="75000"/>
                                          <a:lumOff val="25000"/>
                                        </a:schemeClr>
                                      </a:solidFill>
                                      <a:latin typeface="Cambria Math" panose="02040503050406030204" pitchFamily="18" charset="0"/>
                                    </a:rPr>
                                    <m:t>𝟐</m:t>
                                  </m:r>
                                </m:sup>
                              </m:sSup>
                            </m:e>
                          </m:nary>
                          <m:r>
                            <a:rPr lang="en-US" sz="1600" b="1" i="1">
                              <a:solidFill>
                                <a:schemeClr val="tx1">
                                  <a:lumMod val="75000"/>
                                  <a:lumOff val="25000"/>
                                </a:schemeClr>
                              </a:solidFill>
                              <a:latin typeface="Cambria Math" panose="02040503050406030204" pitchFamily="18" charset="0"/>
                            </a:rPr>
                            <m:t>+</m:t>
                          </m:r>
                          <m:r>
                            <a:rPr lang="en-US" sz="1600" b="1" i="1">
                              <a:solidFill>
                                <a:schemeClr val="tx1">
                                  <a:lumMod val="75000"/>
                                  <a:lumOff val="25000"/>
                                </a:schemeClr>
                              </a:solidFill>
                              <a:latin typeface="Cambria Math" panose="02040503050406030204" pitchFamily="18" charset="0"/>
                            </a:rPr>
                            <m:t>𝝀</m:t>
                          </m:r>
                          <m:nary>
                            <m:naryPr>
                              <m:chr m:val="∑"/>
                              <m:ctrlPr>
                                <a:rPr lang="en-US" sz="1600" b="1" i="1">
                                  <a:solidFill>
                                    <a:schemeClr val="tx1">
                                      <a:lumMod val="75000"/>
                                      <a:lumOff val="25000"/>
                                    </a:schemeClr>
                                  </a:solidFill>
                                  <a:latin typeface="Cambria Math" panose="02040503050406030204" pitchFamily="18" charset="0"/>
                                </a:rPr>
                              </m:ctrlPr>
                            </m:naryPr>
                            <m:sub>
                              <m:r>
                                <a:rPr lang="en-US" sz="1600" b="1" i="1">
                                  <a:solidFill>
                                    <a:schemeClr val="tx1">
                                      <a:lumMod val="75000"/>
                                      <a:lumOff val="25000"/>
                                    </a:schemeClr>
                                  </a:solidFill>
                                  <a:latin typeface="Cambria Math" panose="02040503050406030204" pitchFamily="18" charset="0"/>
                                </a:rPr>
                                <m:t>𝒋</m:t>
                              </m:r>
                              <m:r>
                                <a:rPr lang="en-US" sz="1600" b="1" i="1">
                                  <a:solidFill>
                                    <a:schemeClr val="tx1">
                                      <a:lumMod val="75000"/>
                                      <a:lumOff val="25000"/>
                                    </a:schemeClr>
                                  </a:solidFill>
                                  <a:latin typeface="Cambria Math" panose="02040503050406030204" pitchFamily="18" charset="0"/>
                                </a:rPr>
                                <m:t>=</m:t>
                              </m:r>
                              <m:r>
                                <a:rPr lang="en-US" sz="1600" b="1" i="1">
                                  <a:solidFill>
                                    <a:schemeClr val="tx1">
                                      <a:lumMod val="75000"/>
                                      <a:lumOff val="25000"/>
                                    </a:schemeClr>
                                  </a:solidFill>
                                  <a:latin typeface="Cambria Math" panose="02040503050406030204" pitchFamily="18" charset="0"/>
                                </a:rPr>
                                <m:t>𝟏</m:t>
                              </m:r>
                            </m:sub>
                            <m:sup>
                              <m:r>
                                <a:rPr lang="en-US" sz="1600" b="1" i="1">
                                  <a:solidFill>
                                    <a:schemeClr val="tx1">
                                      <a:lumMod val="75000"/>
                                      <a:lumOff val="25000"/>
                                    </a:schemeClr>
                                  </a:solidFill>
                                  <a:latin typeface="Cambria Math" panose="02040503050406030204" pitchFamily="18" charset="0"/>
                                </a:rPr>
                                <m:t>𝒑</m:t>
                              </m:r>
                            </m:sup>
                            <m:e>
                              <m:d>
                                <m:dPr>
                                  <m:begChr m:val="|"/>
                                  <m:endChr m:val="|"/>
                                  <m:ctrlPr>
                                    <a:rPr lang="en-US" sz="1600" b="1" i="1">
                                      <a:solidFill>
                                        <a:schemeClr val="tx1">
                                          <a:lumMod val="75000"/>
                                          <a:lumOff val="25000"/>
                                        </a:schemeClr>
                                      </a:solidFill>
                                      <a:latin typeface="Cambria Math" panose="02040503050406030204" pitchFamily="18" charset="0"/>
                                    </a:rPr>
                                  </m:ctrlPr>
                                </m:dPr>
                                <m:e>
                                  <m:sSub>
                                    <m:sSubPr>
                                      <m:ctrlPr>
                                        <a:rPr lang="en-US" sz="1600" b="1" i="1">
                                          <a:solidFill>
                                            <a:schemeClr val="tx1">
                                              <a:lumMod val="75000"/>
                                              <a:lumOff val="25000"/>
                                            </a:schemeClr>
                                          </a:solidFill>
                                          <a:latin typeface="Cambria Math" panose="02040503050406030204" pitchFamily="18" charset="0"/>
                                        </a:rPr>
                                      </m:ctrlPr>
                                    </m:sSubPr>
                                    <m:e>
                                      <m:r>
                                        <a:rPr lang="en-US" sz="1600" b="1" i="1">
                                          <a:solidFill>
                                            <a:schemeClr val="tx1">
                                              <a:lumMod val="75000"/>
                                              <a:lumOff val="25000"/>
                                            </a:schemeClr>
                                          </a:solidFill>
                                          <a:latin typeface="Cambria Math" panose="02040503050406030204" pitchFamily="18" charset="0"/>
                                        </a:rPr>
                                        <m:t>𝜷</m:t>
                                      </m:r>
                                    </m:e>
                                    <m:sub>
                                      <m:r>
                                        <a:rPr lang="en-US" sz="1600" b="1" i="1">
                                          <a:solidFill>
                                            <a:schemeClr val="tx1">
                                              <a:lumMod val="75000"/>
                                              <a:lumOff val="25000"/>
                                            </a:schemeClr>
                                          </a:solidFill>
                                          <a:latin typeface="Cambria Math" panose="02040503050406030204" pitchFamily="18" charset="0"/>
                                        </a:rPr>
                                        <m:t>𝒋</m:t>
                                      </m:r>
                                    </m:sub>
                                  </m:sSub>
                                </m:e>
                              </m:d>
                            </m:e>
                          </m:nary>
                        </m:e>
                      </m:d>
                    </m:oMath>
                  </m:oMathPara>
                </a14:m>
                <a:endParaRPr lang="en-US" sz="2000" b="1" dirty="0">
                  <a:solidFill>
                    <a:schemeClr val="tx1">
                      <a:lumMod val="75000"/>
                      <a:lumOff val="25000"/>
                    </a:schemeClr>
                  </a:solidFill>
                  <a:latin typeface="Merriweather" pitchFamily="2" charset="77"/>
                </a:endParaRPr>
              </a:p>
              <a:p>
                <a:pPr lvl="1"/>
                <a:endParaRPr lang="en-US" sz="2000" b="1" dirty="0">
                  <a:solidFill>
                    <a:schemeClr val="tx1">
                      <a:lumMod val="75000"/>
                      <a:lumOff val="25000"/>
                    </a:schemeClr>
                  </a:solidFill>
                  <a:latin typeface="Merriweather" pitchFamily="2" charset="77"/>
                </a:endParaRPr>
              </a:p>
              <a:p>
                <a:pPr lvl="1"/>
                <a:endParaRPr lang="en-US" sz="2000" b="1" dirty="0">
                  <a:solidFill>
                    <a:schemeClr val="tx1">
                      <a:lumMod val="75000"/>
                      <a:lumOff val="25000"/>
                    </a:schemeClr>
                  </a:solidFill>
                  <a:latin typeface="Merriweather" pitchFamily="2" charset="77"/>
                </a:endParaRPr>
              </a:p>
              <a:p>
                <a:pPr marL="628650" lvl="1" indent="-171450">
                  <a:lnSpc>
                    <a:spcPct val="150000"/>
                  </a:lnSpc>
                  <a:buFont typeface="Arial" panose="020B0604020202020204" pitchFamily="34" charset="0"/>
                  <a:buChar char="•"/>
                </a:pPr>
                <a14:m>
                  <m:oMath xmlns:m="http://schemas.openxmlformats.org/officeDocument/2006/math">
                    <m:nary>
                      <m:naryPr>
                        <m:chr m:val="∑"/>
                        <m:ctrlPr>
                          <a:rPr lang="en-US" sz="1200" b="1" i="1">
                            <a:solidFill>
                              <a:schemeClr val="tx1">
                                <a:lumMod val="75000"/>
                                <a:lumOff val="25000"/>
                              </a:schemeClr>
                            </a:solidFill>
                            <a:latin typeface="Cambria Math" panose="02040503050406030204" pitchFamily="18" charset="0"/>
                          </a:rPr>
                        </m:ctrlPr>
                      </m:naryPr>
                      <m:sub>
                        <m:r>
                          <a:rPr lang="en-US" sz="1200" b="1" i="1">
                            <a:solidFill>
                              <a:schemeClr val="tx1">
                                <a:lumMod val="75000"/>
                                <a:lumOff val="25000"/>
                              </a:schemeClr>
                            </a:solidFill>
                            <a:latin typeface="Cambria Math" panose="02040503050406030204" pitchFamily="18" charset="0"/>
                          </a:rPr>
                          <m:t>𝒊</m:t>
                        </m:r>
                        <m:r>
                          <a:rPr lang="en-US" sz="1200" b="1" i="1">
                            <a:solidFill>
                              <a:schemeClr val="tx1">
                                <a:lumMod val="75000"/>
                                <a:lumOff val="25000"/>
                              </a:schemeClr>
                            </a:solidFill>
                            <a:latin typeface="Cambria Math" panose="02040503050406030204" pitchFamily="18" charset="0"/>
                          </a:rPr>
                          <m:t>=</m:t>
                        </m:r>
                        <m:r>
                          <a:rPr lang="en-US" sz="1200" b="1" i="1">
                            <a:solidFill>
                              <a:schemeClr val="tx1">
                                <a:lumMod val="75000"/>
                                <a:lumOff val="25000"/>
                              </a:schemeClr>
                            </a:solidFill>
                            <a:latin typeface="Cambria Math" panose="02040503050406030204" pitchFamily="18" charset="0"/>
                          </a:rPr>
                          <m:t>𝟏</m:t>
                        </m:r>
                      </m:sub>
                      <m:sup>
                        <m:r>
                          <a:rPr lang="en-US" sz="1200" b="1" i="1">
                            <a:solidFill>
                              <a:schemeClr val="tx1">
                                <a:lumMod val="75000"/>
                                <a:lumOff val="25000"/>
                              </a:schemeClr>
                            </a:solidFill>
                            <a:latin typeface="Cambria Math" panose="02040503050406030204" pitchFamily="18" charset="0"/>
                          </a:rPr>
                          <m:t>𝒏</m:t>
                        </m:r>
                      </m:sup>
                      <m:e>
                        <m:sSup>
                          <m:sSupPr>
                            <m:ctrlPr>
                              <a:rPr lang="en-US" sz="1200" b="1" i="1">
                                <a:solidFill>
                                  <a:schemeClr val="tx1">
                                    <a:lumMod val="75000"/>
                                    <a:lumOff val="25000"/>
                                  </a:schemeClr>
                                </a:solidFill>
                                <a:latin typeface="Cambria Math" panose="02040503050406030204" pitchFamily="18" charset="0"/>
                              </a:rPr>
                            </m:ctrlPr>
                          </m:sSupPr>
                          <m:e>
                            <m:d>
                              <m:dPr>
                                <m:ctrlPr>
                                  <a:rPr lang="en-US" sz="1200" b="1" i="1">
                                    <a:solidFill>
                                      <a:schemeClr val="tx1">
                                        <a:lumMod val="75000"/>
                                        <a:lumOff val="25000"/>
                                      </a:schemeClr>
                                    </a:solidFill>
                                    <a:latin typeface="Cambria Math" panose="02040503050406030204" pitchFamily="18" charset="0"/>
                                  </a:rPr>
                                </m:ctrlPr>
                              </m:dPr>
                              <m:e>
                                <m:sSub>
                                  <m:sSubPr>
                                    <m:ctrlPr>
                                      <a:rPr lang="en-US" sz="1200" b="1" i="1">
                                        <a:solidFill>
                                          <a:schemeClr val="tx1">
                                            <a:lumMod val="75000"/>
                                            <a:lumOff val="25000"/>
                                          </a:schemeClr>
                                        </a:solidFill>
                                        <a:latin typeface="Cambria Math" panose="02040503050406030204" pitchFamily="18" charset="0"/>
                                      </a:rPr>
                                    </m:ctrlPr>
                                  </m:sSubPr>
                                  <m:e>
                                    <m:r>
                                      <a:rPr lang="en-US" sz="1200" b="1" i="1">
                                        <a:solidFill>
                                          <a:schemeClr val="tx1">
                                            <a:lumMod val="75000"/>
                                            <a:lumOff val="25000"/>
                                          </a:schemeClr>
                                        </a:solidFill>
                                        <a:latin typeface="Cambria Math" panose="02040503050406030204" pitchFamily="18" charset="0"/>
                                      </a:rPr>
                                      <m:t>𝒚</m:t>
                                    </m:r>
                                  </m:e>
                                  <m:sub>
                                    <m:r>
                                      <a:rPr lang="en-US" sz="1200" b="1" i="1">
                                        <a:solidFill>
                                          <a:schemeClr val="tx1">
                                            <a:lumMod val="75000"/>
                                            <a:lumOff val="25000"/>
                                          </a:schemeClr>
                                        </a:solidFill>
                                        <a:latin typeface="Cambria Math" panose="02040503050406030204" pitchFamily="18" charset="0"/>
                                      </a:rPr>
                                      <m:t>𝒊</m:t>
                                    </m:r>
                                  </m:sub>
                                </m:sSub>
                                <m:r>
                                  <a:rPr lang="en-US" sz="1200" b="1" i="1">
                                    <a:solidFill>
                                      <a:schemeClr val="tx1">
                                        <a:lumMod val="75000"/>
                                        <a:lumOff val="25000"/>
                                      </a:schemeClr>
                                    </a:solidFill>
                                    <a:latin typeface="Cambria Math" panose="02040503050406030204" pitchFamily="18" charset="0"/>
                                  </a:rPr>
                                  <m:t>−</m:t>
                                </m:r>
                                <m:acc>
                                  <m:accPr>
                                    <m:chr m:val="̂"/>
                                    <m:ctrlPr>
                                      <a:rPr lang="en-US" sz="1200" b="1" i="1">
                                        <a:solidFill>
                                          <a:schemeClr val="tx1">
                                            <a:lumMod val="75000"/>
                                            <a:lumOff val="25000"/>
                                          </a:schemeClr>
                                        </a:solidFill>
                                        <a:latin typeface="Cambria Math" panose="02040503050406030204" pitchFamily="18" charset="0"/>
                                      </a:rPr>
                                    </m:ctrlPr>
                                  </m:accPr>
                                  <m:e>
                                    <m:sSub>
                                      <m:sSubPr>
                                        <m:ctrlPr>
                                          <a:rPr lang="en-US" sz="1200" b="1" i="1">
                                            <a:solidFill>
                                              <a:schemeClr val="tx1">
                                                <a:lumMod val="75000"/>
                                                <a:lumOff val="25000"/>
                                              </a:schemeClr>
                                            </a:solidFill>
                                            <a:latin typeface="Cambria Math" panose="02040503050406030204" pitchFamily="18" charset="0"/>
                                          </a:rPr>
                                        </m:ctrlPr>
                                      </m:sSubPr>
                                      <m:e>
                                        <m:r>
                                          <a:rPr lang="en-US" sz="1200" b="1" i="1">
                                            <a:solidFill>
                                              <a:schemeClr val="tx1">
                                                <a:lumMod val="75000"/>
                                                <a:lumOff val="25000"/>
                                              </a:schemeClr>
                                            </a:solidFill>
                                            <a:latin typeface="Cambria Math" panose="02040503050406030204" pitchFamily="18" charset="0"/>
                                          </a:rPr>
                                          <m:t>𝒚</m:t>
                                        </m:r>
                                      </m:e>
                                      <m:sub>
                                        <m:r>
                                          <a:rPr lang="en-US" sz="1200" b="1" i="1">
                                            <a:solidFill>
                                              <a:schemeClr val="tx1">
                                                <a:lumMod val="75000"/>
                                                <a:lumOff val="25000"/>
                                              </a:schemeClr>
                                            </a:solidFill>
                                            <a:latin typeface="Cambria Math" panose="02040503050406030204" pitchFamily="18" charset="0"/>
                                          </a:rPr>
                                          <m:t>𝒊</m:t>
                                        </m:r>
                                      </m:sub>
                                    </m:sSub>
                                  </m:e>
                                </m:acc>
                              </m:e>
                            </m:d>
                          </m:e>
                          <m:sup>
                            <m:r>
                              <a:rPr lang="en-US" sz="1200" b="1" i="1">
                                <a:solidFill>
                                  <a:schemeClr val="tx1">
                                    <a:lumMod val="75000"/>
                                    <a:lumOff val="25000"/>
                                  </a:schemeClr>
                                </a:solidFill>
                                <a:latin typeface="Cambria Math" panose="02040503050406030204" pitchFamily="18" charset="0"/>
                              </a:rPr>
                              <m:t>𝟐</m:t>
                            </m:r>
                          </m:sup>
                        </m:sSup>
                      </m:e>
                    </m:nary>
                    <m:r>
                      <a:rPr lang="en-US" sz="1200" b="1" i="1">
                        <a:solidFill>
                          <a:schemeClr val="tx1">
                            <a:lumMod val="75000"/>
                            <a:lumOff val="25000"/>
                          </a:schemeClr>
                        </a:solidFill>
                        <a:latin typeface="Cambria Math" panose="02040503050406030204" pitchFamily="18" charset="0"/>
                      </a:rPr>
                      <m:t> </m:t>
                    </m:r>
                  </m:oMath>
                </a14:m>
                <a:r>
                  <a:rPr lang="en-US" sz="1200" dirty="0">
                    <a:latin typeface="Merriweather" pitchFamily="2" charset="77"/>
                  </a:rPr>
                  <a:t>: The standard error (Residual Sum of Squares)</a:t>
                </a:r>
              </a:p>
              <a:p>
                <a:pPr marL="628650" lvl="1" indent="-171450">
                  <a:lnSpc>
                    <a:spcPct val="150000"/>
                  </a:lnSpc>
                  <a:buFont typeface="Arial" panose="020B0604020202020204" pitchFamily="34" charset="0"/>
                  <a:buChar char="•"/>
                </a:pPr>
                <a14:m>
                  <m:oMath xmlns:m="http://schemas.openxmlformats.org/officeDocument/2006/math">
                    <m:r>
                      <a:rPr lang="en-US" sz="1200" b="1" i="1" smtClean="0">
                        <a:solidFill>
                          <a:schemeClr val="tx1">
                            <a:lumMod val="75000"/>
                            <a:lumOff val="25000"/>
                          </a:schemeClr>
                        </a:solidFill>
                        <a:latin typeface="Cambria Math" panose="02040503050406030204" pitchFamily="18" charset="0"/>
                      </a:rPr>
                      <m:t>𝝀</m:t>
                    </m:r>
                    <m:r>
                      <a:rPr lang="en-US" sz="1200" b="1" i="1">
                        <a:solidFill>
                          <a:schemeClr val="tx1">
                            <a:lumMod val="75000"/>
                            <a:lumOff val="25000"/>
                          </a:schemeClr>
                        </a:solidFill>
                        <a:latin typeface="Cambria Math" panose="02040503050406030204" pitchFamily="18" charset="0"/>
                      </a:rPr>
                      <m:t> </m:t>
                    </m:r>
                    <m:r>
                      <a:rPr lang="en-US" sz="1200" b="1" i="1" smtClean="0">
                        <a:solidFill>
                          <a:schemeClr val="tx1">
                            <a:lumMod val="75000"/>
                            <a:lumOff val="25000"/>
                          </a:schemeClr>
                        </a:solidFill>
                        <a:latin typeface="Cambria Math" panose="02040503050406030204" pitchFamily="18" charset="0"/>
                      </a:rPr>
                      <m:t>: </m:t>
                    </m:r>
                  </m:oMath>
                </a14:m>
                <a:r>
                  <a:rPr lang="en-US" sz="1200" dirty="0">
                    <a:latin typeface="Merriweather" pitchFamily="2" charset="77"/>
                  </a:rPr>
                  <a:t>The tuning parameter,  if set high, the model is forced to simplify</a:t>
                </a:r>
              </a:p>
              <a:p>
                <a:pPr marL="628650" lvl="1" indent="-171450">
                  <a:lnSpc>
                    <a:spcPct val="150000"/>
                  </a:lnSpc>
                  <a:buFont typeface="Arial" panose="020B0604020202020204" pitchFamily="34" charset="0"/>
                  <a:buChar char="•"/>
                </a:pPr>
                <a14:m>
                  <m:oMath xmlns:m="http://schemas.openxmlformats.org/officeDocument/2006/math">
                    <m:d>
                      <m:dPr>
                        <m:begChr m:val="|"/>
                        <m:endChr m:val="|"/>
                        <m:ctrlPr>
                          <a:rPr lang="en-US" sz="1200" b="1" i="1">
                            <a:solidFill>
                              <a:schemeClr val="tx1">
                                <a:lumMod val="75000"/>
                                <a:lumOff val="25000"/>
                              </a:schemeClr>
                            </a:solidFill>
                            <a:latin typeface="Cambria Math" panose="02040503050406030204" pitchFamily="18" charset="0"/>
                          </a:rPr>
                        </m:ctrlPr>
                      </m:dPr>
                      <m:e>
                        <m:sSub>
                          <m:sSubPr>
                            <m:ctrlPr>
                              <a:rPr lang="en-US" sz="1200" b="1" i="1">
                                <a:solidFill>
                                  <a:schemeClr val="tx1">
                                    <a:lumMod val="75000"/>
                                    <a:lumOff val="25000"/>
                                  </a:schemeClr>
                                </a:solidFill>
                                <a:latin typeface="Cambria Math" panose="02040503050406030204" pitchFamily="18" charset="0"/>
                              </a:rPr>
                            </m:ctrlPr>
                          </m:sSubPr>
                          <m:e>
                            <m:r>
                              <a:rPr lang="en-US" sz="1200" b="1" i="1">
                                <a:solidFill>
                                  <a:schemeClr val="tx1">
                                    <a:lumMod val="75000"/>
                                    <a:lumOff val="25000"/>
                                  </a:schemeClr>
                                </a:solidFill>
                                <a:latin typeface="Cambria Math" panose="02040503050406030204" pitchFamily="18" charset="0"/>
                              </a:rPr>
                              <m:t>𝜷</m:t>
                            </m:r>
                          </m:e>
                          <m:sub>
                            <m:r>
                              <a:rPr lang="en-US" sz="1200" b="1" i="1">
                                <a:solidFill>
                                  <a:schemeClr val="tx1">
                                    <a:lumMod val="75000"/>
                                    <a:lumOff val="25000"/>
                                  </a:schemeClr>
                                </a:solidFill>
                                <a:latin typeface="Cambria Math" panose="02040503050406030204" pitchFamily="18" charset="0"/>
                              </a:rPr>
                              <m:t>𝒋</m:t>
                            </m:r>
                          </m:sub>
                        </m:sSub>
                      </m:e>
                    </m:d>
                    <m:r>
                      <a:rPr lang="en-US" sz="1200" b="1" i="1">
                        <a:solidFill>
                          <a:schemeClr val="tx1">
                            <a:lumMod val="75000"/>
                            <a:lumOff val="25000"/>
                          </a:schemeClr>
                        </a:solidFill>
                        <a:latin typeface="Cambria Math" panose="02040503050406030204" pitchFamily="18" charset="0"/>
                      </a:rPr>
                      <m:t> </m:t>
                    </m:r>
                    <m:r>
                      <a:rPr lang="en-US" sz="1200" b="1" i="1" smtClean="0">
                        <a:solidFill>
                          <a:schemeClr val="tx1">
                            <a:lumMod val="75000"/>
                            <a:lumOff val="25000"/>
                          </a:schemeClr>
                        </a:solidFill>
                        <a:latin typeface="Cambria Math" panose="02040503050406030204" pitchFamily="18" charset="0"/>
                      </a:rPr>
                      <m:t>: </m:t>
                    </m:r>
                  </m:oMath>
                </a14:m>
                <a:r>
                  <a:rPr lang="en-US" sz="1200" dirty="0">
                    <a:latin typeface="Merriweather" pitchFamily="2" charset="77"/>
                  </a:rPr>
                  <a:t>The absolute size of the coefficient for variable j</a:t>
                </a:r>
              </a:p>
              <a:p>
                <a:pPr marL="628650" lvl="1" indent="-171450">
                  <a:lnSpc>
                    <a:spcPct val="150000"/>
                  </a:lnSpc>
                  <a:buFont typeface="Arial" panose="020B0604020202020204" pitchFamily="34" charset="0"/>
                  <a:buChar char="•"/>
                </a:pPr>
                <a:r>
                  <a:rPr lang="en-US" sz="1200" b="1" dirty="0">
                    <a:latin typeface="Merriweather" pitchFamily="2" charset="77"/>
                  </a:rPr>
                  <a:t>How the variables fit:</a:t>
                </a:r>
                <a:r>
                  <a:rPr lang="en-US" sz="1200" dirty="0">
                    <a:latin typeface="Merriweather" pitchFamily="2" charset="77"/>
                  </a:rPr>
                  <a:t> If the coefficient </a:t>
                </a:r>
                <a14:m>
                  <m:oMath xmlns:m="http://schemas.openxmlformats.org/officeDocument/2006/math">
                    <m:sSub>
                      <m:sSubPr>
                        <m:ctrlPr>
                          <a:rPr lang="en-US" sz="1200" b="1" i="1">
                            <a:solidFill>
                              <a:schemeClr val="tx1">
                                <a:lumMod val="75000"/>
                                <a:lumOff val="25000"/>
                              </a:schemeClr>
                            </a:solidFill>
                            <a:latin typeface="Cambria Math" panose="02040503050406030204" pitchFamily="18" charset="0"/>
                          </a:rPr>
                        </m:ctrlPr>
                      </m:sSubPr>
                      <m:e>
                        <m:r>
                          <a:rPr lang="en-US" sz="1200" b="1" i="1">
                            <a:solidFill>
                              <a:schemeClr val="tx1">
                                <a:lumMod val="75000"/>
                                <a:lumOff val="25000"/>
                              </a:schemeClr>
                            </a:solidFill>
                            <a:latin typeface="Cambria Math" panose="02040503050406030204" pitchFamily="18" charset="0"/>
                          </a:rPr>
                          <m:t>𝜷</m:t>
                        </m:r>
                      </m:e>
                      <m:sub>
                        <m:r>
                          <m:rPr>
                            <m:sty m:val="p"/>
                          </m:rPr>
                          <a:rPr lang="en-US" sz="1200" b="1" i="1" smtClean="0">
                            <a:solidFill>
                              <a:schemeClr val="tx1">
                                <a:lumMod val="75000"/>
                                <a:lumOff val="25000"/>
                              </a:schemeClr>
                            </a:solidFill>
                            <a:latin typeface="Cambria Math" panose="02040503050406030204" pitchFamily="18" charset="0"/>
                          </a:rPr>
                          <m:t>SVI</m:t>
                        </m:r>
                      </m:sub>
                    </m:sSub>
                    <m:r>
                      <a:rPr lang="en-US" sz="1200" b="1" i="1">
                        <a:solidFill>
                          <a:schemeClr val="tx1">
                            <a:lumMod val="75000"/>
                            <a:lumOff val="25000"/>
                          </a:schemeClr>
                        </a:solidFill>
                        <a:latin typeface="Cambria Math" panose="02040503050406030204" pitchFamily="18" charset="0"/>
                      </a:rPr>
                      <m:t> </m:t>
                    </m:r>
                  </m:oMath>
                </a14:m>
                <a:r>
                  <a:rPr lang="en-US" sz="1200" dirty="0">
                    <a:latin typeface="Merriweather" pitchFamily="2" charset="77"/>
                  </a:rPr>
                  <a:t>for "No Vehicle Access" is high, but </a:t>
                </a:r>
                <a14:m>
                  <m:oMath xmlns:m="http://schemas.openxmlformats.org/officeDocument/2006/math">
                    <m:sSub>
                      <m:sSubPr>
                        <m:ctrlPr>
                          <a:rPr lang="en-US" sz="1200" b="1" i="1" smtClean="0">
                            <a:solidFill>
                              <a:schemeClr val="tx1">
                                <a:lumMod val="75000"/>
                                <a:lumOff val="25000"/>
                              </a:schemeClr>
                            </a:solidFill>
                            <a:latin typeface="Cambria Math" panose="02040503050406030204" pitchFamily="18" charset="0"/>
                          </a:rPr>
                        </m:ctrlPr>
                      </m:sSubPr>
                      <m:e>
                        <m:r>
                          <a:rPr lang="en-US" sz="1200" b="1" i="1">
                            <a:solidFill>
                              <a:schemeClr val="tx1">
                                <a:lumMod val="75000"/>
                                <a:lumOff val="25000"/>
                              </a:schemeClr>
                            </a:solidFill>
                            <a:latin typeface="Cambria Math" panose="02040503050406030204" pitchFamily="18" charset="0"/>
                          </a:rPr>
                          <m:t>𝜷</m:t>
                        </m:r>
                      </m:e>
                      <m:sub>
                        <m:r>
                          <m:rPr>
                            <m:sty m:val="p"/>
                          </m:rPr>
                          <a:rPr lang="en-US" sz="1200" b="1" i="1" smtClean="0">
                            <a:solidFill>
                              <a:schemeClr val="tx1">
                                <a:lumMod val="75000"/>
                                <a:lumOff val="25000"/>
                              </a:schemeClr>
                            </a:solidFill>
                            <a:latin typeface="Cambria Math" panose="02040503050406030204" pitchFamily="18" charset="0"/>
                          </a:rPr>
                          <m:t>Unemp</m:t>
                        </m:r>
                      </m:sub>
                    </m:sSub>
                    <m:r>
                      <a:rPr lang="en-US" sz="1200" b="1" i="1">
                        <a:solidFill>
                          <a:schemeClr val="tx1">
                            <a:lumMod val="75000"/>
                            <a:lumOff val="25000"/>
                          </a:schemeClr>
                        </a:solidFill>
                        <a:latin typeface="Cambria Math" panose="02040503050406030204" pitchFamily="18" charset="0"/>
                      </a:rPr>
                      <m:t> </m:t>
                    </m:r>
                  </m:oMath>
                </a14:m>
                <a:r>
                  <a:rPr lang="en-US" sz="1200" dirty="0">
                    <a:latin typeface="Merriweather" pitchFamily="2" charset="77"/>
                  </a:rPr>
                  <a:t>shrinks to zero, the equation proves that </a:t>
                </a:r>
                <a:r>
                  <a:rPr lang="en-US" sz="1200" b="1" dirty="0">
                    <a:latin typeface="Merriweather" pitchFamily="2" charset="77"/>
                  </a:rPr>
                  <a:t>transportation vulnerability</a:t>
                </a:r>
                <a:r>
                  <a:rPr lang="en-US" sz="1200" dirty="0">
                    <a:latin typeface="Merriweather" pitchFamily="2" charset="77"/>
                  </a:rPr>
                  <a:t> is a stronger driver of migration than </a:t>
                </a:r>
                <a:r>
                  <a:rPr lang="en-US" sz="1200" b="1" dirty="0">
                    <a:latin typeface="Merriweather" pitchFamily="2" charset="77"/>
                  </a:rPr>
                  <a:t>unemployment</a:t>
                </a:r>
                <a:r>
                  <a:rPr lang="en-US" sz="1200" dirty="0">
                    <a:latin typeface="Merriweather" pitchFamily="2" charset="77"/>
                  </a:rPr>
                  <a:t> in our specific dataset</a:t>
                </a:r>
              </a:p>
            </p:txBody>
          </p:sp>
        </mc:Choice>
        <mc:Fallback xmlns="">
          <p:sp>
            <p:nvSpPr>
              <p:cNvPr id="2" name="TextBox 1">
                <a:extLst>
                  <a:ext uri="{FF2B5EF4-FFF2-40B4-BE49-F238E27FC236}">
                    <a16:creationId xmlns:a16="http://schemas.microsoft.com/office/drawing/2014/main" id="{4AACAB45-0C6E-B5C3-02F1-829E465F3DE6}"/>
                  </a:ext>
                </a:extLst>
              </p:cNvPr>
              <p:cNvSpPr txBox="1">
                <a:spLocks noRot="1" noChangeAspect="1" noMove="1" noResize="1" noEditPoints="1" noAdjustHandles="1" noChangeArrowheads="1" noChangeShapeType="1" noTextEdit="1"/>
              </p:cNvSpPr>
              <p:nvPr/>
            </p:nvSpPr>
            <p:spPr>
              <a:xfrm>
                <a:off x="472643" y="1519363"/>
                <a:ext cx="9336375" cy="5248168"/>
              </a:xfrm>
              <a:prstGeom prst="rect">
                <a:avLst/>
              </a:prstGeom>
              <a:blipFill>
                <a:blip r:embed="rId3"/>
                <a:stretch>
                  <a:fillRect l="-543" t="-483" r="-679"/>
                </a:stretch>
              </a:blipFill>
            </p:spPr>
            <p:txBody>
              <a:bodyPr/>
              <a:lstStyle/>
              <a:p>
                <a:r>
                  <a:rPr lang="en-US">
                    <a:noFill/>
                  </a:rPr>
                  <a:t> </a:t>
                </a:r>
              </a:p>
            </p:txBody>
          </p:sp>
        </mc:Fallback>
      </mc:AlternateContent>
      <p:sp>
        <p:nvSpPr>
          <p:cNvPr id="7" name="Google Shape;121;p15">
            <a:extLst>
              <a:ext uri="{FF2B5EF4-FFF2-40B4-BE49-F238E27FC236}">
                <a16:creationId xmlns:a16="http://schemas.microsoft.com/office/drawing/2014/main" id="{C0910809-4DFB-18ED-54C4-2580D01E1D62}"/>
              </a:ext>
            </a:extLst>
          </p:cNvPr>
          <p:cNvSpPr txBox="1"/>
          <p:nvPr/>
        </p:nvSpPr>
        <p:spPr>
          <a:xfrm>
            <a:off x="571500" y="764076"/>
            <a:ext cx="11601450" cy="430887"/>
          </a:xfrm>
          <a:prstGeom prst="rect">
            <a:avLst/>
          </a:prstGeom>
          <a:noFill/>
          <a:ln>
            <a:noFill/>
          </a:ln>
        </p:spPr>
        <p:txBody>
          <a:bodyPr spcFirstLastPara="1" wrap="square" lIns="0" tIns="0" rIns="0" bIns="0" anchor="t" anchorCtr="0">
            <a:spAutoFit/>
          </a:bodyPr>
          <a:lstStyle/>
          <a:p>
            <a:pPr lvl="0"/>
            <a:r>
              <a:rPr lang="en-US" sz="2800" b="1" dirty="0">
                <a:latin typeface="Merriweather" pitchFamily="2" charset="77"/>
              </a:rPr>
              <a:t>Supervised Learning: Forecasting Population Loss</a:t>
            </a:r>
            <a:endParaRPr sz="2800" b="1" dirty="0">
              <a:latin typeface="Merriweather" pitchFamily="2" charset="77"/>
            </a:endParaRPr>
          </a:p>
        </p:txBody>
      </p:sp>
    </p:spTree>
    <p:extLst>
      <p:ext uri="{BB962C8B-B14F-4D97-AF65-F5344CB8AC3E}">
        <p14:creationId xmlns:p14="http://schemas.microsoft.com/office/powerpoint/2010/main" val="140712119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08">
          <a:extLst>
            <a:ext uri="{FF2B5EF4-FFF2-40B4-BE49-F238E27FC236}">
              <a16:creationId xmlns:a16="http://schemas.microsoft.com/office/drawing/2014/main" id="{20EB2950-2428-5E7D-FF80-C33D232E4274}"/>
            </a:ext>
          </a:extLst>
        </p:cNvPr>
        <p:cNvGrpSpPr/>
        <p:nvPr/>
      </p:nvGrpSpPr>
      <p:grpSpPr>
        <a:xfrm>
          <a:off x="0" y="0"/>
          <a:ext cx="0" cy="0"/>
          <a:chOff x="0" y="0"/>
          <a:chExt cx="0" cy="0"/>
        </a:xfrm>
      </p:grpSpPr>
      <p:sp>
        <p:nvSpPr>
          <p:cNvPr id="121" name="Google Shape;121;p15">
            <a:extLst>
              <a:ext uri="{FF2B5EF4-FFF2-40B4-BE49-F238E27FC236}">
                <a16:creationId xmlns:a16="http://schemas.microsoft.com/office/drawing/2014/main" id="{9BD82C1E-F47E-0BA1-D5BC-73146FA9B191}"/>
              </a:ext>
            </a:extLst>
          </p:cNvPr>
          <p:cNvSpPr txBox="1"/>
          <p:nvPr/>
        </p:nvSpPr>
        <p:spPr>
          <a:xfrm>
            <a:off x="571500" y="764076"/>
            <a:ext cx="11601450" cy="430887"/>
          </a:xfrm>
          <a:prstGeom prst="rect">
            <a:avLst/>
          </a:prstGeom>
          <a:noFill/>
          <a:ln>
            <a:noFill/>
          </a:ln>
        </p:spPr>
        <p:txBody>
          <a:bodyPr spcFirstLastPara="1" wrap="square" lIns="0" tIns="0" rIns="0" bIns="0" anchor="t" anchorCtr="0">
            <a:spAutoFit/>
          </a:bodyPr>
          <a:lstStyle/>
          <a:p>
            <a:pPr lvl="0"/>
            <a:r>
              <a:rPr lang="en-US" sz="2800" b="1" dirty="0">
                <a:latin typeface="Merriweather" pitchFamily="2" charset="77"/>
              </a:rPr>
              <a:t>Supervised Learning: Forecasting Population Loss (Cont.)</a:t>
            </a:r>
            <a:endParaRPr sz="2800" b="1" dirty="0">
              <a:latin typeface="Merriweather" pitchFamily="2" charset="77"/>
            </a:endParaRPr>
          </a:p>
        </p:txBody>
      </p:sp>
      <p:sp>
        <p:nvSpPr>
          <p:cNvPr id="122" name="Google Shape;122;p15">
            <a:extLst>
              <a:ext uri="{FF2B5EF4-FFF2-40B4-BE49-F238E27FC236}">
                <a16:creationId xmlns:a16="http://schemas.microsoft.com/office/drawing/2014/main" id="{62E4B516-81D4-83EC-FF89-CCE629FE8358}"/>
              </a:ext>
            </a:extLst>
          </p:cNvPr>
          <p:cNvSpPr/>
          <p:nvPr/>
        </p:nvSpPr>
        <p:spPr>
          <a:xfrm>
            <a:off x="571500" y="1214437"/>
            <a:ext cx="11049000" cy="28575"/>
          </a:xfrm>
          <a:prstGeom prst="rect">
            <a:avLst/>
          </a:prstGeom>
          <a:solidFill>
            <a:srgbClr val="00508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032D67AD-0F58-6B2F-24E6-FF34E893A269}"/>
                  </a:ext>
                </a:extLst>
              </p:cNvPr>
              <p:cNvSpPr txBox="1"/>
              <p:nvPr/>
            </p:nvSpPr>
            <p:spPr>
              <a:xfrm>
                <a:off x="472643" y="1519363"/>
                <a:ext cx="9336375" cy="5171609"/>
              </a:xfrm>
              <a:prstGeom prst="rect">
                <a:avLst/>
              </a:prstGeom>
              <a:noFill/>
            </p:spPr>
            <p:txBody>
              <a:bodyPr wrap="square">
                <a:spAutoFit/>
              </a:bodyPr>
              <a:lstStyle/>
              <a:p>
                <a:pPr marL="285750" indent="-285750">
                  <a:buFont typeface="Arial" panose="020B0604020202020204" pitchFamily="34" charset="0"/>
                  <a:buChar char="•"/>
                </a:pPr>
                <a:r>
                  <a:rPr lang="en-US" b="1" dirty="0">
                    <a:latin typeface="Merriweather" pitchFamily="2" charset="77"/>
                  </a:rPr>
                  <a:t>Random Forest (Regression Trees)</a:t>
                </a:r>
                <a:endParaRPr lang="en-US" dirty="0">
                  <a:latin typeface="Merriweather" pitchFamily="2" charset="77"/>
                </a:endParaRPr>
              </a:p>
              <a:p>
                <a:pPr marL="742950" lvl="1" indent="-285750">
                  <a:buFont typeface="Arial" panose="020B0604020202020204" pitchFamily="34" charset="0"/>
                  <a:buChar char="•"/>
                </a:pPr>
                <a:r>
                  <a:rPr lang="en-US" b="1" dirty="0">
                    <a:latin typeface="Merriweather" pitchFamily="2" charset="77"/>
                  </a:rPr>
                  <a:t>Why use it?</a:t>
                </a:r>
                <a:r>
                  <a:rPr lang="en-US" dirty="0">
                    <a:latin typeface="Merriweather" pitchFamily="2" charset="77"/>
                  </a:rPr>
                  <a:t> Linear models assume smooth trends. Natural disasters (hurricanes/earthquakes) are not smooth; they are "cliffs." Trees handle this by splitting data into "Normal Years" and "Shock Years.”</a:t>
                </a:r>
              </a:p>
              <a:p>
                <a:pPr marL="742950" lvl="1" indent="-285750">
                  <a:buFont typeface="Arial" panose="020B0604020202020204" pitchFamily="34" charset="0"/>
                  <a:buChar char="•"/>
                </a:pPr>
                <a:endParaRPr lang="en-US" dirty="0">
                  <a:latin typeface="Merriweather" pitchFamily="2" charset="77"/>
                </a:endParaRPr>
              </a:p>
              <a:p>
                <a:pPr marL="742950" lvl="1" indent="-285750">
                  <a:buFont typeface="Arial" panose="020B0604020202020204" pitchFamily="34" charset="0"/>
                  <a:buChar char="•"/>
                </a:pPr>
                <a:r>
                  <a:rPr lang="en-US" b="1" dirty="0">
                    <a:latin typeface="Merriweather" pitchFamily="2" charset="77"/>
                  </a:rPr>
                  <a:t>The Logic (Split Criterion):</a:t>
                </a:r>
                <a:r>
                  <a:rPr lang="en-US" dirty="0">
                    <a:latin typeface="Merriweather" pitchFamily="2" charset="77"/>
                  </a:rPr>
                  <a:t> The algorithm splits municipalities into groups to minimize the Variance </a:t>
                </a:r>
                <a:r>
                  <a:rPr lang="en-US" b="1" dirty="0">
                    <a:latin typeface="Merriweather" pitchFamily="2" charset="77"/>
                  </a:rPr>
                  <a:t>(Var) </a:t>
                </a:r>
                <a:r>
                  <a:rPr lang="en-US" dirty="0">
                    <a:latin typeface="Merriweather" pitchFamily="2" charset="77"/>
                  </a:rPr>
                  <a:t>of population loss within each group.</a:t>
                </a:r>
                <a:endParaRPr lang="en-US" dirty="0"/>
              </a:p>
              <a:p>
                <a:r>
                  <a:rPr lang="en-US" sz="1600" dirty="0"/>
                  <a:t> </a:t>
                </a:r>
                <a:endParaRPr lang="en-US" sz="2000" dirty="0">
                  <a:latin typeface="Merriweather" pitchFamily="2" charset="77"/>
                </a:endParaRPr>
              </a:p>
              <a:p>
                <a:pPr lvl="1"/>
                <a14:m>
                  <m:oMathPara xmlns:m="http://schemas.openxmlformats.org/officeDocument/2006/math">
                    <m:oMathParaPr>
                      <m:jc m:val="centerGroup"/>
                    </m:oMathParaPr>
                    <m:oMath xmlns:m="http://schemas.openxmlformats.org/officeDocument/2006/math">
                      <m:r>
                        <m:rPr>
                          <m:nor/>
                        </m:rPr>
                        <a:rPr lang="en-US" sz="1600" b="1" i="0" smtClean="0">
                          <a:solidFill>
                            <a:schemeClr val="tx1">
                              <a:lumMod val="75000"/>
                              <a:lumOff val="25000"/>
                            </a:schemeClr>
                          </a:solidFill>
                          <a:latin typeface="Cambria Math" panose="02040503050406030204" pitchFamily="18" charset="0"/>
                        </a:rPr>
                        <m:t>Gain</m:t>
                      </m:r>
                      <m:r>
                        <a:rPr lang="en-US" sz="1600" b="1" i="1">
                          <a:solidFill>
                            <a:schemeClr val="tx1">
                              <a:lumMod val="75000"/>
                              <a:lumOff val="25000"/>
                            </a:schemeClr>
                          </a:solidFill>
                          <a:latin typeface="Cambria Math" panose="02040503050406030204" pitchFamily="18" charset="0"/>
                        </a:rPr>
                        <m:t>=</m:t>
                      </m:r>
                      <m:r>
                        <a:rPr lang="en-US" sz="1600" b="1" i="1">
                          <a:solidFill>
                            <a:schemeClr val="tx1">
                              <a:lumMod val="75000"/>
                              <a:lumOff val="25000"/>
                            </a:schemeClr>
                          </a:solidFill>
                          <a:latin typeface="Cambria Math" panose="02040503050406030204" pitchFamily="18" charset="0"/>
                        </a:rPr>
                        <m:t>𝑽𝒂</m:t>
                      </m:r>
                      <m:sSub>
                        <m:sSubPr>
                          <m:ctrlPr>
                            <a:rPr lang="en-US" sz="1600" b="1" i="1">
                              <a:solidFill>
                                <a:schemeClr val="tx1">
                                  <a:lumMod val="75000"/>
                                  <a:lumOff val="25000"/>
                                </a:schemeClr>
                              </a:solidFill>
                              <a:latin typeface="Cambria Math" panose="02040503050406030204" pitchFamily="18" charset="0"/>
                            </a:rPr>
                          </m:ctrlPr>
                        </m:sSubPr>
                        <m:e>
                          <m:r>
                            <a:rPr lang="en-US" sz="1600" b="1" i="1">
                              <a:solidFill>
                                <a:schemeClr val="tx1">
                                  <a:lumMod val="75000"/>
                                  <a:lumOff val="25000"/>
                                </a:schemeClr>
                              </a:solidFill>
                              <a:latin typeface="Cambria Math" panose="02040503050406030204" pitchFamily="18" charset="0"/>
                            </a:rPr>
                            <m:t>𝒓</m:t>
                          </m:r>
                        </m:e>
                        <m:sub>
                          <m:r>
                            <a:rPr lang="en-US" sz="1600" b="1" i="1">
                              <a:solidFill>
                                <a:schemeClr val="tx1">
                                  <a:lumMod val="75000"/>
                                  <a:lumOff val="25000"/>
                                </a:schemeClr>
                              </a:solidFill>
                              <a:latin typeface="Cambria Math" panose="02040503050406030204" pitchFamily="18" charset="0"/>
                            </a:rPr>
                            <m:t>𝒑𝒂𝒓𝒆𝒏𝒕</m:t>
                          </m:r>
                        </m:sub>
                      </m:sSub>
                      <m:r>
                        <a:rPr lang="en-US" sz="1600" b="1" i="1">
                          <a:solidFill>
                            <a:schemeClr val="tx1">
                              <a:lumMod val="75000"/>
                              <a:lumOff val="25000"/>
                            </a:schemeClr>
                          </a:solidFill>
                          <a:latin typeface="Cambria Math" panose="02040503050406030204" pitchFamily="18" charset="0"/>
                        </a:rPr>
                        <m:t>−</m:t>
                      </m:r>
                      <m:d>
                        <m:dPr>
                          <m:ctrlPr>
                            <a:rPr lang="en-US" sz="1600" b="1" i="1">
                              <a:solidFill>
                                <a:schemeClr val="tx1">
                                  <a:lumMod val="75000"/>
                                  <a:lumOff val="25000"/>
                                </a:schemeClr>
                              </a:solidFill>
                              <a:latin typeface="Cambria Math" panose="02040503050406030204" pitchFamily="18" charset="0"/>
                            </a:rPr>
                          </m:ctrlPr>
                        </m:dPr>
                        <m:e>
                          <m:f>
                            <m:fPr>
                              <m:ctrlPr>
                                <a:rPr lang="en-US" sz="1600" b="1" i="1">
                                  <a:solidFill>
                                    <a:schemeClr val="tx1">
                                      <a:lumMod val="75000"/>
                                      <a:lumOff val="25000"/>
                                    </a:schemeClr>
                                  </a:solidFill>
                                  <a:latin typeface="Cambria Math" panose="02040503050406030204" pitchFamily="18" charset="0"/>
                                </a:rPr>
                              </m:ctrlPr>
                            </m:fPr>
                            <m:num>
                              <m:sSub>
                                <m:sSubPr>
                                  <m:ctrlPr>
                                    <a:rPr lang="en-US" sz="1600" b="1" i="1">
                                      <a:solidFill>
                                        <a:schemeClr val="tx1">
                                          <a:lumMod val="75000"/>
                                          <a:lumOff val="25000"/>
                                        </a:schemeClr>
                                      </a:solidFill>
                                      <a:latin typeface="Cambria Math" panose="02040503050406030204" pitchFamily="18" charset="0"/>
                                    </a:rPr>
                                  </m:ctrlPr>
                                </m:sSubPr>
                                <m:e>
                                  <m:r>
                                    <a:rPr lang="en-US" sz="1600" b="1" i="1">
                                      <a:solidFill>
                                        <a:schemeClr val="tx1">
                                          <a:lumMod val="75000"/>
                                          <a:lumOff val="25000"/>
                                        </a:schemeClr>
                                      </a:solidFill>
                                      <a:latin typeface="Cambria Math" panose="02040503050406030204" pitchFamily="18" charset="0"/>
                                    </a:rPr>
                                    <m:t>𝑵</m:t>
                                  </m:r>
                                </m:e>
                                <m:sub>
                                  <m:r>
                                    <a:rPr lang="en-US" sz="1600" b="1" i="1">
                                      <a:solidFill>
                                        <a:schemeClr val="tx1">
                                          <a:lumMod val="75000"/>
                                          <a:lumOff val="25000"/>
                                        </a:schemeClr>
                                      </a:solidFill>
                                      <a:latin typeface="Cambria Math" panose="02040503050406030204" pitchFamily="18" charset="0"/>
                                    </a:rPr>
                                    <m:t>𝒍𝒆𝒇𝒕</m:t>
                                  </m:r>
                                </m:sub>
                              </m:sSub>
                            </m:num>
                            <m:den>
                              <m:r>
                                <a:rPr lang="en-US" sz="1600" b="1" i="1">
                                  <a:solidFill>
                                    <a:schemeClr val="tx1">
                                      <a:lumMod val="75000"/>
                                      <a:lumOff val="25000"/>
                                    </a:schemeClr>
                                  </a:solidFill>
                                  <a:latin typeface="Cambria Math" panose="02040503050406030204" pitchFamily="18" charset="0"/>
                                </a:rPr>
                                <m:t>𝑵</m:t>
                              </m:r>
                            </m:den>
                          </m:f>
                          <m:r>
                            <a:rPr lang="en-US" sz="1600" b="1" i="1">
                              <a:solidFill>
                                <a:schemeClr val="tx1">
                                  <a:lumMod val="75000"/>
                                  <a:lumOff val="25000"/>
                                </a:schemeClr>
                              </a:solidFill>
                              <a:latin typeface="Cambria Math" panose="02040503050406030204" pitchFamily="18" charset="0"/>
                            </a:rPr>
                            <m:t>𝑽𝒂</m:t>
                          </m:r>
                          <m:sSub>
                            <m:sSubPr>
                              <m:ctrlPr>
                                <a:rPr lang="en-US" sz="1600" b="1" i="1">
                                  <a:solidFill>
                                    <a:schemeClr val="tx1">
                                      <a:lumMod val="75000"/>
                                      <a:lumOff val="25000"/>
                                    </a:schemeClr>
                                  </a:solidFill>
                                  <a:latin typeface="Cambria Math" panose="02040503050406030204" pitchFamily="18" charset="0"/>
                                </a:rPr>
                              </m:ctrlPr>
                            </m:sSubPr>
                            <m:e>
                              <m:r>
                                <a:rPr lang="en-US" sz="1600" b="1" i="1">
                                  <a:solidFill>
                                    <a:schemeClr val="tx1">
                                      <a:lumMod val="75000"/>
                                      <a:lumOff val="25000"/>
                                    </a:schemeClr>
                                  </a:solidFill>
                                  <a:latin typeface="Cambria Math" panose="02040503050406030204" pitchFamily="18" charset="0"/>
                                </a:rPr>
                                <m:t>𝒓</m:t>
                              </m:r>
                            </m:e>
                            <m:sub>
                              <m:r>
                                <a:rPr lang="en-US" sz="1600" b="1" i="1">
                                  <a:solidFill>
                                    <a:schemeClr val="tx1">
                                      <a:lumMod val="75000"/>
                                      <a:lumOff val="25000"/>
                                    </a:schemeClr>
                                  </a:solidFill>
                                  <a:latin typeface="Cambria Math" panose="02040503050406030204" pitchFamily="18" charset="0"/>
                                </a:rPr>
                                <m:t>𝒍𝒆𝒇𝒕</m:t>
                              </m:r>
                            </m:sub>
                          </m:sSub>
                          <m:r>
                            <a:rPr lang="en-US" sz="1600" b="1" i="1">
                              <a:solidFill>
                                <a:schemeClr val="tx1">
                                  <a:lumMod val="75000"/>
                                  <a:lumOff val="25000"/>
                                </a:schemeClr>
                              </a:solidFill>
                              <a:latin typeface="Cambria Math" panose="02040503050406030204" pitchFamily="18" charset="0"/>
                            </a:rPr>
                            <m:t>+</m:t>
                          </m:r>
                          <m:f>
                            <m:fPr>
                              <m:ctrlPr>
                                <a:rPr lang="en-US" sz="1600" b="1" i="1">
                                  <a:solidFill>
                                    <a:schemeClr val="tx1">
                                      <a:lumMod val="75000"/>
                                      <a:lumOff val="25000"/>
                                    </a:schemeClr>
                                  </a:solidFill>
                                  <a:latin typeface="Cambria Math" panose="02040503050406030204" pitchFamily="18" charset="0"/>
                                </a:rPr>
                              </m:ctrlPr>
                            </m:fPr>
                            <m:num>
                              <m:sSub>
                                <m:sSubPr>
                                  <m:ctrlPr>
                                    <a:rPr lang="en-US" sz="1600" b="1" i="1">
                                      <a:solidFill>
                                        <a:schemeClr val="tx1">
                                          <a:lumMod val="75000"/>
                                          <a:lumOff val="25000"/>
                                        </a:schemeClr>
                                      </a:solidFill>
                                      <a:latin typeface="Cambria Math" panose="02040503050406030204" pitchFamily="18" charset="0"/>
                                    </a:rPr>
                                  </m:ctrlPr>
                                </m:sSubPr>
                                <m:e>
                                  <m:r>
                                    <a:rPr lang="en-US" sz="1600" b="1" i="1">
                                      <a:solidFill>
                                        <a:schemeClr val="tx1">
                                          <a:lumMod val="75000"/>
                                          <a:lumOff val="25000"/>
                                        </a:schemeClr>
                                      </a:solidFill>
                                      <a:latin typeface="Cambria Math" panose="02040503050406030204" pitchFamily="18" charset="0"/>
                                    </a:rPr>
                                    <m:t>𝑵</m:t>
                                  </m:r>
                                </m:e>
                                <m:sub>
                                  <m:r>
                                    <a:rPr lang="en-US" sz="1600" b="1" i="1">
                                      <a:solidFill>
                                        <a:schemeClr val="tx1">
                                          <a:lumMod val="75000"/>
                                          <a:lumOff val="25000"/>
                                        </a:schemeClr>
                                      </a:solidFill>
                                      <a:latin typeface="Cambria Math" panose="02040503050406030204" pitchFamily="18" charset="0"/>
                                    </a:rPr>
                                    <m:t>𝒓𝒊𝒈𝒉𝒕</m:t>
                                  </m:r>
                                </m:sub>
                              </m:sSub>
                            </m:num>
                            <m:den>
                              <m:r>
                                <a:rPr lang="en-US" sz="1600" b="1" i="1">
                                  <a:solidFill>
                                    <a:schemeClr val="tx1">
                                      <a:lumMod val="75000"/>
                                      <a:lumOff val="25000"/>
                                    </a:schemeClr>
                                  </a:solidFill>
                                  <a:latin typeface="Cambria Math" panose="02040503050406030204" pitchFamily="18" charset="0"/>
                                </a:rPr>
                                <m:t>𝑵</m:t>
                              </m:r>
                            </m:den>
                          </m:f>
                          <m:r>
                            <a:rPr lang="en-US" sz="1600" b="1" i="1">
                              <a:solidFill>
                                <a:schemeClr val="tx1">
                                  <a:lumMod val="75000"/>
                                  <a:lumOff val="25000"/>
                                </a:schemeClr>
                              </a:solidFill>
                              <a:latin typeface="Cambria Math" panose="02040503050406030204" pitchFamily="18" charset="0"/>
                            </a:rPr>
                            <m:t>𝑽𝒂</m:t>
                          </m:r>
                          <m:sSub>
                            <m:sSubPr>
                              <m:ctrlPr>
                                <a:rPr lang="en-US" sz="1600" b="1" i="1">
                                  <a:solidFill>
                                    <a:schemeClr val="tx1">
                                      <a:lumMod val="75000"/>
                                      <a:lumOff val="25000"/>
                                    </a:schemeClr>
                                  </a:solidFill>
                                  <a:latin typeface="Cambria Math" panose="02040503050406030204" pitchFamily="18" charset="0"/>
                                </a:rPr>
                              </m:ctrlPr>
                            </m:sSubPr>
                            <m:e>
                              <m:r>
                                <a:rPr lang="en-US" sz="1600" b="1" i="1">
                                  <a:solidFill>
                                    <a:schemeClr val="tx1">
                                      <a:lumMod val="75000"/>
                                      <a:lumOff val="25000"/>
                                    </a:schemeClr>
                                  </a:solidFill>
                                  <a:latin typeface="Cambria Math" panose="02040503050406030204" pitchFamily="18" charset="0"/>
                                </a:rPr>
                                <m:t>𝒓</m:t>
                              </m:r>
                            </m:e>
                            <m:sub>
                              <m:r>
                                <a:rPr lang="en-US" sz="1600" b="1" i="1">
                                  <a:solidFill>
                                    <a:schemeClr val="tx1">
                                      <a:lumMod val="75000"/>
                                      <a:lumOff val="25000"/>
                                    </a:schemeClr>
                                  </a:solidFill>
                                  <a:latin typeface="Cambria Math" panose="02040503050406030204" pitchFamily="18" charset="0"/>
                                </a:rPr>
                                <m:t>𝒓𝒊𝒈𝒉𝒕</m:t>
                              </m:r>
                            </m:sub>
                          </m:sSub>
                        </m:e>
                      </m:d>
                    </m:oMath>
                  </m:oMathPara>
                </a14:m>
                <a:endParaRPr lang="en-US" sz="2000" b="1" dirty="0">
                  <a:solidFill>
                    <a:schemeClr val="tx1">
                      <a:lumMod val="75000"/>
                      <a:lumOff val="25000"/>
                    </a:schemeClr>
                  </a:solidFill>
                  <a:latin typeface="Merriweather" pitchFamily="2" charset="77"/>
                </a:endParaRPr>
              </a:p>
              <a:p>
                <a:pPr lvl="1"/>
                <a:endParaRPr lang="en-US" sz="2000" b="1" dirty="0">
                  <a:solidFill>
                    <a:schemeClr val="tx1">
                      <a:lumMod val="75000"/>
                      <a:lumOff val="25000"/>
                    </a:schemeClr>
                  </a:solidFill>
                  <a:latin typeface="Merriweather" pitchFamily="2" charset="77"/>
                </a:endParaRPr>
              </a:p>
              <a:p>
                <a:pPr lvl="1"/>
                <a:endParaRPr lang="en-US" sz="2000" b="1" dirty="0">
                  <a:solidFill>
                    <a:schemeClr val="tx1">
                      <a:lumMod val="75000"/>
                      <a:lumOff val="25000"/>
                    </a:schemeClr>
                  </a:solidFill>
                  <a:latin typeface="Merriweather" pitchFamily="2" charset="77"/>
                </a:endParaRPr>
              </a:p>
              <a:p>
                <a:pPr lvl="1"/>
                <a:r>
                  <a:rPr lang="en-US" sz="1400" dirty="0">
                    <a:latin typeface="Merriweather" pitchFamily="2" charset="77"/>
                  </a:rPr>
                  <a:t>The model might make its </a:t>
                </a:r>
                <a:r>
                  <a:rPr lang="en-US" sz="1400" b="1" dirty="0">
                    <a:latin typeface="Merriweather" pitchFamily="2" charset="77"/>
                  </a:rPr>
                  <a:t>root split</a:t>
                </a:r>
                <a:r>
                  <a:rPr lang="en-US" sz="1400" dirty="0">
                    <a:latin typeface="Merriweather" pitchFamily="2" charset="77"/>
                  </a:rPr>
                  <a:t> based on the Hazard Variable </a:t>
                </a:r>
                <a14:m>
                  <m:oMath xmlns:m="http://schemas.openxmlformats.org/officeDocument/2006/math">
                    <m:sSub>
                      <m:sSubPr>
                        <m:ctrlPr>
                          <a:rPr lang="en-US" sz="1400" i="1">
                            <a:latin typeface="Cambria Math" panose="02040503050406030204" pitchFamily="18" charset="0"/>
                          </a:rPr>
                        </m:ctrlPr>
                      </m:sSubPr>
                      <m:e>
                        <m:r>
                          <a:rPr lang="en-US" sz="1400" i="1">
                            <a:latin typeface="Cambria Math" panose="02040503050406030204" pitchFamily="18" charset="0"/>
                          </a:rPr>
                          <m:t>𝐻</m:t>
                        </m:r>
                      </m:e>
                      <m:sub>
                        <m:r>
                          <a:rPr lang="en-US" sz="1400" i="1">
                            <a:latin typeface="Cambria Math" panose="02040503050406030204" pitchFamily="18" charset="0"/>
                          </a:rPr>
                          <m:t>h𝑎𝑧𝑎𝑟𝑑</m:t>
                        </m:r>
                      </m:sub>
                    </m:sSub>
                  </m:oMath>
                </a14:m>
                <a:r>
                  <a:rPr lang="en-US" sz="1400" dirty="0">
                    <a:latin typeface="Merriweather" pitchFamily="2" charset="77"/>
                  </a:rPr>
                  <a:t>:</a:t>
                </a:r>
              </a:p>
              <a:p>
                <a:pPr lvl="1"/>
                <a:endParaRPr lang="en-US" sz="1400" dirty="0">
                  <a:latin typeface="Merriweather" pitchFamily="2" charset="77"/>
                </a:endParaRPr>
              </a:p>
              <a:p>
                <a:pPr lvl="2"/>
                <a:r>
                  <a:rPr lang="en-US" sz="1400" b="1" dirty="0">
                    <a:latin typeface="Merriweather" pitchFamily="2" charset="77"/>
                  </a:rPr>
                  <a:t>IF</a:t>
                </a:r>
                <a:r>
                  <a:rPr lang="en-US" sz="1400" dirty="0">
                    <a:latin typeface="Merriweather" pitchFamily="2" charset="77"/>
                  </a:rPr>
                  <a:t> </a:t>
                </a:r>
                <a14:m>
                  <m:oMath xmlns:m="http://schemas.openxmlformats.org/officeDocument/2006/math">
                    <m:sSub>
                      <m:sSubPr>
                        <m:ctrlPr>
                          <a:rPr lang="en-US" sz="1400" i="1">
                            <a:latin typeface="Cambria Math" panose="02040503050406030204" pitchFamily="18" charset="0"/>
                          </a:rPr>
                        </m:ctrlPr>
                      </m:sSubPr>
                      <m:e>
                        <m:r>
                          <a:rPr lang="en-US" sz="1400" i="1">
                            <a:latin typeface="Cambria Math" panose="02040503050406030204" pitchFamily="18" charset="0"/>
                          </a:rPr>
                          <m:t>𝐻</m:t>
                        </m:r>
                      </m:e>
                      <m:sub>
                        <m:r>
                          <a:rPr lang="en-US" sz="1400" i="1">
                            <a:latin typeface="Cambria Math" panose="02040503050406030204" pitchFamily="18" charset="0"/>
                          </a:rPr>
                          <m:t>h𝑎𝑧𝑎𝑟𝑑</m:t>
                        </m:r>
                      </m:sub>
                    </m:sSub>
                    <m:r>
                      <a:rPr lang="en-US" sz="1400" i="1">
                        <a:latin typeface="Cambria Math" panose="02040503050406030204" pitchFamily="18" charset="0"/>
                      </a:rPr>
                      <m:t> </m:t>
                    </m:r>
                  </m:oMath>
                </a14:m>
                <a:r>
                  <a:rPr lang="en-US" sz="1400" dirty="0">
                    <a:latin typeface="Merriweather" pitchFamily="2" charset="77"/>
                  </a:rPr>
                  <a:t>= 1 (Hurricane Year): Go Left </a:t>
                </a:r>
                <a:r>
                  <a:rPr lang="en-US" sz="1400" dirty="0">
                    <a:latin typeface="Merriweather" pitchFamily="2" charset="77"/>
                    <a:sym typeface="Wingdings" pitchFamily="2" charset="2"/>
                  </a:rPr>
                  <a:t> </a:t>
                </a:r>
                <a:r>
                  <a:rPr lang="en-US" sz="1400" dirty="0">
                    <a:latin typeface="Merriweather" pitchFamily="2" charset="77"/>
                  </a:rPr>
                  <a:t>Predict high population loss.</a:t>
                </a:r>
              </a:p>
              <a:p>
                <a:pPr lvl="2"/>
                <a:r>
                  <a:rPr lang="en-US" sz="1400" b="1" dirty="0">
                    <a:latin typeface="Merriweather" pitchFamily="2" charset="77"/>
                  </a:rPr>
                  <a:t>IF</a:t>
                </a:r>
                <a:r>
                  <a:rPr lang="en-US" sz="1400" dirty="0">
                    <a:latin typeface="Merriweather" pitchFamily="2" charset="77"/>
                  </a:rPr>
                  <a:t> </a:t>
                </a:r>
                <a14:m>
                  <m:oMath xmlns:m="http://schemas.openxmlformats.org/officeDocument/2006/math">
                    <m:sSub>
                      <m:sSubPr>
                        <m:ctrlPr>
                          <a:rPr lang="en-US" sz="1400" i="1">
                            <a:latin typeface="Cambria Math" panose="02040503050406030204" pitchFamily="18" charset="0"/>
                          </a:rPr>
                        </m:ctrlPr>
                      </m:sSubPr>
                      <m:e>
                        <m:r>
                          <a:rPr lang="en-US" sz="1400" i="1">
                            <a:latin typeface="Cambria Math" panose="02040503050406030204" pitchFamily="18" charset="0"/>
                          </a:rPr>
                          <m:t>𝐻</m:t>
                        </m:r>
                      </m:e>
                      <m:sub>
                        <m:r>
                          <a:rPr lang="en-US" sz="1400" i="1">
                            <a:latin typeface="Cambria Math" panose="02040503050406030204" pitchFamily="18" charset="0"/>
                          </a:rPr>
                          <m:t>h𝑎𝑧𝑎𝑟𝑑</m:t>
                        </m:r>
                      </m:sub>
                    </m:sSub>
                    <m:r>
                      <a:rPr lang="en-US" sz="1400" i="1">
                        <a:latin typeface="Cambria Math" panose="02040503050406030204" pitchFamily="18" charset="0"/>
                      </a:rPr>
                      <m:t> </m:t>
                    </m:r>
                  </m:oMath>
                </a14:m>
                <a:r>
                  <a:rPr lang="en-US" sz="1400" dirty="0">
                    <a:latin typeface="Merriweather" pitchFamily="2" charset="77"/>
                  </a:rPr>
                  <a:t>= 0 (Normal Year): Go Right </a:t>
                </a:r>
                <a:r>
                  <a:rPr lang="en-US" sz="1400" dirty="0">
                    <a:latin typeface="Merriweather" pitchFamily="2" charset="77"/>
                    <a:sym typeface="Wingdings" pitchFamily="2" charset="2"/>
                  </a:rPr>
                  <a:t> </a:t>
                </a:r>
                <a:r>
                  <a:rPr lang="en-US" sz="1400" dirty="0">
                    <a:latin typeface="Merriweather" pitchFamily="2" charset="77"/>
                  </a:rPr>
                  <a:t>Check Economic Variables </a:t>
                </a:r>
                <a14:m>
                  <m:oMath xmlns:m="http://schemas.openxmlformats.org/officeDocument/2006/math">
                    <m:sSub>
                      <m:sSubPr>
                        <m:ctrlPr>
                          <a:rPr lang="en-US" sz="1400" i="1">
                            <a:latin typeface="Cambria Math" panose="02040503050406030204" pitchFamily="18" charset="0"/>
                          </a:rPr>
                        </m:ctrlPr>
                      </m:sSubPr>
                      <m:e>
                        <m:r>
                          <a:rPr lang="en-US" sz="1400" i="1">
                            <a:latin typeface="Cambria Math" panose="02040503050406030204" pitchFamily="18" charset="0"/>
                          </a:rPr>
                          <m:t>𝐸</m:t>
                        </m:r>
                      </m:e>
                      <m:sub>
                        <m:r>
                          <a:rPr lang="en-US" sz="1400" i="1">
                            <a:latin typeface="Cambria Math" panose="02040503050406030204" pitchFamily="18" charset="0"/>
                          </a:rPr>
                          <m:t>𝑢𝑛𝑒𝑚𝑝</m:t>
                        </m:r>
                      </m:sub>
                    </m:sSub>
                    <m:r>
                      <a:rPr lang="en-US" sz="1400" i="1">
                        <a:latin typeface="Cambria Math" panose="02040503050406030204" pitchFamily="18" charset="0"/>
                      </a:rPr>
                      <m:t> </m:t>
                    </m:r>
                  </m:oMath>
                </a14:m>
                <a:r>
                  <a:rPr lang="en-US" sz="1400" dirty="0">
                    <a:latin typeface="Merriweather" pitchFamily="2" charset="77"/>
                  </a:rPr>
                  <a:t>to refine the prediction.</a:t>
                </a:r>
              </a:p>
              <a:p>
                <a:pPr lvl="1"/>
                <a:endParaRPr lang="en-US" sz="1400" dirty="0">
                  <a:latin typeface="Merriweather" pitchFamily="2" charset="77"/>
                </a:endParaRPr>
              </a:p>
              <a:p>
                <a:pPr lvl="1"/>
                <a:r>
                  <a:rPr lang="en-US" sz="1400" dirty="0">
                    <a:latin typeface="Merriweather" pitchFamily="2" charset="77"/>
                  </a:rPr>
                  <a:t>This effectively captures the "Shock vs. Structural" dynamic.</a:t>
                </a:r>
              </a:p>
            </p:txBody>
          </p:sp>
        </mc:Choice>
        <mc:Fallback xmlns="">
          <p:sp>
            <p:nvSpPr>
              <p:cNvPr id="2" name="TextBox 1">
                <a:extLst>
                  <a:ext uri="{FF2B5EF4-FFF2-40B4-BE49-F238E27FC236}">
                    <a16:creationId xmlns:a16="http://schemas.microsoft.com/office/drawing/2014/main" id="{032D67AD-0F58-6B2F-24E6-FF34E893A269}"/>
                  </a:ext>
                </a:extLst>
              </p:cNvPr>
              <p:cNvSpPr txBox="1">
                <a:spLocks noRot="1" noChangeAspect="1" noMove="1" noResize="1" noEditPoints="1" noAdjustHandles="1" noChangeArrowheads="1" noChangeShapeType="1" noTextEdit="1"/>
              </p:cNvSpPr>
              <p:nvPr/>
            </p:nvSpPr>
            <p:spPr>
              <a:xfrm>
                <a:off x="472643" y="1519363"/>
                <a:ext cx="9336375" cy="5171609"/>
              </a:xfrm>
              <a:prstGeom prst="rect">
                <a:avLst/>
              </a:prstGeom>
              <a:blipFill>
                <a:blip r:embed="rId3"/>
                <a:stretch>
                  <a:fillRect l="-408" t="-489"/>
                </a:stretch>
              </a:blipFill>
            </p:spPr>
            <p:txBody>
              <a:bodyPr/>
              <a:lstStyle/>
              <a:p>
                <a:r>
                  <a:rPr lang="en-US">
                    <a:noFill/>
                  </a:rPr>
                  <a:t> </a:t>
                </a:r>
              </a:p>
            </p:txBody>
          </p:sp>
        </mc:Fallback>
      </mc:AlternateContent>
    </p:spTree>
    <p:extLst>
      <p:ext uri="{BB962C8B-B14F-4D97-AF65-F5344CB8AC3E}">
        <p14:creationId xmlns:p14="http://schemas.microsoft.com/office/powerpoint/2010/main" val="314479850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08">
          <a:extLst>
            <a:ext uri="{FF2B5EF4-FFF2-40B4-BE49-F238E27FC236}">
              <a16:creationId xmlns:a16="http://schemas.microsoft.com/office/drawing/2014/main" id="{E980A3D1-0808-729F-75B9-ABE74F775B4C}"/>
            </a:ext>
          </a:extLst>
        </p:cNvPr>
        <p:cNvGrpSpPr/>
        <p:nvPr/>
      </p:nvGrpSpPr>
      <p:grpSpPr>
        <a:xfrm>
          <a:off x="0" y="0"/>
          <a:ext cx="0" cy="0"/>
          <a:chOff x="0" y="0"/>
          <a:chExt cx="0" cy="0"/>
        </a:xfrm>
      </p:grpSpPr>
      <p:sp>
        <p:nvSpPr>
          <p:cNvPr id="121" name="Google Shape;121;p15">
            <a:extLst>
              <a:ext uri="{FF2B5EF4-FFF2-40B4-BE49-F238E27FC236}">
                <a16:creationId xmlns:a16="http://schemas.microsoft.com/office/drawing/2014/main" id="{5DFA7EF6-54CE-5621-6B13-544B705E7AA7}"/>
              </a:ext>
            </a:extLst>
          </p:cNvPr>
          <p:cNvSpPr txBox="1"/>
          <p:nvPr/>
        </p:nvSpPr>
        <p:spPr>
          <a:xfrm>
            <a:off x="571500" y="764076"/>
            <a:ext cx="11601450" cy="430887"/>
          </a:xfrm>
          <a:prstGeom prst="rect">
            <a:avLst/>
          </a:prstGeom>
          <a:noFill/>
          <a:ln>
            <a:noFill/>
          </a:ln>
        </p:spPr>
        <p:txBody>
          <a:bodyPr spcFirstLastPara="1" wrap="square" lIns="0" tIns="0" rIns="0" bIns="0" anchor="t" anchorCtr="0">
            <a:spAutoFit/>
          </a:bodyPr>
          <a:lstStyle/>
          <a:p>
            <a:pPr lvl="0"/>
            <a:r>
              <a:rPr lang="en-US" sz="2800" b="1" dirty="0">
                <a:latin typeface="Merriweather" pitchFamily="2" charset="77"/>
              </a:rPr>
              <a:t>Unsupervised Learning: The Vulnerability Score</a:t>
            </a:r>
            <a:endParaRPr sz="2800" b="1" dirty="0">
              <a:latin typeface="Merriweather" pitchFamily="2" charset="77"/>
            </a:endParaRPr>
          </a:p>
        </p:txBody>
      </p:sp>
      <p:sp>
        <p:nvSpPr>
          <p:cNvPr id="122" name="Google Shape;122;p15">
            <a:extLst>
              <a:ext uri="{FF2B5EF4-FFF2-40B4-BE49-F238E27FC236}">
                <a16:creationId xmlns:a16="http://schemas.microsoft.com/office/drawing/2014/main" id="{04128C63-1862-D3F5-6B90-998325088067}"/>
              </a:ext>
            </a:extLst>
          </p:cNvPr>
          <p:cNvSpPr/>
          <p:nvPr/>
        </p:nvSpPr>
        <p:spPr>
          <a:xfrm>
            <a:off x="571500" y="1214437"/>
            <a:ext cx="11049000" cy="28575"/>
          </a:xfrm>
          <a:prstGeom prst="rect">
            <a:avLst/>
          </a:prstGeom>
          <a:solidFill>
            <a:srgbClr val="00508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2CDA93AE-6B20-F095-78C6-B7F50DF2A9C9}"/>
                  </a:ext>
                </a:extLst>
              </p:cNvPr>
              <p:cNvSpPr txBox="1"/>
              <p:nvPr/>
            </p:nvSpPr>
            <p:spPr>
              <a:xfrm>
                <a:off x="472643" y="1519363"/>
                <a:ext cx="9336375" cy="4748544"/>
              </a:xfrm>
              <a:prstGeom prst="rect">
                <a:avLst/>
              </a:prstGeom>
              <a:noFill/>
            </p:spPr>
            <p:txBody>
              <a:bodyPr wrap="square">
                <a:spAutoFit/>
              </a:bodyPr>
              <a:lstStyle/>
              <a:p>
                <a:pPr marL="285750" indent="-285750">
                  <a:buFont typeface="Arial" panose="020B0604020202020204" pitchFamily="34" charset="0"/>
                  <a:buChar char="•"/>
                </a:pPr>
                <a:r>
                  <a:rPr lang="en-US" b="1" dirty="0">
                    <a:latin typeface="Merriweather" pitchFamily="2" charset="77"/>
                  </a:rPr>
                  <a:t>K-Means Clustering</a:t>
                </a:r>
              </a:p>
              <a:p>
                <a:pPr marL="742950" lvl="1" indent="-285750">
                  <a:buFont typeface="Arial" panose="020B0604020202020204" pitchFamily="34" charset="0"/>
                  <a:buChar char="•"/>
                </a:pPr>
                <a:r>
                  <a:rPr lang="en-US" b="1" dirty="0">
                    <a:latin typeface="Merriweather" pitchFamily="2" charset="77"/>
                  </a:rPr>
                  <a:t>Why use it?</a:t>
                </a:r>
                <a:r>
                  <a:rPr lang="en-US" dirty="0">
                    <a:latin typeface="Merriweather" pitchFamily="2" charset="77"/>
                  </a:rPr>
                  <a:t> To group 78 municipalities into 3-4 "Risk Profiles" without being told the answer beforehand.</a:t>
                </a:r>
              </a:p>
              <a:p>
                <a:pPr marL="742950" lvl="1" indent="-285750">
                  <a:buFont typeface="Arial" panose="020B0604020202020204" pitchFamily="34" charset="0"/>
                  <a:buChar char="•"/>
                </a:pPr>
                <a:endParaRPr lang="en-US" dirty="0">
                  <a:latin typeface="Merriweather" pitchFamily="2" charset="77"/>
                </a:endParaRPr>
              </a:p>
              <a:p>
                <a:pPr marL="742950" lvl="1" indent="-285750">
                  <a:buFont typeface="Arial" panose="020B0604020202020204" pitchFamily="34" charset="0"/>
                  <a:buChar char="•"/>
                </a:pPr>
                <a:r>
                  <a:rPr lang="en-US" b="1" dirty="0">
                    <a:latin typeface="Merriweather" pitchFamily="2" charset="77"/>
                  </a:rPr>
                  <a:t>The Equation:</a:t>
                </a:r>
                <a:r>
                  <a:rPr lang="en-US" dirty="0">
                    <a:latin typeface="Merriweather" pitchFamily="2" charset="77"/>
                  </a:rPr>
                  <a:t> The algorithm finds k centroids (centers of clusters) and assigns every municipality to the nearest one by minimizing the "Within-Cluster Sum of Squares" (WCSS).</a:t>
                </a:r>
              </a:p>
              <a:p>
                <a:r>
                  <a:rPr lang="en-US" sz="1600" dirty="0">
                    <a:latin typeface="Merriweather" pitchFamily="2" charset="77"/>
                  </a:rPr>
                  <a:t> </a:t>
                </a:r>
                <a:endParaRPr lang="en-US" sz="2000" dirty="0">
                  <a:latin typeface="Merriweather" pitchFamily="2" charset="77"/>
                </a:endParaRPr>
              </a:p>
              <a:p>
                <a:pPr lvl="1"/>
                <a14:m>
                  <m:oMathPara xmlns:m="http://schemas.openxmlformats.org/officeDocument/2006/math">
                    <m:oMathParaPr>
                      <m:jc m:val="centerGroup"/>
                    </m:oMathParaPr>
                    <m:oMath xmlns:m="http://schemas.openxmlformats.org/officeDocument/2006/math">
                      <m:r>
                        <m:rPr>
                          <m:nor/>
                        </m:rPr>
                        <a:rPr lang="en-US" sz="1600" b="1" i="0" smtClean="0">
                          <a:solidFill>
                            <a:schemeClr val="tx1">
                              <a:lumMod val="75000"/>
                              <a:lumOff val="25000"/>
                            </a:schemeClr>
                          </a:solidFill>
                          <a:latin typeface="Merriweather" pitchFamily="2" charset="77"/>
                        </a:rPr>
                        <m:t>Minimize</m:t>
                      </m:r>
                      <m:nary>
                        <m:naryPr>
                          <m:chr m:val="∑"/>
                          <m:ctrlPr>
                            <a:rPr lang="en-US" sz="1600" b="1" i="1">
                              <a:solidFill>
                                <a:schemeClr val="tx1">
                                  <a:lumMod val="75000"/>
                                  <a:lumOff val="25000"/>
                                </a:schemeClr>
                              </a:solidFill>
                              <a:latin typeface="Cambria Math" panose="02040503050406030204" pitchFamily="18" charset="0"/>
                            </a:rPr>
                          </m:ctrlPr>
                        </m:naryPr>
                        <m:sub>
                          <m:r>
                            <a:rPr lang="en-US" sz="1600" b="1" i="1">
                              <a:solidFill>
                                <a:schemeClr val="tx1">
                                  <a:lumMod val="75000"/>
                                  <a:lumOff val="25000"/>
                                </a:schemeClr>
                              </a:solidFill>
                              <a:latin typeface="Cambria Math" panose="02040503050406030204" pitchFamily="18" charset="0"/>
                            </a:rPr>
                            <m:t>𝒋</m:t>
                          </m:r>
                          <m:r>
                            <a:rPr lang="en-US" sz="1600" b="1" i="1">
                              <a:solidFill>
                                <a:schemeClr val="tx1">
                                  <a:lumMod val="75000"/>
                                  <a:lumOff val="25000"/>
                                </a:schemeClr>
                              </a:solidFill>
                              <a:latin typeface="Cambria Math" panose="02040503050406030204" pitchFamily="18" charset="0"/>
                            </a:rPr>
                            <m:t>=</m:t>
                          </m:r>
                          <m:r>
                            <a:rPr lang="en-US" sz="1600" b="1" i="1">
                              <a:solidFill>
                                <a:schemeClr val="tx1">
                                  <a:lumMod val="75000"/>
                                  <a:lumOff val="25000"/>
                                </a:schemeClr>
                              </a:solidFill>
                              <a:latin typeface="Cambria Math" panose="02040503050406030204" pitchFamily="18" charset="0"/>
                            </a:rPr>
                            <m:t>𝟏</m:t>
                          </m:r>
                        </m:sub>
                        <m:sup>
                          <m:r>
                            <a:rPr lang="en-US" sz="1600" b="1" i="1">
                              <a:solidFill>
                                <a:schemeClr val="tx1">
                                  <a:lumMod val="75000"/>
                                  <a:lumOff val="25000"/>
                                </a:schemeClr>
                              </a:solidFill>
                              <a:latin typeface="Cambria Math" panose="02040503050406030204" pitchFamily="18" charset="0"/>
                            </a:rPr>
                            <m:t>𝒌</m:t>
                          </m:r>
                        </m:sup>
                        <m:e>
                          <m:nary>
                            <m:naryPr>
                              <m:chr m:val="∑"/>
                              <m:supHide m:val="on"/>
                              <m:ctrlPr>
                                <a:rPr lang="en-US" sz="1600" b="1" i="1">
                                  <a:solidFill>
                                    <a:schemeClr val="tx1">
                                      <a:lumMod val="75000"/>
                                      <a:lumOff val="25000"/>
                                    </a:schemeClr>
                                  </a:solidFill>
                                  <a:latin typeface="Cambria Math" panose="02040503050406030204" pitchFamily="18" charset="0"/>
                                </a:rPr>
                              </m:ctrlPr>
                            </m:naryPr>
                            <m:sub>
                              <m:r>
                                <a:rPr lang="en-US" sz="1600" b="1" i="1">
                                  <a:solidFill>
                                    <a:schemeClr val="tx1">
                                      <a:lumMod val="75000"/>
                                      <a:lumOff val="25000"/>
                                    </a:schemeClr>
                                  </a:solidFill>
                                  <a:latin typeface="Cambria Math" panose="02040503050406030204" pitchFamily="18" charset="0"/>
                                </a:rPr>
                                <m:t>𝒊</m:t>
                              </m:r>
                              <m:r>
                                <a:rPr lang="en-US" sz="1600" b="1" i="1">
                                  <a:solidFill>
                                    <a:schemeClr val="tx1">
                                      <a:lumMod val="75000"/>
                                      <a:lumOff val="25000"/>
                                    </a:schemeClr>
                                  </a:solidFill>
                                  <a:latin typeface="Cambria Math" panose="02040503050406030204" pitchFamily="18" charset="0"/>
                                </a:rPr>
                                <m:t>∈</m:t>
                              </m:r>
                              <m:sSub>
                                <m:sSubPr>
                                  <m:ctrlPr>
                                    <a:rPr lang="en-US" sz="1600" b="1" i="1">
                                      <a:solidFill>
                                        <a:schemeClr val="tx1">
                                          <a:lumMod val="75000"/>
                                          <a:lumOff val="25000"/>
                                        </a:schemeClr>
                                      </a:solidFill>
                                      <a:latin typeface="Cambria Math" panose="02040503050406030204" pitchFamily="18" charset="0"/>
                                    </a:rPr>
                                  </m:ctrlPr>
                                </m:sSubPr>
                                <m:e>
                                  <m:r>
                                    <a:rPr lang="en-US" sz="1600" b="1" i="1">
                                      <a:solidFill>
                                        <a:schemeClr val="tx1">
                                          <a:lumMod val="75000"/>
                                          <a:lumOff val="25000"/>
                                        </a:schemeClr>
                                      </a:solidFill>
                                      <a:latin typeface="Cambria Math" panose="02040503050406030204" pitchFamily="18" charset="0"/>
                                    </a:rPr>
                                    <m:t>𝑪</m:t>
                                  </m:r>
                                </m:e>
                                <m:sub>
                                  <m:r>
                                    <a:rPr lang="en-US" sz="1600" b="1" i="1">
                                      <a:solidFill>
                                        <a:schemeClr val="tx1">
                                          <a:lumMod val="75000"/>
                                          <a:lumOff val="25000"/>
                                        </a:schemeClr>
                                      </a:solidFill>
                                      <a:latin typeface="Cambria Math" panose="02040503050406030204" pitchFamily="18" charset="0"/>
                                    </a:rPr>
                                    <m:t>𝒋</m:t>
                                  </m:r>
                                </m:sub>
                              </m:sSub>
                            </m:sub>
                            <m:sup/>
                            <m:e>
                              <m:sSup>
                                <m:sSupPr>
                                  <m:ctrlPr>
                                    <a:rPr lang="en-US" sz="1600" b="1" i="1">
                                      <a:solidFill>
                                        <a:schemeClr val="tx1">
                                          <a:lumMod val="75000"/>
                                          <a:lumOff val="25000"/>
                                        </a:schemeClr>
                                      </a:solidFill>
                                      <a:latin typeface="Cambria Math" panose="02040503050406030204" pitchFamily="18" charset="0"/>
                                    </a:rPr>
                                  </m:ctrlPr>
                                </m:sSupPr>
                                <m:e>
                                  <m:d>
                                    <m:dPr>
                                      <m:begChr m:val="|"/>
                                      <m:endChr m:val="|"/>
                                      <m:ctrlPr>
                                        <a:rPr lang="en-US" sz="1600" b="1" i="1">
                                          <a:solidFill>
                                            <a:schemeClr val="tx1">
                                              <a:lumMod val="75000"/>
                                              <a:lumOff val="25000"/>
                                            </a:schemeClr>
                                          </a:solidFill>
                                          <a:latin typeface="Cambria Math" panose="02040503050406030204" pitchFamily="18" charset="0"/>
                                        </a:rPr>
                                      </m:ctrlPr>
                                    </m:dPr>
                                    <m:e>
                                      <m:d>
                                        <m:dPr>
                                          <m:begChr m:val="|"/>
                                          <m:endChr m:val="|"/>
                                          <m:ctrlPr>
                                            <a:rPr lang="en-US" sz="1600" b="1" i="1">
                                              <a:solidFill>
                                                <a:schemeClr val="tx1">
                                                  <a:lumMod val="75000"/>
                                                  <a:lumOff val="25000"/>
                                                </a:schemeClr>
                                              </a:solidFill>
                                              <a:latin typeface="Cambria Math" panose="02040503050406030204" pitchFamily="18" charset="0"/>
                                            </a:rPr>
                                          </m:ctrlPr>
                                        </m:dPr>
                                        <m:e>
                                          <m:sSub>
                                            <m:sSubPr>
                                              <m:ctrlPr>
                                                <a:rPr lang="en-US" sz="1600" b="1" i="1">
                                                  <a:solidFill>
                                                    <a:schemeClr val="tx1">
                                                      <a:lumMod val="75000"/>
                                                      <a:lumOff val="25000"/>
                                                    </a:schemeClr>
                                                  </a:solidFill>
                                                  <a:latin typeface="Cambria Math" panose="02040503050406030204" pitchFamily="18" charset="0"/>
                                                </a:rPr>
                                              </m:ctrlPr>
                                            </m:sSubPr>
                                            <m:e>
                                              <m:r>
                                                <a:rPr lang="en-US" sz="1600" b="1" i="1">
                                                  <a:solidFill>
                                                    <a:schemeClr val="tx1">
                                                      <a:lumMod val="75000"/>
                                                      <a:lumOff val="25000"/>
                                                    </a:schemeClr>
                                                  </a:solidFill>
                                                  <a:latin typeface="Cambria Math" panose="02040503050406030204" pitchFamily="18" charset="0"/>
                                                </a:rPr>
                                                <m:t>𝑿</m:t>
                                              </m:r>
                                            </m:e>
                                            <m:sub>
                                              <m:r>
                                                <a:rPr lang="en-US" sz="1600" b="1" i="1">
                                                  <a:solidFill>
                                                    <a:schemeClr val="tx1">
                                                      <a:lumMod val="75000"/>
                                                      <a:lumOff val="25000"/>
                                                    </a:schemeClr>
                                                  </a:solidFill>
                                                  <a:latin typeface="Cambria Math" panose="02040503050406030204" pitchFamily="18" charset="0"/>
                                                </a:rPr>
                                                <m:t>𝒊</m:t>
                                              </m:r>
                                            </m:sub>
                                          </m:sSub>
                                          <m:r>
                                            <a:rPr lang="en-US" sz="1600" b="1" i="1">
                                              <a:solidFill>
                                                <a:schemeClr val="tx1">
                                                  <a:lumMod val="75000"/>
                                                  <a:lumOff val="25000"/>
                                                </a:schemeClr>
                                              </a:solidFill>
                                              <a:latin typeface="Cambria Math" panose="02040503050406030204" pitchFamily="18" charset="0"/>
                                            </a:rPr>
                                            <m:t>−</m:t>
                                          </m:r>
                                          <m:sSub>
                                            <m:sSubPr>
                                              <m:ctrlPr>
                                                <a:rPr lang="en-US" sz="1600" b="1" i="1">
                                                  <a:solidFill>
                                                    <a:schemeClr val="tx1">
                                                      <a:lumMod val="75000"/>
                                                      <a:lumOff val="25000"/>
                                                    </a:schemeClr>
                                                  </a:solidFill>
                                                  <a:latin typeface="Cambria Math" panose="02040503050406030204" pitchFamily="18" charset="0"/>
                                                </a:rPr>
                                              </m:ctrlPr>
                                            </m:sSubPr>
                                            <m:e>
                                              <m:r>
                                                <a:rPr lang="en-US" sz="1600" b="1" i="1">
                                                  <a:solidFill>
                                                    <a:schemeClr val="tx1">
                                                      <a:lumMod val="75000"/>
                                                      <a:lumOff val="25000"/>
                                                    </a:schemeClr>
                                                  </a:solidFill>
                                                  <a:latin typeface="Cambria Math" panose="02040503050406030204" pitchFamily="18" charset="0"/>
                                                </a:rPr>
                                                <m:t>𝝁</m:t>
                                              </m:r>
                                            </m:e>
                                            <m:sub>
                                              <m:r>
                                                <a:rPr lang="en-US" sz="1600" b="1" i="1">
                                                  <a:solidFill>
                                                    <a:schemeClr val="tx1">
                                                      <a:lumMod val="75000"/>
                                                      <a:lumOff val="25000"/>
                                                    </a:schemeClr>
                                                  </a:solidFill>
                                                  <a:latin typeface="Cambria Math" panose="02040503050406030204" pitchFamily="18" charset="0"/>
                                                </a:rPr>
                                                <m:t>𝒋</m:t>
                                              </m:r>
                                            </m:sub>
                                          </m:sSub>
                                        </m:e>
                                      </m:d>
                                    </m:e>
                                  </m:d>
                                </m:e>
                                <m:sup>
                                  <m:r>
                                    <a:rPr lang="en-US" sz="1600" b="1" i="1">
                                      <a:solidFill>
                                        <a:schemeClr val="tx1">
                                          <a:lumMod val="75000"/>
                                          <a:lumOff val="25000"/>
                                        </a:schemeClr>
                                      </a:solidFill>
                                      <a:latin typeface="Cambria Math" panose="02040503050406030204" pitchFamily="18" charset="0"/>
                                    </a:rPr>
                                    <m:t>𝟐</m:t>
                                  </m:r>
                                </m:sup>
                              </m:sSup>
                            </m:e>
                          </m:nary>
                        </m:e>
                      </m:nary>
                    </m:oMath>
                  </m:oMathPara>
                </a14:m>
                <a:endParaRPr lang="en-US" sz="2000" b="1" dirty="0">
                  <a:solidFill>
                    <a:schemeClr val="tx1">
                      <a:lumMod val="75000"/>
                      <a:lumOff val="25000"/>
                    </a:schemeClr>
                  </a:solidFill>
                  <a:latin typeface="Merriweather" pitchFamily="2" charset="77"/>
                </a:endParaRPr>
              </a:p>
              <a:p>
                <a:pPr lvl="1"/>
                <a:endParaRPr lang="en-US" sz="2000" b="1" dirty="0">
                  <a:solidFill>
                    <a:schemeClr val="tx1">
                      <a:lumMod val="75000"/>
                      <a:lumOff val="25000"/>
                    </a:schemeClr>
                  </a:solidFill>
                  <a:latin typeface="Merriweather" pitchFamily="2" charset="77"/>
                </a:endParaRPr>
              </a:p>
              <a:p>
                <a:pPr marL="742950" lvl="1" indent="-285750">
                  <a:buFont typeface="Arial" panose="020B0604020202020204" pitchFamily="34" charset="0"/>
                  <a:buChar char="•"/>
                </a:pPr>
                <a14:m>
                  <m:oMath xmlns:m="http://schemas.openxmlformats.org/officeDocument/2006/math">
                    <m:sSub>
                      <m:sSubPr>
                        <m:ctrlPr>
                          <a:rPr lang="en-US" sz="1400" b="1" i="1" smtClean="0">
                            <a:solidFill>
                              <a:schemeClr val="tx1">
                                <a:lumMod val="75000"/>
                                <a:lumOff val="25000"/>
                              </a:schemeClr>
                            </a:solidFill>
                            <a:latin typeface="Cambria Math" panose="02040503050406030204" pitchFamily="18" charset="0"/>
                          </a:rPr>
                        </m:ctrlPr>
                      </m:sSubPr>
                      <m:e>
                        <m:r>
                          <a:rPr lang="en-US" sz="1400" b="1" i="1">
                            <a:solidFill>
                              <a:schemeClr val="tx1">
                                <a:lumMod val="75000"/>
                                <a:lumOff val="25000"/>
                              </a:schemeClr>
                            </a:solidFill>
                            <a:latin typeface="Cambria Math" panose="02040503050406030204" pitchFamily="18" charset="0"/>
                          </a:rPr>
                          <m:t>𝑿</m:t>
                        </m:r>
                      </m:e>
                      <m:sub>
                        <m:r>
                          <a:rPr lang="en-US" sz="1400" b="1" i="1">
                            <a:solidFill>
                              <a:schemeClr val="tx1">
                                <a:lumMod val="75000"/>
                                <a:lumOff val="25000"/>
                              </a:schemeClr>
                            </a:solidFill>
                            <a:latin typeface="Cambria Math" panose="02040503050406030204" pitchFamily="18" charset="0"/>
                          </a:rPr>
                          <m:t>𝒊</m:t>
                        </m:r>
                      </m:sub>
                    </m:sSub>
                    <m:r>
                      <a:rPr lang="en-US" sz="1400" b="1" i="1">
                        <a:solidFill>
                          <a:schemeClr val="tx1">
                            <a:lumMod val="75000"/>
                            <a:lumOff val="25000"/>
                          </a:schemeClr>
                        </a:solidFill>
                        <a:latin typeface="Cambria Math" panose="02040503050406030204" pitchFamily="18" charset="0"/>
                      </a:rPr>
                      <m:t> </m:t>
                    </m:r>
                    <m:r>
                      <a:rPr lang="en-US" sz="1400" b="1" i="1" smtClean="0">
                        <a:solidFill>
                          <a:schemeClr val="tx1">
                            <a:lumMod val="75000"/>
                            <a:lumOff val="25000"/>
                          </a:schemeClr>
                        </a:solidFill>
                        <a:latin typeface="Cambria Math" panose="02040503050406030204" pitchFamily="18" charset="0"/>
                      </a:rPr>
                      <m:t>: </m:t>
                    </m:r>
                  </m:oMath>
                </a14:m>
                <a:r>
                  <a:rPr lang="en-US" sz="1400" dirty="0">
                    <a:latin typeface="Merriweather" pitchFamily="2" charset="77"/>
                  </a:rPr>
                  <a:t>The vector of attributes for municipality </a:t>
                </a:r>
                <a:r>
                  <a:rPr lang="en-US" sz="1400" dirty="0" err="1">
                    <a:latin typeface="Merriweather" pitchFamily="2" charset="77"/>
                  </a:rPr>
                  <a:t>i</a:t>
                </a:r>
                <a:r>
                  <a:rPr lang="en-US" sz="1400" dirty="0">
                    <a:latin typeface="Merriweather" pitchFamily="2" charset="77"/>
                  </a:rPr>
                  <a:t> (Age, Poverty, Hurricane Risk)</a:t>
                </a:r>
              </a:p>
              <a:p>
                <a:pPr marL="742950" lvl="1" indent="-285750">
                  <a:buFont typeface="Arial" panose="020B0604020202020204" pitchFamily="34" charset="0"/>
                  <a:buChar char="•"/>
                </a:pPr>
                <a14:m>
                  <m:oMath xmlns:m="http://schemas.openxmlformats.org/officeDocument/2006/math">
                    <m:sSub>
                      <m:sSubPr>
                        <m:ctrlPr>
                          <a:rPr lang="en-US" sz="1400" b="1" i="1">
                            <a:solidFill>
                              <a:schemeClr val="tx1">
                                <a:lumMod val="75000"/>
                                <a:lumOff val="25000"/>
                              </a:schemeClr>
                            </a:solidFill>
                            <a:latin typeface="Cambria Math" panose="02040503050406030204" pitchFamily="18" charset="0"/>
                          </a:rPr>
                        </m:ctrlPr>
                      </m:sSubPr>
                      <m:e>
                        <m:r>
                          <a:rPr lang="en-US" sz="1400" b="1" i="1">
                            <a:solidFill>
                              <a:schemeClr val="tx1">
                                <a:lumMod val="75000"/>
                                <a:lumOff val="25000"/>
                              </a:schemeClr>
                            </a:solidFill>
                            <a:latin typeface="Cambria Math" panose="02040503050406030204" pitchFamily="18" charset="0"/>
                          </a:rPr>
                          <m:t>𝝁</m:t>
                        </m:r>
                      </m:e>
                      <m:sub>
                        <m:r>
                          <a:rPr lang="en-US" sz="1400" b="1" i="1">
                            <a:solidFill>
                              <a:schemeClr val="tx1">
                                <a:lumMod val="75000"/>
                                <a:lumOff val="25000"/>
                              </a:schemeClr>
                            </a:solidFill>
                            <a:latin typeface="Cambria Math" panose="02040503050406030204" pitchFamily="18" charset="0"/>
                          </a:rPr>
                          <m:t>𝒋</m:t>
                        </m:r>
                      </m:sub>
                    </m:sSub>
                    <m:r>
                      <a:rPr lang="en-US" sz="1400" b="1" i="1">
                        <a:solidFill>
                          <a:schemeClr val="tx1">
                            <a:lumMod val="75000"/>
                            <a:lumOff val="25000"/>
                          </a:schemeClr>
                        </a:solidFill>
                        <a:latin typeface="Cambria Math" panose="02040503050406030204" pitchFamily="18" charset="0"/>
                      </a:rPr>
                      <m:t> </m:t>
                    </m:r>
                    <m:r>
                      <a:rPr lang="en-US" sz="1400" b="1" i="1" smtClean="0">
                        <a:solidFill>
                          <a:schemeClr val="tx1">
                            <a:lumMod val="75000"/>
                            <a:lumOff val="25000"/>
                          </a:schemeClr>
                        </a:solidFill>
                        <a:latin typeface="Cambria Math" panose="02040503050406030204" pitchFamily="18" charset="0"/>
                      </a:rPr>
                      <m:t>: </m:t>
                    </m:r>
                  </m:oMath>
                </a14:m>
                <a:r>
                  <a:rPr lang="en-US" sz="1400" dirty="0">
                    <a:latin typeface="Merriweather" pitchFamily="2" charset="77"/>
                  </a:rPr>
                  <a:t>The "center" of Cluster j (e.g., the average "High Risk" town)</a:t>
                </a:r>
              </a:p>
              <a:p>
                <a:pPr marL="742950" lvl="1" indent="-285750">
                  <a:buFont typeface="Arial" panose="020B0604020202020204" pitchFamily="34" charset="0"/>
                  <a:buChar char="•"/>
                </a:pPr>
                <a14:m>
                  <m:oMath xmlns:m="http://schemas.openxmlformats.org/officeDocument/2006/math">
                    <m:sSup>
                      <m:sSupPr>
                        <m:ctrlPr>
                          <a:rPr lang="en-US" sz="1400" b="1" i="1">
                            <a:solidFill>
                              <a:schemeClr val="tx1">
                                <a:lumMod val="75000"/>
                                <a:lumOff val="25000"/>
                              </a:schemeClr>
                            </a:solidFill>
                            <a:latin typeface="Cambria Math" panose="02040503050406030204" pitchFamily="18" charset="0"/>
                          </a:rPr>
                        </m:ctrlPr>
                      </m:sSupPr>
                      <m:e>
                        <m:d>
                          <m:dPr>
                            <m:begChr m:val="|"/>
                            <m:endChr m:val="|"/>
                            <m:ctrlPr>
                              <a:rPr lang="en-US" sz="1400" b="1" i="1">
                                <a:solidFill>
                                  <a:schemeClr val="tx1">
                                    <a:lumMod val="75000"/>
                                    <a:lumOff val="25000"/>
                                  </a:schemeClr>
                                </a:solidFill>
                                <a:latin typeface="Cambria Math" panose="02040503050406030204" pitchFamily="18" charset="0"/>
                              </a:rPr>
                            </m:ctrlPr>
                          </m:dPr>
                          <m:e>
                            <m:d>
                              <m:dPr>
                                <m:begChr m:val="|"/>
                                <m:endChr m:val="|"/>
                                <m:ctrlPr>
                                  <a:rPr lang="en-US" sz="1400" b="1" i="1">
                                    <a:solidFill>
                                      <a:schemeClr val="tx1">
                                        <a:lumMod val="75000"/>
                                        <a:lumOff val="25000"/>
                                      </a:schemeClr>
                                    </a:solidFill>
                                    <a:latin typeface="Cambria Math" panose="02040503050406030204" pitchFamily="18" charset="0"/>
                                  </a:rPr>
                                </m:ctrlPr>
                              </m:dPr>
                              <m:e>
                                <m:sSub>
                                  <m:sSubPr>
                                    <m:ctrlPr>
                                      <a:rPr lang="en-US" sz="1400" b="1" i="1">
                                        <a:solidFill>
                                          <a:schemeClr val="tx1">
                                            <a:lumMod val="75000"/>
                                            <a:lumOff val="25000"/>
                                          </a:schemeClr>
                                        </a:solidFill>
                                        <a:latin typeface="Cambria Math" panose="02040503050406030204" pitchFamily="18" charset="0"/>
                                      </a:rPr>
                                    </m:ctrlPr>
                                  </m:sSubPr>
                                  <m:e>
                                    <m:r>
                                      <a:rPr lang="en-US" sz="1400" b="1" i="1">
                                        <a:solidFill>
                                          <a:schemeClr val="tx1">
                                            <a:lumMod val="75000"/>
                                            <a:lumOff val="25000"/>
                                          </a:schemeClr>
                                        </a:solidFill>
                                        <a:latin typeface="Cambria Math" panose="02040503050406030204" pitchFamily="18" charset="0"/>
                                      </a:rPr>
                                      <m:t>𝑿</m:t>
                                    </m:r>
                                  </m:e>
                                  <m:sub>
                                    <m:r>
                                      <a:rPr lang="en-US" sz="1400" b="1" i="1">
                                        <a:solidFill>
                                          <a:schemeClr val="tx1">
                                            <a:lumMod val="75000"/>
                                            <a:lumOff val="25000"/>
                                          </a:schemeClr>
                                        </a:solidFill>
                                        <a:latin typeface="Cambria Math" panose="02040503050406030204" pitchFamily="18" charset="0"/>
                                      </a:rPr>
                                      <m:t>𝒊</m:t>
                                    </m:r>
                                  </m:sub>
                                </m:sSub>
                                <m:r>
                                  <a:rPr lang="en-US" sz="1400" b="1" i="1">
                                    <a:solidFill>
                                      <a:schemeClr val="tx1">
                                        <a:lumMod val="75000"/>
                                        <a:lumOff val="25000"/>
                                      </a:schemeClr>
                                    </a:solidFill>
                                    <a:latin typeface="Cambria Math" panose="02040503050406030204" pitchFamily="18" charset="0"/>
                                  </a:rPr>
                                  <m:t>−</m:t>
                                </m:r>
                                <m:sSub>
                                  <m:sSubPr>
                                    <m:ctrlPr>
                                      <a:rPr lang="en-US" sz="1400" b="1" i="1">
                                        <a:solidFill>
                                          <a:schemeClr val="tx1">
                                            <a:lumMod val="75000"/>
                                            <a:lumOff val="25000"/>
                                          </a:schemeClr>
                                        </a:solidFill>
                                        <a:latin typeface="Cambria Math" panose="02040503050406030204" pitchFamily="18" charset="0"/>
                                      </a:rPr>
                                    </m:ctrlPr>
                                  </m:sSubPr>
                                  <m:e>
                                    <m:r>
                                      <a:rPr lang="en-US" sz="1400" b="1" i="1">
                                        <a:solidFill>
                                          <a:schemeClr val="tx1">
                                            <a:lumMod val="75000"/>
                                            <a:lumOff val="25000"/>
                                          </a:schemeClr>
                                        </a:solidFill>
                                        <a:latin typeface="Cambria Math" panose="02040503050406030204" pitchFamily="18" charset="0"/>
                                      </a:rPr>
                                      <m:t>𝝁</m:t>
                                    </m:r>
                                  </m:e>
                                  <m:sub>
                                    <m:r>
                                      <a:rPr lang="en-US" sz="1400" b="1" i="1">
                                        <a:solidFill>
                                          <a:schemeClr val="tx1">
                                            <a:lumMod val="75000"/>
                                            <a:lumOff val="25000"/>
                                          </a:schemeClr>
                                        </a:solidFill>
                                        <a:latin typeface="Cambria Math" panose="02040503050406030204" pitchFamily="18" charset="0"/>
                                      </a:rPr>
                                      <m:t>𝒋</m:t>
                                    </m:r>
                                  </m:sub>
                                </m:sSub>
                              </m:e>
                            </m:d>
                          </m:e>
                        </m:d>
                      </m:e>
                      <m:sup>
                        <m:r>
                          <a:rPr lang="en-US" sz="1400" b="1" i="1">
                            <a:solidFill>
                              <a:schemeClr val="tx1">
                                <a:lumMod val="75000"/>
                                <a:lumOff val="25000"/>
                              </a:schemeClr>
                            </a:solidFill>
                            <a:latin typeface="Cambria Math" panose="02040503050406030204" pitchFamily="18" charset="0"/>
                          </a:rPr>
                          <m:t>𝟐</m:t>
                        </m:r>
                      </m:sup>
                    </m:sSup>
                    <m:r>
                      <a:rPr lang="en-US" sz="1400" b="1" i="1">
                        <a:solidFill>
                          <a:schemeClr val="tx1">
                            <a:lumMod val="75000"/>
                            <a:lumOff val="25000"/>
                          </a:schemeClr>
                        </a:solidFill>
                        <a:latin typeface="Cambria Math" panose="02040503050406030204" pitchFamily="18" charset="0"/>
                      </a:rPr>
                      <m:t> </m:t>
                    </m:r>
                    <m:r>
                      <a:rPr lang="en-US" sz="1400" b="1" i="1" smtClean="0">
                        <a:solidFill>
                          <a:schemeClr val="tx1">
                            <a:lumMod val="75000"/>
                            <a:lumOff val="25000"/>
                          </a:schemeClr>
                        </a:solidFill>
                        <a:latin typeface="Cambria Math" panose="02040503050406030204" pitchFamily="18" charset="0"/>
                      </a:rPr>
                      <m:t>: </m:t>
                    </m:r>
                  </m:oMath>
                </a14:m>
                <a:r>
                  <a:rPr lang="en-US" sz="1400" dirty="0">
                    <a:latin typeface="Merriweather" pitchFamily="2" charset="77"/>
                  </a:rPr>
                  <a:t>The Euclidean distance</a:t>
                </a:r>
              </a:p>
              <a:p>
                <a:r>
                  <a:rPr lang="en-US" dirty="0">
                    <a:latin typeface="Merriweather" pitchFamily="2" charset="77"/>
                  </a:rPr>
                  <a:t> </a:t>
                </a:r>
              </a:p>
              <a:p>
                <a:pPr lvl="1"/>
                <a:endParaRPr lang="en-US" sz="2000" b="1" dirty="0">
                  <a:solidFill>
                    <a:schemeClr val="tx1">
                      <a:lumMod val="75000"/>
                      <a:lumOff val="25000"/>
                    </a:schemeClr>
                  </a:solidFill>
                  <a:latin typeface="Merriweather" pitchFamily="2" charset="77"/>
                </a:endParaRPr>
              </a:p>
            </p:txBody>
          </p:sp>
        </mc:Choice>
        <mc:Fallback xmlns="">
          <p:sp>
            <p:nvSpPr>
              <p:cNvPr id="2" name="TextBox 1">
                <a:extLst>
                  <a:ext uri="{FF2B5EF4-FFF2-40B4-BE49-F238E27FC236}">
                    <a16:creationId xmlns:a16="http://schemas.microsoft.com/office/drawing/2014/main" id="{2CDA93AE-6B20-F095-78C6-B7F50DF2A9C9}"/>
                  </a:ext>
                </a:extLst>
              </p:cNvPr>
              <p:cNvSpPr txBox="1">
                <a:spLocks noRot="1" noChangeAspect="1" noMove="1" noResize="1" noEditPoints="1" noAdjustHandles="1" noChangeArrowheads="1" noChangeShapeType="1" noTextEdit="1"/>
              </p:cNvSpPr>
              <p:nvPr/>
            </p:nvSpPr>
            <p:spPr>
              <a:xfrm>
                <a:off x="472643" y="1519363"/>
                <a:ext cx="9336375" cy="4748544"/>
              </a:xfrm>
              <a:prstGeom prst="rect">
                <a:avLst/>
              </a:prstGeom>
              <a:blipFill>
                <a:blip r:embed="rId3"/>
                <a:stretch>
                  <a:fillRect l="-408" t="-533"/>
                </a:stretch>
              </a:blipFill>
            </p:spPr>
            <p:txBody>
              <a:bodyPr/>
              <a:lstStyle/>
              <a:p>
                <a:r>
                  <a:rPr lang="en-US">
                    <a:noFill/>
                  </a:rPr>
                  <a:t> </a:t>
                </a:r>
              </a:p>
            </p:txBody>
          </p:sp>
        </mc:Fallback>
      </mc:AlternateContent>
    </p:spTree>
    <p:extLst>
      <p:ext uri="{BB962C8B-B14F-4D97-AF65-F5344CB8AC3E}">
        <p14:creationId xmlns:p14="http://schemas.microsoft.com/office/powerpoint/2010/main" val="79456943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08">
          <a:extLst>
            <a:ext uri="{FF2B5EF4-FFF2-40B4-BE49-F238E27FC236}">
              <a16:creationId xmlns:a16="http://schemas.microsoft.com/office/drawing/2014/main" id="{06EF50BF-94BC-B937-4417-B83DF5AB0B12}"/>
            </a:ext>
          </a:extLst>
        </p:cNvPr>
        <p:cNvGrpSpPr/>
        <p:nvPr/>
      </p:nvGrpSpPr>
      <p:grpSpPr>
        <a:xfrm>
          <a:off x="0" y="0"/>
          <a:ext cx="0" cy="0"/>
          <a:chOff x="0" y="0"/>
          <a:chExt cx="0" cy="0"/>
        </a:xfrm>
      </p:grpSpPr>
      <p:sp>
        <p:nvSpPr>
          <p:cNvPr id="121" name="Google Shape;121;p15">
            <a:extLst>
              <a:ext uri="{FF2B5EF4-FFF2-40B4-BE49-F238E27FC236}">
                <a16:creationId xmlns:a16="http://schemas.microsoft.com/office/drawing/2014/main" id="{FA8C4DC3-B6EA-348C-A077-492FABC2F2F2}"/>
              </a:ext>
            </a:extLst>
          </p:cNvPr>
          <p:cNvSpPr txBox="1"/>
          <p:nvPr/>
        </p:nvSpPr>
        <p:spPr>
          <a:xfrm>
            <a:off x="571500" y="764076"/>
            <a:ext cx="11601450" cy="430887"/>
          </a:xfrm>
          <a:prstGeom prst="rect">
            <a:avLst/>
          </a:prstGeom>
          <a:noFill/>
          <a:ln>
            <a:noFill/>
          </a:ln>
        </p:spPr>
        <p:txBody>
          <a:bodyPr spcFirstLastPara="1" wrap="square" lIns="0" tIns="0" rIns="0" bIns="0" anchor="t" anchorCtr="0">
            <a:spAutoFit/>
          </a:bodyPr>
          <a:lstStyle/>
          <a:p>
            <a:pPr lvl="0"/>
            <a:r>
              <a:rPr lang="en-US" sz="2800" b="1" dirty="0">
                <a:latin typeface="Merriweather" pitchFamily="2" charset="77"/>
              </a:rPr>
              <a:t>Unsupervised Learning: The Vulnerability Score (Cont.)</a:t>
            </a:r>
            <a:endParaRPr sz="2800" b="1" dirty="0">
              <a:latin typeface="Merriweather" pitchFamily="2" charset="77"/>
            </a:endParaRPr>
          </a:p>
        </p:txBody>
      </p:sp>
      <p:sp>
        <p:nvSpPr>
          <p:cNvPr id="122" name="Google Shape;122;p15">
            <a:extLst>
              <a:ext uri="{FF2B5EF4-FFF2-40B4-BE49-F238E27FC236}">
                <a16:creationId xmlns:a16="http://schemas.microsoft.com/office/drawing/2014/main" id="{4B550ABC-7669-F226-207D-FAA4232C8F4B}"/>
              </a:ext>
            </a:extLst>
          </p:cNvPr>
          <p:cNvSpPr/>
          <p:nvPr/>
        </p:nvSpPr>
        <p:spPr>
          <a:xfrm>
            <a:off x="571500" y="1214437"/>
            <a:ext cx="11049000" cy="28575"/>
          </a:xfrm>
          <a:prstGeom prst="rect">
            <a:avLst/>
          </a:prstGeom>
          <a:solidFill>
            <a:srgbClr val="00508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43020E62-57B3-D132-562C-99AD62E7F5DA}"/>
                  </a:ext>
                </a:extLst>
              </p:cNvPr>
              <p:cNvSpPr txBox="1"/>
              <p:nvPr/>
            </p:nvSpPr>
            <p:spPr>
              <a:xfrm>
                <a:off x="472643" y="1519363"/>
                <a:ext cx="9336375" cy="5621154"/>
              </a:xfrm>
              <a:prstGeom prst="rect">
                <a:avLst/>
              </a:prstGeom>
              <a:noFill/>
            </p:spPr>
            <p:txBody>
              <a:bodyPr wrap="square">
                <a:spAutoFit/>
              </a:bodyPr>
              <a:lstStyle/>
              <a:p>
                <a:pPr marL="285750" indent="-285750">
                  <a:buFont typeface="Arial" panose="020B0604020202020204" pitchFamily="34" charset="0"/>
                  <a:buChar char="•"/>
                </a:pPr>
                <a:r>
                  <a:rPr lang="en-US" b="1" dirty="0">
                    <a:latin typeface="Merriweather" pitchFamily="2" charset="77"/>
                  </a:rPr>
                  <a:t>K-Means Clustering</a:t>
                </a:r>
              </a:p>
              <a:p>
                <a:r>
                  <a:rPr lang="en-US" sz="1600" dirty="0">
                    <a:latin typeface="Merriweather" pitchFamily="2" charset="77"/>
                  </a:rPr>
                  <a:t> </a:t>
                </a:r>
                <a:endParaRPr lang="en-US" sz="2000" dirty="0">
                  <a:latin typeface="Merriweather" pitchFamily="2" charset="77"/>
                </a:endParaRPr>
              </a:p>
              <a:p>
                <a:pPr lvl="1"/>
                <a14:m>
                  <m:oMathPara xmlns:m="http://schemas.openxmlformats.org/officeDocument/2006/math">
                    <m:oMathParaPr>
                      <m:jc m:val="centerGroup"/>
                    </m:oMathParaPr>
                    <m:oMath xmlns:m="http://schemas.openxmlformats.org/officeDocument/2006/math">
                      <m:r>
                        <m:rPr>
                          <m:nor/>
                        </m:rPr>
                        <a:rPr lang="en-US" sz="1600" b="1" i="0" smtClean="0">
                          <a:solidFill>
                            <a:schemeClr val="tx1">
                              <a:lumMod val="75000"/>
                              <a:lumOff val="25000"/>
                            </a:schemeClr>
                          </a:solidFill>
                          <a:latin typeface="Merriweather" pitchFamily="2" charset="77"/>
                        </a:rPr>
                        <m:t>Minimize</m:t>
                      </m:r>
                      <m:nary>
                        <m:naryPr>
                          <m:chr m:val="∑"/>
                          <m:ctrlPr>
                            <a:rPr lang="en-US" sz="1600" b="1" i="1">
                              <a:solidFill>
                                <a:schemeClr val="tx1">
                                  <a:lumMod val="75000"/>
                                  <a:lumOff val="25000"/>
                                </a:schemeClr>
                              </a:solidFill>
                              <a:latin typeface="Cambria Math" panose="02040503050406030204" pitchFamily="18" charset="0"/>
                            </a:rPr>
                          </m:ctrlPr>
                        </m:naryPr>
                        <m:sub>
                          <m:r>
                            <a:rPr lang="en-US" sz="1600" b="1" i="1">
                              <a:solidFill>
                                <a:schemeClr val="tx1">
                                  <a:lumMod val="75000"/>
                                  <a:lumOff val="25000"/>
                                </a:schemeClr>
                              </a:solidFill>
                              <a:latin typeface="Cambria Math" panose="02040503050406030204" pitchFamily="18" charset="0"/>
                            </a:rPr>
                            <m:t>𝒋</m:t>
                          </m:r>
                          <m:r>
                            <a:rPr lang="en-US" sz="1600" b="1" i="1">
                              <a:solidFill>
                                <a:schemeClr val="tx1">
                                  <a:lumMod val="75000"/>
                                  <a:lumOff val="25000"/>
                                </a:schemeClr>
                              </a:solidFill>
                              <a:latin typeface="Cambria Math" panose="02040503050406030204" pitchFamily="18" charset="0"/>
                            </a:rPr>
                            <m:t>=</m:t>
                          </m:r>
                          <m:r>
                            <a:rPr lang="en-US" sz="1600" b="1" i="1">
                              <a:solidFill>
                                <a:schemeClr val="tx1">
                                  <a:lumMod val="75000"/>
                                  <a:lumOff val="25000"/>
                                </a:schemeClr>
                              </a:solidFill>
                              <a:latin typeface="Cambria Math" panose="02040503050406030204" pitchFamily="18" charset="0"/>
                            </a:rPr>
                            <m:t>𝟏</m:t>
                          </m:r>
                        </m:sub>
                        <m:sup>
                          <m:r>
                            <a:rPr lang="en-US" sz="1600" b="1" i="1">
                              <a:solidFill>
                                <a:schemeClr val="tx1">
                                  <a:lumMod val="75000"/>
                                  <a:lumOff val="25000"/>
                                </a:schemeClr>
                              </a:solidFill>
                              <a:latin typeface="Cambria Math" panose="02040503050406030204" pitchFamily="18" charset="0"/>
                            </a:rPr>
                            <m:t>𝒌</m:t>
                          </m:r>
                        </m:sup>
                        <m:e>
                          <m:nary>
                            <m:naryPr>
                              <m:chr m:val="∑"/>
                              <m:supHide m:val="on"/>
                              <m:ctrlPr>
                                <a:rPr lang="en-US" sz="1600" b="1" i="1">
                                  <a:solidFill>
                                    <a:schemeClr val="tx1">
                                      <a:lumMod val="75000"/>
                                      <a:lumOff val="25000"/>
                                    </a:schemeClr>
                                  </a:solidFill>
                                  <a:latin typeface="Cambria Math" panose="02040503050406030204" pitchFamily="18" charset="0"/>
                                </a:rPr>
                              </m:ctrlPr>
                            </m:naryPr>
                            <m:sub>
                              <m:r>
                                <a:rPr lang="en-US" sz="1600" b="1" i="1">
                                  <a:solidFill>
                                    <a:schemeClr val="tx1">
                                      <a:lumMod val="75000"/>
                                      <a:lumOff val="25000"/>
                                    </a:schemeClr>
                                  </a:solidFill>
                                  <a:latin typeface="Cambria Math" panose="02040503050406030204" pitchFamily="18" charset="0"/>
                                </a:rPr>
                                <m:t>𝒊</m:t>
                              </m:r>
                              <m:r>
                                <a:rPr lang="en-US" sz="1600" b="1" i="1">
                                  <a:solidFill>
                                    <a:schemeClr val="tx1">
                                      <a:lumMod val="75000"/>
                                      <a:lumOff val="25000"/>
                                    </a:schemeClr>
                                  </a:solidFill>
                                  <a:latin typeface="Cambria Math" panose="02040503050406030204" pitchFamily="18" charset="0"/>
                                </a:rPr>
                                <m:t>∈</m:t>
                              </m:r>
                              <m:sSub>
                                <m:sSubPr>
                                  <m:ctrlPr>
                                    <a:rPr lang="en-US" sz="1600" b="1" i="1">
                                      <a:solidFill>
                                        <a:schemeClr val="tx1">
                                          <a:lumMod val="75000"/>
                                          <a:lumOff val="25000"/>
                                        </a:schemeClr>
                                      </a:solidFill>
                                      <a:latin typeface="Cambria Math" panose="02040503050406030204" pitchFamily="18" charset="0"/>
                                    </a:rPr>
                                  </m:ctrlPr>
                                </m:sSubPr>
                                <m:e>
                                  <m:r>
                                    <a:rPr lang="en-US" sz="1600" b="1" i="1">
                                      <a:solidFill>
                                        <a:schemeClr val="tx1">
                                          <a:lumMod val="75000"/>
                                          <a:lumOff val="25000"/>
                                        </a:schemeClr>
                                      </a:solidFill>
                                      <a:latin typeface="Cambria Math" panose="02040503050406030204" pitchFamily="18" charset="0"/>
                                    </a:rPr>
                                    <m:t>𝑪</m:t>
                                  </m:r>
                                </m:e>
                                <m:sub>
                                  <m:r>
                                    <a:rPr lang="en-US" sz="1600" b="1" i="1">
                                      <a:solidFill>
                                        <a:schemeClr val="tx1">
                                          <a:lumMod val="75000"/>
                                          <a:lumOff val="25000"/>
                                        </a:schemeClr>
                                      </a:solidFill>
                                      <a:latin typeface="Cambria Math" panose="02040503050406030204" pitchFamily="18" charset="0"/>
                                    </a:rPr>
                                    <m:t>𝒋</m:t>
                                  </m:r>
                                </m:sub>
                              </m:sSub>
                            </m:sub>
                            <m:sup/>
                            <m:e>
                              <m:sSup>
                                <m:sSupPr>
                                  <m:ctrlPr>
                                    <a:rPr lang="en-US" sz="1600" b="1" i="1">
                                      <a:solidFill>
                                        <a:schemeClr val="tx1">
                                          <a:lumMod val="75000"/>
                                          <a:lumOff val="25000"/>
                                        </a:schemeClr>
                                      </a:solidFill>
                                      <a:latin typeface="Cambria Math" panose="02040503050406030204" pitchFamily="18" charset="0"/>
                                    </a:rPr>
                                  </m:ctrlPr>
                                </m:sSupPr>
                                <m:e>
                                  <m:d>
                                    <m:dPr>
                                      <m:begChr m:val="|"/>
                                      <m:endChr m:val="|"/>
                                      <m:ctrlPr>
                                        <a:rPr lang="en-US" sz="1600" b="1" i="1">
                                          <a:solidFill>
                                            <a:schemeClr val="tx1">
                                              <a:lumMod val="75000"/>
                                              <a:lumOff val="25000"/>
                                            </a:schemeClr>
                                          </a:solidFill>
                                          <a:latin typeface="Cambria Math" panose="02040503050406030204" pitchFamily="18" charset="0"/>
                                        </a:rPr>
                                      </m:ctrlPr>
                                    </m:dPr>
                                    <m:e>
                                      <m:d>
                                        <m:dPr>
                                          <m:begChr m:val="|"/>
                                          <m:endChr m:val="|"/>
                                          <m:ctrlPr>
                                            <a:rPr lang="en-US" sz="1600" b="1" i="1">
                                              <a:solidFill>
                                                <a:schemeClr val="tx1">
                                                  <a:lumMod val="75000"/>
                                                  <a:lumOff val="25000"/>
                                                </a:schemeClr>
                                              </a:solidFill>
                                              <a:latin typeface="Cambria Math" panose="02040503050406030204" pitchFamily="18" charset="0"/>
                                            </a:rPr>
                                          </m:ctrlPr>
                                        </m:dPr>
                                        <m:e>
                                          <m:sSub>
                                            <m:sSubPr>
                                              <m:ctrlPr>
                                                <a:rPr lang="en-US" sz="1600" b="1" i="1">
                                                  <a:solidFill>
                                                    <a:schemeClr val="tx1">
                                                      <a:lumMod val="75000"/>
                                                      <a:lumOff val="25000"/>
                                                    </a:schemeClr>
                                                  </a:solidFill>
                                                  <a:latin typeface="Cambria Math" panose="02040503050406030204" pitchFamily="18" charset="0"/>
                                                </a:rPr>
                                              </m:ctrlPr>
                                            </m:sSubPr>
                                            <m:e>
                                              <m:r>
                                                <a:rPr lang="en-US" sz="1600" b="1" i="1">
                                                  <a:solidFill>
                                                    <a:schemeClr val="tx1">
                                                      <a:lumMod val="75000"/>
                                                      <a:lumOff val="25000"/>
                                                    </a:schemeClr>
                                                  </a:solidFill>
                                                  <a:latin typeface="Cambria Math" panose="02040503050406030204" pitchFamily="18" charset="0"/>
                                                </a:rPr>
                                                <m:t>𝑿</m:t>
                                              </m:r>
                                            </m:e>
                                            <m:sub>
                                              <m:r>
                                                <a:rPr lang="en-US" sz="1600" b="1" i="1">
                                                  <a:solidFill>
                                                    <a:schemeClr val="tx1">
                                                      <a:lumMod val="75000"/>
                                                      <a:lumOff val="25000"/>
                                                    </a:schemeClr>
                                                  </a:solidFill>
                                                  <a:latin typeface="Cambria Math" panose="02040503050406030204" pitchFamily="18" charset="0"/>
                                                </a:rPr>
                                                <m:t>𝒊</m:t>
                                              </m:r>
                                            </m:sub>
                                          </m:sSub>
                                          <m:r>
                                            <a:rPr lang="en-US" sz="1600" b="1" i="1">
                                              <a:solidFill>
                                                <a:schemeClr val="tx1">
                                                  <a:lumMod val="75000"/>
                                                  <a:lumOff val="25000"/>
                                                </a:schemeClr>
                                              </a:solidFill>
                                              <a:latin typeface="Cambria Math" panose="02040503050406030204" pitchFamily="18" charset="0"/>
                                            </a:rPr>
                                            <m:t>−</m:t>
                                          </m:r>
                                          <m:sSub>
                                            <m:sSubPr>
                                              <m:ctrlPr>
                                                <a:rPr lang="en-US" sz="1600" b="1" i="1">
                                                  <a:solidFill>
                                                    <a:schemeClr val="tx1">
                                                      <a:lumMod val="75000"/>
                                                      <a:lumOff val="25000"/>
                                                    </a:schemeClr>
                                                  </a:solidFill>
                                                  <a:latin typeface="Cambria Math" panose="02040503050406030204" pitchFamily="18" charset="0"/>
                                                </a:rPr>
                                              </m:ctrlPr>
                                            </m:sSubPr>
                                            <m:e>
                                              <m:r>
                                                <a:rPr lang="en-US" sz="1600" b="1" i="1">
                                                  <a:solidFill>
                                                    <a:schemeClr val="tx1">
                                                      <a:lumMod val="75000"/>
                                                      <a:lumOff val="25000"/>
                                                    </a:schemeClr>
                                                  </a:solidFill>
                                                  <a:latin typeface="Cambria Math" panose="02040503050406030204" pitchFamily="18" charset="0"/>
                                                </a:rPr>
                                                <m:t>𝝁</m:t>
                                              </m:r>
                                            </m:e>
                                            <m:sub>
                                              <m:r>
                                                <a:rPr lang="en-US" sz="1600" b="1" i="1">
                                                  <a:solidFill>
                                                    <a:schemeClr val="tx1">
                                                      <a:lumMod val="75000"/>
                                                      <a:lumOff val="25000"/>
                                                    </a:schemeClr>
                                                  </a:solidFill>
                                                  <a:latin typeface="Cambria Math" panose="02040503050406030204" pitchFamily="18" charset="0"/>
                                                </a:rPr>
                                                <m:t>𝒋</m:t>
                                              </m:r>
                                            </m:sub>
                                          </m:sSub>
                                        </m:e>
                                      </m:d>
                                    </m:e>
                                  </m:d>
                                </m:e>
                                <m:sup>
                                  <m:r>
                                    <a:rPr lang="en-US" sz="1600" b="1" i="1">
                                      <a:solidFill>
                                        <a:schemeClr val="tx1">
                                          <a:lumMod val="75000"/>
                                          <a:lumOff val="25000"/>
                                        </a:schemeClr>
                                      </a:solidFill>
                                      <a:latin typeface="Cambria Math" panose="02040503050406030204" pitchFamily="18" charset="0"/>
                                    </a:rPr>
                                    <m:t>𝟐</m:t>
                                  </m:r>
                                </m:sup>
                              </m:sSup>
                            </m:e>
                          </m:nary>
                        </m:e>
                      </m:nary>
                    </m:oMath>
                  </m:oMathPara>
                </a14:m>
                <a:endParaRPr lang="en-US" sz="2000" b="1" dirty="0">
                  <a:solidFill>
                    <a:schemeClr val="tx1">
                      <a:lumMod val="75000"/>
                      <a:lumOff val="25000"/>
                    </a:schemeClr>
                  </a:solidFill>
                  <a:latin typeface="Merriweather" pitchFamily="2" charset="77"/>
                </a:endParaRPr>
              </a:p>
              <a:p>
                <a:pPr lvl="1"/>
                <a:endParaRPr lang="en-US" sz="2000" b="1" dirty="0">
                  <a:solidFill>
                    <a:schemeClr val="tx1">
                      <a:lumMod val="75000"/>
                      <a:lumOff val="25000"/>
                    </a:schemeClr>
                  </a:solidFill>
                  <a:latin typeface="Merriweather" pitchFamily="2" charset="77"/>
                </a:endParaRPr>
              </a:p>
              <a:p>
                <a:pPr lvl="1"/>
                <a:endParaRPr lang="en-US" sz="2000" b="1" dirty="0">
                  <a:solidFill>
                    <a:schemeClr val="tx1">
                      <a:lumMod val="75000"/>
                      <a:lumOff val="25000"/>
                    </a:schemeClr>
                  </a:solidFill>
                  <a:latin typeface="Merriweather" pitchFamily="2" charset="77"/>
                </a:endParaRPr>
              </a:p>
              <a:p>
                <a:pPr>
                  <a:lnSpc>
                    <a:spcPct val="150000"/>
                  </a:lnSpc>
                </a:pPr>
                <a:r>
                  <a:rPr lang="en-US" dirty="0">
                    <a:latin typeface="Merriweather" pitchFamily="2" charset="77"/>
                  </a:rPr>
                  <a:t> </a:t>
                </a:r>
                <a:r>
                  <a:rPr lang="en-US" b="1" dirty="0">
                    <a:latin typeface="Merriweather" pitchFamily="2" charset="77"/>
                    <a:ea typeface="Times New Roman" panose="02020603050405020304" pitchFamily="18" charset="0"/>
                  </a:rPr>
                  <a:t>How the variables fit:</a:t>
                </a:r>
                <a:r>
                  <a:rPr lang="en-US" dirty="0">
                    <a:latin typeface="Merriweather" pitchFamily="2" charset="77"/>
                    <a:ea typeface="Times New Roman" panose="02020603050405020304" pitchFamily="18" charset="0"/>
                  </a:rPr>
                  <a:t> The "Distance" tells us how similar two towns are.</a:t>
                </a:r>
              </a:p>
              <a:p>
                <a:pPr marL="342900" marR="0" lvl="0" indent="-342900">
                  <a:lnSpc>
                    <a:spcPct val="150000"/>
                  </a:lnSpc>
                  <a:buSzPts val="1000"/>
                  <a:buFont typeface="Symbol" pitchFamily="2" charset="2"/>
                  <a:buChar char=""/>
                  <a:tabLst>
                    <a:tab pos="457200" algn="l"/>
                  </a:tabLst>
                </a:pPr>
                <a:r>
                  <a:rPr lang="en-US" dirty="0">
                    <a:latin typeface="Merriweather" pitchFamily="2" charset="77"/>
                    <a:ea typeface="Times New Roman" panose="02020603050405020304" pitchFamily="18" charset="0"/>
                  </a:rPr>
                  <a:t>Town A (Old population, High Poverty, Coastal)</a:t>
                </a:r>
              </a:p>
              <a:p>
                <a:pPr marL="342900" marR="0" lvl="0" indent="-342900">
                  <a:lnSpc>
                    <a:spcPct val="150000"/>
                  </a:lnSpc>
                  <a:buSzPts val="1000"/>
                  <a:buFont typeface="Symbol" pitchFamily="2" charset="2"/>
                  <a:buChar char=""/>
                  <a:tabLst>
                    <a:tab pos="457200" algn="l"/>
                  </a:tabLst>
                </a:pPr>
                <a:r>
                  <a:rPr lang="en-US" dirty="0">
                    <a:latin typeface="Merriweather" pitchFamily="2" charset="77"/>
                    <a:ea typeface="Times New Roman" panose="02020603050405020304" pitchFamily="18" charset="0"/>
                  </a:rPr>
                  <a:t>Town B (Young population, Low Poverty, Mountain)</a:t>
                </a:r>
              </a:p>
              <a:p>
                <a:pPr marL="342900" marR="0" lvl="0" indent="-342900">
                  <a:lnSpc>
                    <a:spcPct val="150000"/>
                  </a:lnSpc>
                  <a:buSzPts val="1000"/>
                  <a:buFont typeface="Symbol" pitchFamily="2" charset="2"/>
                  <a:buChar char=""/>
                  <a:tabLst>
                    <a:tab pos="457200" algn="l"/>
                  </a:tabLst>
                </a:pPr>
                <a:r>
                  <a:rPr lang="en-US" dirty="0">
                    <a:latin typeface="Merriweather" pitchFamily="2" charset="77"/>
                    <a:ea typeface="Times New Roman" panose="02020603050405020304" pitchFamily="18" charset="0"/>
                  </a:rPr>
                  <a:t>Town C (Old population, High Poverty, Coastal)</a:t>
                </a:r>
              </a:p>
              <a:p>
                <a:pPr marL="342900" marR="0" lvl="0" indent="-342900">
                  <a:buSzPts val="1000"/>
                  <a:buFont typeface="Symbol" pitchFamily="2" charset="2"/>
                  <a:buChar char=""/>
                  <a:tabLst>
                    <a:tab pos="457200" algn="l"/>
                  </a:tabLst>
                </a:pPr>
                <a:endParaRPr lang="en-US" dirty="0">
                  <a:latin typeface="Merriweather" pitchFamily="2" charset="77"/>
                  <a:ea typeface="Times New Roman" panose="02020603050405020304" pitchFamily="18" charset="0"/>
                </a:endParaRPr>
              </a:p>
              <a:p>
                <a:pPr marR="0" lvl="0">
                  <a:buSzPts val="1000"/>
                  <a:tabLst>
                    <a:tab pos="457200" algn="l"/>
                  </a:tabLst>
                </a:pPr>
                <a:endParaRPr lang="en-US" dirty="0">
                  <a:latin typeface="Merriweather" pitchFamily="2" charset="77"/>
                  <a:ea typeface="Times New Roman" panose="02020603050405020304" pitchFamily="18" charset="0"/>
                </a:endParaRPr>
              </a:p>
              <a:p>
                <a:r>
                  <a:rPr lang="en-US" dirty="0">
                    <a:latin typeface="Merriweather" pitchFamily="2" charset="77"/>
                    <a:ea typeface="Times New Roman" panose="02020603050405020304" pitchFamily="18" charset="0"/>
                  </a:rPr>
                  <a:t>The equation calculates that the mathematical distance between </a:t>
                </a:r>
                <a:r>
                  <a:rPr lang="en-US" b="1" dirty="0">
                    <a:latin typeface="Merriweather" pitchFamily="2" charset="77"/>
                    <a:ea typeface="Times New Roman" panose="02020603050405020304" pitchFamily="18" charset="0"/>
                  </a:rPr>
                  <a:t>Town A</a:t>
                </a:r>
                <a:r>
                  <a:rPr lang="en-US" dirty="0">
                    <a:latin typeface="Merriweather" pitchFamily="2" charset="77"/>
                    <a:ea typeface="Times New Roman" panose="02020603050405020304" pitchFamily="18" charset="0"/>
                  </a:rPr>
                  <a:t> and </a:t>
                </a:r>
                <a:r>
                  <a:rPr lang="en-US" b="1" dirty="0">
                    <a:latin typeface="Merriweather" pitchFamily="2" charset="77"/>
                    <a:ea typeface="Times New Roman" panose="02020603050405020304" pitchFamily="18" charset="0"/>
                  </a:rPr>
                  <a:t>Town C</a:t>
                </a:r>
                <a:r>
                  <a:rPr lang="en-US" dirty="0">
                    <a:latin typeface="Merriweather" pitchFamily="2" charset="77"/>
                    <a:ea typeface="Times New Roman" panose="02020603050405020304" pitchFamily="18" charset="0"/>
                  </a:rPr>
                  <a:t> is very small, so it groups them together into the same "Vulnerability Cluster."</a:t>
                </a:r>
              </a:p>
              <a:p>
                <a:endParaRPr lang="en-US" dirty="0">
                  <a:latin typeface="Merriweather" pitchFamily="2" charset="77"/>
                </a:endParaRPr>
              </a:p>
              <a:p>
                <a:pPr lvl="1"/>
                <a:endParaRPr lang="en-US" sz="2000" b="1" dirty="0">
                  <a:solidFill>
                    <a:schemeClr val="tx1">
                      <a:lumMod val="75000"/>
                      <a:lumOff val="25000"/>
                    </a:schemeClr>
                  </a:solidFill>
                  <a:latin typeface="Merriweather" pitchFamily="2" charset="77"/>
                </a:endParaRPr>
              </a:p>
            </p:txBody>
          </p:sp>
        </mc:Choice>
        <mc:Fallback xmlns="">
          <p:sp>
            <p:nvSpPr>
              <p:cNvPr id="2" name="TextBox 1">
                <a:extLst>
                  <a:ext uri="{FF2B5EF4-FFF2-40B4-BE49-F238E27FC236}">
                    <a16:creationId xmlns:a16="http://schemas.microsoft.com/office/drawing/2014/main" id="{43020E62-57B3-D132-562C-99AD62E7F5DA}"/>
                  </a:ext>
                </a:extLst>
              </p:cNvPr>
              <p:cNvSpPr txBox="1">
                <a:spLocks noRot="1" noChangeAspect="1" noMove="1" noResize="1" noEditPoints="1" noAdjustHandles="1" noChangeArrowheads="1" noChangeShapeType="1" noTextEdit="1"/>
              </p:cNvSpPr>
              <p:nvPr/>
            </p:nvSpPr>
            <p:spPr>
              <a:xfrm>
                <a:off x="472643" y="1519363"/>
                <a:ext cx="9336375" cy="5621154"/>
              </a:xfrm>
              <a:prstGeom prst="rect">
                <a:avLst/>
              </a:prstGeom>
              <a:blipFill>
                <a:blip r:embed="rId3"/>
                <a:stretch>
                  <a:fillRect l="-543" t="-4279"/>
                </a:stretch>
              </a:blipFill>
            </p:spPr>
            <p:txBody>
              <a:bodyPr/>
              <a:lstStyle/>
              <a:p>
                <a:r>
                  <a:rPr lang="en-US">
                    <a:noFill/>
                  </a:rPr>
                  <a:t> </a:t>
                </a:r>
              </a:p>
            </p:txBody>
          </p:sp>
        </mc:Fallback>
      </mc:AlternateContent>
    </p:spTree>
    <p:extLst>
      <p:ext uri="{BB962C8B-B14F-4D97-AF65-F5344CB8AC3E}">
        <p14:creationId xmlns:p14="http://schemas.microsoft.com/office/powerpoint/2010/main" val="120782654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08">
          <a:extLst>
            <a:ext uri="{FF2B5EF4-FFF2-40B4-BE49-F238E27FC236}">
              <a16:creationId xmlns:a16="http://schemas.microsoft.com/office/drawing/2014/main" id="{2FD24D36-A192-8DD1-E97D-FAF959750699}"/>
            </a:ext>
          </a:extLst>
        </p:cNvPr>
        <p:cNvGrpSpPr/>
        <p:nvPr/>
      </p:nvGrpSpPr>
      <p:grpSpPr>
        <a:xfrm>
          <a:off x="0" y="0"/>
          <a:ext cx="0" cy="0"/>
          <a:chOff x="0" y="0"/>
          <a:chExt cx="0" cy="0"/>
        </a:xfrm>
      </p:grpSpPr>
      <p:sp>
        <p:nvSpPr>
          <p:cNvPr id="121" name="Google Shape;121;p15">
            <a:extLst>
              <a:ext uri="{FF2B5EF4-FFF2-40B4-BE49-F238E27FC236}">
                <a16:creationId xmlns:a16="http://schemas.microsoft.com/office/drawing/2014/main" id="{FD4E32FA-91EE-1C76-2726-C556DD27EE49}"/>
              </a:ext>
            </a:extLst>
          </p:cNvPr>
          <p:cNvSpPr txBox="1"/>
          <p:nvPr/>
        </p:nvSpPr>
        <p:spPr>
          <a:xfrm>
            <a:off x="571500" y="764076"/>
            <a:ext cx="11601450" cy="430887"/>
          </a:xfrm>
          <a:prstGeom prst="rect">
            <a:avLst/>
          </a:prstGeom>
          <a:noFill/>
          <a:ln>
            <a:noFill/>
          </a:ln>
        </p:spPr>
        <p:txBody>
          <a:bodyPr spcFirstLastPara="1" wrap="square" lIns="0" tIns="0" rIns="0" bIns="0" anchor="t" anchorCtr="0">
            <a:spAutoFit/>
          </a:bodyPr>
          <a:lstStyle/>
          <a:p>
            <a:pPr lvl="0"/>
            <a:r>
              <a:rPr lang="en-US" sz="2800" b="1" dirty="0">
                <a:latin typeface="Merriweather" pitchFamily="2" charset="77"/>
              </a:rPr>
              <a:t>Evaluation Metrics </a:t>
            </a:r>
            <a:endParaRPr sz="2800" b="1" dirty="0">
              <a:latin typeface="Merriweather" pitchFamily="2" charset="77"/>
            </a:endParaRPr>
          </a:p>
        </p:txBody>
      </p:sp>
      <p:sp>
        <p:nvSpPr>
          <p:cNvPr id="122" name="Google Shape;122;p15">
            <a:extLst>
              <a:ext uri="{FF2B5EF4-FFF2-40B4-BE49-F238E27FC236}">
                <a16:creationId xmlns:a16="http://schemas.microsoft.com/office/drawing/2014/main" id="{495C9027-A1ED-B2F1-E68D-AB033BD59F6C}"/>
              </a:ext>
            </a:extLst>
          </p:cNvPr>
          <p:cNvSpPr/>
          <p:nvPr/>
        </p:nvSpPr>
        <p:spPr>
          <a:xfrm>
            <a:off x="571500" y="1214437"/>
            <a:ext cx="11049000" cy="28575"/>
          </a:xfrm>
          <a:prstGeom prst="rect">
            <a:avLst/>
          </a:prstGeom>
          <a:solidFill>
            <a:srgbClr val="00508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CA8C55C5-5517-9766-E34B-469866D9E598}"/>
                  </a:ext>
                </a:extLst>
              </p:cNvPr>
              <p:cNvSpPr txBox="1"/>
              <p:nvPr/>
            </p:nvSpPr>
            <p:spPr>
              <a:xfrm>
                <a:off x="472643" y="1519363"/>
                <a:ext cx="9336375" cy="5242782"/>
              </a:xfrm>
              <a:prstGeom prst="rect">
                <a:avLst/>
              </a:prstGeom>
              <a:noFill/>
            </p:spPr>
            <p:txBody>
              <a:bodyPr wrap="square">
                <a:spAutoFit/>
              </a:bodyPr>
              <a:lstStyle/>
              <a:p>
                <a:pPr marL="285750" indent="-285750">
                  <a:buFont typeface="Arial" panose="020B0604020202020204" pitchFamily="34" charset="0"/>
                  <a:buChar char="•"/>
                </a:pPr>
                <a:r>
                  <a:rPr lang="en-US" sz="1600" dirty="0">
                    <a:latin typeface="Merriweather" pitchFamily="2" charset="77"/>
                  </a:rPr>
                  <a:t>To define "Success", we will use these formulas to grade the  forecast:</a:t>
                </a:r>
              </a:p>
              <a:p>
                <a:endParaRPr lang="en-US" sz="1600" dirty="0">
                  <a:latin typeface="Merriweather" pitchFamily="2" charset="77"/>
                </a:endParaRPr>
              </a:p>
              <a:p>
                <a:pPr marL="742950" lvl="1" indent="-285750">
                  <a:buFont typeface="Arial" panose="020B0604020202020204" pitchFamily="34" charset="0"/>
                  <a:buChar char="•"/>
                </a:pPr>
                <a:r>
                  <a:rPr lang="en-US" sz="1600" b="1" dirty="0">
                    <a:latin typeface="Merriweather" pitchFamily="2" charset="77"/>
                  </a:rPr>
                  <a:t>MAE (Mean Absolute Error):</a:t>
                </a:r>
                <a:r>
                  <a:rPr lang="en-US" sz="1600" dirty="0">
                    <a:latin typeface="Merriweather" pitchFamily="2" charset="77"/>
                  </a:rPr>
                  <a:t> The average size of the mistake.</a:t>
                </a:r>
              </a:p>
              <a:p>
                <a:pPr marL="742950" lvl="1" indent="-285750">
                  <a:buFont typeface="Arial" panose="020B0604020202020204" pitchFamily="34" charset="0"/>
                  <a:buChar char="•"/>
                </a:pPr>
                <a:endParaRPr lang="en-US" sz="1600" dirty="0">
                  <a:latin typeface="Merriweather" pitchFamily="2" charset="77"/>
                </a:endParaRPr>
              </a:p>
              <a:p>
                <a:pPr lvl="1"/>
                <a14:m>
                  <m:oMathPara xmlns:m="http://schemas.openxmlformats.org/officeDocument/2006/math">
                    <m:oMathParaPr>
                      <m:jc m:val="centerGroup"/>
                    </m:oMathParaPr>
                    <m:oMath xmlns:m="http://schemas.openxmlformats.org/officeDocument/2006/math">
                      <m:r>
                        <a:rPr lang="en-US" sz="1400" i="1" smtClean="0">
                          <a:latin typeface="Cambria Math" panose="02040503050406030204" pitchFamily="18" charset="0"/>
                        </a:rPr>
                        <m:t>𝑀𝐴𝐸</m:t>
                      </m:r>
                      <m:r>
                        <a:rPr lang="en-US" sz="1400" i="1" smtClean="0">
                          <a:latin typeface="Cambria Math" panose="02040503050406030204" pitchFamily="18" charset="0"/>
                        </a:rPr>
                        <m:t>=</m:t>
                      </m:r>
                      <m:f>
                        <m:fPr>
                          <m:ctrlPr>
                            <a:rPr lang="en-US" sz="1400" i="1">
                              <a:latin typeface="Cambria Math" panose="02040503050406030204" pitchFamily="18" charset="0"/>
                            </a:rPr>
                          </m:ctrlPr>
                        </m:fPr>
                        <m:num>
                          <m:r>
                            <a:rPr lang="en-US" sz="1400" i="1">
                              <a:latin typeface="Cambria Math" panose="02040503050406030204" pitchFamily="18" charset="0"/>
                            </a:rPr>
                            <m:t>1</m:t>
                          </m:r>
                        </m:num>
                        <m:den>
                          <m:r>
                            <a:rPr lang="en-US" sz="1400" i="1">
                              <a:latin typeface="Cambria Math" panose="02040503050406030204" pitchFamily="18" charset="0"/>
                            </a:rPr>
                            <m:t>𝑛</m:t>
                          </m:r>
                        </m:den>
                      </m:f>
                      <m:nary>
                        <m:naryPr>
                          <m:chr m:val="∑"/>
                          <m:ctrlPr>
                            <a:rPr lang="en-US" sz="1400" i="1">
                              <a:latin typeface="Cambria Math" panose="02040503050406030204" pitchFamily="18" charset="0"/>
                            </a:rPr>
                          </m:ctrlPr>
                        </m:naryPr>
                        <m:sub>
                          <m:r>
                            <a:rPr lang="en-US" sz="1400" i="1">
                              <a:latin typeface="Cambria Math" panose="02040503050406030204" pitchFamily="18" charset="0"/>
                            </a:rPr>
                            <m:t>𝑖</m:t>
                          </m:r>
                          <m:r>
                            <a:rPr lang="en-US" sz="1400" i="1">
                              <a:latin typeface="Cambria Math" panose="02040503050406030204" pitchFamily="18" charset="0"/>
                            </a:rPr>
                            <m:t>=1</m:t>
                          </m:r>
                        </m:sub>
                        <m:sup>
                          <m:r>
                            <a:rPr lang="en-US" sz="1400" i="1">
                              <a:latin typeface="Cambria Math" panose="02040503050406030204" pitchFamily="18" charset="0"/>
                            </a:rPr>
                            <m:t>𝑛</m:t>
                          </m:r>
                        </m:sup>
                        <m:e>
                          <m:d>
                            <m:dPr>
                              <m:begChr m:val="|"/>
                              <m:endChr m:val="|"/>
                              <m:ctrlPr>
                                <a:rPr lang="en-US" sz="1400" i="1">
                                  <a:latin typeface="Cambria Math" panose="02040503050406030204" pitchFamily="18" charset="0"/>
                                </a:rPr>
                              </m:ctrlPr>
                            </m:dPr>
                            <m:e>
                              <m:sSub>
                                <m:sSubPr>
                                  <m:ctrlPr>
                                    <a:rPr lang="en-US" sz="1400" i="1">
                                      <a:latin typeface="Cambria Math" panose="02040503050406030204" pitchFamily="18" charset="0"/>
                                    </a:rPr>
                                  </m:ctrlPr>
                                </m:sSubPr>
                                <m:e>
                                  <m:r>
                                    <a:rPr lang="en-US" sz="1400" i="1">
                                      <a:latin typeface="Cambria Math" panose="02040503050406030204" pitchFamily="18" charset="0"/>
                                    </a:rPr>
                                    <m:t>𝑦</m:t>
                                  </m:r>
                                </m:e>
                                <m:sub>
                                  <m:r>
                                    <a:rPr lang="en-US" sz="1400" i="1">
                                      <a:latin typeface="Cambria Math" panose="02040503050406030204" pitchFamily="18" charset="0"/>
                                    </a:rPr>
                                    <m:t>𝑖</m:t>
                                  </m:r>
                                </m:sub>
                              </m:sSub>
                              <m:r>
                                <a:rPr lang="en-US" sz="1400" i="1">
                                  <a:latin typeface="Cambria Math" panose="02040503050406030204" pitchFamily="18" charset="0"/>
                                </a:rPr>
                                <m:t>−</m:t>
                              </m:r>
                              <m:acc>
                                <m:accPr>
                                  <m:chr m:val="̂"/>
                                  <m:ctrlPr>
                                    <a:rPr lang="en-US" sz="1400" i="1">
                                      <a:latin typeface="Cambria Math" panose="02040503050406030204" pitchFamily="18" charset="0"/>
                                    </a:rPr>
                                  </m:ctrlPr>
                                </m:accPr>
                                <m:e>
                                  <m:sSub>
                                    <m:sSubPr>
                                      <m:ctrlPr>
                                        <a:rPr lang="en-US" sz="1400" i="1">
                                          <a:latin typeface="Cambria Math" panose="02040503050406030204" pitchFamily="18" charset="0"/>
                                        </a:rPr>
                                      </m:ctrlPr>
                                    </m:sSubPr>
                                    <m:e>
                                      <m:r>
                                        <a:rPr lang="en-US" sz="1400" i="1">
                                          <a:latin typeface="Cambria Math" panose="02040503050406030204" pitchFamily="18" charset="0"/>
                                        </a:rPr>
                                        <m:t>𝑦</m:t>
                                      </m:r>
                                    </m:e>
                                    <m:sub>
                                      <m:r>
                                        <a:rPr lang="en-US" sz="1400" i="1">
                                          <a:latin typeface="Cambria Math" panose="02040503050406030204" pitchFamily="18" charset="0"/>
                                        </a:rPr>
                                        <m:t>𝑖</m:t>
                                      </m:r>
                                    </m:sub>
                                  </m:sSub>
                                </m:e>
                              </m:acc>
                            </m:e>
                          </m:d>
                        </m:e>
                      </m:nary>
                    </m:oMath>
                  </m:oMathPara>
                </a14:m>
                <a:endParaRPr lang="en-US" sz="1600" dirty="0">
                  <a:latin typeface="Merriweather" pitchFamily="2" charset="77"/>
                </a:endParaRPr>
              </a:p>
              <a:p>
                <a:pPr marL="742950" lvl="1" indent="-285750">
                  <a:buFont typeface="Arial" panose="020B0604020202020204" pitchFamily="34" charset="0"/>
                  <a:buChar char="•"/>
                </a:pPr>
                <a:endParaRPr lang="en-US" sz="1600" dirty="0">
                  <a:latin typeface="Merriweather" pitchFamily="2" charset="77"/>
                </a:endParaRPr>
              </a:p>
              <a:p>
                <a:pPr marL="742950" lvl="1" indent="-285750">
                  <a:buFont typeface="Arial" panose="020B0604020202020204" pitchFamily="34" charset="0"/>
                  <a:buChar char="•"/>
                </a:pPr>
                <a:endParaRPr lang="en-US" sz="1600" dirty="0">
                  <a:latin typeface="Merriweather" pitchFamily="2" charset="77"/>
                </a:endParaRPr>
              </a:p>
              <a:p>
                <a:r>
                  <a:rPr lang="en-US" sz="1600" i="1" dirty="0">
                    <a:latin typeface="Merriweather" pitchFamily="2" charset="77"/>
                  </a:rPr>
                  <a:t>		Interpretation:</a:t>
                </a:r>
                <a:r>
                  <a:rPr lang="en-US" sz="1600" dirty="0">
                    <a:latin typeface="Merriweather" pitchFamily="2" charset="77"/>
                  </a:rPr>
                  <a:t> "On average, my model is off by  </a:t>
                </a:r>
                <a14:m>
                  <m:oMath xmlns:m="http://schemas.openxmlformats.org/officeDocument/2006/math">
                    <m:r>
                      <a:rPr lang="en-US" sz="1600" i="1" smtClean="0">
                        <a:latin typeface="Cambria Math" panose="02040503050406030204" pitchFamily="18" charset="0"/>
                        <a:ea typeface="Cambria Math" panose="02040503050406030204" pitchFamily="18" charset="0"/>
                      </a:rPr>
                      <m:t>±</m:t>
                    </m:r>
                    <m:r>
                      <a:rPr lang="en-US" sz="1600" b="0" i="1" smtClean="0">
                        <a:latin typeface="Cambria Math" panose="02040503050406030204" pitchFamily="18" charset="0"/>
                        <a:ea typeface="Cambria Math" panose="02040503050406030204" pitchFamily="18" charset="0"/>
                      </a:rPr>
                      <m:t>200 </m:t>
                    </m:r>
                  </m:oMath>
                </a14:m>
                <a:r>
                  <a:rPr lang="en-US" sz="1600" dirty="0">
                    <a:latin typeface="Merriweather" pitchFamily="2" charset="77"/>
                  </a:rPr>
                  <a:t> people per town."</a:t>
                </a:r>
              </a:p>
              <a:p>
                <a:endParaRPr lang="en-US" sz="1600" b="1" dirty="0">
                  <a:latin typeface="Merriweather" pitchFamily="2" charset="77"/>
                </a:endParaRPr>
              </a:p>
              <a:p>
                <a:pPr marL="742950" lvl="1" indent="-285750">
                  <a:buFont typeface="Arial" panose="020B0604020202020204" pitchFamily="34" charset="0"/>
                  <a:buChar char="•"/>
                </a:pPr>
                <a:r>
                  <a:rPr lang="en-US" sz="1600" b="1" dirty="0">
                    <a:latin typeface="Merriweather" pitchFamily="2" charset="77"/>
                  </a:rPr>
                  <a:t>RMSE (Root Mean Squared Error):</a:t>
                </a:r>
                <a:r>
                  <a:rPr lang="en-US" sz="1600" dirty="0">
                    <a:latin typeface="Merriweather" pitchFamily="2" charset="77"/>
                  </a:rPr>
                  <a:t> Penalizes </a:t>
                </a:r>
                <a:r>
                  <a:rPr lang="en-US" sz="1600" i="1" dirty="0">
                    <a:latin typeface="Merriweather" pitchFamily="2" charset="77"/>
                  </a:rPr>
                  <a:t>large</a:t>
                </a:r>
                <a:r>
                  <a:rPr lang="en-US" sz="1600" dirty="0">
                    <a:latin typeface="Merriweather" pitchFamily="2" charset="77"/>
                  </a:rPr>
                  <a:t> mistakes more heavily.</a:t>
                </a:r>
              </a:p>
              <a:p>
                <a:endParaRPr lang="en-US" sz="1600" dirty="0">
                  <a:latin typeface="Merriweather" pitchFamily="2" charset="77"/>
                </a:endParaRPr>
              </a:p>
              <a:p>
                <a:pPr/>
                <a14:m>
                  <m:oMathPara xmlns:m="http://schemas.openxmlformats.org/officeDocument/2006/math">
                    <m:oMathParaPr>
                      <m:jc m:val="centerGroup"/>
                    </m:oMathParaPr>
                    <m:oMath xmlns:m="http://schemas.openxmlformats.org/officeDocument/2006/math">
                      <m:r>
                        <a:rPr lang="en-US" sz="1400" b="1" i="1" smtClean="0">
                          <a:solidFill>
                            <a:schemeClr val="tx1">
                              <a:lumMod val="75000"/>
                              <a:lumOff val="25000"/>
                            </a:schemeClr>
                          </a:solidFill>
                          <a:latin typeface="Cambria Math" panose="02040503050406030204" pitchFamily="18" charset="0"/>
                        </a:rPr>
                        <m:t>𝑹𝑴𝑺𝑬</m:t>
                      </m:r>
                      <m:r>
                        <a:rPr lang="en-US" sz="1400" b="1" i="1" smtClean="0">
                          <a:solidFill>
                            <a:schemeClr val="tx1">
                              <a:lumMod val="75000"/>
                              <a:lumOff val="25000"/>
                            </a:schemeClr>
                          </a:solidFill>
                          <a:latin typeface="Cambria Math" panose="02040503050406030204" pitchFamily="18" charset="0"/>
                        </a:rPr>
                        <m:t>=</m:t>
                      </m:r>
                      <m:rad>
                        <m:radPr>
                          <m:degHide m:val="on"/>
                          <m:ctrlPr>
                            <a:rPr lang="en-US" sz="1400" b="1" i="1">
                              <a:solidFill>
                                <a:schemeClr val="tx1">
                                  <a:lumMod val="75000"/>
                                  <a:lumOff val="25000"/>
                                </a:schemeClr>
                              </a:solidFill>
                              <a:latin typeface="Cambria Math" panose="02040503050406030204" pitchFamily="18" charset="0"/>
                            </a:rPr>
                          </m:ctrlPr>
                        </m:radPr>
                        <m:deg/>
                        <m:e>
                          <m:f>
                            <m:fPr>
                              <m:ctrlPr>
                                <a:rPr lang="en-US" sz="1400" b="1" i="1">
                                  <a:solidFill>
                                    <a:schemeClr val="tx1">
                                      <a:lumMod val="75000"/>
                                      <a:lumOff val="25000"/>
                                    </a:schemeClr>
                                  </a:solidFill>
                                  <a:latin typeface="Cambria Math" panose="02040503050406030204" pitchFamily="18" charset="0"/>
                                </a:rPr>
                              </m:ctrlPr>
                            </m:fPr>
                            <m:num>
                              <m:r>
                                <a:rPr lang="en-US" sz="1400" b="1" i="1">
                                  <a:solidFill>
                                    <a:schemeClr val="tx1">
                                      <a:lumMod val="75000"/>
                                      <a:lumOff val="25000"/>
                                    </a:schemeClr>
                                  </a:solidFill>
                                  <a:latin typeface="Cambria Math" panose="02040503050406030204" pitchFamily="18" charset="0"/>
                                </a:rPr>
                                <m:t>𝟏</m:t>
                              </m:r>
                            </m:num>
                            <m:den>
                              <m:r>
                                <a:rPr lang="en-US" sz="1400" b="1" i="1">
                                  <a:solidFill>
                                    <a:schemeClr val="tx1">
                                      <a:lumMod val="75000"/>
                                      <a:lumOff val="25000"/>
                                    </a:schemeClr>
                                  </a:solidFill>
                                  <a:latin typeface="Cambria Math" panose="02040503050406030204" pitchFamily="18" charset="0"/>
                                </a:rPr>
                                <m:t>𝒏</m:t>
                              </m:r>
                            </m:den>
                          </m:f>
                          <m:nary>
                            <m:naryPr>
                              <m:chr m:val="∑"/>
                              <m:ctrlPr>
                                <a:rPr lang="en-US" sz="1400" b="1" i="1">
                                  <a:solidFill>
                                    <a:schemeClr val="tx1">
                                      <a:lumMod val="75000"/>
                                      <a:lumOff val="25000"/>
                                    </a:schemeClr>
                                  </a:solidFill>
                                  <a:latin typeface="Cambria Math" panose="02040503050406030204" pitchFamily="18" charset="0"/>
                                </a:rPr>
                              </m:ctrlPr>
                            </m:naryPr>
                            <m:sub>
                              <m:r>
                                <a:rPr lang="en-US" sz="1400" b="1" i="1">
                                  <a:solidFill>
                                    <a:schemeClr val="tx1">
                                      <a:lumMod val="75000"/>
                                      <a:lumOff val="25000"/>
                                    </a:schemeClr>
                                  </a:solidFill>
                                  <a:latin typeface="Cambria Math" panose="02040503050406030204" pitchFamily="18" charset="0"/>
                                </a:rPr>
                                <m:t>𝒊</m:t>
                              </m:r>
                              <m:r>
                                <a:rPr lang="en-US" sz="1400" b="1" i="1">
                                  <a:solidFill>
                                    <a:schemeClr val="tx1">
                                      <a:lumMod val="75000"/>
                                      <a:lumOff val="25000"/>
                                    </a:schemeClr>
                                  </a:solidFill>
                                  <a:latin typeface="Cambria Math" panose="02040503050406030204" pitchFamily="18" charset="0"/>
                                </a:rPr>
                                <m:t>=</m:t>
                              </m:r>
                              <m:r>
                                <a:rPr lang="en-US" sz="1400" b="1" i="1">
                                  <a:solidFill>
                                    <a:schemeClr val="tx1">
                                      <a:lumMod val="75000"/>
                                      <a:lumOff val="25000"/>
                                    </a:schemeClr>
                                  </a:solidFill>
                                  <a:latin typeface="Cambria Math" panose="02040503050406030204" pitchFamily="18" charset="0"/>
                                </a:rPr>
                                <m:t>𝟏</m:t>
                              </m:r>
                            </m:sub>
                            <m:sup>
                              <m:r>
                                <a:rPr lang="en-US" sz="1400" b="1" i="1">
                                  <a:solidFill>
                                    <a:schemeClr val="tx1">
                                      <a:lumMod val="75000"/>
                                      <a:lumOff val="25000"/>
                                    </a:schemeClr>
                                  </a:solidFill>
                                  <a:latin typeface="Cambria Math" panose="02040503050406030204" pitchFamily="18" charset="0"/>
                                </a:rPr>
                                <m:t>𝒏</m:t>
                              </m:r>
                            </m:sup>
                            <m:e>
                              <m:sSup>
                                <m:sSupPr>
                                  <m:ctrlPr>
                                    <a:rPr lang="en-US" sz="1400" b="1" i="1">
                                      <a:solidFill>
                                        <a:schemeClr val="tx1">
                                          <a:lumMod val="75000"/>
                                          <a:lumOff val="25000"/>
                                        </a:schemeClr>
                                      </a:solidFill>
                                      <a:latin typeface="Cambria Math" panose="02040503050406030204" pitchFamily="18" charset="0"/>
                                    </a:rPr>
                                  </m:ctrlPr>
                                </m:sSupPr>
                                <m:e>
                                  <m:d>
                                    <m:dPr>
                                      <m:ctrlPr>
                                        <a:rPr lang="en-US" sz="1400" b="1" i="1">
                                          <a:solidFill>
                                            <a:schemeClr val="tx1">
                                              <a:lumMod val="75000"/>
                                              <a:lumOff val="25000"/>
                                            </a:schemeClr>
                                          </a:solidFill>
                                          <a:latin typeface="Cambria Math" panose="02040503050406030204" pitchFamily="18" charset="0"/>
                                        </a:rPr>
                                      </m:ctrlPr>
                                    </m:dPr>
                                    <m:e>
                                      <m:sSub>
                                        <m:sSubPr>
                                          <m:ctrlPr>
                                            <a:rPr lang="en-US" sz="1400" b="1" i="1">
                                              <a:solidFill>
                                                <a:schemeClr val="tx1">
                                                  <a:lumMod val="75000"/>
                                                  <a:lumOff val="25000"/>
                                                </a:schemeClr>
                                              </a:solidFill>
                                              <a:latin typeface="Cambria Math" panose="02040503050406030204" pitchFamily="18" charset="0"/>
                                            </a:rPr>
                                          </m:ctrlPr>
                                        </m:sSubPr>
                                        <m:e>
                                          <m:r>
                                            <a:rPr lang="en-US" sz="1400" b="1" i="1">
                                              <a:solidFill>
                                                <a:schemeClr val="tx1">
                                                  <a:lumMod val="75000"/>
                                                  <a:lumOff val="25000"/>
                                                </a:schemeClr>
                                              </a:solidFill>
                                              <a:latin typeface="Cambria Math" panose="02040503050406030204" pitchFamily="18" charset="0"/>
                                            </a:rPr>
                                            <m:t>𝒚</m:t>
                                          </m:r>
                                        </m:e>
                                        <m:sub>
                                          <m:r>
                                            <a:rPr lang="en-US" sz="1400" b="1" i="1">
                                              <a:solidFill>
                                                <a:schemeClr val="tx1">
                                                  <a:lumMod val="75000"/>
                                                  <a:lumOff val="25000"/>
                                                </a:schemeClr>
                                              </a:solidFill>
                                              <a:latin typeface="Cambria Math" panose="02040503050406030204" pitchFamily="18" charset="0"/>
                                            </a:rPr>
                                            <m:t>𝒊</m:t>
                                          </m:r>
                                        </m:sub>
                                      </m:sSub>
                                      <m:r>
                                        <a:rPr lang="en-US" sz="1400" b="1" i="1">
                                          <a:solidFill>
                                            <a:schemeClr val="tx1">
                                              <a:lumMod val="75000"/>
                                              <a:lumOff val="25000"/>
                                            </a:schemeClr>
                                          </a:solidFill>
                                          <a:latin typeface="Cambria Math" panose="02040503050406030204" pitchFamily="18" charset="0"/>
                                        </a:rPr>
                                        <m:t>−</m:t>
                                      </m:r>
                                      <m:acc>
                                        <m:accPr>
                                          <m:chr m:val="̂"/>
                                          <m:ctrlPr>
                                            <a:rPr lang="en-US" sz="1400" b="1" i="1">
                                              <a:solidFill>
                                                <a:schemeClr val="tx1">
                                                  <a:lumMod val="75000"/>
                                                  <a:lumOff val="25000"/>
                                                </a:schemeClr>
                                              </a:solidFill>
                                              <a:latin typeface="Cambria Math" panose="02040503050406030204" pitchFamily="18" charset="0"/>
                                            </a:rPr>
                                          </m:ctrlPr>
                                        </m:accPr>
                                        <m:e>
                                          <m:sSub>
                                            <m:sSubPr>
                                              <m:ctrlPr>
                                                <a:rPr lang="en-US" sz="1400" b="1" i="1">
                                                  <a:solidFill>
                                                    <a:schemeClr val="tx1">
                                                      <a:lumMod val="75000"/>
                                                      <a:lumOff val="25000"/>
                                                    </a:schemeClr>
                                                  </a:solidFill>
                                                  <a:latin typeface="Cambria Math" panose="02040503050406030204" pitchFamily="18" charset="0"/>
                                                </a:rPr>
                                              </m:ctrlPr>
                                            </m:sSubPr>
                                            <m:e>
                                              <m:r>
                                                <a:rPr lang="en-US" sz="1400" b="1" i="1">
                                                  <a:solidFill>
                                                    <a:schemeClr val="tx1">
                                                      <a:lumMod val="75000"/>
                                                      <a:lumOff val="25000"/>
                                                    </a:schemeClr>
                                                  </a:solidFill>
                                                  <a:latin typeface="Cambria Math" panose="02040503050406030204" pitchFamily="18" charset="0"/>
                                                </a:rPr>
                                                <m:t>𝒚</m:t>
                                              </m:r>
                                            </m:e>
                                            <m:sub>
                                              <m:r>
                                                <a:rPr lang="en-US" sz="1400" b="1" i="1">
                                                  <a:solidFill>
                                                    <a:schemeClr val="tx1">
                                                      <a:lumMod val="75000"/>
                                                      <a:lumOff val="25000"/>
                                                    </a:schemeClr>
                                                  </a:solidFill>
                                                  <a:latin typeface="Cambria Math" panose="02040503050406030204" pitchFamily="18" charset="0"/>
                                                </a:rPr>
                                                <m:t>𝒊</m:t>
                                              </m:r>
                                            </m:sub>
                                          </m:sSub>
                                        </m:e>
                                      </m:acc>
                                    </m:e>
                                  </m:d>
                                </m:e>
                                <m:sup>
                                  <m:r>
                                    <a:rPr lang="en-US" sz="1400" b="1" i="1">
                                      <a:solidFill>
                                        <a:schemeClr val="tx1">
                                          <a:lumMod val="75000"/>
                                          <a:lumOff val="25000"/>
                                        </a:schemeClr>
                                      </a:solidFill>
                                      <a:latin typeface="Cambria Math" panose="02040503050406030204" pitchFamily="18" charset="0"/>
                                    </a:rPr>
                                    <m:t>𝟐</m:t>
                                  </m:r>
                                </m:sup>
                              </m:sSup>
                            </m:e>
                          </m:nary>
                        </m:e>
                      </m:rad>
                    </m:oMath>
                  </m:oMathPara>
                </a14:m>
                <a:endParaRPr lang="en-US" b="1" dirty="0">
                  <a:solidFill>
                    <a:schemeClr val="tx1">
                      <a:lumMod val="75000"/>
                      <a:lumOff val="25000"/>
                    </a:schemeClr>
                  </a:solidFill>
                  <a:latin typeface="Merriweather" pitchFamily="2" charset="77"/>
                </a:endParaRPr>
              </a:p>
              <a:p>
                <a:endParaRPr lang="en-US" b="1" dirty="0">
                  <a:solidFill>
                    <a:schemeClr val="tx1">
                      <a:lumMod val="75000"/>
                      <a:lumOff val="25000"/>
                    </a:schemeClr>
                  </a:solidFill>
                  <a:latin typeface="Merriweather" pitchFamily="2" charset="77"/>
                </a:endParaRPr>
              </a:p>
              <a:p>
                <a:r>
                  <a:rPr lang="en-US" sz="1600" i="1" dirty="0">
                    <a:latin typeface="Merriweather" pitchFamily="2" charset="77"/>
                  </a:rPr>
                  <a:t>		</a:t>
                </a:r>
              </a:p>
              <a:p>
                <a:r>
                  <a:rPr lang="en-US" sz="1600" i="1" dirty="0">
                    <a:latin typeface="Merriweather" pitchFamily="2" charset="77"/>
                  </a:rPr>
                  <a:t>		Interpretation:</a:t>
                </a:r>
                <a:r>
                  <a:rPr lang="en-US" sz="1600" dirty="0">
                    <a:latin typeface="Merriweather" pitchFamily="2" charset="77"/>
                  </a:rPr>
                  <a:t> If our RMSE is much higher than your MAE, it means our model is failing specifically on the extreme cases (likely the Hurricane Maria years). This is a great diagnostic tool.</a:t>
                </a:r>
                <a:endParaRPr lang="en-US" sz="1600" b="1" dirty="0">
                  <a:solidFill>
                    <a:schemeClr val="tx1">
                      <a:lumMod val="75000"/>
                      <a:lumOff val="25000"/>
                    </a:schemeClr>
                  </a:solidFill>
                  <a:latin typeface="Merriweather" pitchFamily="2" charset="77"/>
                </a:endParaRPr>
              </a:p>
            </p:txBody>
          </p:sp>
        </mc:Choice>
        <mc:Fallback xmlns="">
          <p:sp>
            <p:nvSpPr>
              <p:cNvPr id="2" name="TextBox 1">
                <a:extLst>
                  <a:ext uri="{FF2B5EF4-FFF2-40B4-BE49-F238E27FC236}">
                    <a16:creationId xmlns:a16="http://schemas.microsoft.com/office/drawing/2014/main" id="{CA8C55C5-5517-9766-E34B-469866D9E598}"/>
                  </a:ext>
                </a:extLst>
              </p:cNvPr>
              <p:cNvSpPr txBox="1">
                <a:spLocks noRot="1" noChangeAspect="1" noMove="1" noResize="1" noEditPoints="1" noAdjustHandles="1" noChangeArrowheads="1" noChangeShapeType="1" noTextEdit="1"/>
              </p:cNvSpPr>
              <p:nvPr/>
            </p:nvSpPr>
            <p:spPr>
              <a:xfrm>
                <a:off x="472643" y="1519363"/>
                <a:ext cx="9336375" cy="5242782"/>
              </a:xfrm>
              <a:prstGeom prst="rect">
                <a:avLst/>
              </a:prstGeom>
              <a:blipFill>
                <a:blip r:embed="rId3"/>
                <a:stretch>
                  <a:fillRect l="-408" t="-242" b="-242"/>
                </a:stretch>
              </a:blipFill>
            </p:spPr>
            <p:txBody>
              <a:bodyPr/>
              <a:lstStyle/>
              <a:p>
                <a:r>
                  <a:rPr lang="en-US">
                    <a:noFill/>
                  </a:rPr>
                  <a:t> </a:t>
                </a:r>
              </a:p>
            </p:txBody>
          </p:sp>
        </mc:Fallback>
      </mc:AlternateContent>
    </p:spTree>
    <p:extLst>
      <p:ext uri="{BB962C8B-B14F-4D97-AF65-F5344CB8AC3E}">
        <p14:creationId xmlns:p14="http://schemas.microsoft.com/office/powerpoint/2010/main" val="3659799541"/>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Facet</Template>
  <TotalTime>1882</TotalTime>
  <Words>3578</Words>
  <Application>Microsoft Macintosh PowerPoint</Application>
  <PresentationFormat>Widescreen</PresentationFormat>
  <Paragraphs>357</Paragraphs>
  <Slides>23</Slides>
  <Notes>22</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23</vt:i4>
      </vt:variant>
    </vt:vector>
  </HeadingPairs>
  <TitlesOfParts>
    <vt:vector size="31" baseType="lpstr">
      <vt:lpstr>Merriweather</vt:lpstr>
      <vt:lpstr>Symbol</vt:lpstr>
      <vt:lpstr>Arial</vt:lpstr>
      <vt:lpstr>Calibri</vt:lpstr>
      <vt:lpstr>Wingdings 3</vt:lpstr>
      <vt:lpstr>Cambria Math</vt:lpstr>
      <vt:lpstr>Trebuchet MS</vt:lpstr>
      <vt:lpstr>Facet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Andres Ruiz</cp:lastModifiedBy>
  <cp:revision>30</cp:revision>
  <dcterms:modified xsi:type="dcterms:W3CDTF">2026-02-20T17:53:37Z</dcterms:modified>
</cp:coreProperties>
</file>