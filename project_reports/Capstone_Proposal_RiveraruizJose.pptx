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25"/>
  </p:notesMasterIdLst>
  <p:sldIdLst>
    <p:sldId id="256" r:id="rId2"/>
    <p:sldId id="257" r:id="rId3"/>
    <p:sldId id="269" r:id="rId4"/>
    <p:sldId id="268" r:id="rId5"/>
    <p:sldId id="282" r:id="rId6"/>
    <p:sldId id="270" r:id="rId7"/>
    <p:sldId id="284" r:id="rId8"/>
    <p:sldId id="280" r:id="rId9"/>
    <p:sldId id="285" r:id="rId10"/>
    <p:sldId id="264" r:id="rId11"/>
    <p:sldId id="271" r:id="rId12"/>
    <p:sldId id="272" r:id="rId13"/>
    <p:sldId id="283" r:id="rId14"/>
    <p:sldId id="260" r:id="rId15"/>
    <p:sldId id="265" r:id="rId16"/>
    <p:sldId id="266" r:id="rId17"/>
    <p:sldId id="274" r:id="rId18"/>
    <p:sldId id="273" r:id="rId19"/>
    <p:sldId id="275" r:id="rId20"/>
    <p:sldId id="276" r:id="rId21"/>
    <p:sldId id="277" r:id="rId22"/>
    <p:sldId id="279" r:id="rId23"/>
    <p:sldId id="281" r:id="rId24"/>
  </p:sldIdLst>
  <p:sldSz cx="12192000" cy="6858000"/>
  <p:notesSz cx="6858000" cy="9144000"/>
  <p:embeddedFontLst>
    <p:embeddedFont>
      <p:font typeface="Cambria Math" panose="02040503050406030204" pitchFamily="18" charset="0"/>
      <p:regular r:id="rId26"/>
    </p:embeddedFont>
    <p:embeddedFont>
      <p:font typeface="Merriweather" pitchFamily="2" charset="77"/>
      <p:regular r:id="rId27"/>
      <p:bold r:id="rId28"/>
      <p:italic r:id="rId29"/>
      <p:boldItalic r:id="rId30"/>
    </p:embeddedFont>
    <p:embeddedFont>
      <p:font typeface="Trebuchet MS" panose="020B0703020202090204" pitchFamily="34" charset="0"/>
      <p:regular r:id="rId31"/>
      <p:bold r:id="rId32"/>
      <p:italic r:id="rId33"/>
    </p:embeddedFont>
    <p:embeddedFont>
      <p:font typeface="Wingdings 3" pitchFamily="2" charset="2"/>
      <p:regular r:id="rId3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C226"/>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8"/>
    <p:restoredTop sz="85205"/>
  </p:normalViewPr>
  <p:slideViewPr>
    <p:cSldViewPr snapToGrid="0">
      <p:cViewPr varScale="1">
        <p:scale>
          <a:sx n="104" d="100"/>
          <a:sy n="104" d="100"/>
        </p:scale>
        <p:origin x="216" y="27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D8EE2C1-E9B0-D65F-531E-55E765CAFCE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3071B1D-212F-89B5-4511-32675AF7ED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19AFAC1-4ED0-D584-0F96-7084203960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847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F7E66D27-2D76-64B0-C65F-65FB2757155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50F721E-2457-D785-6719-7532994B8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7FB720F2-8783-89F5-354C-5AFB072010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8839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5.wdp"/><Relationship Id="rId18" Type="http://schemas.openxmlformats.org/officeDocument/2006/relationships/image" Target="../media/image13.png"/><Relationship Id="rId3" Type="http://schemas.openxmlformats.org/officeDocument/2006/relationships/image" Target="../media/image5.png"/><Relationship Id="rId21" Type="http://schemas.microsoft.com/office/2007/relationships/hdphoto" Target="../media/hdphoto9.wdp"/><Relationship Id="rId7" Type="http://schemas.microsoft.com/office/2007/relationships/hdphoto" Target="../media/hdphoto2.wdp"/><Relationship Id="rId12" Type="http://schemas.openxmlformats.org/officeDocument/2006/relationships/image" Target="../media/image10.png"/><Relationship Id="rId17" Type="http://schemas.microsoft.com/office/2007/relationships/hdphoto" Target="../media/hdphoto7.wdp"/><Relationship Id="rId2" Type="http://schemas.openxmlformats.org/officeDocument/2006/relationships/image" Target="../media/image4.png"/><Relationship Id="rId16" Type="http://schemas.openxmlformats.org/officeDocument/2006/relationships/image" Target="../media/image12.png"/><Relationship Id="rId20"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7.png"/><Relationship Id="rId11" Type="http://schemas.microsoft.com/office/2007/relationships/hdphoto" Target="../media/hdphoto4.wdp"/><Relationship Id="rId5" Type="http://schemas.microsoft.com/office/2007/relationships/hdphoto" Target="../media/hdphoto1.wdp"/><Relationship Id="rId15" Type="http://schemas.microsoft.com/office/2007/relationships/hdphoto" Target="../media/hdphoto6.wdp"/><Relationship Id="rId10" Type="http://schemas.openxmlformats.org/officeDocument/2006/relationships/image" Target="../media/image9.png"/><Relationship Id="rId19" Type="http://schemas.microsoft.com/office/2007/relationships/hdphoto" Target="../media/hdphoto8.wdp"/><Relationship Id="rId4" Type="http://schemas.openxmlformats.org/officeDocument/2006/relationships/image" Target="../media/image6.png"/><Relationship Id="rId9" Type="http://schemas.microsoft.com/office/2007/relationships/hdphoto" Target="../media/hdphoto3.wdp"/><Relationship Id="rId1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683318561"/>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 Single parent</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15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4E4F5DC9-795D-CC18-37BF-4CFCF281005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FFAF89E1-923A-4B82-1DE1-1B9A7315B5AC}"/>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104" name="Google Shape;104;p14">
            <a:extLst>
              <a:ext uri="{FF2B5EF4-FFF2-40B4-BE49-F238E27FC236}">
                <a16:creationId xmlns:a16="http://schemas.microsoft.com/office/drawing/2014/main" id="{27293AA5-CB60-FDDA-812E-DEE5ADE8337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pPr rtl="0">
                            <a:buNone/>
                          </a:pPr>
                          <a:r>
                            <a:rPr lang="en-US" sz="1200" b="1" dirty="0">
                              <a:solidFill>
                                <a:srgbClr val="1F1F1F"/>
                              </a:solidFill>
                              <a:effectLst/>
                              <a:latin typeface="Merriweather" pitchFamily="2" charset="77"/>
                            </a:rPr>
                            <a:t>Inputs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𝑚</m:t>
                                  </m:r>
                                  <m:r>
                                    <a:rPr lang="en-US" sz="1200" i="1">
                                      <a:latin typeface="Cambria Math" panose="02040503050406030204" pitchFamily="18" charset="0"/>
                                    </a:rPr>
                                    <m:t>,</m:t>
                                  </m:r>
                                  <m:r>
                                    <a:rPr lang="en-US" sz="120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pPr rtl="0">
                            <a:buNone/>
                          </a:pPr>
                          <a:r>
                            <a:rPr lang="en-US" sz="1200" b="1" dirty="0">
                              <a:solidFill>
                                <a:srgbClr val="1F1F1F"/>
                              </a:solidFill>
                              <a:effectLst/>
                              <a:latin typeface="Merriweather" pitchFamily="2" charset="77"/>
                            </a:rPr>
                            <a:t>Outputs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a:latin typeface="Cambria Math" panose="02040503050406030204" pitchFamily="18" charset="0"/>
                                    </a:rPr>
                                    <m:t>𝑚</m:t>
                                  </m:r>
                                  <m:r>
                                    <a:rPr lang="en-US" sz="1200" b="0" i="1">
                                      <a:latin typeface="Cambria Math" panose="02040503050406030204" pitchFamily="18" charset="0"/>
                                    </a:rPr>
                                    <m:t>,</m:t>
                                  </m:r>
                                  <m:r>
                                    <a:rPr lang="en-US" sz="1200" b="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Choice>
        <mc:Fallback xmlns="">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endParaRPr lang="en-US"/>
                        </a:p>
                      </a:txBody>
                      <a:tcPr marL="38711" marR="38711" marT="25807" marB="25807" anchor="ctr">
                        <a:blipFill>
                          <a:blip r:embed="rId3"/>
                          <a:stretch>
                            <a:fillRect l="-521" t="-29927" r="-354167" b="-161314"/>
                          </a:stretch>
                        </a:blipFill>
                      </a:tcP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endParaRPr lang="en-US"/>
                        </a:p>
                      </a:txBody>
                      <a:tcPr marL="38711" marR="38711" marT="25807" marB="25807" anchor="ctr">
                        <a:blipFill>
                          <a:blip r:embed="rId3"/>
                          <a:stretch>
                            <a:fillRect l="-521" t="-392754" r="-354167" b="-85507"/>
                          </a:stretch>
                        </a:blipFill>
                      </a:tcP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Fallback>
      </mc:AlternateContent>
    </p:spTree>
    <p:extLst>
      <p:ext uri="{BB962C8B-B14F-4D97-AF65-F5344CB8AC3E}">
        <p14:creationId xmlns:p14="http://schemas.microsoft.com/office/powerpoint/2010/main" val="3552432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782BB2F-A799-E069-3A55-CD50247FAF4A}"/>
              </a:ext>
            </a:extLst>
          </p:cNvPr>
          <p:cNvSpPr/>
          <p:nvPr/>
        </p:nvSpPr>
        <p:spPr>
          <a:xfrm>
            <a:off x="750276" y="1563192"/>
            <a:ext cx="2074986" cy="5180483"/>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F5D0AC2-D778-7E4B-9E87-925D81EB6675}"/>
              </a:ext>
            </a:extLst>
          </p:cNvPr>
          <p:cNvSpPr/>
          <p:nvPr/>
        </p:nvSpPr>
        <p:spPr>
          <a:xfrm>
            <a:off x="3282460" y="2558787"/>
            <a:ext cx="2379785" cy="3270738"/>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354FF-5CA0-8549-83AA-88B782E9FEE8}"/>
              </a:ext>
            </a:extLst>
          </p:cNvPr>
          <p:cNvSpPr/>
          <p:nvPr/>
        </p:nvSpPr>
        <p:spPr>
          <a:xfrm>
            <a:off x="6081655" y="2629839"/>
            <a:ext cx="2076839" cy="3199686"/>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B1C1E2-840A-A6A9-8E24-4387EB2EA239}"/>
              </a:ext>
            </a:extLst>
          </p:cNvPr>
          <p:cNvSpPr/>
          <p:nvPr/>
        </p:nvSpPr>
        <p:spPr>
          <a:xfrm>
            <a:off x="8581292" y="2716977"/>
            <a:ext cx="1852246" cy="2902401"/>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323E3F60-C717-C774-77BB-C93D4CB1E736}"/>
              </a:ext>
            </a:extLst>
          </p:cNvPr>
          <p:cNvSpPr/>
          <p:nvPr/>
        </p:nvSpPr>
        <p:spPr>
          <a:xfrm>
            <a:off x="838967" y="2043252"/>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ounded Rectangle 8">
            <a:extLst>
              <a:ext uri="{FF2B5EF4-FFF2-40B4-BE49-F238E27FC236}">
                <a16:creationId xmlns:a16="http://schemas.microsoft.com/office/drawing/2014/main" id="{AE3D9521-4D44-5AF2-B797-E7AE67FB9BA2}"/>
              </a:ext>
            </a:extLst>
          </p:cNvPr>
          <p:cNvSpPr/>
          <p:nvPr/>
        </p:nvSpPr>
        <p:spPr>
          <a:xfrm>
            <a:off x="847082" y="3195100"/>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E048FC91-9EA0-B061-5516-352FC20E75F2}"/>
              </a:ext>
            </a:extLst>
          </p:cNvPr>
          <p:cNvSpPr/>
          <p:nvPr/>
        </p:nvSpPr>
        <p:spPr>
          <a:xfrm>
            <a:off x="838967" y="4417366"/>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3F07BC0F-16AB-7C72-C8C9-7C7A0EF278E0}"/>
              </a:ext>
            </a:extLst>
          </p:cNvPr>
          <p:cNvSpPr/>
          <p:nvPr/>
        </p:nvSpPr>
        <p:spPr>
          <a:xfrm>
            <a:off x="838966" y="5580520"/>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8CFA5395-537B-B5C0-5A4D-771A5E5C86AD}"/>
              </a:ext>
            </a:extLst>
          </p:cNvPr>
          <p:cNvSpPr/>
          <p:nvPr/>
        </p:nvSpPr>
        <p:spPr>
          <a:xfrm>
            <a:off x="3391667" y="3018612"/>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EDFB6069-A96C-D3E3-8FC8-719648C31FF8}"/>
              </a:ext>
            </a:extLst>
          </p:cNvPr>
          <p:cNvSpPr/>
          <p:nvPr/>
        </p:nvSpPr>
        <p:spPr>
          <a:xfrm>
            <a:off x="3391667" y="4499958"/>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751BE3-01C4-0E6A-C137-78C5B3A158D4}"/>
              </a:ext>
            </a:extLst>
          </p:cNvPr>
          <p:cNvSpPr/>
          <p:nvPr/>
        </p:nvSpPr>
        <p:spPr>
          <a:xfrm>
            <a:off x="6187439" y="3144201"/>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9A9D1CE-515F-2AD5-FEC8-B6EC6B7410B8}"/>
              </a:ext>
            </a:extLst>
          </p:cNvPr>
          <p:cNvSpPr/>
          <p:nvPr/>
        </p:nvSpPr>
        <p:spPr>
          <a:xfrm>
            <a:off x="6187439" y="4386271"/>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3E7C44BE-23DD-123B-8DBC-D00F893C1708}"/>
              </a:ext>
            </a:extLst>
          </p:cNvPr>
          <p:cNvSpPr/>
          <p:nvPr/>
        </p:nvSpPr>
        <p:spPr>
          <a:xfrm>
            <a:off x="8707721" y="317574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93C1D20-2035-402A-13EA-5B181AE627FA}"/>
                  </a:ext>
                </a:extLst>
              </p:cNvPr>
              <p:cNvSpPr txBox="1"/>
              <p:nvPr/>
            </p:nvSpPr>
            <p:spPr>
              <a:xfrm>
                <a:off x="1159606" y="1620847"/>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C93C1D20-2035-402A-13EA-5B181AE627FA}"/>
                  </a:ext>
                </a:extLst>
              </p:cNvPr>
              <p:cNvSpPr txBox="1">
                <a:spLocks noRot="1" noChangeAspect="1" noMove="1" noResize="1" noEditPoints="1" noAdjustHandles="1" noChangeArrowheads="1" noChangeShapeType="1" noTextEdit="1"/>
              </p:cNvSpPr>
              <p:nvPr/>
            </p:nvSpPr>
            <p:spPr>
              <a:xfrm>
                <a:off x="1159606" y="1620847"/>
                <a:ext cx="1437125" cy="349326"/>
              </a:xfrm>
              <a:prstGeom prst="rect">
                <a:avLst/>
              </a:prstGeom>
              <a:blipFill>
                <a:blip r:embed="rId2"/>
                <a:stretch>
                  <a:fillRect l="-2632" t="-6897" b="-1379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00B4953-7E29-12F3-9BF4-1D8344124B3B}"/>
              </a:ext>
            </a:extLst>
          </p:cNvPr>
          <p:cNvSpPr txBox="1"/>
          <p:nvPr/>
        </p:nvSpPr>
        <p:spPr>
          <a:xfrm>
            <a:off x="3998761" y="262983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3CBE6E5-623D-EAB3-49A5-FE8B7D4C866F}"/>
                  </a:ext>
                </a:extLst>
              </p:cNvPr>
              <p:cNvSpPr txBox="1"/>
              <p:nvPr/>
            </p:nvSpPr>
            <p:spPr>
              <a:xfrm>
                <a:off x="6378546" y="2716977"/>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E3CBE6E5-623D-EAB3-49A5-FE8B7D4C866F}"/>
                  </a:ext>
                </a:extLst>
              </p:cNvPr>
              <p:cNvSpPr txBox="1">
                <a:spLocks noRot="1" noChangeAspect="1" noMove="1" noResize="1" noEditPoints="1" noAdjustHandles="1" noChangeArrowheads="1" noChangeShapeType="1" noTextEdit="1"/>
              </p:cNvSpPr>
              <p:nvPr/>
            </p:nvSpPr>
            <p:spPr>
              <a:xfrm>
                <a:off x="6378546" y="2716977"/>
                <a:ext cx="1567160" cy="349326"/>
              </a:xfrm>
              <a:prstGeom prst="rect">
                <a:avLst/>
              </a:prstGeom>
              <a:blipFill>
                <a:blip r:embed="rId3"/>
                <a:stretch>
                  <a:fillRect l="-2419" t="-10714"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AB398FE8-71FC-5795-F3AA-1D428325C95B}"/>
              </a:ext>
            </a:extLst>
          </p:cNvPr>
          <p:cNvSpPr txBox="1"/>
          <p:nvPr/>
        </p:nvSpPr>
        <p:spPr>
          <a:xfrm>
            <a:off x="9197943" y="278239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25DA522-C797-0334-5C85-6C3E5B9585DB}"/>
              </a:ext>
            </a:extLst>
          </p:cNvPr>
          <p:cNvSpPr txBox="1"/>
          <p:nvPr/>
        </p:nvSpPr>
        <p:spPr>
          <a:xfrm>
            <a:off x="1481117" y="2115433"/>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0AD121B6-10A5-F531-DAAD-2D0914DF43A4}"/>
              </a:ext>
            </a:extLst>
          </p:cNvPr>
          <p:cNvSpPr txBox="1"/>
          <p:nvPr/>
        </p:nvSpPr>
        <p:spPr>
          <a:xfrm>
            <a:off x="1469828" y="3209167"/>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25C81878-3725-BD31-83A8-5D6A0ED27617}"/>
              </a:ext>
            </a:extLst>
          </p:cNvPr>
          <p:cNvSpPr txBox="1"/>
          <p:nvPr/>
        </p:nvSpPr>
        <p:spPr>
          <a:xfrm>
            <a:off x="1452781" y="5655414"/>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3680F7AB-35C5-1258-928E-BB27283A80E4}"/>
              </a:ext>
            </a:extLst>
          </p:cNvPr>
          <p:cNvSpPr txBox="1"/>
          <p:nvPr/>
        </p:nvSpPr>
        <p:spPr>
          <a:xfrm>
            <a:off x="1474095" y="4452118"/>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C9807C49-542E-439D-525E-29240B34505F}"/>
              </a:ext>
            </a:extLst>
          </p:cNvPr>
          <p:cNvSpPr txBox="1"/>
          <p:nvPr/>
        </p:nvSpPr>
        <p:spPr>
          <a:xfrm>
            <a:off x="3948823" y="3106379"/>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D42E08B1-AD59-8362-0251-E922EEEE2F34}"/>
              </a:ext>
            </a:extLst>
          </p:cNvPr>
          <p:cNvSpPr txBox="1"/>
          <p:nvPr/>
        </p:nvSpPr>
        <p:spPr>
          <a:xfrm>
            <a:off x="3976541" y="4619615"/>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6F0E5B06-8CA8-2AB3-9A4C-5CE10C9C9069}"/>
              </a:ext>
            </a:extLst>
          </p:cNvPr>
          <p:cNvSpPr txBox="1"/>
          <p:nvPr/>
        </p:nvSpPr>
        <p:spPr>
          <a:xfrm>
            <a:off x="6856946" y="3216244"/>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A3987FF7-66BD-3A13-DCC2-ABE672A29562}"/>
              </a:ext>
            </a:extLst>
          </p:cNvPr>
          <p:cNvSpPr txBox="1"/>
          <p:nvPr/>
        </p:nvSpPr>
        <p:spPr>
          <a:xfrm>
            <a:off x="6850534" y="4434953"/>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BFAEB53E-21DE-788B-07BE-F4E213847CF9}"/>
              </a:ext>
            </a:extLst>
          </p:cNvPr>
          <p:cNvSpPr txBox="1"/>
          <p:nvPr/>
        </p:nvSpPr>
        <p:spPr>
          <a:xfrm>
            <a:off x="8707721" y="3926583"/>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3" name="Picture 32" descr="A group of people with a clock&#10;&#10;AI-generated content may be incorrect.">
            <a:extLst>
              <a:ext uri="{FF2B5EF4-FFF2-40B4-BE49-F238E27FC236}">
                <a16:creationId xmlns:a16="http://schemas.microsoft.com/office/drawing/2014/main" id="{13176C64-3096-4A25-0F9B-68BDA3010D98}"/>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20000"/>
                    </a14:imgEffect>
                  </a14:imgLayer>
                </a14:imgProps>
              </a:ext>
            </a:extLst>
          </a:blip>
          <a:stretch>
            <a:fillRect/>
          </a:stretch>
        </p:blipFill>
        <p:spPr>
          <a:xfrm>
            <a:off x="888610" y="2198403"/>
            <a:ext cx="613898" cy="665056"/>
          </a:xfrm>
          <a:prstGeom prst="rect">
            <a:avLst/>
          </a:prstGeom>
        </p:spPr>
      </p:pic>
      <p:pic>
        <p:nvPicPr>
          <p:cNvPr id="35" name="Picture 34">
            <a:extLst>
              <a:ext uri="{FF2B5EF4-FFF2-40B4-BE49-F238E27FC236}">
                <a16:creationId xmlns:a16="http://schemas.microsoft.com/office/drawing/2014/main" id="{513F2F91-5292-62AC-AAD7-209F5D64463C}"/>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20000"/>
                    </a14:imgEffect>
                  </a14:imgLayer>
                </a14:imgProps>
              </a:ext>
            </a:extLst>
          </a:blip>
          <a:stretch>
            <a:fillRect/>
          </a:stretch>
        </p:blipFill>
        <p:spPr>
          <a:xfrm>
            <a:off x="874727" y="3368927"/>
            <a:ext cx="627781" cy="671987"/>
          </a:xfrm>
          <a:prstGeom prst="rect">
            <a:avLst/>
          </a:prstGeom>
        </p:spPr>
      </p:pic>
      <p:pic>
        <p:nvPicPr>
          <p:cNvPr id="37" name="Picture 36" descr="A chain with a house and a broken chain&#10;&#10;AI-generated content may be incorrect.">
            <a:extLst>
              <a:ext uri="{FF2B5EF4-FFF2-40B4-BE49-F238E27FC236}">
                <a16:creationId xmlns:a16="http://schemas.microsoft.com/office/drawing/2014/main" id="{8E98BF4A-C70B-CD19-B7A1-CE2392901619}"/>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20000" contrast="20000"/>
                    </a14:imgEffect>
                  </a14:imgLayer>
                </a14:imgProps>
              </a:ext>
            </a:extLst>
          </a:blip>
          <a:stretch>
            <a:fillRect/>
          </a:stretch>
        </p:blipFill>
        <p:spPr>
          <a:xfrm>
            <a:off x="895583" y="4619615"/>
            <a:ext cx="606305" cy="651775"/>
          </a:xfrm>
          <a:prstGeom prst="rect">
            <a:avLst/>
          </a:prstGeom>
        </p:spPr>
      </p:pic>
      <p:pic>
        <p:nvPicPr>
          <p:cNvPr id="39" name="Picture 38">
            <a:extLst>
              <a:ext uri="{FF2B5EF4-FFF2-40B4-BE49-F238E27FC236}">
                <a16:creationId xmlns:a16="http://schemas.microsoft.com/office/drawing/2014/main" id="{C1648C76-2B30-DEC4-584B-9CE8432ABDBE}"/>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20000" contrast="20000"/>
                    </a14:imgEffect>
                  </a14:imgLayer>
                </a14:imgProps>
              </a:ext>
            </a:extLst>
          </a:blip>
          <a:stretch>
            <a:fillRect/>
          </a:stretch>
        </p:blipFill>
        <p:spPr>
          <a:xfrm>
            <a:off x="908603" y="5715306"/>
            <a:ext cx="593285" cy="736600"/>
          </a:xfrm>
          <a:prstGeom prst="rect">
            <a:avLst/>
          </a:prstGeom>
        </p:spPr>
      </p:pic>
      <p:pic>
        <p:nvPicPr>
          <p:cNvPr id="41" name="Picture 40" descr="A close up of a diagram&#10;&#10;AI-generated content may be incorrect.">
            <a:extLst>
              <a:ext uri="{FF2B5EF4-FFF2-40B4-BE49-F238E27FC236}">
                <a16:creationId xmlns:a16="http://schemas.microsoft.com/office/drawing/2014/main" id="{2045DDD0-7191-ED8B-7F82-74512CB28E18}"/>
              </a:ext>
            </a:extLst>
          </p:cNvPr>
          <p:cNvPicPr>
            <a:picLocks noChangeAspect="1"/>
          </p:cNvPicPr>
          <p:nvPr/>
        </p:nvPicPr>
        <p:blipFill>
          <a:blip r:embed="rId12">
            <a:extLst>
              <a:ext uri="{BEBA8EAE-BF5A-486C-A8C5-ECC9F3942E4B}">
                <a14:imgProps xmlns:a14="http://schemas.microsoft.com/office/drawing/2010/main">
                  <a14:imgLayer r:embed="rId13">
                    <a14:imgEffect>
                      <a14:brightnessContrast bright="20000" contrast="20000"/>
                    </a14:imgEffect>
                  </a14:imgLayer>
                </a14:imgProps>
              </a:ext>
            </a:extLst>
          </a:blip>
          <a:stretch>
            <a:fillRect/>
          </a:stretch>
        </p:blipFill>
        <p:spPr>
          <a:xfrm>
            <a:off x="3462007" y="3195100"/>
            <a:ext cx="549748" cy="933202"/>
          </a:xfrm>
          <a:prstGeom prst="rect">
            <a:avLst/>
          </a:prstGeom>
        </p:spPr>
      </p:pic>
      <p:pic>
        <p:nvPicPr>
          <p:cNvPr id="43" name="Picture 42" descr="A group of dots in a circle&#10;&#10;AI-generated content may be incorrect.">
            <a:extLst>
              <a:ext uri="{FF2B5EF4-FFF2-40B4-BE49-F238E27FC236}">
                <a16:creationId xmlns:a16="http://schemas.microsoft.com/office/drawing/2014/main" id="{0258D567-C951-4BA8-BB98-AC6FF7DF5372}"/>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20000" contrast="20000"/>
                    </a14:imgEffect>
                  </a14:imgLayer>
                </a14:imgProps>
              </a:ext>
            </a:extLst>
          </a:blip>
          <a:stretch>
            <a:fillRect/>
          </a:stretch>
        </p:blipFill>
        <p:spPr>
          <a:xfrm>
            <a:off x="3454268" y="4761967"/>
            <a:ext cx="566476" cy="695780"/>
          </a:xfrm>
          <a:prstGeom prst="rect">
            <a:avLst/>
          </a:prstGeom>
        </p:spPr>
      </p:pic>
      <p:pic>
        <p:nvPicPr>
          <p:cNvPr id="45" name="Picture 44" descr="A graph with a red arrow down&#10;&#10;AI-generated content may be incorrect.">
            <a:extLst>
              <a:ext uri="{FF2B5EF4-FFF2-40B4-BE49-F238E27FC236}">
                <a16:creationId xmlns:a16="http://schemas.microsoft.com/office/drawing/2014/main" id="{08D7EFFC-F398-080A-BF8C-A5283070D0C9}"/>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bright="20000" contrast="20000"/>
                    </a14:imgEffect>
                  </a14:imgLayer>
                </a14:imgProps>
              </a:ext>
            </a:extLst>
          </a:blip>
          <a:stretch>
            <a:fillRect/>
          </a:stretch>
        </p:blipFill>
        <p:spPr>
          <a:xfrm>
            <a:off x="6274553" y="3404528"/>
            <a:ext cx="561926" cy="657573"/>
          </a:xfrm>
          <a:prstGeom prst="rect">
            <a:avLst/>
          </a:prstGeom>
        </p:spPr>
      </p:pic>
      <p:pic>
        <p:nvPicPr>
          <p:cNvPr id="47" name="Picture 46" descr="A colorful gauge with a needle&#10;&#10;AI-generated content may be incorrect.">
            <a:extLst>
              <a:ext uri="{FF2B5EF4-FFF2-40B4-BE49-F238E27FC236}">
                <a16:creationId xmlns:a16="http://schemas.microsoft.com/office/drawing/2014/main" id="{F9D0FC81-C643-FD55-2334-BF166FF51104}"/>
              </a:ext>
            </a:extLst>
          </p:cNvPr>
          <p:cNvPicPr>
            <a:picLocks noChangeAspect="1"/>
          </p:cNvPicPr>
          <p:nvPr/>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6254054" y="4524669"/>
            <a:ext cx="602892" cy="603993"/>
          </a:xfrm>
          <a:prstGeom prst="rect">
            <a:avLst/>
          </a:prstGeom>
        </p:spPr>
      </p:pic>
      <p:pic>
        <p:nvPicPr>
          <p:cNvPr id="51" name="Picture 50" descr="A map of the country with gears&#10;&#10;AI-generated content may be incorrect.">
            <a:extLst>
              <a:ext uri="{FF2B5EF4-FFF2-40B4-BE49-F238E27FC236}">
                <a16:creationId xmlns:a16="http://schemas.microsoft.com/office/drawing/2014/main" id="{1D080A1D-2AB5-CEC1-1B63-535B40DE637C}"/>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10000" b="90000" l="904" r="96988">
                        <a14:foregroundMark x1="9940" y1="17143" x2="10542" y2="14286"/>
                        <a14:foregroundMark x1="5723" y1="24286" x2="904" y2="24286"/>
                        <a14:foregroundMark x1="82831" y1="36429" x2="95181" y2="33214"/>
                        <a14:foregroundMark x1="94578" y1="23571" x2="94578" y2="23571"/>
                        <a14:foregroundMark x1="62349" y1="58571" x2="61145" y2="67500"/>
                        <a14:foregroundMark x1="58434" y1="25357" x2="58735" y2="16071"/>
                        <a14:foregroundMark x1="76506" y1="21786" x2="80120" y2="31071"/>
                        <a14:foregroundMark x1="93072" y1="24643" x2="96988" y2="26429"/>
                        <a14:foregroundMark x1="77410" y1="21786" x2="79518" y2="25714"/>
                        <a14:foregroundMark x1="78614" y1="28571" x2="81627" y2="30000"/>
                        <a14:foregroundMark x1="77711" y1="24286" x2="80723" y2="21071"/>
                      </a14:backgroundRemoval>
                    </a14:imgEffect>
                    <a14:imgEffect>
                      <a14:brightnessContrast bright="20000" contrast="20000"/>
                    </a14:imgEffect>
                  </a14:imgLayer>
                </a14:imgProps>
              </a:ext>
            </a:extLst>
          </a:blip>
          <a:stretch>
            <a:fillRect/>
          </a:stretch>
        </p:blipFill>
        <p:spPr>
          <a:xfrm>
            <a:off x="8965723" y="3178624"/>
            <a:ext cx="1170894" cy="784106"/>
          </a:xfrm>
          <a:prstGeom prst="rect">
            <a:avLst/>
          </a:prstGeom>
        </p:spPr>
      </p:pic>
      <p:sp>
        <p:nvSpPr>
          <p:cNvPr id="52" name="Right Arrow 51">
            <a:extLst>
              <a:ext uri="{FF2B5EF4-FFF2-40B4-BE49-F238E27FC236}">
                <a16:creationId xmlns:a16="http://schemas.microsoft.com/office/drawing/2014/main" id="{D6EECCC1-CF19-A665-169F-30F844393266}"/>
              </a:ext>
            </a:extLst>
          </p:cNvPr>
          <p:cNvSpPr/>
          <p:nvPr/>
        </p:nvSpPr>
        <p:spPr>
          <a:xfrm>
            <a:off x="8099133" y="4093485"/>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3" name="Right Arrow 52">
            <a:extLst>
              <a:ext uri="{FF2B5EF4-FFF2-40B4-BE49-F238E27FC236}">
                <a16:creationId xmlns:a16="http://schemas.microsoft.com/office/drawing/2014/main" id="{C7FFD8CD-08D8-4872-100D-B63F60E86E0B}"/>
              </a:ext>
            </a:extLst>
          </p:cNvPr>
          <p:cNvSpPr/>
          <p:nvPr/>
        </p:nvSpPr>
        <p:spPr>
          <a:xfrm>
            <a:off x="5589351" y="4133582"/>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4" name="Right Arrow 53">
            <a:extLst>
              <a:ext uri="{FF2B5EF4-FFF2-40B4-BE49-F238E27FC236}">
                <a16:creationId xmlns:a16="http://schemas.microsoft.com/office/drawing/2014/main" id="{E8700B6C-A951-AB62-DA9A-B84EC158A28A}"/>
              </a:ext>
            </a:extLst>
          </p:cNvPr>
          <p:cNvSpPr/>
          <p:nvPr/>
        </p:nvSpPr>
        <p:spPr>
          <a:xfrm>
            <a:off x="2791173" y="4136637"/>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5" name="Right Arrow 54">
            <a:extLst>
              <a:ext uri="{FF2B5EF4-FFF2-40B4-BE49-F238E27FC236}">
                <a16:creationId xmlns:a16="http://schemas.microsoft.com/office/drawing/2014/main" id="{C2DA985D-D677-02AD-132C-F14F0B5561A3}"/>
              </a:ext>
            </a:extLst>
          </p:cNvPr>
          <p:cNvSpPr/>
          <p:nvPr/>
        </p:nvSpPr>
        <p:spPr>
          <a:xfrm rot="5400000">
            <a:off x="4458164" y="4209344"/>
            <a:ext cx="438708" cy="353855"/>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6" name="Google Shape;103;p14">
            <a:extLst>
              <a:ext uri="{FF2B5EF4-FFF2-40B4-BE49-F238E27FC236}">
                <a16:creationId xmlns:a16="http://schemas.microsoft.com/office/drawing/2014/main" id="{F803CAFA-46D6-9E23-5C01-6D20A7888976}"/>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57" name="Google Shape;104;p14">
            <a:extLst>
              <a:ext uri="{FF2B5EF4-FFF2-40B4-BE49-F238E27FC236}">
                <a16:creationId xmlns:a16="http://schemas.microsoft.com/office/drawing/2014/main" id="{68F0F239-5E26-7C61-F79B-47593127C51D}"/>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89908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C12AD92B-5EFF-17E1-59E0-0CD8731455F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4631FD4D-0CE6-C1EC-D381-C2EC7A088827}"/>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Pipeline Risk Assessment &amp; Mitigation</a:t>
            </a:r>
          </a:p>
        </p:txBody>
      </p:sp>
      <p:sp>
        <p:nvSpPr>
          <p:cNvPr id="104" name="Google Shape;104;p14">
            <a:extLst>
              <a:ext uri="{FF2B5EF4-FFF2-40B4-BE49-F238E27FC236}">
                <a16:creationId xmlns:a16="http://schemas.microsoft.com/office/drawing/2014/main" id="{4A73C043-2007-954D-954B-1877AF35EF5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EC87F503-1C3E-90A6-C8CE-1DF98F92D601}"/>
              </a:ext>
            </a:extLst>
          </p:cNvPr>
          <p:cNvGraphicFramePr>
            <a:graphicFrameLocks noGrp="1"/>
          </p:cNvGraphicFramePr>
          <p:nvPr>
            <p:extLst>
              <p:ext uri="{D42A27DB-BD31-4B8C-83A1-F6EECF244321}">
                <p14:modId xmlns:p14="http://schemas.microsoft.com/office/powerpoint/2010/main" val="2646216559"/>
              </p:ext>
            </p:extLst>
          </p:nvPr>
        </p:nvGraphicFramePr>
        <p:xfrm>
          <a:off x="571500" y="1536382"/>
          <a:ext cx="11049000" cy="5189860"/>
        </p:xfrm>
        <a:graphic>
          <a:graphicData uri="http://schemas.openxmlformats.org/drawingml/2006/table">
            <a:tbl>
              <a:tblPr>
                <a:tableStyleId>{16D9F66E-5EB9-4882-86FB-DCBF35E3C3E4}</a:tableStyleId>
              </a:tblPr>
              <a:tblGrid>
                <a:gridCol w="3683000">
                  <a:extLst>
                    <a:ext uri="{9D8B030D-6E8A-4147-A177-3AD203B41FA5}">
                      <a16:colId xmlns:a16="http://schemas.microsoft.com/office/drawing/2014/main" val="932660012"/>
                    </a:ext>
                  </a:extLst>
                </a:gridCol>
                <a:gridCol w="2404208">
                  <a:extLst>
                    <a:ext uri="{9D8B030D-6E8A-4147-A177-3AD203B41FA5}">
                      <a16:colId xmlns:a16="http://schemas.microsoft.com/office/drawing/2014/main" val="781832915"/>
                    </a:ext>
                  </a:extLst>
                </a:gridCol>
                <a:gridCol w="4961792">
                  <a:extLst>
                    <a:ext uri="{9D8B030D-6E8A-4147-A177-3AD203B41FA5}">
                      <a16:colId xmlns:a16="http://schemas.microsoft.com/office/drawing/2014/main" val="1037379593"/>
                    </a:ext>
                  </a:extLst>
                </a:gridCol>
              </a:tblGrid>
              <a:tr h="259557">
                <a:tc>
                  <a:txBody>
                    <a:bodyPr/>
                    <a:lstStyle/>
                    <a:p>
                      <a:pPr rtl="0">
                        <a:buNone/>
                      </a:pPr>
                      <a:r>
                        <a:rPr lang="en-US" sz="1600" b="1" dirty="0">
                          <a:solidFill>
                            <a:srgbClr val="1F1F1F"/>
                          </a:solidFill>
                          <a:effectLst/>
                          <a:latin typeface="Merriweather" pitchFamily="2" charset="77"/>
                        </a:rPr>
                        <a:t>Risk Identified</a:t>
                      </a:r>
                    </a:p>
                  </a:txBody>
                  <a:tcPr marL="52547" marR="52547" marT="35031" marB="35031" anchor="ctr"/>
                </a:tc>
                <a:tc>
                  <a:txBody>
                    <a:bodyPr/>
                    <a:lstStyle/>
                    <a:p>
                      <a:pPr algn="ctr" rtl="0">
                        <a:buNone/>
                      </a:pPr>
                      <a:r>
                        <a:rPr lang="en-US" sz="1600" b="1" dirty="0">
                          <a:solidFill>
                            <a:srgbClr val="1F1F1F"/>
                          </a:solidFill>
                          <a:effectLst/>
                          <a:latin typeface="Merriweather" pitchFamily="2" charset="77"/>
                        </a:rPr>
                        <a:t>Level</a:t>
                      </a:r>
                    </a:p>
                  </a:txBody>
                  <a:tcPr marL="52547" marR="52547" marT="35031" marB="35031" anchor="ctr"/>
                </a:tc>
                <a:tc>
                  <a:txBody>
                    <a:bodyPr/>
                    <a:lstStyle/>
                    <a:p>
                      <a:pPr rtl="0">
                        <a:buNone/>
                      </a:pPr>
                      <a:r>
                        <a:rPr lang="en-US" sz="1600" b="1" dirty="0">
                          <a:solidFill>
                            <a:srgbClr val="1F1F1F"/>
                          </a:solidFill>
                          <a:effectLst/>
                          <a:latin typeface="Merriweather" pitchFamily="2" charset="77"/>
                        </a:rPr>
                        <a:t>Mitigation Plan</a:t>
                      </a:r>
                    </a:p>
                  </a:txBody>
                  <a:tcPr marL="52547" marR="52547" marT="35031" marB="35031" anchor="ctr"/>
                </a:tc>
                <a:extLst>
                  <a:ext uri="{0D108BD9-81ED-4DB2-BD59-A6C34878D82A}">
                    <a16:rowId xmlns:a16="http://schemas.microsoft.com/office/drawing/2014/main" val="2868988395"/>
                  </a:ext>
                </a:extLst>
              </a:tr>
              <a:tr h="1260704">
                <a:tc>
                  <a:txBody>
                    <a:bodyPr/>
                    <a:lstStyle/>
                    <a:p>
                      <a:pPr rtl="0">
                        <a:buNone/>
                      </a:pPr>
                      <a:r>
                        <a:rPr lang="en-US" sz="1200" b="1" dirty="0">
                          <a:solidFill>
                            <a:srgbClr val="1F1F1F"/>
                          </a:solidFill>
                          <a:effectLst/>
                          <a:latin typeface="Merriweather" pitchFamily="2" charset="77"/>
                        </a:rPr>
                        <a:t>Data Volatility ("Noise"): </a:t>
                      </a:r>
                    </a:p>
                    <a:p>
                      <a:pPr rtl="0">
                        <a:buNone/>
                      </a:pPr>
                      <a:r>
                        <a:rPr lang="en-US" sz="1200" b="1" dirty="0">
                          <a:solidFill>
                            <a:srgbClr val="1F1F1F"/>
                          </a:solidFill>
                          <a:effectLst/>
                          <a:latin typeface="Merriweather" pitchFamily="2" charset="77"/>
                        </a:rPr>
                        <a:t>Migration data at the town level can be noisy.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Regularization: </a:t>
                      </a:r>
                    </a:p>
                    <a:p>
                      <a:pPr rtl="0">
                        <a:buNone/>
                      </a:pPr>
                      <a:r>
                        <a:rPr lang="en-US" sz="1200" b="1" dirty="0">
                          <a:solidFill>
                            <a:srgbClr val="1F1F1F"/>
                          </a:solidFill>
                          <a:effectLst/>
                          <a:latin typeface="Merriweather" pitchFamily="2" charset="77"/>
                        </a:rPr>
                        <a:t>Utilize Lasso (L1) and Ridge regression techniques to penalize outliers and force the model to focus only on significant drivers.</a:t>
                      </a:r>
                    </a:p>
                  </a:txBody>
                  <a:tcPr marL="52547" marR="52547" marT="35031" marB="35031" anchor="ctr"/>
                </a:tc>
                <a:extLst>
                  <a:ext uri="{0D108BD9-81ED-4DB2-BD59-A6C34878D82A}">
                    <a16:rowId xmlns:a16="http://schemas.microsoft.com/office/drawing/2014/main" val="3536900230"/>
                  </a:ext>
                </a:extLst>
              </a:tr>
              <a:tr h="1260704">
                <a:tc>
                  <a:txBody>
                    <a:bodyPr/>
                    <a:lstStyle/>
                    <a:p>
                      <a:pPr rtl="0">
                        <a:buNone/>
                      </a:pPr>
                      <a:r>
                        <a:rPr lang="en-US" sz="1200" b="1" dirty="0">
                          <a:solidFill>
                            <a:srgbClr val="1F1F1F"/>
                          </a:solidFill>
                          <a:effectLst/>
                          <a:latin typeface="Merriweather" pitchFamily="2" charset="77"/>
                        </a:rPr>
                        <a:t>Non-Linear Shocks:</a:t>
                      </a:r>
                    </a:p>
                    <a:p>
                      <a:pPr rtl="0">
                        <a:buNone/>
                      </a:pPr>
                      <a:r>
                        <a:rPr lang="en-US" sz="1200" b="1" dirty="0">
                          <a:solidFill>
                            <a:srgbClr val="1F1F1F"/>
                          </a:solidFill>
                          <a:effectLst/>
                          <a:latin typeface="Merriweather" pitchFamily="2" charset="77"/>
                        </a:rPr>
                        <a:t>Standard linear models may fail to predict the "cliff-like" population drops caused by disasters</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Non-Linear Algorithms: </a:t>
                      </a:r>
                    </a:p>
                    <a:p>
                      <a:pPr rtl="0">
                        <a:buNone/>
                      </a:pPr>
                      <a:r>
                        <a:rPr lang="en-US" sz="1200" b="1" dirty="0">
                          <a:solidFill>
                            <a:srgbClr val="1F1F1F"/>
                          </a:solidFill>
                          <a:effectLst/>
                          <a:latin typeface="Merriweather" pitchFamily="2" charset="77"/>
                        </a:rPr>
                        <a:t>Use Random Forest and Gradient Boosting to capture abrupt shifts that traditional demographic tools (DAPPS) miss</a:t>
                      </a:r>
                    </a:p>
                  </a:txBody>
                  <a:tcPr marL="52547" marR="52547" marT="35031" marB="35031" anchor="ctr"/>
                </a:tc>
                <a:extLst>
                  <a:ext uri="{0D108BD9-81ED-4DB2-BD59-A6C34878D82A}">
                    <a16:rowId xmlns:a16="http://schemas.microsoft.com/office/drawing/2014/main" val="3996495823"/>
                  </a:ext>
                </a:extLst>
              </a:tr>
              <a:tr h="1260704">
                <a:tc>
                  <a:txBody>
                    <a:bodyPr/>
                    <a:lstStyle/>
                    <a:p>
                      <a:pPr rtl="0">
                        <a:buNone/>
                      </a:pPr>
                      <a:r>
                        <a:rPr lang="en-US" sz="1200" b="1" dirty="0">
                          <a:solidFill>
                            <a:srgbClr val="1F1F1F"/>
                          </a:solidFill>
                          <a:effectLst/>
                          <a:latin typeface="Merriweather" pitchFamily="2" charset="77"/>
                        </a:rPr>
                        <a:t>Dataset Alignment: </a:t>
                      </a:r>
                    </a:p>
                    <a:p>
                      <a:pPr rtl="0">
                        <a:buNone/>
                      </a:pPr>
                      <a:r>
                        <a:rPr lang="en-US" sz="1200" b="1" dirty="0">
                          <a:solidFill>
                            <a:srgbClr val="1F1F1F"/>
                          </a:solidFill>
                          <a:effectLst/>
                          <a:latin typeface="Merriweather" pitchFamily="2" charset="77"/>
                        </a:rPr>
                        <a:t>Harmonizing time-series data from 5+ disparate sources (Census, NOAA, Police Bureau, etc.)</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ETL Pipeline: </a:t>
                      </a:r>
                    </a:p>
                    <a:p>
                      <a:pPr rtl="0">
                        <a:buNone/>
                      </a:pPr>
                      <a:r>
                        <a:rPr lang="en-US" sz="1200" b="1" dirty="0">
                          <a:solidFill>
                            <a:srgbClr val="1F1F1F"/>
                          </a:solidFill>
                          <a:effectLst/>
                          <a:latin typeface="Merriweather" pitchFamily="2" charset="77"/>
                        </a:rPr>
                        <a:t>Implement a reproducible Python/Pandas pipeline to standardize FIPS codes and temporal resolution into a single municipal-level panel</a:t>
                      </a:r>
                    </a:p>
                  </a:txBody>
                  <a:tcPr marL="52547" marR="52547" marT="35031" marB="35031" anchor="ctr"/>
                </a:tc>
                <a:extLst>
                  <a:ext uri="{0D108BD9-81ED-4DB2-BD59-A6C34878D82A}">
                    <a16:rowId xmlns:a16="http://schemas.microsoft.com/office/drawing/2014/main" val="18919873"/>
                  </a:ext>
                </a:extLst>
              </a:tr>
              <a:tr h="1093846">
                <a:tc>
                  <a:txBody>
                    <a:bodyPr/>
                    <a:lstStyle/>
                    <a:p>
                      <a:pPr rtl="0">
                        <a:buNone/>
                      </a:pPr>
                      <a:r>
                        <a:rPr lang="en-US" sz="1200" b="1" dirty="0">
                          <a:solidFill>
                            <a:srgbClr val="1F1F1F"/>
                          </a:solidFill>
                          <a:effectLst/>
                          <a:latin typeface="Merriweather" pitchFamily="2" charset="77"/>
                        </a:rPr>
                        <a:t>Model Generalization: </a:t>
                      </a:r>
                    </a:p>
                    <a:p>
                      <a:pPr rtl="0">
                        <a:buNone/>
                      </a:pPr>
                      <a:r>
                        <a:rPr lang="en-US" sz="1200" b="1" dirty="0">
                          <a:solidFill>
                            <a:srgbClr val="1F1F1F"/>
                          </a:solidFill>
                          <a:effectLst/>
                          <a:latin typeface="Merriweather" pitchFamily="2" charset="77"/>
                        </a:rPr>
                        <a:t>Risk of the model overfitting to a specific "shock" year (like Maria)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Low</a:t>
                      </a:r>
                    </a:p>
                  </a:txBody>
                  <a:tcPr marL="52547" marR="52547" marT="35031" marB="35031" anchor="ctr"/>
                </a:tc>
                <a:tc>
                  <a:txBody>
                    <a:bodyPr/>
                    <a:lstStyle/>
                    <a:p>
                      <a:pPr rtl="0">
                        <a:buNone/>
                      </a:pPr>
                      <a:r>
                        <a:rPr lang="en-US" sz="1200" b="1" dirty="0">
                          <a:solidFill>
                            <a:srgbClr val="1F1F1F"/>
                          </a:solidFill>
                          <a:effectLst/>
                          <a:latin typeface="Merriweather" pitchFamily="2" charset="77"/>
                        </a:rPr>
                        <a:t>Validation Strategy: </a:t>
                      </a:r>
                    </a:p>
                    <a:p>
                      <a:pPr rtl="0">
                        <a:buNone/>
                      </a:pPr>
                      <a:r>
                        <a:rPr lang="en-US" sz="1200" b="1" dirty="0">
                          <a:solidFill>
                            <a:srgbClr val="1F1F1F"/>
                          </a:solidFill>
                          <a:effectLst/>
                          <a:latin typeface="Merriweather" pitchFamily="2" charset="77"/>
                        </a:rPr>
                        <a:t>Train in 2010–2016 data and test specifically on the 2017 "Maria crash" to verify the model's ability to interpret shocks </a:t>
                      </a:r>
                    </a:p>
                  </a:txBody>
                  <a:tcPr marL="52547" marR="52547" marT="35031" marB="35031" anchor="ctr"/>
                </a:tc>
                <a:extLst>
                  <a:ext uri="{0D108BD9-81ED-4DB2-BD59-A6C34878D82A}">
                    <a16:rowId xmlns:a16="http://schemas.microsoft.com/office/drawing/2014/main" val="2723698170"/>
                  </a:ext>
                </a:extLst>
              </a:tr>
            </a:tbl>
          </a:graphicData>
        </a:graphic>
      </p:graphicFrame>
    </p:spTree>
    <p:extLst>
      <p:ext uri="{BB962C8B-B14F-4D97-AF65-F5344CB8AC3E}">
        <p14:creationId xmlns:p14="http://schemas.microsoft.com/office/powerpoint/2010/main" val="2304722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3571</TotalTime>
  <Words>3579</Words>
  <Application>Microsoft Macintosh PowerPoint</Application>
  <PresentationFormat>Widescreen</PresentationFormat>
  <Paragraphs>357</Paragraphs>
  <Slides>23</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Symbol</vt:lpstr>
      <vt:lpstr>Calibri</vt:lpstr>
      <vt:lpstr>Wingdings 3</vt:lpstr>
      <vt:lpstr>Cambria Math</vt:lpstr>
      <vt:lpstr>Trebuchet MS</vt:lpstr>
      <vt:lpstr>Merriweather</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 Ruiz</cp:lastModifiedBy>
  <cp:revision>33</cp:revision>
  <dcterms:modified xsi:type="dcterms:W3CDTF">2026-02-22T01:10:18Z</dcterms:modified>
</cp:coreProperties>
</file>