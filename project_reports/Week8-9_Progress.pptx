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661" r:id="rId4"/>
  </p:sldMasterIdLst>
  <p:notesMasterIdLst>
    <p:notesMasterId r:id="rId25"/>
  </p:notesMasterIdLst>
  <p:handoutMasterIdLst>
    <p:handoutMasterId r:id="rId26"/>
  </p:handoutMasterIdLst>
  <p:sldIdLst>
    <p:sldId id="408" r:id="rId5"/>
    <p:sldId id="407" r:id="rId6"/>
    <p:sldId id="429" r:id="rId7"/>
    <p:sldId id="431" r:id="rId8"/>
    <p:sldId id="432" r:id="rId9"/>
    <p:sldId id="440" r:id="rId10"/>
    <p:sldId id="433" r:id="rId11"/>
    <p:sldId id="434" r:id="rId12"/>
    <p:sldId id="435" r:id="rId13"/>
    <p:sldId id="436" r:id="rId14"/>
    <p:sldId id="437" r:id="rId15"/>
    <p:sldId id="438" r:id="rId16"/>
    <p:sldId id="439" r:id="rId17"/>
    <p:sldId id="430" r:id="rId18"/>
    <p:sldId id="273" r:id="rId19"/>
    <p:sldId id="275" r:id="rId20"/>
    <p:sldId id="276" r:id="rId21"/>
    <p:sldId id="277" r:id="rId22"/>
    <p:sldId id="279" r:id="rId23"/>
    <p:sldId id="281" r:id="rId24"/>
  </p:sldIdLst>
  <p:sldSz cx="12192000" cy="6858000"/>
  <p:notesSz cx="9296400" cy="7010400"/>
  <p:embeddedFontLst>
    <p:embeddedFont>
      <p:font typeface="Cambria Math" panose="02040503050406030204" pitchFamily="18" charset="0"/>
      <p:regular r:id="rId27"/>
    </p:embeddedFont>
    <p:embeddedFont>
      <p:font typeface="Merriweather" pitchFamily="2" charset="77"/>
      <p:regular r:id="rId28"/>
      <p:bold r:id="rId29"/>
      <p:italic r:id="rId30"/>
      <p:boldItalic r:id="rId31"/>
    </p:embeddedFont>
    <p:embeddedFont>
      <p:font typeface="PT serif" panose="020A0603040505020204" pitchFamily="18" charset="77"/>
      <p:regular r:id="rId32"/>
      <p:bold r:id="rId33"/>
      <p:italic r:id="rId34"/>
      <p:boldItalic r:id="rId35"/>
    </p:embeddedFont>
    <p:embeddedFont>
      <p:font typeface="Roboto" panose="02000000000000000000" pitchFamily="2" charset="0"/>
      <p:regular r:id="rId36"/>
      <p:bold r:id="rId37"/>
      <p:italic r:id="rId38"/>
      <p:boldItalic r:id="rId39"/>
    </p:embeddedFont>
    <p:embeddedFont>
      <p:font typeface="Source sans 3" panose="020B0303030403020204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0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2D9A515-A0C6-4C39-B80A-0C748B322470}" name="Guest User" initials="GU" userId="S::urn:spo:anon#478b1eeea21ed088306c92a0690f2574a00c4f9d76636cfc48aafd1929b89e8d::" providerId="AD"/>
  <p188:author id="{B554E72E-7BE9-4954-8657-B40E48A6468B}" name="Aimee Eng" initials="" userId="S::aeng@ucm.rutgers.edu::f54c9e5d-d2be-4fa6-b8aa-32e0dd0b0c4e" providerId="AD"/>
  <p188:author id="{A304F87C-87A2-4AF4-D2F8-2488045FDB69}" name="Lisa Elwood" initials="LE" userId="S::lmelwood@ucm.rutgers.edu::03804305-3005-4b93-b69a-8f24f540b0c5" providerId="AD"/>
  <p188:author id="{0CBAB0E6-7E79-6A3E-78D3-3B9AF4DE16A5}" name="Cindy Paul" initials="CP" userId="S::cpaul@ucm.rutgers.edu::12ab90d8-01fd-4713-a936-11af35f1ffe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Elwood" initials="LE [3]" lastIdx="1" clrIdx="3">
    <p:extLst>
      <p:ext uri="{19B8F6BF-5375-455C-9EA6-DF929625EA0E}">
        <p15:presenceInfo xmlns:p15="http://schemas.microsoft.com/office/powerpoint/2012/main" userId="Lisa Elwood" providerId="None"/>
      </p:ext>
    </p:extLst>
  </p:cmAuthor>
  <p:cmAuthor id="2" name="Lisa Elwood" initials="LE [2]" lastIdx="19" clrIdx="1">
    <p:extLst>
      <p:ext uri="{19B8F6BF-5375-455C-9EA6-DF929625EA0E}">
        <p15:presenceInfo xmlns:p15="http://schemas.microsoft.com/office/powerpoint/2012/main" userId="S::lmelwood@ucm.rutgers.edu::03804305-3005-4b93-b69a-8f24f540b0c5" providerId="AD"/>
      </p:ext>
    </p:extLst>
  </p:cmAuthor>
  <p:cmAuthor id="3" name="Jeanne Weber" initials="JW" lastIdx="8" clrIdx="2">
    <p:extLst>
      <p:ext uri="{19B8F6BF-5375-455C-9EA6-DF929625EA0E}">
        <p15:presenceInfo xmlns:p15="http://schemas.microsoft.com/office/powerpoint/2012/main" userId="S::raisin@ucm.rutgers.edu::68f6c61b-37f0-470c-950a-fb222073ffc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289"/>
    <a:srgbClr val="F3D169"/>
    <a:srgbClr val="E8B51F"/>
    <a:srgbClr val="E0002B"/>
    <a:srgbClr val="D82042"/>
    <a:srgbClr val="ECC734"/>
    <a:srgbClr val="FFD579"/>
    <a:srgbClr val="988CB0"/>
    <a:srgbClr val="CC0033"/>
    <a:srgbClr val="62E8D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15"/>
    <p:restoredTop sz="88216"/>
  </p:normalViewPr>
  <p:slideViewPr>
    <p:cSldViewPr snapToGrid="0">
      <p:cViewPr varScale="1">
        <p:scale>
          <a:sx n="122" d="100"/>
          <a:sy n="122" d="100"/>
        </p:scale>
        <p:origin x="1192" y="496"/>
      </p:cViewPr>
      <p:guideLst>
        <p:guide pos="3040"/>
        <p:guide orient="horz" pos="216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9" Type="http://schemas.openxmlformats.org/officeDocument/2006/relationships/font" Target="fonts/font13.fntdata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3.fntdata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B827CF-08EA-764E-8003-51B8F765B1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686CA0-FF0C-C04F-B37E-5D98B3C307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1946028-ECFD-5C4B-8E7B-DD9207B52179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6A26B-F35F-B24F-B9EF-5C98A76D56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 dirty="0"/>
              <a:t>Presentation revised November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EDE1E-24CC-3B4C-BDF2-C8DF6FAA3E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AED1D86-69B6-0643-B1D5-1FC7C9750E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5407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DDFAB82-E1E5-D84E-A45E-DAE72AA12B1D}" type="datetimeFigureOut">
              <a:rPr lang="en-US" smtClean="0"/>
              <a:t>3/27/26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6"/>
            <a:ext cx="7437120" cy="2760345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 dirty="0"/>
              <a:t>Presentation revised November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068C1A6-6C9C-C342-8E0F-AE9AC9AFD1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122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5EA4F-49BC-A7C5-B92B-3D818E91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CE3EE-CD7C-5619-02B5-32CAD737F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EF4F28-EA78-3C57-C284-ABF8055DF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245D2-D66B-E1FB-D52E-B2E07E008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8C1A6-6C9C-C342-8E0F-AE9AC9AFD13B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89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EFFB1-C4FB-1607-BF3C-978ECFD5B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9984A-BB3A-F8CC-018E-CA6906529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87E3E-148A-8C84-E0F1-9A2947446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b="1" dirty="0"/>
              <a:t>Show (diagram or bullets):</a:t>
            </a:r>
          </a:p>
          <a:p>
            <a:r>
              <a:rPr lang="en-US" dirty="0"/>
              <a:t>Data sources (ACS, NOAA, USGS, Crime) </a:t>
            </a:r>
          </a:p>
          <a:p>
            <a:r>
              <a:rPr lang="en-US" dirty="0"/>
              <a:t>Feature engineering </a:t>
            </a:r>
          </a:p>
          <a:p>
            <a:r>
              <a:rPr lang="en-US" dirty="0"/>
              <a:t>Train/test split </a:t>
            </a:r>
          </a:p>
          <a:p>
            <a:r>
              <a:rPr lang="en-US" dirty="0"/>
              <a:t>Model training </a:t>
            </a:r>
          </a:p>
          <a:p>
            <a:r>
              <a:rPr lang="en-US" dirty="0"/>
              <a:t>Evaluation </a:t>
            </a:r>
          </a:p>
          <a:p>
            <a:r>
              <a:rPr lang="en-US" dirty="0"/>
              <a:t>Outputs (forecasts + summaries)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***The pipeline now runs fully end-to-end without manual patching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project uses both supervised and unsupervised methods. Supervised models such as Random </a:t>
            </a:r>
            <a:r>
              <a:rPr lang="en-US" dirty="0" err="1"/>
              <a:t>Forestand</a:t>
            </a:r>
            <a:r>
              <a:rPr lang="en-US" dirty="0"/>
              <a:t> Lasso  are used to predict population change. Unsupervised methods, including K-Means and hierarchical clustering, are then used to identify structural municipal typologies based on socioeconomic and environmental characteristics.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Why Clustering Comes After Prediction</a:t>
            </a:r>
          </a:p>
          <a:p>
            <a:r>
              <a:rPr lang="en-US" dirty="0"/>
              <a:t>Clustering works best </a:t>
            </a:r>
            <a:r>
              <a:rPr lang="en-US" b="1" dirty="0"/>
              <a:t>after you understand the data</a:t>
            </a:r>
            <a:r>
              <a:rPr lang="en-US" dirty="0"/>
              <a:t>.</a:t>
            </a:r>
          </a:p>
          <a:p>
            <a:r>
              <a:rPr lang="en-US" dirty="0"/>
              <a:t>By Phase 5 you already have:</a:t>
            </a:r>
          </a:p>
          <a:p>
            <a:r>
              <a:rPr lang="en-US" dirty="0"/>
              <a:t>engineered features</a:t>
            </a:r>
          </a:p>
          <a:p>
            <a:r>
              <a:rPr lang="en-US" dirty="0"/>
              <a:t>vulnerability index</a:t>
            </a:r>
          </a:p>
          <a:p>
            <a:r>
              <a:rPr lang="en-US" dirty="0"/>
              <a:t>population change</a:t>
            </a:r>
          </a:p>
          <a:p>
            <a:r>
              <a:rPr lang="en-US" dirty="0"/>
              <a:t>economic indicators</a:t>
            </a:r>
          </a:p>
          <a:p>
            <a:r>
              <a:rPr lang="en-US" dirty="0"/>
              <a:t>disaster exposure</a:t>
            </a:r>
          </a:p>
          <a:p>
            <a:r>
              <a:rPr lang="en-US" dirty="0"/>
              <a:t>Now clustering can identify </a:t>
            </a:r>
            <a:r>
              <a:rPr lang="en-US" b="1" dirty="0"/>
              <a:t>municipal typologies</a:t>
            </a:r>
            <a:r>
              <a:rPr lang="en-US" dirty="0"/>
              <a:t>.</a:t>
            </a:r>
          </a:p>
          <a:p>
            <a:r>
              <a:rPr lang="en-US" dirty="0"/>
              <a:t>Example clusters might represent:</a:t>
            </a:r>
          </a:p>
          <a:p>
            <a:r>
              <a:rPr lang="en-US" dirty="0" err="1"/>
              <a:t>ClusterInterpretationCluster</a:t>
            </a:r>
            <a:r>
              <a:rPr lang="en-US" dirty="0"/>
              <a:t> 1high-income stable </a:t>
            </a:r>
            <a:r>
              <a:rPr lang="en-US" dirty="0" err="1"/>
              <a:t>municipalitiesCluster</a:t>
            </a:r>
            <a:r>
              <a:rPr lang="en-US" dirty="0"/>
              <a:t> 2economically vulnerable </a:t>
            </a:r>
            <a:r>
              <a:rPr lang="en-US" dirty="0" err="1"/>
              <a:t>areasCluster</a:t>
            </a:r>
            <a:r>
              <a:rPr lang="en-US" dirty="0"/>
              <a:t> 3disaster-exposed municipalities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94E44-F55F-7E5D-DE4B-38F748BE9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8C1A6-6C9C-C342-8E0F-AE9AC9AFD13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168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LASSO (Least Absolute Shrinkage and Selection Operator)</a:t>
            </a:r>
            <a:r>
              <a:rPr lang="en-US" dirty="0"/>
              <a:t> is a regression method that</a:t>
            </a:r>
            <a:r>
              <a:rPr lang="en-US" b="1" dirty="0"/>
              <a:t> does TWO things at once: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Fits a model (like linear regression)</a:t>
            </a:r>
            <a:r>
              <a:rPr lang="en-US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Selects the most important variables automatically</a:t>
            </a:r>
            <a:r>
              <a:rPr lang="en-US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LASSO adds a </a:t>
            </a:r>
            <a:r>
              <a:rPr lang="en-US" b="1" dirty="0"/>
              <a:t>penalty</a:t>
            </a:r>
            <a:r>
              <a:rPr lang="en-US" dirty="0"/>
              <a:t> to the model:</a:t>
            </a:r>
          </a:p>
          <a:p>
            <a:r>
              <a:rPr lang="en-US" dirty="0"/>
              <a:t>It </a:t>
            </a:r>
            <a:r>
              <a:rPr lang="en-US" b="1" dirty="0"/>
              <a:t>shrinks coefficients toward zero</a:t>
            </a:r>
            <a:r>
              <a:rPr lang="en-US" dirty="0"/>
              <a:t> </a:t>
            </a:r>
          </a:p>
          <a:p>
            <a:r>
              <a:rPr lang="en-US" dirty="0"/>
              <a:t>Some coefficients become </a:t>
            </a:r>
            <a:r>
              <a:rPr lang="en-US" b="1" dirty="0"/>
              <a:t>exactly zero</a:t>
            </a:r>
            <a:r>
              <a:rPr lang="en-US" dirty="0"/>
              <a:t> </a:t>
            </a:r>
          </a:p>
          <a:p>
            <a:r>
              <a:rPr lang="en-US" dirty="0"/>
              <a:t>That means It </a:t>
            </a:r>
            <a:r>
              <a:rPr lang="en-US" b="1" dirty="0"/>
              <a:t>removes unimportant variables</a:t>
            </a:r>
            <a:r>
              <a:rPr lang="en-US" dirty="0"/>
              <a:t> from the model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Why this matters in my project</a:t>
            </a:r>
          </a:p>
          <a:p>
            <a:r>
              <a:rPr lang="en-US" dirty="0"/>
              <a:t>My data has:</a:t>
            </a:r>
          </a:p>
          <a:p>
            <a:r>
              <a:rPr lang="en-US" dirty="0"/>
              <a:t>many variables (income, crime, disasters, demographics) </a:t>
            </a:r>
          </a:p>
          <a:p>
            <a:r>
              <a:rPr lang="en-US" dirty="0"/>
              <a:t>some are correlated (poverty ↔ unemployment, etc.) </a:t>
            </a:r>
          </a:p>
          <a:p>
            <a:r>
              <a:rPr lang="en-US" dirty="0"/>
              <a:t>noisy signals (especially annual population change) </a:t>
            </a:r>
          </a:p>
          <a:p>
            <a:endParaRPr lang="en-US" dirty="0"/>
          </a:p>
          <a:p>
            <a:r>
              <a:rPr lang="en-US" dirty="0"/>
              <a:t>LASSO helps by:</a:t>
            </a:r>
          </a:p>
          <a:p>
            <a:r>
              <a:rPr lang="en-US" b="1" dirty="0"/>
              <a:t>1. Reducing noise</a:t>
            </a:r>
          </a:p>
          <a:p>
            <a:r>
              <a:rPr lang="en-US" dirty="0"/>
              <a:t>Removes weak/unreliable predictors</a:t>
            </a:r>
          </a:p>
          <a:p>
            <a:r>
              <a:rPr lang="en-US" dirty="0"/>
              <a:t> </a:t>
            </a:r>
          </a:p>
          <a:p>
            <a:r>
              <a:rPr lang="en-US" b="1" dirty="0"/>
              <a:t>2. Preventing overfitting</a:t>
            </a:r>
          </a:p>
          <a:p>
            <a:r>
              <a:rPr lang="en-US" dirty="0"/>
              <a:t>Keeps model simpler and more stable </a:t>
            </a:r>
          </a:p>
          <a:p>
            <a:endParaRPr lang="en-US" dirty="0"/>
          </a:p>
          <a:p>
            <a:r>
              <a:rPr lang="en-US" b="1" dirty="0"/>
              <a:t>3. Improving interpretability</a:t>
            </a:r>
          </a:p>
          <a:p>
            <a:r>
              <a:rPr lang="en-US" dirty="0"/>
              <a:t>You can clearly see which variables matter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8C1A6-6C9C-C342-8E0F-AE9AC9AFD13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028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R² = How well does my model explain the data?</a:t>
            </a:r>
          </a:p>
          <a:p>
            <a:r>
              <a:rPr lang="en-US" dirty="0"/>
              <a:t>More specifically:</a:t>
            </a:r>
          </a:p>
          <a:p>
            <a:r>
              <a:rPr lang="en-US" b="1" dirty="0"/>
              <a:t>R² measures how much of the variation in the outcome (population change) the model can explain</a:t>
            </a:r>
          </a:p>
          <a:p>
            <a:endParaRPr lang="en-US" b="1" dirty="0"/>
          </a:p>
          <a:p>
            <a:r>
              <a:rPr lang="en-US" dirty="0"/>
              <a:t>My models have </a:t>
            </a:r>
            <a:r>
              <a:rPr lang="en-US" b="1" dirty="0"/>
              <a:t>negative R², t</a:t>
            </a:r>
            <a:r>
              <a:rPr lang="en-US" dirty="0"/>
              <a:t>hat means that my model performs worse than a simple baseline that predicts the average population change.</a:t>
            </a:r>
          </a:p>
          <a:p>
            <a:r>
              <a:rPr lang="en-US" b="1" dirty="0"/>
              <a:t>It does NOT mean my </a:t>
            </a:r>
            <a:r>
              <a:rPr lang="en-US" dirty="0"/>
              <a:t>model is “bad” or my project failed</a:t>
            </a:r>
          </a:p>
          <a:p>
            <a:endParaRPr lang="en-US" dirty="0"/>
          </a:p>
          <a:p>
            <a:r>
              <a:rPr lang="en-US" b="1" dirty="0"/>
              <a:t>The problem is very hard, p</a:t>
            </a:r>
            <a:r>
              <a:rPr lang="en-US" dirty="0"/>
              <a:t>opulation change is </a:t>
            </a:r>
            <a:r>
              <a:rPr lang="en-US" b="1" dirty="0"/>
              <a:t>noisy</a:t>
            </a:r>
            <a:r>
              <a:rPr lang="en-US" dirty="0"/>
              <a:t> and driven by </a:t>
            </a:r>
            <a:r>
              <a:rPr lang="en-US" b="1" dirty="0"/>
              <a:t>unpredictable shocks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migration </a:t>
            </a:r>
          </a:p>
          <a:p>
            <a:pPr lvl="1"/>
            <a:r>
              <a:rPr lang="en-US" dirty="0"/>
              <a:t>disasters </a:t>
            </a:r>
          </a:p>
          <a:p>
            <a:pPr lvl="1"/>
            <a:r>
              <a:rPr lang="en-US" dirty="0"/>
              <a:t>policy changes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Also features are incomplete and m</a:t>
            </a:r>
            <a:r>
              <a:rPr lang="en-US" dirty="0"/>
              <a:t>issing: </a:t>
            </a:r>
          </a:p>
          <a:p>
            <a:pPr lvl="1"/>
            <a:r>
              <a:rPr lang="en-US" dirty="0"/>
              <a:t>behavioral factors </a:t>
            </a:r>
          </a:p>
          <a:p>
            <a:pPr lvl="1"/>
            <a:r>
              <a:rPr lang="en-US" dirty="0"/>
              <a:t>policy effects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8C1A6-6C9C-C342-8E0F-AE9AC9AFD13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03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SHAP to understand what the model is actually learning. What I found is that the model is dominated by past population trends and structural variables, while disaster effects are inconsistent. This explains why short-term prediction is difficult, but structural patterns still emerge.</a:t>
            </a:r>
          </a:p>
          <a:p>
            <a:endParaRPr lang="en-US" dirty="0"/>
          </a:p>
          <a:p>
            <a:r>
              <a:rPr lang="en-US" dirty="0"/>
              <a:t>SHAP shows consistent drivers </a:t>
            </a:r>
          </a:p>
          <a:p>
            <a:r>
              <a:rPr lang="en-US" dirty="0"/>
              <a:t>3-year target improves signal </a:t>
            </a:r>
          </a:p>
          <a:p>
            <a:r>
              <a:rPr lang="en-US" dirty="0"/>
              <a:t>spatial patterns are clear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8C1A6-6C9C-C342-8E0F-AE9AC9AFD13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430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By weak signal, I mean that disaster variables don’t consistently improve prediction — their effects are noisy, delayed, and vary across municipalities.</a:t>
            </a:r>
          </a:p>
          <a:p>
            <a:endParaRPr lang="en-US" sz="2400" dirty="0"/>
          </a:p>
          <a:p>
            <a:r>
              <a:rPr lang="en-US" sz="2400" dirty="0"/>
              <a:t>Disasters happen at time </a:t>
            </a:r>
            <a:r>
              <a:rPr lang="en-US" sz="2400" b="1" dirty="0"/>
              <a:t>t</a:t>
            </a:r>
            <a:r>
              <a:rPr lang="en-US" sz="2400" dirty="0"/>
              <a:t>, but, population response may happen:</a:t>
            </a:r>
          </a:p>
          <a:p>
            <a:r>
              <a:rPr lang="en-US" sz="2400" dirty="0"/>
              <a:t>Immediately </a:t>
            </a:r>
          </a:p>
          <a:p>
            <a:r>
              <a:rPr lang="en-US" sz="2400" dirty="0"/>
              <a:t>1 year later </a:t>
            </a:r>
          </a:p>
          <a:p>
            <a:r>
              <a:rPr lang="en-US" sz="2400" dirty="0"/>
              <a:t>Gradually over several years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Even when a disaster happen, the model </a:t>
            </a:r>
            <a:r>
              <a:rPr lang="en-US" sz="2400" b="1" dirty="0"/>
              <a:t>cannot reliably predict</a:t>
            </a:r>
            <a:r>
              <a:rPr lang="en-US" sz="2400" dirty="0"/>
              <a:t>:</a:t>
            </a:r>
          </a:p>
          <a:p>
            <a:r>
              <a:rPr lang="en-US" sz="2400" dirty="0"/>
              <a:t>How much population will change </a:t>
            </a:r>
          </a:p>
          <a:p>
            <a:r>
              <a:rPr lang="en-US" sz="2400" dirty="0"/>
              <a:t>When people leave </a:t>
            </a:r>
          </a:p>
          <a:p>
            <a:r>
              <a:rPr lang="en-US" sz="2400" dirty="0"/>
              <a:t>Which municipalities are most affected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8C1A6-6C9C-C342-8E0F-AE9AC9AFD13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696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Phase 5</a:t>
            </a:r>
            <a:r>
              <a:rPr lang="en-US" dirty="0"/>
              <a:t>, I used clustering to group municipios based on:</a:t>
            </a:r>
          </a:p>
          <a:p>
            <a:r>
              <a:rPr lang="en-US" dirty="0"/>
              <a:t>Economic conditions (income, employment) </a:t>
            </a:r>
          </a:p>
          <a:p>
            <a:r>
              <a:rPr lang="en-US" dirty="0"/>
              <a:t>Vulnerability (SVI, poverty, housing) </a:t>
            </a:r>
          </a:p>
          <a:p>
            <a:r>
              <a:rPr lang="en-US" dirty="0"/>
              <a:t>Demographics (age structure, etc.)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Result:</a:t>
            </a:r>
          </a:p>
          <a:p>
            <a:r>
              <a:rPr lang="en-US" dirty="0"/>
              <a:t>I didn’t get random groups, but a </a:t>
            </a:r>
            <a:r>
              <a:rPr lang="en-US" b="1" dirty="0"/>
              <a:t>clear, repeatable patterns</a:t>
            </a:r>
          </a:p>
          <a:p>
            <a:endParaRPr lang="en-US" dirty="0"/>
          </a:p>
          <a:p>
            <a:r>
              <a:rPr lang="en-US" dirty="0"/>
              <a:t>So instead of 78 completely unique municipios, I found:</a:t>
            </a:r>
          </a:p>
          <a:p>
            <a:r>
              <a:rPr lang="en-US" dirty="0"/>
              <a:t>A </a:t>
            </a:r>
            <a:r>
              <a:rPr lang="en-US" b="1" dirty="0"/>
              <a:t>small number of types</a:t>
            </a:r>
            <a:r>
              <a:rPr lang="en-US" dirty="0"/>
              <a:t>, like:</a:t>
            </a:r>
          </a:p>
          <a:p>
            <a:r>
              <a:rPr lang="en-US" dirty="0"/>
              <a:t>High vulnerability / declining areas </a:t>
            </a:r>
          </a:p>
          <a:p>
            <a:r>
              <a:rPr lang="en-US" dirty="0"/>
              <a:t>More stable / economically resilient areas </a:t>
            </a:r>
          </a:p>
          <a:p>
            <a:r>
              <a:rPr lang="en-US" dirty="0"/>
              <a:t>Intermediate or mixed regions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8C1A6-6C9C-C342-8E0F-AE9AC9AFD13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598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The "Anchor" (Historical vs. Forecast)</a:t>
            </a:r>
          </a:p>
          <a:p>
            <a:r>
              <a:rPr lang="en-US" b="1" dirty="0"/>
              <a:t>The Black Line (2014–2023):</a:t>
            </a:r>
            <a:r>
              <a:rPr lang="en-US" dirty="0"/>
              <a:t> This represents </a:t>
            </a:r>
            <a:r>
              <a:rPr lang="en-US" b="1" dirty="0"/>
              <a:t>Observed Data</a:t>
            </a:r>
            <a:r>
              <a:rPr lang="en-US" dirty="0"/>
              <a:t>. It establishes the baseline trend of population decline that the models are "learning" from.</a:t>
            </a:r>
          </a:p>
          <a:p>
            <a:r>
              <a:rPr lang="en-US" b="1" dirty="0"/>
              <a:t>The Red Dashed Line (Current: 2023):</a:t>
            </a:r>
            <a:r>
              <a:rPr lang="en-US" dirty="0"/>
              <a:t> This is the </a:t>
            </a:r>
            <a:r>
              <a:rPr lang="en-US" b="1" dirty="0"/>
              <a:t>Pivot Point</a:t>
            </a:r>
            <a:r>
              <a:rPr lang="en-US" dirty="0"/>
              <a:t>. Everything to the left is fact; everything to the right is a probabilistic projection based on Phase 6 modeling.</a:t>
            </a:r>
          </a:p>
          <a:p>
            <a:endParaRPr lang="en-US" dirty="0"/>
          </a:p>
          <a:p>
            <a:r>
              <a:rPr lang="en-US" b="1" dirty="0"/>
              <a:t>2. The "Median" (The Expected Path)</a:t>
            </a:r>
          </a:p>
          <a:p>
            <a:r>
              <a:rPr lang="en-US" dirty="0"/>
              <a:t>The center line represents the </a:t>
            </a:r>
            <a:r>
              <a:rPr lang="en-US" b="1" dirty="0"/>
              <a:t>P50 (Median) Forecast</a:t>
            </a:r>
            <a:r>
              <a:rPr lang="en-US" dirty="0"/>
              <a:t>.</a:t>
            </a:r>
          </a:p>
          <a:p>
            <a:r>
              <a:rPr lang="en-US" b="1" dirty="0"/>
              <a:t>The Insight:</a:t>
            </a:r>
            <a:r>
              <a:rPr lang="en-US" dirty="0"/>
              <a:t> Our analysis suggests that the most likely outcome is a continued, linear decline, bringing the population toward the </a:t>
            </a:r>
            <a:r>
              <a:rPr lang="en-US" b="1" dirty="0"/>
              <a:t>3.0M mark by 2030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3. Understanding the "Fan" (The Probability Bands)</a:t>
            </a:r>
          </a:p>
          <a:p>
            <a:r>
              <a:rPr lang="en-US" dirty="0"/>
              <a:t>Instead of giving a single "guess," the fan shows a range of possible futures:</a:t>
            </a:r>
          </a:p>
          <a:p>
            <a:r>
              <a:rPr lang="en-US" b="1" dirty="0"/>
              <a:t>The Core (Central Bands):</a:t>
            </a:r>
            <a:r>
              <a:rPr lang="en-US" dirty="0"/>
              <a:t> The green and teal areas represent the </a:t>
            </a:r>
            <a:r>
              <a:rPr lang="en-US" b="1" dirty="0"/>
              <a:t>50% probability interval</a:t>
            </a:r>
            <a:r>
              <a:rPr lang="en-US" dirty="0"/>
              <a:t>. If current structural conditions remain stable, the population will almost certainly land within this range.</a:t>
            </a:r>
          </a:p>
          <a:p>
            <a:r>
              <a:rPr lang="en-US" b="1" dirty="0"/>
              <a:t>The Tails (Outer Bands):</a:t>
            </a:r>
            <a:r>
              <a:rPr lang="en-US" dirty="0"/>
              <a:t> The dark purple and light orange areas represent </a:t>
            </a:r>
            <a:r>
              <a:rPr lang="en-US" b="1" dirty="0"/>
              <a:t>extreme scenarios</a:t>
            </a:r>
            <a:r>
              <a:rPr lang="en-US" dirty="0"/>
              <a:t> (Tail Risks).</a:t>
            </a:r>
          </a:p>
          <a:p>
            <a:pPr lvl="1"/>
            <a:r>
              <a:rPr lang="en-US" b="1" dirty="0"/>
              <a:t>Upper Tail (Orange):</a:t>
            </a:r>
            <a:r>
              <a:rPr lang="en-US" dirty="0"/>
              <a:t> Represents a "Favorable" scenario where decline slows significantly (e.g., due to economic stabilization or migration shifts).</a:t>
            </a:r>
          </a:p>
          <a:p>
            <a:pPr lvl="1"/>
            <a:r>
              <a:rPr lang="en-US" b="1" dirty="0"/>
              <a:t>Lower Tail (Dark Purple):</a:t>
            </a:r>
            <a:r>
              <a:rPr lang="en-US" dirty="0"/>
              <a:t> Represents an "Adverse" scenario where decline accelerates (e.g., due to external shocks or deepening structural vulnerability).</a:t>
            </a:r>
          </a:p>
          <a:p>
            <a:pPr lvl="1"/>
            <a:endParaRPr lang="en-US" dirty="0"/>
          </a:p>
          <a:p>
            <a:r>
              <a:rPr lang="en-US" b="1" dirty="0"/>
              <a:t>4. Key Takeaway for Policy</a:t>
            </a:r>
          </a:p>
          <a:p>
            <a:r>
              <a:rPr lang="en-US" b="1" dirty="0"/>
              <a:t>Systemic Persistence:</a:t>
            </a:r>
            <a:r>
              <a:rPr lang="en-US" dirty="0"/>
              <a:t> Even in the most "optimistic" scenario (the top of the fan), the island does not return to growth by 2030.</a:t>
            </a:r>
          </a:p>
          <a:p>
            <a:r>
              <a:rPr lang="en-US" b="1" dirty="0"/>
              <a:t>Widening Uncertainty:</a:t>
            </a:r>
            <a:r>
              <a:rPr lang="en-US" dirty="0"/>
              <a:t> The "width" of the fan at 2030 illustrates that while we are certain about the </a:t>
            </a:r>
            <a:r>
              <a:rPr lang="en-US" i="1" dirty="0"/>
              <a:t>direction</a:t>
            </a:r>
            <a:r>
              <a:rPr lang="en-US" dirty="0"/>
              <a:t> of the trend, the </a:t>
            </a:r>
            <a:r>
              <a:rPr lang="en-US" i="1" dirty="0"/>
              <a:t>magnitude</a:t>
            </a:r>
            <a:r>
              <a:rPr lang="en-US" dirty="0"/>
              <a:t> of the loss is subject to high volatility, requiring flexible regional planning.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8C1A6-6C9C-C342-8E0F-AE9AC9AFD13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634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0AB45-ECFC-7929-641D-AC7B10694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68FDB-3D4E-1F34-5B50-53EBDB67C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BF334-9481-B967-6FDA-3E1D6772E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56073-BB5F-27B4-E844-C4B566405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68C1A6-6C9C-C342-8E0F-AE9AC9AFD13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826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39367696-265F-DE2B-1904-76667E21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E6AF7C20-EDEC-A329-A9C8-13246C3A4D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843AE9C3-6C12-22E4-B786-2D87B0483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0301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25084435-FB04-6CFD-9422-ACEB9D49C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9ADD672D-7C88-1DCE-9DF7-DAEA9F837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CE21A681-4741-BEC1-5979-6E77A637E2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8056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A280E3E4-01AB-9257-C86F-2DC05B51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C9F7E034-6329-E7D3-5C50-BAD3C5C72E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2D2794F7-686B-2998-1183-AB5AD1451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9672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06BBC6D0-ED3F-6661-146F-21FF3E68A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AFE447EE-6A12-6956-4F80-6FB5C3244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CC308905-ECFA-B802-62AF-32EBC8A38B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4258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BAB11D52-C68B-FE5E-425D-F7D5759FF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FA781364-F366-3EEB-9883-38D40334F2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380A8DFD-28AB-379A-8B0C-888140A21B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54753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2274DD90-9961-D207-A4E2-6FC07233B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2AA0AA85-9557-D61C-B1B3-28FA88F81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0E1129C9-F9FF-DEF6-7CDE-AD1526986B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005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A05E2955-3CC6-3EA2-BE9C-EABB3CE284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1260" y="618654"/>
            <a:ext cx="2496312" cy="73152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85E8870C-EE10-582E-ABAB-3C62C758BC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47768" y="2862397"/>
            <a:ext cx="7464055" cy="1217654"/>
          </a:xfrm>
        </p:spPr>
        <p:txBody>
          <a:bodyPr/>
          <a:lstStyle>
            <a:lvl1pPr algn="ctr">
              <a:buNone/>
              <a:defRPr sz="66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05A9F16C-FAED-6858-99A5-5FF7D84E74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9043" y="4467816"/>
            <a:ext cx="7461504" cy="1312862"/>
          </a:xfrm>
        </p:spPr>
        <p:txBody>
          <a:bodyPr/>
          <a:lstStyle>
            <a:lvl1pPr algn="ctr">
              <a:buNone/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algn="ctr"/>
            <a:r>
              <a:rPr lang="en-US" dirty="0"/>
              <a:t>Subhead Text To Go Here</a:t>
            </a:r>
          </a:p>
        </p:txBody>
      </p:sp>
    </p:spTree>
    <p:extLst>
      <p:ext uri="{BB962C8B-B14F-4D97-AF65-F5344CB8AC3E}">
        <p14:creationId xmlns:p14="http://schemas.microsoft.com/office/powerpoint/2010/main" val="2747204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Titl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B5A3205A-2345-2AEE-3F62-D3176A688E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1260" y="5071577"/>
            <a:ext cx="7452713" cy="731521"/>
          </a:xfrm>
          <a:solidFill>
            <a:schemeClr val="accent1"/>
          </a:solidFill>
        </p:spPr>
        <p:txBody>
          <a:bodyPr/>
          <a:lstStyle>
            <a:lvl1pPr algn="l">
              <a:buNone/>
              <a:defRPr sz="5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4491410-5EF2-A3F1-9803-EEF09A604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54428" y="5311670"/>
            <a:ext cx="2496312" cy="73152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C73EC6F-78EF-CF85-0C65-293E2A6826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1260" y="6043190"/>
            <a:ext cx="7452714" cy="731520"/>
          </a:xfrm>
        </p:spPr>
        <p:txBody>
          <a:bodyPr/>
          <a:lstStyle>
            <a:lvl1pPr marL="0" algn="l">
              <a:buNone/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B1AE16CA-3447-1F67-F1E9-E2B6985203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216" cy="479683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08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9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386AEB-868F-93D5-FE80-C2B8CD7CDB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7040880" cy="6334125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365C5-8A05-292D-3ABB-9175E87524AE}"/>
              </a:ext>
            </a:extLst>
          </p:cNvPr>
          <p:cNvSpPr/>
          <p:nvPr userDrawn="1"/>
        </p:nvSpPr>
        <p:spPr>
          <a:xfrm>
            <a:off x="0" y="6334484"/>
            <a:ext cx="12192000" cy="523516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A355773B-4534-E4E6-2824-B553AD8CE6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20" y="6427078"/>
            <a:ext cx="1141293" cy="33832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D625C2C-2758-BA04-3ED7-A885EE16AD04}"/>
              </a:ext>
            </a:extLst>
          </p:cNvPr>
          <p:cNvSpPr/>
          <p:nvPr userDrawn="1"/>
        </p:nvSpPr>
        <p:spPr>
          <a:xfrm>
            <a:off x="11540912" y="6442110"/>
            <a:ext cx="308264" cy="3082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AC3A22-92C3-2965-0988-2803F3764AFD}"/>
              </a:ext>
            </a:extLst>
          </p:cNvPr>
          <p:cNvSpPr txBox="1"/>
          <p:nvPr userDrawn="1"/>
        </p:nvSpPr>
        <p:spPr>
          <a:xfrm>
            <a:off x="11430692" y="6483096"/>
            <a:ext cx="528705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fld id="{EBC9AC92-EC09-C846-AF8D-0ACA08F55242}" type="slidenum">
              <a:rPr lang="en-US" sz="1000" smtClean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pPr algn="ctr"/>
              <a:t>‹#›</a:t>
            </a:fld>
            <a:endParaRPr lang="en-US" sz="1000" dirty="0">
              <a:solidFill>
                <a:schemeClr val="bg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850F251-5C1C-21AB-883A-1098129F95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73501" y="1352811"/>
            <a:ext cx="4221543" cy="4846320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/>
            </a:lvl1pPr>
            <a:lvl2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/>
            </a:lvl2pPr>
            <a:lvl3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/>
            </a:lvl3pPr>
            <a:lvl4pPr>
              <a:buClr>
                <a:schemeClr val="accent1"/>
              </a:buClr>
              <a:buFont typeface="Wingdings" pitchFamily="2" charset="2"/>
              <a:buChar char="§"/>
              <a:defRPr sz="1800"/>
            </a:lvl4pPr>
            <a:lvl5pPr>
              <a:buClr>
                <a:schemeClr val="accent1"/>
              </a:buCl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6477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eft 2 Colum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386AEB-868F-93D5-FE80-C2B8CD7CDB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120639" cy="6334125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365C5-8A05-292D-3ABB-9175E87524AE}"/>
              </a:ext>
            </a:extLst>
          </p:cNvPr>
          <p:cNvSpPr/>
          <p:nvPr userDrawn="1"/>
        </p:nvSpPr>
        <p:spPr>
          <a:xfrm>
            <a:off x="0" y="6334484"/>
            <a:ext cx="12192000" cy="523516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A355773B-4534-E4E6-2824-B553AD8CE6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20" y="6427078"/>
            <a:ext cx="1141293" cy="33832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D625C2C-2758-BA04-3ED7-A885EE16AD04}"/>
              </a:ext>
            </a:extLst>
          </p:cNvPr>
          <p:cNvSpPr/>
          <p:nvPr userDrawn="1"/>
        </p:nvSpPr>
        <p:spPr>
          <a:xfrm>
            <a:off x="11540912" y="6442110"/>
            <a:ext cx="308264" cy="3082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AC3A22-92C3-2965-0988-2803F3764AFD}"/>
              </a:ext>
            </a:extLst>
          </p:cNvPr>
          <p:cNvSpPr txBox="1"/>
          <p:nvPr userDrawn="1"/>
        </p:nvSpPr>
        <p:spPr>
          <a:xfrm>
            <a:off x="11430692" y="6483096"/>
            <a:ext cx="528705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fld id="{EBC9AC92-EC09-C846-AF8D-0ACA08F55242}" type="slidenum">
              <a:rPr lang="en-US" sz="1000" smtClean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pPr algn="ctr"/>
              <a:t>‹#›</a:t>
            </a:fld>
            <a:endParaRPr lang="en-US" sz="1000" dirty="0">
              <a:solidFill>
                <a:schemeClr val="bg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CDF36E1A-2884-D15B-5F23-B66AA0D369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04077" y="1352811"/>
            <a:ext cx="2890967" cy="4797468"/>
          </a:xfrm>
        </p:spPr>
        <p:txBody>
          <a:bodyPr/>
          <a:lstStyle>
            <a:lvl1pPr>
              <a:spcAft>
                <a:spcPts val="10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>
              <a:spcAft>
                <a:spcPts val="10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buFont typeface="Wingdings" pitchFamily="2" charset="2"/>
              <a:buChar char="§"/>
              <a:defRPr sz="1800"/>
            </a:lvl4pPr>
            <a:lvl5pPr>
              <a:buClr>
                <a:schemeClr val="accent1"/>
              </a:buCl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06DBCFA-87EC-CFA4-3B36-76CC762360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89430" y="1352811"/>
            <a:ext cx="2890967" cy="4797468"/>
          </a:xfrm>
        </p:spPr>
        <p:txBody>
          <a:bodyPr/>
          <a:lstStyle>
            <a:lvl1pPr>
              <a:spcAft>
                <a:spcPts val="10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>
              <a:spcAft>
                <a:spcPts val="10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buFont typeface="Wingdings" pitchFamily="2" charset="2"/>
              <a:buChar char="§"/>
              <a:defRPr sz="1800"/>
            </a:lvl4pPr>
            <a:lvl5pPr>
              <a:buClr>
                <a:schemeClr val="accent1"/>
              </a:buCl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38118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 Left 2 Colum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EE365C5-8A05-292D-3ABB-9175E87524AE}"/>
              </a:ext>
            </a:extLst>
          </p:cNvPr>
          <p:cNvSpPr/>
          <p:nvPr userDrawn="1"/>
        </p:nvSpPr>
        <p:spPr>
          <a:xfrm>
            <a:off x="0" y="6334484"/>
            <a:ext cx="12192000" cy="523516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A355773B-4534-E4E6-2824-B553AD8CE6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20" y="6427078"/>
            <a:ext cx="1141293" cy="33832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D625C2C-2758-BA04-3ED7-A885EE16AD04}"/>
              </a:ext>
            </a:extLst>
          </p:cNvPr>
          <p:cNvSpPr/>
          <p:nvPr userDrawn="1"/>
        </p:nvSpPr>
        <p:spPr>
          <a:xfrm>
            <a:off x="11540912" y="6442110"/>
            <a:ext cx="308264" cy="3082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AC3A22-92C3-2965-0988-2803F3764AFD}"/>
              </a:ext>
            </a:extLst>
          </p:cNvPr>
          <p:cNvSpPr txBox="1"/>
          <p:nvPr userDrawn="1"/>
        </p:nvSpPr>
        <p:spPr>
          <a:xfrm>
            <a:off x="11430692" y="6483096"/>
            <a:ext cx="528705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fld id="{EBC9AC92-EC09-C846-AF8D-0ACA08F55242}" type="slidenum">
              <a:rPr lang="en-US" sz="1000" smtClean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pPr algn="ctr"/>
              <a:t>‹#›</a:t>
            </a:fld>
            <a:endParaRPr lang="en-US" sz="1000" dirty="0">
              <a:solidFill>
                <a:schemeClr val="bg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DA43C2-8913-1900-E4DA-7713E311CF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51120" y="-1"/>
            <a:ext cx="7040880" cy="6336792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D612309E-6E2A-730C-ED41-93FDF71CE8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2930" y="1317813"/>
            <a:ext cx="4389120" cy="4846320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buFont typeface="Wingdings" pitchFamily="2" charset="2"/>
              <a:buChar char="§"/>
              <a:defRPr sz="1800"/>
            </a:lvl4pPr>
            <a:lvl5pPr>
              <a:buClr>
                <a:schemeClr val="accent1"/>
              </a:buCl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12888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63C242-3E4F-C49B-9AFE-A7E0378F3FCB}"/>
              </a:ext>
            </a:extLst>
          </p:cNvPr>
          <p:cNvSpPr/>
          <p:nvPr userDrawn="1"/>
        </p:nvSpPr>
        <p:spPr>
          <a:xfrm>
            <a:off x="0" y="6334484"/>
            <a:ext cx="12192000" cy="523516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8A3D2A20-71AC-8C85-63C4-D65E3C8AC4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20" y="6427078"/>
            <a:ext cx="1141293" cy="338328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F53FFF4-2564-AAAA-ED95-474D23DE9CC0}"/>
              </a:ext>
            </a:extLst>
          </p:cNvPr>
          <p:cNvSpPr/>
          <p:nvPr userDrawn="1"/>
        </p:nvSpPr>
        <p:spPr>
          <a:xfrm>
            <a:off x="11540912" y="6442110"/>
            <a:ext cx="308264" cy="3082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6C2F79-9CE7-E0ED-999B-0424D9136083}"/>
              </a:ext>
            </a:extLst>
          </p:cNvPr>
          <p:cNvSpPr txBox="1"/>
          <p:nvPr userDrawn="1"/>
        </p:nvSpPr>
        <p:spPr>
          <a:xfrm>
            <a:off x="11430692" y="6483096"/>
            <a:ext cx="528705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fld id="{EBC9AC92-EC09-C846-AF8D-0ACA08F55242}" type="slidenum">
              <a:rPr lang="en-US" sz="1000" smtClean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pPr algn="ctr"/>
              <a:t>‹#›</a:t>
            </a:fld>
            <a:endParaRPr lang="en-US" sz="1000" dirty="0">
              <a:solidFill>
                <a:schemeClr val="bg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9A139FF-777C-1F87-E22A-BE0FD1A7F71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29617" y="3143058"/>
            <a:ext cx="3393384" cy="3191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4632644C-A0B2-57F1-ABC9-C655C66837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98616" y="3143059"/>
            <a:ext cx="3393384" cy="3191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086D8FE7-C118-FF87-989E-A143922D83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35930" y="0"/>
            <a:ext cx="6856070" cy="307238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6455BADC-08E0-B69E-9C32-77DE336A30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2931" y="1317813"/>
            <a:ext cx="4573631" cy="4846320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/>
            </a:lvl1pPr>
            <a:lvl2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/>
            </a:lvl2pPr>
            <a:lvl3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/>
            </a:lvl3pPr>
            <a:lvl4pPr>
              <a:buClr>
                <a:schemeClr val="accent1"/>
              </a:buClr>
              <a:buFont typeface="Wingdings" pitchFamily="2" charset="2"/>
              <a:buChar char="§"/>
              <a:defRPr sz="1800"/>
            </a:lvl4pPr>
            <a:lvl5pPr>
              <a:buClr>
                <a:schemeClr val="accent1"/>
              </a:buCl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17203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Photo Bottom Tex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63C242-3E4F-C49B-9AFE-A7E0378F3FCB}"/>
              </a:ext>
            </a:extLst>
          </p:cNvPr>
          <p:cNvSpPr/>
          <p:nvPr userDrawn="1"/>
        </p:nvSpPr>
        <p:spPr>
          <a:xfrm>
            <a:off x="0" y="6334484"/>
            <a:ext cx="12192000" cy="523516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8A3D2A20-71AC-8C85-63C4-D65E3C8AC4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20" y="6427078"/>
            <a:ext cx="1141293" cy="338328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F53FFF4-2564-AAAA-ED95-474D23DE9CC0}"/>
              </a:ext>
            </a:extLst>
          </p:cNvPr>
          <p:cNvSpPr/>
          <p:nvPr userDrawn="1"/>
        </p:nvSpPr>
        <p:spPr>
          <a:xfrm>
            <a:off x="11540912" y="6442110"/>
            <a:ext cx="308264" cy="3082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6C2F79-9CE7-E0ED-999B-0424D9136083}"/>
              </a:ext>
            </a:extLst>
          </p:cNvPr>
          <p:cNvSpPr txBox="1"/>
          <p:nvPr userDrawn="1"/>
        </p:nvSpPr>
        <p:spPr>
          <a:xfrm>
            <a:off x="11430692" y="6483096"/>
            <a:ext cx="528705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fld id="{EBC9AC92-EC09-C846-AF8D-0ACA08F55242}" type="slidenum">
              <a:rPr lang="en-US" sz="1000" smtClean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pPr algn="ctr"/>
              <a:t>‹#›</a:t>
            </a:fld>
            <a:endParaRPr lang="en-US" sz="1000" dirty="0">
              <a:solidFill>
                <a:schemeClr val="bg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5E4E935-034C-4B50-67FA-1994E8493C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13696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42D735A-74DF-5942-DFC3-E1F4A98921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2931" y="3819646"/>
            <a:ext cx="11231389" cy="2407212"/>
          </a:xfrm>
        </p:spPr>
        <p:txBody>
          <a:bodyPr numCol="2" spcCol="182880"/>
          <a:lstStyle>
            <a:lvl1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/>
            </a:lvl1pPr>
            <a:lvl2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/>
            </a:lvl2pPr>
            <a:lvl3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/>
            </a:lvl3pPr>
            <a:lvl4pPr>
              <a:buClr>
                <a:schemeClr val="accent1"/>
              </a:buClr>
              <a:buFont typeface="Wingdings" pitchFamily="2" charset="2"/>
              <a:buChar char="§"/>
              <a:defRPr sz="1800"/>
            </a:lvl4pPr>
            <a:lvl5pPr>
              <a:buClr>
                <a:schemeClr val="accent1"/>
              </a:buCl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32269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Photo Bottom 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63C242-3E4F-C49B-9AFE-A7E0378F3FCB}"/>
              </a:ext>
            </a:extLst>
          </p:cNvPr>
          <p:cNvSpPr/>
          <p:nvPr userDrawn="1"/>
        </p:nvSpPr>
        <p:spPr>
          <a:xfrm>
            <a:off x="0" y="6334484"/>
            <a:ext cx="12192000" cy="523516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8A3D2A20-71AC-8C85-63C4-D65E3C8AC4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20" y="6427078"/>
            <a:ext cx="1141293" cy="338328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F53FFF4-2564-AAAA-ED95-474D23DE9CC0}"/>
              </a:ext>
            </a:extLst>
          </p:cNvPr>
          <p:cNvSpPr/>
          <p:nvPr userDrawn="1"/>
        </p:nvSpPr>
        <p:spPr>
          <a:xfrm>
            <a:off x="11540912" y="6442110"/>
            <a:ext cx="308264" cy="3082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6C2F79-9CE7-E0ED-999B-0424D9136083}"/>
              </a:ext>
            </a:extLst>
          </p:cNvPr>
          <p:cNvSpPr txBox="1"/>
          <p:nvPr userDrawn="1"/>
        </p:nvSpPr>
        <p:spPr>
          <a:xfrm>
            <a:off x="11430692" y="6483096"/>
            <a:ext cx="528705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fld id="{EBC9AC92-EC09-C846-AF8D-0ACA08F55242}" type="slidenum">
              <a:rPr lang="en-US" sz="1000" smtClean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pPr algn="ctr"/>
              <a:t>‹#›</a:t>
            </a:fld>
            <a:endParaRPr lang="en-US" sz="1000" dirty="0">
              <a:solidFill>
                <a:schemeClr val="bg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42D735A-74DF-5942-DFC3-E1F4A98921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2931" y="3831220"/>
            <a:ext cx="11229073" cy="2404872"/>
          </a:xfrm>
        </p:spPr>
        <p:txBody>
          <a:bodyPr numCol="1" spcCol="0">
            <a:noAutofit/>
          </a:bodyPr>
          <a:lstStyle>
            <a:lvl1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/>
            </a:lvl1pPr>
            <a:lvl2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/>
            </a:lvl2pPr>
            <a:lvl3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/>
            </a:lvl3pPr>
            <a:lvl4pPr>
              <a:buClr>
                <a:schemeClr val="accent1"/>
              </a:buClr>
              <a:buFont typeface="Wingdings" pitchFamily="2" charset="2"/>
              <a:buChar char="§"/>
              <a:defRPr sz="1800"/>
            </a:lvl4pPr>
            <a:lvl5pPr>
              <a:buClr>
                <a:schemeClr val="accent1"/>
              </a:buCl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831A398-5196-CF47-F666-4A8AE953F4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513696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43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 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63C242-3E4F-C49B-9AFE-A7E0378F3FCB}"/>
              </a:ext>
            </a:extLst>
          </p:cNvPr>
          <p:cNvSpPr/>
          <p:nvPr userDrawn="1"/>
        </p:nvSpPr>
        <p:spPr>
          <a:xfrm>
            <a:off x="0" y="6334484"/>
            <a:ext cx="12192000" cy="523516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2" name="Picture 11" descr="A black and white logo&#10;&#10;AI-generated content may be incorrect.">
            <a:extLst>
              <a:ext uri="{FF2B5EF4-FFF2-40B4-BE49-F238E27FC236}">
                <a16:creationId xmlns:a16="http://schemas.microsoft.com/office/drawing/2014/main" id="{8A3D2A20-71AC-8C85-63C4-D65E3C8AC4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20" y="6427078"/>
            <a:ext cx="1141293" cy="338328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F53FFF4-2564-AAAA-ED95-474D23DE9CC0}"/>
              </a:ext>
            </a:extLst>
          </p:cNvPr>
          <p:cNvSpPr/>
          <p:nvPr userDrawn="1"/>
        </p:nvSpPr>
        <p:spPr>
          <a:xfrm>
            <a:off x="11540912" y="6442110"/>
            <a:ext cx="308264" cy="3082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6C2F79-9CE7-E0ED-999B-0424D9136083}"/>
              </a:ext>
            </a:extLst>
          </p:cNvPr>
          <p:cNvSpPr txBox="1"/>
          <p:nvPr userDrawn="1"/>
        </p:nvSpPr>
        <p:spPr>
          <a:xfrm>
            <a:off x="11430692" y="6483096"/>
            <a:ext cx="528705" cy="246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fld id="{EBC9AC92-EC09-C846-AF8D-0ACA08F55242}" type="slidenum">
              <a:rPr lang="en-US" sz="1000" smtClean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rPr>
              <a:pPr algn="ctr"/>
              <a:t>‹#›</a:t>
            </a:fld>
            <a:endParaRPr lang="en-US" sz="1000" dirty="0">
              <a:solidFill>
                <a:schemeClr val="bg1"/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BB660254-223C-1D2E-6173-16CC1ECCC4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1120" y="0"/>
            <a:ext cx="7040880" cy="6334125"/>
          </a:xfrm>
          <a:solidFill>
            <a:schemeClr val="bg2">
              <a:lumMod val="40000"/>
              <a:lumOff val="6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D7FAE002-532E-4725-5033-25D4A01D77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2930" y="1317813"/>
            <a:ext cx="4389120" cy="4846320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>
              <a:spcAft>
                <a:spcPts val="6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buFont typeface="Wingdings" pitchFamily="2" charset="2"/>
              <a:buChar char="§"/>
              <a:defRPr sz="1800"/>
            </a:lvl4pPr>
            <a:lvl5pPr>
              <a:buClr>
                <a:schemeClr val="accent1"/>
              </a:buCl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4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tgers Closing">
    <p:bg>
      <p:bgPr>
        <a:solidFill>
          <a:srgbClr val="CC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3A760144-371E-729D-1C97-258FD56926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09279" y="2484320"/>
            <a:ext cx="6373439" cy="1889359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6CE4981A-2A29-96CA-153A-2922DE3B1D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09279" y="6030760"/>
            <a:ext cx="6373439" cy="640080"/>
          </a:xfrm>
        </p:spPr>
        <p:txBody>
          <a:bodyPr/>
          <a:lstStyle>
            <a:lvl1pPr algn="ctr">
              <a:spcAft>
                <a:spcPts val="10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1pPr>
            <a:lvl2pPr algn="ctr">
              <a:spcAft>
                <a:spcPts val="10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2pPr>
            <a:lvl3pPr algn="ctr">
              <a:spcAft>
                <a:spcPts val="10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buFont typeface="Wingdings" pitchFamily="2" charset="2"/>
              <a:buChar char="§"/>
              <a:defRPr sz="1800"/>
            </a:lvl4pPr>
            <a:lvl5pPr>
              <a:buClr>
                <a:schemeClr val="accent1"/>
              </a:buClr>
              <a:buFont typeface="Wingdings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601106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47C82-65E8-6F4A-93F5-B60D5D90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627" y="365126"/>
            <a:ext cx="10768173" cy="89611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0A12C-E82E-3F40-8F2F-F914F24F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627" y="1825625"/>
            <a:ext cx="10768173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747C4-6C3D-7CB4-12B7-BFA60319A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0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706" r:id="rId2"/>
    <p:sldLayoutId id="2147483705" r:id="rId3"/>
    <p:sldLayoutId id="2147483698" r:id="rId4"/>
    <p:sldLayoutId id="2147483704" r:id="rId5"/>
    <p:sldLayoutId id="2147483707" r:id="rId6"/>
    <p:sldLayoutId id="2147483703" r:id="rId7"/>
    <p:sldLayoutId id="2147483701" r:id="rId8"/>
    <p:sldLayoutId id="2147483702" r:id="rId9"/>
    <p:sldLayoutId id="2147483700" r:id="rId10"/>
    <p:sldLayoutId id="214748369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Roboto" panose="02000000000000000000" pitchFamily="2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Roboto" panose="02000000000000000000" pitchFamily="2" charset="0"/>
        <a:buChar char="–"/>
        <a:defRPr sz="200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FF1E-8490-9821-6039-8A60832A0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black square with white text&#10;&#10;AI-generated content may be incorrect.">
            <a:extLst>
              <a:ext uri="{FF2B5EF4-FFF2-40B4-BE49-F238E27FC236}">
                <a16:creationId xmlns:a16="http://schemas.microsoft.com/office/drawing/2014/main" id="{2AB7E9DF-DA96-4187-AE8F-CF45BEE691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99098-B346-AB02-DADA-06FB7B9138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2924" y="2667357"/>
            <a:ext cx="11081771" cy="590932"/>
          </a:xfrm>
        </p:spPr>
        <p:txBody>
          <a:bodyPr>
            <a:normAutofit/>
          </a:bodyPr>
          <a:lstStyle/>
          <a:p>
            <a:pPr marL="14288" indent="-14288"/>
            <a:r>
              <a:rPr lang="en-US" sz="2800" dirty="0"/>
              <a:t>Population &amp; Migration Forecasting in Puerto Rico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F35A4E-A51B-8BA0-C03D-F01BD1C9AAA6}"/>
              </a:ext>
            </a:extLst>
          </p:cNvPr>
          <p:cNvCxnSpPr>
            <a:cxnSpLocks/>
          </p:cNvCxnSpPr>
          <p:nvPr/>
        </p:nvCxnSpPr>
        <p:spPr>
          <a:xfrm>
            <a:off x="2438400" y="3266544"/>
            <a:ext cx="73152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Google Shape;88;p13">
            <a:extLst>
              <a:ext uri="{FF2B5EF4-FFF2-40B4-BE49-F238E27FC236}">
                <a16:creationId xmlns:a16="http://schemas.microsoft.com/office/drawing/2014/main" id="{4D2A67CD-7517-7D45-DD36-E4BA9F4D4926}"/>
              </a:ext>
            </a:extLst>
          </p:cNvPr>
          <p:cNvSpPr txBox="1"/>
          <p:nvPr/>
        </p:nvSpPr>
        <p:spPr>
          <a:xfrm>
            <a:off x="741260" y="4200029"/>
            <a:ext cx="343852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latin typeface="+mj-lt"/>
                <a:ea typeface="DM Sans"/>
                <a:cs typeface="Arial" panose="020B0604020202020204" pitchFamily="34" charset="0"/>
                <a:sym typeface="DM Sans"/>
              </a:rPr>
              <a:t>Jose Andres RiveraRuiz</a:t>
            </a:r>
            <a:endParaRPr sz="3200" dirty="0">
              <a:latin typeface="+mj-lt"/>
            </a:endParaRPr>
          </a:p>
        </p:txBody>
      </p:sp>
      <p:sp>
        <p:nvSpPr>
          <p:cNvPr id="9" name="Google Shape;89;p13">
            <a:extLst>
              <a:ext uri="{FF2B5EF4-FFF2-40B4-BE49-F238E27FC236}">
                <a16:creationId xmlns:a16="http://schemas.microsoft.com/office/drawing/2014/main" id="{21E89DB3-FE9C-185E-78C9-981857D4CFE9}"/>
              </a:ext>
            </a:extLst>
          </p:cNvPr>
          <p:cNvSpPr txBox="1"/>
          <p:nvPr/>
        </p:nvSpPr>
        <p:spPr>
          <a:xfrm>
            <a:off x="741260" y="4755207"/>
            <a:ext cx="3745923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latin typeface="+mj-lt"/>
                <a:ea typeface="DM Sans"/>
                <a:cs typeface="Arial" panose="020B0604020202020204" pitchFamily="34" charset="0"/>
                <a:sym typeface="DM Sans"/>
              </a:rPr>
              <a:t>Rutgers, The State University of New Jersey</a:t>
            </a:r>
          </a:p>
          <a:p>
            <a:pPr>
              <a:lnSpc>
                <a:spcPct val="160000"/>
              </a:lnSpc>
            </a:pPr>
            <a:r>
              <a:rPr lang="en-US" sz="1400" b="1" dirty="0">
                <a:latin typeface="+mj-lt"/>
                <a:cs typeface="Arial" panose="020B0604020202020204" pitchFamily="34" charset="0"/>
                <a:sym typeface="DM Sans"/>
              </a:rPr>
              <a:t>Master’s Project- Spring 2026</a:t>
            </a:r>
          </a:p>
          <a:p>
            <a:pPr>
              <a:lnSpc>
                <a:spcPct val="160000"/>
              </a:lnSpc>
            </a:pPr>
            <a:r>
              <a:rPr lang="en-US" sz="1400" b="1" dirty="0">
                <a:latin typeface="+mj-lt"/>
                <a:cs typeface="Arial" panose="020B0604020202020204" pitchFamily="34" charset="0"/>
                <a:sym typeface="DM Sans"/>
              </a:rPr>
              <a:t>Week 8-9 Progress: 27 March 2026</a:t>
            </a:r>
            <a:endParaRPr lang="en-US" sz="1400" b="1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769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ECE9DE-5569-FB3D-9F3D-4B7D21E06AB8}"/>
              </a:ext>
            </a:extLst>
          </p:cNvPr>
          <p:cNvSpPr/>
          <p:nvPr/>
        </p:nvSpPr>
        <p:spPr>
          <a:xfrm>
            <a:off x="0" y="196343"/>
            <a:ext cx="7199290" cy="1007423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F782AEBD-D968-67B5-44E1-E37D027F75E9}"/>
              </a:ext>
            </a:extLst>
          </p:cNvPr>
          <p:cNvSpPr txBox="1">
            <a:spLocks/>
          </p:cNvSpPr>
          <p:nvPr/>
        </p:nvSpPr>
        <p:spPr>
          <a:xfrm>
            <a:off x="459357" y="361539"/>
            <a:ext cx="654675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b="1" dirty="0">
                <a:solidFill>
                  <a:schemeClr val="bg1"/>
                </a:solidFill>
              </a:rPr>
              <a:t>Problem &amp; Objective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0F022-DCC0-E84E-EDEB-7B39259B385C}"/>
              </a:ext>
            </a:extLst>
          </p:cNvPr>
          <p:cNvSpPr txBox="1"/>
          <p:nvPr/>
        </p:nvSpPr>
        <p:spPr>
          <a:xfrm>
            <a:off x="139613" y="1368962"/>
            <a:ext cx="11484828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Merriweather" pitchFamily="2" charset="77"/>
              </a:rPr>
              <a:t>Research Problem: </a:t>
            </a:r>
            <a:r>
              <a:rPr lang="en-US" sz="1400" dirty="0">
                <a:latin typeface="Merriweather" pitchFamily="2" charset="77"/>
              </a:rPr>
              <a:t>Puerto Rico has experienced </a:t>
            </a:r>
            <a:r>
              <a:rPr lang="en-US" sz="1400" i="1" dirty="0">
                <a:latin typeface="Merriweather" pitchFamily="2" charset="77"/>
              </a:rPr>
              <a:t>significant population decline and regional vulnerability </a:t>
            </a:r>
            <a:r>
              <a:rPr lang="en-US" sz="1400" dirty="0">
                <a:latin typeface="Merriweather" pitchFamily="2" charset="77"/>
              </a:rPr>
              <a:t>driven by economic conditions, natural disasters, and social factors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Merriweather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Merriweather" pitchFamily="2" charset="77"/>
              </a:rPr>
              <a:t>Objective: </a:t>
            </a:r>
            <a:r>
              <a:rPr lang="en-US" sz="1400" dirty="0">
                <a:latin typeface="Merriweather" pitchFamily="2" charset="77"/>
              </a:rPr>
              <a:t>Develop a </a:t>
            </a:r>
            <a:r>
              <a:rPr lang="en-US" sz="1400" b="1" i="1" dirty="0">
                <a:latin typeface="Merriweather" pitchFamily="2" charset="77"/>
              </a:rPr>
              <a:t>data-driven framework</a:t>
            </a:r>
            <a:r>
              <a:rPr lang="en-US" sz="1400" i="1" dirty="0">
                <a:latin typeface="Merriweather" pitchFamily="2" charset="77"/>
              </a:rPr>
              <a:t> </a:t>
            </a:r>
            <a:r>
              <a:rPr lang="en-US" sz="1400" dirty="0">
                <a:latin typeface="Merriweather" pitchFamily="2" charset="77"/>
              </a:rPr>
              <a:t>to: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erriweather" pitchFamily="2" charset="77"/>
              </a:rPr>
              <a:t>Model municipal and regional population change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erriweather" pitchFamily="2" charset="77"/>
              </a:rPr>
              <a:t>Identify drivers of demographic decline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erriweather" pitchFamily="2" charset="77"/>
              </a:rPr>
              <a:t>Detect structural municipal vulnerability patterns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erriweather" pitchFamily="2" charset="77"/>
              </a:rPr>
              <a:t>Produce population forecasts and typologies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Merriweather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Merriweather" pitchFamily="2" charset="77"/>
              </a:rPr>
              <a:t>Success Criteria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erriweather" pitchFamily="2" charset="77"/>
              </a:rPr>
              <a:t>Predict population change with reasonable accuracy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erriweather" pitchFamily="2" charset="77"/>
              </a:rPr>
              <a:t>Identify key drivers 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Merriweather" pitchFamily="2" charset="77"/>
              </a:rPr>
              <a:t>Detect clusters/regions with similar vulnerability profiles</a:t>
            </a:r>
          </a:p>
          <a:p>
            <a:pPr marL="742950" lvl="1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latin typeface="Merriweather" pitchFamily="2" charset="77"/>
            </a:endParaRP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Merriweather" pitchFamily="2" charset="77"/>
              </a:rPr>
              <a:t>Today, I focus on building and evaluating my first real model (Model v1)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latin typeface="Merriweather" pitchFamily="2" charset="77"/>
              <a:ea typeface="Arial"/>
              <a:cs typeface="Arial"/>
              <a:sym typeface="Arial"/>
            </a:endParaRPr>
          </a:p>
        </p:txBody>
      </p:sp>
      <p:pic>
        <p:nvPicPr>
          <p:cNvPr id="9" name="Picture 8" descr="A map of puerto rico with a graph and a chart&#10;&#10;AI-generated content may be incorrect.">
            <a:extLst>
              <a:ext uri="{FF2B5EF4-FFF2-40B4-BE49-F238E27FC236}">
                <a16:creationId xmlns:a16="http://schemas.microsoft.com/office/drawing/2014/main" id="{127A0D1B-B23D-7AB3-2172-9CE8952C1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87" y="2052133"/>
            <a:ext cx="4517551" cy="331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58803-89E1-A3A6-58B1-7837B6A45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17AFA3-99DB-660C-F47F-04C78C76469B}"/>
              </a:ext>
            </a:extLst>
          </p:cNvPr>
          <p:cNvSpPr/>
          <p:nvPr/>
        </p:nvSpPr>
        <p:spPr>
          <a:xfrm>
            <a:off x="0" y="196343"/>
            <a:ext cx="7199290" cy="1007423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B95BF63C-F202-7159-03D4-D816AC91116A}"/>
              </a:ext>
            </a:extLst>
          </p:cNvPr>
          <p:cNvSpPr txBox="1">
            <a:spLocks/>
          </p:cNvSpPr>
          <p:nvPr/>
        </p:nvSpPr>
        <p:spPr>
          <a:xfrm>
            <a:off x="459357" y="361539"/>
            <a:ext cx="654675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200" b="1" dirty="0">
                <a:solidFill>
                  <a:schemeClr val="bg1"/>
                </a:solidFill>
              </a:rPr>
              <a:t>End-to-End Modeling Pipeline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7A41CD-3A45-A1D2-8AD5-FFAA207C3169}"/>
              </a:ext>
            </a:extLst>
          </p:cNvPr>
          <p:cNvSpPr txBox="1"/>
          <p:nvPr/>
        </p:nvSpPr>
        <p:spPr>
          <a:xfrm>
            <a:off x="5836980" y="1269273"/>
            <a:ext cx="60879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400" dirty="0"/>
              <a:t>From raw data → Model v1 → evaluated outputs (no manual patching)</a:t>
            </a:r>
            <a:endParaRPr lang="en-US" sz="1400" dirty="0">
              <a:solidFill>
                <a:srgbClr val="000000"/>
              </a:solidFill>
              <a:latin typeface="Merriweather" pitchFamily="2" charset="77"/>
              <a:ea typeface="Arial"/>
              <a:cs typeface="Arial"/>
              <a:sym typeface="Arial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EDA0FEE-2860-319F-4DFC-9583849F3FD1}"/>
              </a:ext>
            </a:extLst>
          </p:cNvPr>
          <p:cNvGrpSpPr/>
          <p:nvPr/>
        </p:nvGrpSpPr>
        <p:grpSpPr>
          <a:xfrm>
            <a:off x="273808" y="1203766"/>
            <a:ext cx="10858217" cy="5088495"/>
            <a:chOff x="273808" y="1203766"/>
            <a:chExt cx="10858217" cy="508849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78150EE3-04BB-A376-B9E0-E4BCC2783240}"/>
                </a:ext>
              </a:extLst>
            </p:cNvPr>
            <p:cNvSpPr/>
            <p:nvPr/>
          </p:nvSpPr>
          <p:spPr>
            <a:xfrm>
              <a:off x="699785" y="1518759"/>
              <a:ext cx="2074986" cy="4773502"/>
            </a:xfrm>
            <a:prstGeom prst="roundRect">
              <a:avLst>
                <a:gd name="adj" fmla="val 4698"/>
              </a:avLst>
            </a:prstGeom>
            <a:solidFill>
              <a:srgbClr val="0070C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FD4BFA2-EB82-5C06-8222-7186DF1983CA}"/>
                </a:ext>
              </a:extLst>
            </p:cNvPr>
            <p:cNvSpPr/>
            <p:nvPr/>
          </p:nvSpPr>
          <p:spPr>
            <a:xfrm>
              <a:off x="3231969" y="1984383"/>
              <a:ext cx="2379785" cy="4120083"/>
            </a:xfrm>
            <a:prstGeom prst="roundRect">
              <a:avLst>
                <a:gd name="adj" fmla="val 4808"/>
              </a:avLst>
            </a:prstGeom>
            <a:solidFill>
              <a:srgbClr val="0070C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E1C25C73-5E1C-8F90-E170-0287F78995D1}"/>
                </a:ext>
              </a:extLst>
            </p:cNvPr>
            <p:cNvSpPr/>
            <p:nvPr/>
          </p:nvSpPr>
          <p:spPr>
            <a:xfrm>
              <a:off x="6031164" y="2614888"/>
              <a:ext cx="2841318" cy="2871511"/>
            </a:xfrm>
            <a:prstGeom prst="roundRect">
              <a:avLst>
                <a:gd name="adj" fmla="val 4485"/>
              </a:avLst>
            </a:prstGeom>
            <a:solidFill>
              <a:srgbClr val="0070C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FD312F3E-1875-9202-355B-6D155D2E70BF}"/>
                </a:ext>
              </a:extLst>
            </p:cNvPr>
            <p:cNvSpPr/>
            <p:nvPr/>
          </p:nvSpPr>
          <p:spPr>
            <a:xfrm>
              <a:off x="9279779" y="2727039"/>
              <a:ext cx="1852246" cy="2512999"/>
            </a:xfrm>
            <a:prstGeom prst="roundRect">
              <a:avLst>
                <a:gd name="adj" fmla="val 5697"/>
              </a:avLst>
            </a:prstGeom>
            <a:solidFill>
              <a:srgbClr val="0070C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3E4426D-7449-C9E2-515E-CF7B16CFF941}"/>
                </a:ext>
              </a:extLst>
            </p:cNvPr>
            <p:cNvSpPr/>
            <p:nvPr/>
          </p:nvSpPr>
          <p:spPr>
            <a:xfrm>
              <a:off x="788476" y="1591838"/>
              <a:ext cx="1881373" cy="975360"/>
            </a:xfrm>
            <a:prstGeom prst="roundRect">
              <a:avLst>
                <a:gd name="adj" fmla="val 7408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C1B199E-C60A-C0B1-FF33-18040B3BF916}"/>
                </a:ext>
              </a:extLst>
            </p:cNvPr>
            <p:cNvSpPr/>
            <p:nvPr/>
          </p:nvSpPr>
          <p:spPr>
            <a:xfrm>
              <a:off x="796591" y="2743686"/>
              <a:ext cx="1881373" cy="1057952"/>
            </a:xfrm>
            <a:prstGeom prst="roundRect">
              <a:avLst>
                <a:gd name="adj" fmla="val 4929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395138D-E2FA-345B-C5FF-AAA8BAF753F7}"/>
                </a:ext>
              </a:extLst>
            </p:cNvPr>
            <p:cNvSpPr/>
            <p:nvPr/>
          </p:nvSpPr>
          <p:spPr>
            <a:xfrm>
              <a:off x="788476" y="3965952"/>
              <a:ext cx="1881373" cy="1057952"/>
            </a:xfrm>
            <a:prstGeom prst="roundRect">
              <a:avLst>
                <a:gd name="adj" fmla="val 5996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5A00947-4B3E-619C-C5CB-23B4454C2A96}"/>
                </a:ext>
              </a:extLst>
            </p:cNvPr>
            <p:cNvSpPr/>
            <p:nvPr/>
          </p:nvSpPr>
          <p:spPr>
            <a:xfrm>
              <a:off x="788475" y="5129106"/>
              <a:ext cx="1881373" cy="975360"/>
            </a:xfrm>
            <a:prstGeom prst="roundRect">
              <a:avLst>
                <a:gd name="adj" fmla="val 3935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81FBD447-970D-298E-0497-A2BD0ACDFB50}"/>
                </a:ext>
              </a:extLst>
            </p:cNvPr>
            <p:cNvSpPr/>
            <p:nvPr/>
          </p:nvSpPr>
          <p:spPr>
            <a:xfrm>
              <a:off x="3356929" y="2066247"/>
              <a:ext cx="2132833" cy="2696694"/>
            </a:xfrm>
            <a:prstGeom prst="roundRect">
              <a:avLst>
                <a:gd name="adj" fmla="val 3864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903B7CB3-2352-5E72-DC2C-DA89CFE17EE1}"/>
                </a:ext>
              </a:extLst>
            </p:cNvPr>
            <p:cNvSpPr/>
            <p:nvPr/>
          </p:nvSpPr>
          <p:spPr>
            <a:xfrm>
              <a:off x="6136948" y="2692787"/>
              <a:ext cx="2587775" cy="1120141"/>
            </a:xfrm>
            <a:prstGeom prst="roundRect">
              <a:avLst>
                <a:gd name="adj" fmla="val 2558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8DBA8383-4171-D7A8-6D18-5FD4B03CB507}"/>
                </a:ext>
              </a:extLst>
            </p:cNvPr>
            <p:cNvSpPr/>
            <p:nvPr/>
          </p:nvSpPr>
          <p:spPr>
            <a:xfrm>
              <a:off x="6136948" y="3934857"/>
              <a:ext cx="2587775" cy="1233107"/>
            </a:xfrm>
            <a:prstGeom prst="roundRect">
              <a:avLst>
                <a:gd name="adj" fmla="val 2935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188C7C4F-95EC-94B1-D2D6-F97A77D62E17}"/>
                </a:ext>
              </a:extLst>
            </p:cNvPr>
            <p:cNvSpPr/>
            <p:nvPr/>
          </p:nvSpPr>
          <p:spPr>
            <a:xfrm>
              <a:off x="9406208" y="2796402"/>
              <a:ext cx="1609759" cy="2322154"/>
            </a:xfrm>
            <a:prstGeom prst="roundRect">
              <a:avLst>
                <a:gd name="adj" fmla="val 3343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203D34A-B49A-4510-8986-868CB1ADC2C3}"/>
                    </a:ext>
                  </a:extLst>
                </p:cNvPr>
                <p:cNvSpPr txBox="1"/>
                <p:nvPr/>
              </p:nvSpPr>
              <p:spPr>
                <a:xfrm>
                  <a:off x="632976" y="1203766"/>
                  <a:ext cx="1437125" cy="3493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Inputs </a:t>
                  </a:r>
                  <a:r>
                    <a:rPr lang="en-US" sz="1600" b="1" dirty="0">
                      <a:solidFill>
                        <a:srgbClr val="1F1F1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a14:m>
                  <a:r>
                    <a:rPr lang="en-US" sz="1600" b="1" dirty="0">
                      <a:solidFill>
                        <a:srgbClr val="1F1F1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203D34A-B49A-4510-8986-868CB1ADC2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976" y="1203766"/>
                  <a:ext cx="1437125" cy="349326"/>
                </a:xfrm>
                <a:prstGeom prst="rect">
                  <a:avLst/>
                </a:prstGeom>
                <a:blipFill>
                  <a:blip r:embed="rId3"/>
                  <a:stretch>
                    <a:fillRect l="-1739" t="-6897" b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7A92DE-8F5F-5503-9678-807FDE016A05}"/>
                </a:ext>
              </a:extLst>
            </p:cNvPr>
            <p:cNvSpPr txBox="1"/>
            <p:nvPr/>
          </p:nvSpPr>
          <p:spPr>
            <a:xfrm>
              <a:off x="3907938" y="1645829"/>
              <a:ext cx="10278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Methods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17FBEC-0C1F-8181-101E-4A4451A855A1}"/>
                    </a:ext>
                  </a:extLst>
                </p:cNvPr>
                <p:cNvSpPr txBox="1"/>
                <p:nvPr/>
              </p:nvSpPr>
              <p:spPr>
                <a:xfrm>
                  <a:off x="6945174" y="2258111"/>
                  <a:ext cx="1567160" cy="3493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>
                      <a:solidFill>
                        <a:srgbClr val="1F1F1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Outputs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sz="1600" b="1" dirty="0">
                      <a:solidFill>
                        <a:srgbClr val="1F1F1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17FBEC-0C1F-8181-101E-4A4451A85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5174" y="2258111"/>
                  <a:ext cx="1567160" cy="349326"/>
                </a:xfrm>
                <a:prstGeom prst="rect">
                  <a:avLst/>
                </a:prstGeom>
                <a:blipFill>
                  <a:blip r:embed="rId4"/>
                  <a:stretch>
                    <a:fillRect l="-1600" t="-6897" b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7BFBB9F-67E6-DB1A-F5F7-7AA59A79B6BB}"/>
                </a:ext>
              </a:extLst>
            </p:cNvPr>
            <p:cNvSpPr txBox="1"/>
            <p:nvPr/>
          </p:nvSpPr>
          <p:spPr>
            <a:xfrm>
              <a:off x="9896430" y="2403052"/>
              <a:ext cx="6415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1F1F1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Goal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C99DB5B-9AEB-260D-44B2-71A66310DECC}"/>
                </a:ext>
              </a:extLst>
            </p:cNvPr>
            <p:cNvSpPr txBox="1"/>
            <p:nvPr/>
          </p:nvSpPr>
          <p:spPr>
            <a:xfrm>
              <a:off x="1430626" y="1664019"/>
              <a:ext cx="11657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Structural: 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Birth rates, 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Age structure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(%&lt;15, %&gt;65)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313C42F-4DB0-550C-E9E3-9E6F902F5F6F}"/>
                </a:ext>
              </a:extLst>
            </p:cNvPr>
            <p:cNvSpPr txBox="1"/>
            <p:nvPr/>
          </p:nvSpPr>
          <p:spPr>
            <a:xfrm>
              <a:off x="1419337" y="2757753"/>
              <a:ext cx="125867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Resilience: 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Unemployment,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Payroll,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Establishment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counts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AD680C-D03D-6A37-5A8E-3214E6DCEF87}"/>
                </a:ext>
              </a:extLst>
            </p:cNvPr>
            <p:cNvSpPr txBox="1"/>
            <p:nvPr/>
          </p:nvSpPr>
          <p:spPr>
            <a:xfrm>
              <a:off x="1402290" y="5204000"/>
              <a:ext cx="133562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Shocks: 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Hurricane strikes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Earthquake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intensity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9846B9-BF19-D172-937B-EE732717C6F3}"/>
                </a:ext>
              </a:extLst>
            </p:cNvPr>
            <p:cNvSpPr txBox="1"/>
            <p:nvPr/>
          </p:nvSpPr>
          <p:spPr>
            <a:xfrm>
              <a:off x="1423604" y="4000704"/>
              <a:ext cx="121129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Vulnerability: 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CDC SVI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(Poverty,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Transportation,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Housing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D5939D3-5007-7D0F-39EF-128011980BDF}"/>
                </a:ext>
              </a:extLst>
            </p:cNvPr>
            <p:cNvSpPr txBox="1"/>
            <p:nvPr/>
          </p:nvSpPr>
          <p:spPr>
            <a:xfrm>
              <a:off x="3785731" y="2136371"/>
              <a:ext cx="1645442" cy="2400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Supervised Modeling (Model v1)</a:t>
              </a:r>
            </a:p>
            <a:p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000" dirty="0"/>
                <a:t>Lasso Regression (</a:t>
              </a:r>
              <a:r>
                <a:rPr lang="en-US" sz="1000" b="1" dirty="0"/>
                <a:t>selected model</a:t>
              </a:r>
              <a:r>
                <a:rPr lang="en-US" sz="1000" dirty="0"/>
                <a:t>) 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endParaRPr lang="en-US" sz="1000" dirty="0"/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000" dirty="0"/>
                <a:t>Compared against: Ridge, Random Forest, HGB 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endParaRPr lang="en-US" sz="1000" dirty="0"/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000" dirty="0"/>
                <a:t>Targets tested: </a:t>
              </a:r>
            </a:p>
            <a:p>
              <a:pPr marL="114300" lvl="1" indent="-114300"/>
              <a:r>
                <a:rPr lang="en-US" sz="1000" dirty="0"/>
                <a:t>Annual population change </a:t>
              </a:r>
            </a:p>
            <a:p>
              <a:pPr marL="114300" lvl="1" indent="-114300"/>
              <a:r>
                <a:rPr lang="en-US" sz="1000" b="1" dirty="0"/>
                <a:t>3-year forward average (selected)</a:t>
              </a:r>
              <a:r>
                <a:rPr lang="en-US" sz="1000" dirty="0"/>
                <a:t> </a:t>
              </a:r>
            </a:p>
            <a:p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36161C-A063-0768-597B-C6F11829787B}"/>
                </a:ext>
              </a:extLst>
            </p:cNvPr>
            <p:cNvSpPr txBox="1"/>
            <p:nvPr/>
          </p:nvSpPr>
          <p:spPr>
            <a:xfrm>
              <a:off x="6806455" y="2764830"/>
              <a:ext cx="191826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Primary:</a:t>
              </a:r>
              <a:endParaRPr lang="en-US" altLang="en-US" sz="1200" dirty="0">
                <a:latin typeface="Arial" panose="020B0604020202020204" pitchFamily="34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200" dirty="0">
                  <a:latin typeface="Arial" panose="020B0604020202020204" pitchFamily="34" charset="0"/>
                </a:rPr>
                <a:t> Predicted population change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200" dirty="0">
                  <a:latin typeface="Arial" panose="020B0604020202020204" pitchFamily="34" charset="0"/>
                </a:rPr>
                <a:t> Model evaluation (R², errors)</a:t>
              </a:r>
            </a:p>
            <a:p>
              <a:endParaRPr 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FF01BD2-BB92-ADB9-5420-3F2DE7B3EBAD}"/>
                </a:ext>
              </a:extLst>
            </p:cNvPr>
            <p:cNvSpPr txBox="1"/>
            <p:nvPr/>
          </p:nvSpPr>
          <p:spPr>
            <a:xfrm>
              <a:off x="6800043" y="3983539"/>
              <a:ext cx="192468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Secondary: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200" dirty="0">
                <a:latin typeface="Arial" panose="020B0604020202020204" pitchFamily="34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200" dirty="0">
                  <a:latin typeface="Arial" panose="020B0604020202020204" pitchFamily="34" charset="0"/>
                </a:rPr>
                <a:t> Municipal typologies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200" dirty="0">
                  <a:latin typeface="Arial" panose="020B0604020202020204" pitchFamily="34" charset="0"/>
                </a:rPr>
                <a:t> Vulnerability score (0–1)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US" altLang="en-US" sz="1200" dirty="0">
                  <a:latin typeface="Arial" panose="020B0604020202020204" pitchFamily="34" charset="0"/>
                </a:rPr>
                <a:t> Regional summaries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B98655F-513C-886C-92E6-25278865A6F3}"/>
                </a:ext>
              </a:extLst>
            </p:cNvPr>
            <p:cNvSpPr txBox="1"/>
            <p:nvPr/>
          </p:nvSpPr>
          <p:spPr>
            <a:xfrm>
              <a:off x="9406208" y="3547243"/>
              <a:ext cx="160975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0650" lvl="0" indent="-1206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latin typeface="Arial" panose="020B0604020202020204" pitchFamily="34" charset="0"/>
                </a:rPr>
                <a:t>Distinguish structural vs shock-driven population change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latin typeface="Arial" panose="020B0604020202020204" pitchFamily="34" charset="0"/>
                </a:rPr>
                <a:t> </a:t>
              </a:r>
            </a:p>
            <a:p>
              <a:pPr marL="120650" lvl="0" indent="-12065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latin typeface="Arial" panose="020B0604020202020204" pitchFamily="34" charset="0"/>
                </a:rPr>
                <a:t>Support policy and resource allocation in Puerto Rico</a:t>
              </a:r>
            </a:p>
          </p:txBody>
        </p:sp>
        <p:pic>
          <p:nvPicPr>
            <p:cNvPr id="32" name="Picture 31" descr="A group of people with a clock&#10;&#10;AI-generated content may be incorrect.">
              <a:extLst>
                <a:ext uri="{FF2B5EF4-FFF2-40B4-BE49-F238E27FC236}">
                  <a16:creationId xmlns:a16="http://schemas.microsoft.com/office/drawing/2014/main" id="{F88C4230-0460-5EE5-1628-BAD4DA164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5259" y="1878367"/>
              <a:ext cx="394765" cy="42766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E26AED8-9A13-E649-BA47-2D5D4C917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4227" y="3060447"/>
              <a:ext cx="454773" cy="486796"/>
            </a:xfrm>
            <a:prstGeom prst="rect">
              <a:avLst/>
            </a:prstGeom>
          </p:spPr>
        </p:pic>
        <p:pic>
          <p:nvPicPr>
            <p:cNvPr id="34" name="Picture 33" descr="A chain with a house and a broken chain&#10;&#10;AI-generated content may be incorrect.">
              <a:extLst>
                <a:ext uri="{FF2B5EF4-FFF2-40B4-BE49-F238E27FC236}">
                  <a16:creationId xmlns:a16="http://schemas.microsoft.com/office/drawing/2014/main" id="{46D09B9A-B92F-3EE6-62AE-25C227D83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4379" y="4253435"/>
              <a:ext cx="394303" cy="423874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B1AC773-459B-07E5-62C2-70C9DC656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0357" y="5338897"/>
              <a:ext cx="414070" cy="514093"/>
            </a:xfrm>
            <a:prstGeom prst="rect">
              <a:avLst/>
            </a:prstGeom>
          </p:spPr>
        </p:pic>
        <p:pic>
          <p:nvPicPr>
            <p:cNvPr id="36" name="Picture 35" descr="A close up of a diagram&#10;&#10;AI-generated content may be incorrect.">
              <a:extLst>
                <a:ext uri="{FF2B5EF4-FFF2-40B4-BE49-F238E27FC236}">
                  <a16:creationId xmlns:a16="http://schemas.microsoft.com/office/drawing/2014/main" id="{1801943C-E9A7-1068-E298-A3D94A649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11449" t="8859" r="13661" b="6934"/>
            <a:stretch>
              <a:fillRect/>
            </a:stretch>
          </p:blipFill>
          <p:spPr>
            <a:xfrm>
              <a:off x="3431178" y="2205635"/>
              <a:ext cx="303231" cy="578762"/>
            </a:xfrm>
            <a:prstGeom prst="rect">
              <a:avLst/>
            </a:prstGeom>
          </p:spPr>
        </p:pic>
        <p:pic>
          <p:nvPicPr>
            <p:cNvPr id="38" name="Picture 37" descr="A graph with a red arrow down&#10;&#10;AI-generated content may be incorrect.">
              <a:extLst>
                <a:ext uri="{FF2B5EF4-FFF2-40B4-BE49-F238E27FC236}">
                  <a16:creationId xmlns:a16="http://schemas.microsoft.com/office/drawing/2014/main" id="{0CDD2A8F-CF25-8BA3-E1D5-A606913E8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281261" y="3102704"/>
              <a:ext cx="434857" cy="508875"/>
            </a:xfrm>
            <a:prstGeom prst="rect">
              <a:avLst/>
            </a:prstGeom>
          </p:spPr>
        </p:pic>
        <p:pic>
          <p:nvPicPr>
            <p:cNvPr id="39" name="Picture 38" descr="A colorful gauge with a needle&#10;&#10;AI-generated content may be incorrect.">
              <a:extLst>
                <a:ext uri="{FF2B5EF4-FFF2-40B4-BE49-F238E27FC236}">
                  <a16:creationId xmlns:a16="http://schemas.microsoft.com/office/drawing/2014/main" id="{8171B061-ED11-CAF2-5A0E-C0B59EE96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36219" y="4396102"/>
              <a:ext cx="447766" cy="448584"/>
            </a:xfrm>
            <a:prstGeom prst="rect">
              <a:avLst/>
            </a:prstGeom>
          </p:spPr>
        </p:pic>
        <p:pic>
          <p:nvPicPr>
            <p:cNvPr id="40" name="Picture 39" descr="A map of the country with gears&#10;&#10;AI-generated content may be incorrect.">
              <a:extLst>
                <a:ext uri="{FF2B5EF4-FFF2-40B4-BE49-F238E27FC236}">
                  <a16:creationId xmlns:a16="http://schemas.microsoft.com/office/drawing/2014/main" id="{6BFEC94D-3CAA-E041-1483-BD615C446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664210" y="2799284"/>
              <a:ext cx="1170894" cy="784106"/>
            </a:xfrm>
            <a:prstGeom prst="rect">
              <a:avLst/>
            </a:prstGeom>
          </p:spPr>
        </p:pic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EC213019-310C-AE28-28C1-A0FE672ABAD6}"/>
                </a:ext>
              </a:extLst>
            </p:cNvPr>
            <p:cNvSpPr/>
            <p:nvPr/>
          </p:nvSpPr>
          <p:spPr>
            <a:xfrm>
              <a:off x="8797587" y="3682168"/>
              <a:ext cx="534873" cy="40647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ight Arrow 41">
              <a:extLst>
                <a:ext uri="{FF2B5EF4-FFF2-40B4-BE49-F238E27FC236}">
                  <a16:creationId xmlns:a16="http://schemas.microsoft.com/office/drawing/2014/main" id="{6E74C82E-D270-98D8-06FD-C8BCCDD7D6D5}"/>
                </a:ext>
              </a:extLst>
            </p:cNvPr>
            <p:cNvSpPr/>
            <p:nvPr/>
          </p:nvSpPr>
          <p:spPr>
            <a:xfrm>
              <a:off x="5538860" y="3682168"/>
              <a:ext cx="534873" cy="40647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ight Arrow 42">
              <a:extLst>
                <a:ext uri="{FF2B5EF4-FFF2-40B4-BE49-F238E27FC236}">
                  <a16:creationId xmlns:a16="http://schemas.microsoft.com/office/drawing/2014/main" id="{D7CC7418-1C4D-0F1D-5230-2A78AA30204C}"/>
                </a:ext>
              </a:extLst>
            </p:cNvPr>
            <p:cNvSpPr/>
            <p:nvPr/>
          </p:nvSpPr>
          <p:spPr>
            <a:xfrm>
              <a:off x="2740682" y="3685223"/>
              <a:ext cx="534873" cy="40647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bg2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292DE21-5A0E-2A87-BAA0-5FFC09BA6FB0}"/>
                </a:ext>
              </a:extLst>
            </p:cNvPr>
            <p:cNvSpPr txBox="1"/>
            <p:nvPr/>
          </p:nvSpPr>
          <p:spPr>
            <a:xfrm rot="16200000">
              <a:off x="-1892426" y="3812063"/>
              <a:ext cx="464024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Panel dataset: 78 municipalities × 2010–2024</a:t>
              </a:r>
              <a:endParaRPr lang="en-US" sz="140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2755122A-0A05-D626-C80D-8A18BF9D76EC}"/>
                </a:ext>
              </a:extLst>
            </p:cNvPr>
            <p:cNvSpPr/>
            <p:nvPr/>
          </p:nvSpPr>
          <p:spPr>
            <a:xfrm>
              <a:off x="3351727" y="4844686"/>
              <a:ext cx="2132833" cy="1178034"/>
            </a:xfrm>
            <a:prstGeom prst="roundRect">
              <a:avLst>
                <a:gd name="adj" fmla="val 2293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F74AB43-5A66-8BB9-F90C-6DBD8CD04D84}"/>
                </a:ext>
              </a:extLst>
            </p:cNvPr>
            <p:cNvSpPr txBox="1"/>
            <p:nvPr/>
          </p:nvSpPr>
          <p:spPr>
            <a:xfrm>
              <a:off x="3752813" y="4937544"/>
              <a:ext cx="1946804" cy="907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Structural Analysis (Post-Modeling):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K-Means / Hierarchical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Clustering for typology profiling</a:t>
              </a:r>
            </a:p>
          </p:txBody>
        </p:sp>
        <p:pic>
          <p:nvPicPr>
            <p:cNvPr id="48" name="Picture 47" descr="A group of dots in a circle&#10;&#10;AI-generated content may be incorrect.">
              <a:extLst>
                <a:ext uri="{FF2B5EF4-FFF2-40B4-BE49-F238E27FC236}">
                  <a16:creationId xmlns:a16="http://schemas.microsoft.com/office/drawing/2014/main" id="{100E48F0-36BF-3579-8797-7936BF8B8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418014" y="4962317"/>
              <a:ext cx="316395" cy="3886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7289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E5CE5-78AD-490D-C7F0-BCFD03DE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D5BCF9-5264-A0FA-7345-80535708E5F4}"/>
              </a:ext>
            </a:extLst>
          </p:cNvPr>
          <p:cNvSpPr/>
          <p:nvPr/>
        </p:nvSpPr>
        <p:spPr>
          <a:xfrm>
            <a:off x="0" y="196343"/>
            <a:ext cx="7199290" cy="1007423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FF3D5AD4-765C-F5F1-BF2E-88B3C1075A2F}"/>
              </a:ext>
            </a:extLst>
          </p:cNvPr>
          <p:cNvSpPr txBox="1">
            <a:spLocks/>
          </p:cNvSpPr>
          <p:nvPr/>
        </p:nvSpPr>
        <p:spPr>
          <a:xfrm>
            <a:off x="459357" y="361539"/>
            <a:ext cx="654675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600" b="1" dirty="0">
                <a:solidFill>
                  <a:schemeClr val="bg1"/>
                </a:solidFill>
              </a:rPr>
              <a:t>Model v1: Lasso Regression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4DAF72-DF65-27AC-ED63-07FB535EECB3}"/>
              </a:ext>
            </a:extLst>
          </p:cNvPr>
          <p:cNvSpPr txBox="1"/>
          <p:nvPr/>
        </p:nvSpPr>
        <p:spPr>
          <a:xfrm>
            <a:off x="139613" y="1368962"/>
            <a:ext cx="860355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Model selection approach: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Compared OLS, Ridge, Random Forest, HGB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Selected </a:t>
            </a:r>
            <a:r>
              <a:rPr lang="en-US" b="1" dirty="0"/>
              <a:t>Lasso</a:t>
            </a:r>
            <a:r>
              <a:rPr lang="en-US" dirty="0"/>
              <a:t> for interpretability and stability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Target definition (critical choice):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Annual population change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3-year forward average (selected)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Key Result: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3-year target produces more stable and predictive signal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Annual population change is noisy; smoothing improves model performance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16263F-BABA-DE9B-ED80-EA2E813E7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38" b="15481"/>
          <a:stretch>
            <a:fillRect/>
          </a:stretch>
        </p:blipFill>
        <p:spPr>
          <a:xfrm>
            <a:off x="902824" y="2403409"/>
            <a:ext cx="5837249" cy="175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35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5524C-4EE8-27EA-289A-D157B260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E57585-C0F5-C9DB-18FA-5FC92375805D}"/>
              </a:ext>
            </a:extLst>
          </p:cNvPr>
          <p:cNvSpPr/>
          <p:nvPr/>
        </p:nvSpPr>
        <p:spPr>
          <a:xfrm>
            <a:off x="0" y="196343"/>
            <a:ext cx="7199290" cy="1007423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A527685F-7BA4-384E-9C53-B8C017774E1B}"/>
              </a:ext>
            </a:extLst>
          </p:cNvPr>
          <p:cNvSpPr txBox="1">
            <a:spLocks/>
          </p:cNvSpPr>
          <p:nvPr/>
        </p:nvSpPr>
        <p:spPr>
          <a:xfrm>
            <a:off x="459357" y="361539"/>
            <a:ext cx="654675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b="1" dirty="0">
                <a:solidFill>
                  <a:schemeClr val="bg1"/>
                </a:solidFill>
              </a:rPr>
              <a:t>Model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4CA0D0-60FE-16D8-81D1-545FDC0FA658}"/>
              </a:ext>
            </a:extLst>
          </p:cNvPr>
          <p:cNvSpPr txBox="1"/>
          <p:nvPr/>
        </p:nvSpPr>
        <p:spPr>
          <a:xfrm>
            <a:off x="139613" y="1368962"/>
            <a:ext cx="956005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models exhibit negative out-of-sample R²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Lasso </a:t>
            </a:r>
            <a:r>
              <a:rPr lang="en-US" dirty="0"/>
              <a:t>performs best among tested models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Tree-based models (RF, HGB) perform slightly worse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Interpretation: </a:t>
            </a:r>
            <a:r>
              <a:rPr lang="en-US" dirty="0"/>
              <a:t>Population change is a </a:t>
            </a:r>
            <a:r>
              <a:rPr lang="en-US" b="1" dirty="0"/>
              <a:t>high-noise outcome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Short-run dynamics are difficult to predict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Structural variables alone have limited predictive signal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Suggests presence of unobserved shocks (migration, disasters, policy)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EEE3E7ED-9AC0-65A3-2BB1-B0E0B55DB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57" y="4119481"/>
            <a:ext cx="5736685" cy="19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82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3F91-10B1-8FD8-8D23-A624D7AA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911A7F-04CC-CF59-0C7D-646AE714B4DD}"/>
              </a:ext>
            </a:extLst>
          </p:cNvPr>
          <p:cNvSpPr/>
          <p:nvPr/>
        </p:nvSpPr>
        <p:spPr>
          <a:xfrm>
            <a:off x="0" y="196343"/>
            <a:ext cx="7199290" cy="1007423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B38BEA08-D38A-6D1A-E0E3-767A67E01454}"/>
              </a:ext>
            </a:extLst>
          </p:cNvPr>
          <p:cNvSpPr txBox="1">
            <a:spLocks/>
          </p:cNvSpPr>
          <p:nvPr/>
        </p:nvSpPr>
        <p:spPr>
          <a:xfrm>
            <a:off x="459357" y="361539"/>
            <a:ext cx="654675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b="1" dirty="0">
                <a:solidFill>
                  <a:schemeClr val="bg1"/>
                </a:solidFill>
              </a:rPr>
              <a:t>SHAP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6B10A-5B31-3B5F-A809-FE0960DB5449}"/>
              </a:ext>
            </a:extLst>
          </p:cNvPr>
          <p:cNvSpPr txBox="1"/>
          <p:nvPr/>
        </p:nvSpPr>
        <p:spPr>
          <a:xfrm>
            <a:off x="139613" y="1368962"/>
            <a:ext cx="9560053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Why SHAP?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Models don’t explain </a:t>
            </a:r>
            <a:r>
              <a:rPr lang="en-US" sz="1600" i="1" dirty="0"/>
              <a:t>why</a:t>
            </a:r>
            <a:r>
              <a:rPr lang="en-US" sz="1600" dirty="0"/>
              <a:t> predictions are made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SHAP reveals feature-level contributions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Helps diagnose what the model is actually learning 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What SHAP Does</a:t>
            </a:r>
          </a:p>
          <a:p>
            <a:r>
              <a:rPr lang="en-US" sz="1600" dirty="0"/>
              <a:t>Breaks each prediction into </a:t>
            </a:r>
            <a:r>
              <a:rPr lang="en-US" sz="1600" b="1" dirty="0"/>
              <a:t>feature contributions</a:t>
            </a:r>
            <a:r>
              <a:rPr lang="en-US" sz="1600" dirty="0"/>
              <a:t> to show: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Which variables matter most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Direction of impact (increase vs decrease)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Consistency across municipalities 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What the Model is Learning (SHAP Results)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Lagged population change is the dominant predictor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Strong reliance on structural variables</a:t>
            </a:r>
            <a:br>
              <a:rPr lang="en-US" sz="1600" dirty="0"/>
            </a:br>
            <a:r>
              <a:rPr lang="en-US" sz="1600" dirty="0"/>
              <a:t>(income, vulnerability, demographics)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Disaster variables show weak and inconsistent effects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Clear improvement with 3-year target vs annual target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E0147B-249A-0B59-9B1D-C9620288C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972" y="2739101"/>
            <a:ext cx="5187367" cy="333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0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4796-B3BE-1E7D-C974-20ED9625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8810B8-64D1-2E9D-9670-F4D92492A608}"/>
              </a:ext>
            </a:extLst>
          </p:cNvPr>
          <p:cNvSpPr/>
          <p:nvPr/>
        </p:nvSpPr>
        <p:spPr>
          <a:xfrm>
            <a:off x="0" y="196343"/>
            <a:ext cx="7199290" cy="1007423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5A57B514-B5E4-72CA-D8E0-7CB2DE41F68F}"/>
              </a:ext>
            </a:extLst>
          </p:cNvPr>
          <p:cNvSpPr txBox="1">
            <a:spLocks/>
          </p:cNvSpPr>
          <p:nvPr/>
        </p:nvSpPr>
        <p:spPr>
          <a:xfrm>
            <a:off x="0" y="361539"/>
            <a:ext cx="719929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b="1" dirty="0">
                <a:solidFill>
                  <a:schemeClr val="bg1"/>
                </a:solidFill>
              </a:rPr>
              <a:t>Why the Model Struggles?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7C8E4F-7E92-28B2-DF21-B81FC716D92B}"/>
              </a:ext>
            </a:extLst>
          </p:cNvPr>
          <p:cNvSpPr txBox="1"/>
          <p:nvPr/>
        </p:nvSpPr>
        <p:spPr>
          <a:xfrm>
            <a:off x="139613" y="1368962"/>
            <a:ext cx="956005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Observed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Annual population change is highly volatile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Model shows poor generalization (negative R²)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Disaster timing variables don’t have </a:t>
            </a:r>
            <a:r>
              <a:rPr lang="en-US" sz="2400" i="1" dirty="0"/>
              <a:t>immediate</a:t>
            </a:r>
            <a:r>
              <a:rPr lang="en-US" sz="2400" dirty="0"/>
              <a:t> impact</a:t>
            </a:r>
          </a:p>
          <a:p>
            <a:endParaRPr lang="en-US" sz="2400" b="1" dirty="0"/>
          </a:p>
          <a:p>
            <a:r>
              <a:rPr lang="en-US" sz="2400" b="1" dirty="0"/>
              <a:t>What the Model Cannot Capture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Policy changes (tax incentives, federal aid)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Individual decision-making (household-level migration)</a:t>
            </a:r>
          </a:p>
          <a:p>
            <a:endParaRPr lang="en-US" sz="2400" dirty="0"/>
          </a:p>
          <a:p>
            <a:r>
              <a:rPr lang="en-US" sz="2400" b="1" dirty="0"/>
              <a:t>Interpretation: </a:t>
            </a:r>
            <a:r>
              <a:rPr lang="en-US" sz="2400" dirty="0"/>
              <a:t>The prediction problem is </a:t>
            </a:r>
            <a:r>
              <a:rPr lang="en-US" sz="2400" b="1" dirty="0"/>
              <a:t>fundamentally noisy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Short-run population change is driven by unpredictable shocks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Structural variables alone are insufficient for short-term forecasting </a:t>
            </a:r>
          </a:p>
          <a:p>
            <a:endParaRPr lang="en-US" sz="2400" dirty="0"/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22A5B054-F365-71CB-5D75-F1DFD1481971}"/>
              </a:ext>
            </a:extLst>
          </p:cNvPr>
          <p:cNvSpPr txBox="1">
            <a:spLocks/>
          </p:cNvSpPr>
          <p:nvPr/>
        </p:nvSpPr>
        <p:spPr>
          <a:xfrm>
            <a:off x="6426291" y="422871"/>
            <a:ext cx="654675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2800" b="1" dirty="0"/>
              <a:t>What Broke?</a:t>
            </a:r>
          </a:p>
        </p:txBody>
      </p:sp>
    </p:spTree>
    <p:extLst>
      <p:ext uri="{BB962C8B-B14F-4D97-AF65-F5344CB8AC3E}">
        <p14:creationId xmlns:p14="http://schemas.microsoft.com/office/powerpoint/2010/main" val="57361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2ACF3-8AD5-5B55-CC0F-B560A9E9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C4B2DE-21C6-40E1-5826-14B7605F579B}"/>
              </a:ext>
            </a:extLst>
          </p:cNvPr>
          <p:cNvSpPr/>
          <p:nvPr/>
        </p:nvSpPr>
        <p:spPr>
          <a:xfrm>
            <a:off x="0" y="196343"/>
            <a:ext cx="7199290" cy="1007423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2D30331D-2D8A-23B1-45BA-E48486797D1C}"/>
              </a:ext>
            </a:extLst>
          </p:cNvPr>
          <p:cNvSpPr txBox="1">
            <a:spLocks/>
          </p:cNvSpPr>
          <p:nvPr/>
        </p:nvSpPr>
        <p:spPr>
          <a:xfrm>
            <a:off x="459357" y="361539"/>
            <a:ext cx="654675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600" b="1" dirty="0">
                <a:solidFill>
                  <a:schemeClr val="bg1"/>
                </a:solidFill>
              </a:rPr>
              <a:t>What the Model is Learning?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C36B04-5B3F-72DC-833A-DC190E5AD9A4}"/>
              </a:ext>
            </a:extLst>
          </p:cNvPr>
          <p:cNvSpPr txBox="1"/>
          <p:nvPr/>
        </p:nvSpPr>
        <p:spPr>
          <a:xfrm>
            <a:off x="139613" y="1368962"/>
            <a:ext cx="956005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Annual Target (Short-run change)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Dominated by past population change (momentum)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Model relies on autoregressive signal only </a:t>
            </a:r>
          </a:p>
          <a:p>
            <a:r>
              <a:rPr lang="en-US" sz="2000" b="1" dirty="0"/>
              <a:t>	Result: </a:t>
            </a:r>
            <a:r>
              <a:rPr lang="en-US" sz="2000" dirty="0"/>
              <a:t>No real structural insight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3-Year Target (Smoothed change)</a:t>
            </a:r>
          </a:p>
          <a:p>
            <a:r>
              <a:rPr lang="en-US" sz="2000" dirty="0"/>
              <a:t>Captures broader structural factors: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Vulnerability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Income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Crime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Disaster exposure </a:t>
            </a:r>
          </a:p>
          <a:p>
            <a:r>
              <a:rPr lang="en-US" sz="2000" b="1" dirty="0"/>
              <a:t>	Result: </a:t>
            </a:r>
            <a:r>
              <a:rPr lang="en-US" sz="2000" dirty="0"/>
              <a:t>Model begins to reflect underlying conditions</a:t>
            </a:r>
          </a:p>
          <a:p>
            <a:endParaRPr lang="en-US" sz="2000" dirty="0"/>
          </a:p>
          <a:p>
            <a:r>
              <a:rPr lang="en-US" sz="2000" b="1" dirty="0"/>
              <a:t>Key Insight: </a:t>
            </a:r>
            <a:r>
              <a:rPr lang="en-US" sz="2000" dirty="0"/>
              <a:t>Target smoothing reveals structural drivers instead of short-term noise</a:t>
            </a:r>
          </a:p>
        </p:txBody>
      </p:sp>
    </p:spTree>
    <p:extLst>
      <p:ext uri="{BB962C8B-B14F-4D97-AF65-F5344CB8AC3E}">
        <p14:creationId xmlns:p14="http://schemas.microsoft.com/office/powerpoint/2010/main" val="2829419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18DEC-A29D-0EF7-39B7-5D840E6E8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6B6C1F-CF7E-21EA-E139-BD9C08871792}"/>
              </a:ext>
            </a:extLst>
          </p:cNvPr>
          <p:cNvSpPr/>
          <p:nvPr/>
        </p:nvSpPr>
        <p:spPr>
          <a:xfrm>
            <a:off x="0" y="196343"/>
            <a:ext cx="7199290" cy="1007423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19E468F0-34DE-8849-4B81-553DC807551E}"/>
              </a:ext>
            </a:extLst>
          </p:cNvPr>
          <p:cNvSpPr txBox="1">
            <a:spLocks/>
          </p:cNvSpPr>
          <p:nvPr/>
        </p:nvSpPr>
        <p:spPr>
          <a:xfrm>
            <a:off x="459357" y="361539"/>
            <a:ext cx="654675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b="1" dirty="0">
                <a:solidFill>
                  <a:schemeClr val="bg1"/>
                </a:solidFill>
              </a:rPr>
              <a:t>Key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D44F8-ED1E-744F-388B-CF81663B7177}"/>
              </a:ext>
            </a:extLst>
          </p:cNvPr>
          <p:cNvSpPr txBox="1"/>
          <p:nvPr/>
        </p:nvSpPr>
        <p:spPr>
          <a:xfrm>
            <a:off x="139613" y="1368962"/>
            <a:ext cx="118054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 learned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Annual population change is highly noisy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Short-run prediction is inherently difficult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Structural patterns emerge only when data is smoothed over time 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Implication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Prediction is weak, but structure is strong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Models struggle to forecast short-term changes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But can still uncover stable, interpretable patterns 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Key Takeaway: </a:t>
            </a:r>
            <a:r>
              <a:rPr lang="en-US" sz="2400" dirty="0"/>
              <a:t>Population dynamics are easier to understand than to predict</a:t>
            </a:r>
          </a:p>
        </p:txBody>
      </p:sp>
    </p:spTree>
    <p:extLst>
      <p:ext uri="{BB962C8B-B14F-4D97-AF65-F5344CB8AC3E}">
        <p14:creationId xmlns:p14="http://schemas.microsoft.com/office/powerpoint/2010/main" val="205064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B461-06C7-B3FE-2FD3-A6EAA2C2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AFF467-EA34-A1E1-7D27-49257098751A}"/>
              </a:ext>
            </a:extLst>
          </p:cNvPr>
          <p:cNvSpPr/>
          <p:nvPr/>
        </p:nvSpPr>
        <p:spPr>
          <a:xfrm>
            <a:off x="0" y="196343"/>
            <a:ext cx="7199290" cy="1007423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1C9245BE-7F46-5541-F240-56BA0A3CBFE3}"/>
              </a:ext>
            </a:extLst>
          </p:cNvPr>
          <p:cNvSpPr txBox="1">
            <a:spLocks/>
          </p:cNvSpPr>
          <p:nvPr/>
        </p:nvSpPr>
        <p:spPr>
          <a:xfrm>
            <a:off x="459357" y="361539"/>
            <a:ext cx="654675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200" b="1" dirty="0">
                <a:solidFill>
                  <a:schemeClr val="bg1"/>
                </a:solidFill>
              </a:rPr>
              <a:t>Structural Patterns </a:t>
            </a:r>
          </a:p>
          <a:p>
            <a:pPr lvl="0"/>
            <a:r>
              <a:rPr lang="en-US" sz="3200" b="1" dirty="0">
                <a:solidFill>
                  <a:schemeClr val="bg1"/>
                </a:solidFill>
              </a:rPr>
              <a:t>(Beyond Prediction)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60B027-7280-1B08-F112-1AB1AFF3FADD}"/>
              </a:ext>
            </a:extLst>
          </p:cNvPr>
          <p:cNvSpPr txBox="1"/>
          <p:nvPr/>
        </p:nvSpPr>
        <p:spPr>
          <a:xfrm>
            <a:off x="139613" y="1368962"/>
            <a:ext cx="956005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emerges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Distinct municipal typologies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Clear regional clustering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Key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Patterns are stable and spatially coherent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Similar municipalities cluster together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Neighboring regions share structural characteristics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Results are consistent across specifications 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Population dynamics are spatially structured, not random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Decline is concentrated in specific regions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Vulnerability and economic conditions align geographically</a:t>
            </a:r>
          </a:p>
        </p:txBody>
      </p:sp>
    </p:spTree>
    <p:extLst>
      <p:ext uri="{BB962C8B-B14F-4D97-AF65-F5344CB8AC3E}">
        <p14:creationId xmlns:p14="http://schemas.microsoft.com/office/powerpoint/2010/main" val="628415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1E96-4FBA-2C53-EB6D-71A730829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7CC9B3-CFF7-3236-0435-5AAC114F3BB5}"/>
              </a:ext>
            </a:extLst>
          </p:cNvPr>
          <p:cNvSpPr/>
          <p:nvPr/>
        </p:nvSpPr>
        <p:spPr>
          <a:xfrm>
            <a:off x="0" y="196343"/>
            <a:ext cx="7199290" cy="1007423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FCCB344E-0505-7DC9-9B4B-918C6753D07A}"/>
              </a:ext>
            </a:extLst>
          </p:cNvPr>
          <p:cNvSpPr txBox="1">
            <a:spLocks/>
          </p:cNvSpPr>
          <p:nvPr/>
        </p:nvSpPr>
        <p:spPr>
          <a:xfrm>
            <a:off x="459357" y="361539"/>
            <a:ext cx="654675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200" b="1" dirty="0">
                <a:solidFill>
                  <a:schemeClr val="bg1"/>
                </a:solidFill>
              </a:rPr>
              <a:t>Island-Level Population Change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0EBFB1-42F0-193F-093F-6D0414F8B9A6}"/>
              </a:ext>
            </a:extLst>
          </p:cNvPr>
          <p:cNvSpPr txBox="1"/>
          <p:nvPr/>
        </p:nvSpPr>
        <p:spPr>
          <a:xfrm>
            <a:off x="139613" y="1368962"/>
            <a:ext cx="743022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Findings: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Persistent population decline (~–0.6% per year)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~20,000 people lost annually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Decline varies significantly across regions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Strongest losses in South and West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i="1" dirty="0"/>
              <a:t>Insight line:</a:t>
            </a:r>
            <a:r>
              <a:rPr lang="en-US" dirty="0"/>
              <a:t> Population decline is </a:t>
            </a:r>
            <a:r>
              <a:rPr lang="en-US" b="1" dirty="0"/>
              <a:t>spatially structured, not random</a:t>
            </a:r>
            <a:endParaRPr lang="en-US" dirty="0"/>
          </a:p>
        </p:txBody>
      </p:sp>
      <p:pic>
        <p:nvPicPr>
          <p:cNvPr id="3" name="Picture 2" descr="A map of the region with different colored areas&#10;&#10;AI-generated content may be incorrect.">
            <a:extLst>
              <a:ext uri="{FF2B5EF4-FFF2-40B4-BE49-F238E27FC236}">
                <a16:creationId xmlns:a16="http://schemas.microsoft.com/office/drawing/2014/main" id="{2733AC24-5C1E-0903-5D5A-7997A0499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95" r="16693" b="28987"/>
          <a:stretch>
            <a:fillRect/>
          </a:stretch>
        </p:blipFill>
        <p:spPr>
          <a:xfrm>
            <a:off x="6260170" y="3847824"/>
            <a:ext cx="5931830" cy="22050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4A8A6E-1756-0ECC-BA76-07D5C995D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08" y="3503236"/>
            <a:ext cx="4667236" cy="271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5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D9378-4901-CC95-4DF0-C7E71B5E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CAD6A5-BA72-AEE1-9FDB-8E3BFC1F195A}"/>
              </a:ext>
            </a:extLst>
          </p:cNvPr>
          <p:cNvSpPr/>
          <p:nvPr/>
        </p:nvSpPr>
        <p:spPr>
          <a:xfrm>
            <a:off x="0" y="196343"/>
            <a:ext cx="7199290" cy="1007423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F30B379C-AF02-DC4D-8D44-957433DF2A64}"/>
              </a:ext>
            </a:extLst>
          </p:cNvPr>
          <p:cNvSpPr txBox="1">
            <a:spLocks/>
          </p:cNvSpPr>
          <p:nvPr/>
        </p:nvSpPr>
        <p:spPr>
          <a:xfrm>
            <a:off x="459357" y="361539"/>
            <a:ext cx="654675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b="1" dirty="0">
                <a:solidFill>
                  <a:schemeClr val="bg1"/>
                </a:solidFill>
              </a:rPr>
              <a:t>Next Steps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8A33B1-F324-0543-80BE-283BFC0306AF}"/>
              </a:ext>
            </a:extLst>
          </p:cNvPr>
          <p:cNvSpPr txBox="1"/>
          <p:nvPr/>
        </p:nvSpPr>
        <p:spPr>
          <a:xfrm>
            <a:off x="132408" y="1612030"/>
            <a:ext cx="11673769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Adopt 3-year forward average target (reduces noise, improves signal stability)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Add spatial features (neighboring municipalities, regional averages)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Incorporate lagged disaster effects (t–1, t–2 to capture delayed impact)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Refine economic features (growth rates instead of levels)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Strengthen validation (time-based cross-validation + robustness checks)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4264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74F16-EDCC-8571-609B-B4E36ECD9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2357FC-F0D5-14AF-6B21-AD635116F0AA}"/>
              </a:ext>
            </a:extLst>
          </p:cNvPr>
          <p:cNvSpPr/>
          <p:nvPr/>
        </p:nvSpPr>
        <p:spPr>
          <a:xfrm>
            <a:off x="0" y="196343"/>
            <a:ext cx="7199290" cy="1007423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Title 10">
            <a:extLst>
              <a:ext uri="{FF2B5EF4-FFF2-40B4-BE49-F238E27FC236}">
                <a16:creationId xmlns:a16="http://schemas.microsoft.com/office/drawing/2014/main" id="{CF1A8BAC-04CD-0771-C6C6-B5D27E3ECAD1}"/>
              </a:ext>
            </a:extLst>
          </p:cNvPr>
          <p:cNvSpPr txBox="1">
            <a:spLocks/>
          </p:cNvSpPr>
          <p:nvPr/>
        </p:nvSpPr>
        <p:spPr>
          <a:xfrm>
            <a:off x="459357" y="361539"/>
            <a:ext cx="6546750" cy="7195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b="1" dirty="0">
                <a:solidFill>
                  <a:schemeClr val="bg1"/>
                </a:solidFill>
              </a:rPr>
              <a:t>Final Takeaway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3334E0-39F4-9C77-293B-86A671B72ACD}"/>
              </a:ext>
            </a:extLst>
          </p:cNvPr>
          <p:cNvSpPr txBox="1"/>
          <p:nvPr/>
        </p:nvSpPr>
        <p:spPr>
          <a:xfrm>
            <a:off x="139613" y="1368962"/>
            <a:ext cx="1152766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Population decline in Puerto Rico is not random: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Structured</a:t>
            </a:r>
            <a:r>
              <a:rPr lang="en-US" sz="2000" dirty="0"/>
              <a:t> (driven by economic and social conditions)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Spatial</a:t>
            </a:r>
            <a:r>
              <a:rPr lang="en-US" sz="2000" dirty="0"/>
              <a:t> (concentrated in specific regions)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Persistent</a:t>
            </a:r>
            <a:r>
              <a:rPr lang="en-US" sz="2000" dirty="0"/>
              <a:t> (consistent over time) 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What the Model Revealed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Short-term population change is highly unpredictable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But underlying structural patterns are stable and detectable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Model performance improves when focusing on long-term dynamics (3-year target) 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Conclusion: </a:t>
            </a:r>
            <a:r>
              <a:rPr lang="en-US" sz="2000" dirty="0"/>
              <a:t>Even when prediction is difficult, the data reveals strong, stable, and spatially coherent patterns across Puerto Rico.</a:t>
            </a:r>
          </a:p>
        </p:txBody>
      </p:sp>
    </p:spTree>
    <p:extLst>
      <p:ext uri="{BB962C8B-B14F-4D97-AF65-F5344CB8AC3E}">
        <p14:creationId xmlns:p14="http://schemas.microsoft.com/office/powerpoint/2010/main" val="3664533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BA8F4-EFC2-6B2F-1BCA-765B8B772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lack and white logo&#10;&#10;AI-generated content may be incorrect.">
            <a:extLst>
              <a:ext uri="{FF2B5EF4-FFF2-40B4-BE49-F238E27FC236}">
                <a16:creationId xmlns:a16="http://schemas.microsoft.com/office/drawing/2014/main" id="{C4EBD854-F9C7-43C9-52C4-3035C20D0A5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" r="3"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BA07C-4421-9897-AB9C-8069A832F1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  <a:buClr>
                <a:srgbClr val="D82042"/>
              </a:buClr>
            </a:pPr>
            <a:r>
              <a:rPr lang="en-US" dirty="0"/>
              <a:t>Revised January 2026</a:t>
            </a:r>
          </a:p>
          <a:p>
            <a:pPr>
              <a:spcBef>
                <a:spcPts val="0"/>
              </a:spcBef>
              <a:spcAft>
                <a:spcPts val="200"/>
              </a:spcAft>
              <a:buClr>
                <a:srgbClr val="D82042"/>
              </a:buClr>
            </a:pPr>
            <a:r>
              <a:rPr lang="en-US" dirty="0"/>
              <a:t>Department of University Communications and Marketing</a:t>
            </a:r>
          </a:p>
          <a:p>
            <a:pPr>
              <a:spcBef>
                <a:spcPts val="0"/>
              </a:spcBef>
              <a:spcAft>
                <a:spcPts val="200"/>
              </a:spcAft>
              <a:buClr>
                <a:srgbClr val="D82042"/>
              </a:buClr>
            </a:pPr>
            <a:r>
              <a:rPr lang="en-US" dirty="0"/>
              <a:t>© 2026, Rutgers, The State University of New Jersey</a:t>
            </a:r>
          </a:p>
        </p:txBody>
      </p:sp>
    </p:spTree>
    <p:extLst>
      <p:ext uri="{BB962C8B-B14F-4D97-AF65-F5344CB8AC3E}">
        <p14:creationId xmlns:p14="http://schemas.microsoft.com/office/powerpoint/2010/main" val="2791339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AD5AB897-1974-2EFF-538D-490393542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0413897F-0458-EB29-B12F-B1F119CC2D2E}"/>
              </a:ext>
            </a:extLst>
          </p:cNvPr>
          <p:cNvSpPr txBox="1"/>
          <p:nvPr/>
        </p:nvSpPr>
        <p:spPr>
          <a:xfrm>
            <a:off x="571500" y="500062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600" b="1" dirty="0">
                <a:latin typeface="Merriweather"/>
              </a:rPr>
              <a:t>Data Structure (The Input Vector) </a:t>
            </a:r>
            <a:endParaRPr sz="3600" b="1" dirty="0">
              <a:latin typeface="Merriweather"/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991B08BF-AC67-B480-D6CC-4F6BE253D6C5}"/>
              </a:ext>
            </a:extLst>
          </p:cNvPr>
          <p:cNvSpPr/>
          <p:nvPr/>
        </p:nvSpPr>
        <p:spPr>
          <a:xfrm>
            <a:off x="571500" y="1214437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8D4477-5AA5-0731-D8FE-47D12D442B93}"/>
                  </a:ext>
                </a:extLst>
              </p:cNvPr>
              <p:cNvSpPr txBox="1"/>
              <p:nvPr/>
            </p:nvSpPr>
            <p:spPr>
              <a:xfrm>
                <a:off x="472643" y="1519363"/>
                <a:ext cx="9336375" cy="4926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Merriweather" pitchFamily="2" charset="77"/>
                  </a:rPr>
                  <a:t>Input Vector: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latin typeface="Merriweather" pitchFamily="2" charset="77"/>
                </a:endParaRPr>
              </a:p>
              <a:p>
                <a:pPr lvl="1"/>
                <a:r>
                  <a:rPr lang="en-US" sz="2400" dirty="0">
                    <a:latin typeface="Merriweather" pitchFamily="2" charset="77"/>
                  </a:rPr>
                  <a:t>For a specific Municipality </a:t>
                </a:r>
                <a:r>
                  <a:rPr lang="en-US" sz="2000" i="1" dirty="0">
                    <a:latin typeface="Merriweather" pitchFamily="2" charset="77"/>
                  </a:rPr>
                  <a:t>m</a:t>
                </a:r>
                <a:r>
                  <a:rPr lang="en-US" sz="2400" dirty="0">
                    <a:latin typeface="Merriweather" pitchFamily="2" charset="77"/>
                  </a:rPr>
                  <a:t> at a specific Year </a:t>
                </a:r>
                <a:r>
                  <a:rPr lang="en-US" sz="2000" i="1" dirty="0">
                    <a:latin typeface="Merriweather" pitchFamily="2" charset="77"/>
                  </a:rPr>
                  <a:t>t</a:t>
                </a:r>
                <a:r>
                  <a:rPr lang="en-US" sz="2400" dirty="0">
                    <a:latin typeface="Merriweather" pitchFamily="2" charset="77"/>
                  </a:rPr>
                  <a:t>, the data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>
                    <a:latin typeface="Merriweather" pitchFamily="2" charset="77"/>
                  </a:rPr>
                  <a:t> is a vector containing all predictors: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400" dirty="0">
                  <a:latin typeface="Merriweather" pitchFamily="2" charset="77"/>
                </a:endParaRPr>
              </a:p>
              <a:p>
                <a:pPr lvl="1"/>
                <a:r>
                  <a:rPr lang="en-US" dirty="0">
                    <a:latin typeface="Merriweather" pitchFamily="2" charset="77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𝑏𝑖𝑟𝑡h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𝑎𝑔𝑒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65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𝑢𝑛𝑒𝑚𝑝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𝑝𝑎𝑦𝑟𝑜𝑙𝑙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𝑝𝑜𝑣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𝑡𝑟𝑎𝑛𝑠𝑝𝑜𝑟𝑡𝑎𝑡𝑖𝑜𝑛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h𝑎𝑧𝑎𝑟𝑑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effectLst/>
                    <a:latin typeface="Merriweather" pitchFamily="2" charset="77"/>
                  </a:rPr>
                  <a:t> </a:t>
                </a:r>
                <a:endPara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lvl="1"/>
                <a:endPara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Merriweather" pitchFamily="2" charset="77"/>
                  </a:rPr>
                  <a:t>Target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>
                    <a:latin typeface="Merriweather" pitchFamily="2" charset="77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b="1" dirty="0">
                  <a:latin typeface="Merriweather" pitchFamily="2" charset="77"/>
                </a:endParaRPr>
              </a:p>
              <a:p>
                <a:pPr lvl="1"/>
                <a:r>
                  <a:rPr lang="en-US" sz="2400" dirty="0">
                    <a:latin typeface="Merriweather" pitchFamily="2" charset="77"/>
                  </a:rPr>
                  <a:t>The population change (or net migration) we are trying to predict</a:t>
                </a:r>
                <a:endPara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8D4477-5AA5-0731-D8FE-47D12D442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43" y="1519363"/>
                <a:ext cx="9336375" cy="4926092"/>
              </a:xfrm>
              <a:prstGeom prst="rect">
                <a:avLst/>
              </a:prstGeom>
              <a:blipFill>
                <a:blip r:embed="rId3"/>
                <a:stretch>
                  <a:fillRect l="-951" t="-1028" r="-1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12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CFFEEB00-8F6E-F48B-9F4C-DD64AFAE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3ED45A06-FA0A-E2E0-182E-DDB1DFB5584B}"/>
              </a:ext>
            </a:extLst>
          </p:cNvPr>
          <p:cNvSpPr/>
          <p:nvPr/>
        </p:nvSpPr>
        <p:spPr>
          <a:xfrm>
            <a:off x="571500" y="1214437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ACAB45-0C6E-B5C3-02F1-829E465F3DE6}"/>
                  </a:ext>
                </a:extLst>
              </p:cNvPr>
              <p:cNvSpPr txBox="1"/>
              <p:nvPr/>
            </p:nvSpPr>
            <p:spPr>
              <a:xfrm>
                <a:off x="472643" y="1519363"/>
                <a:ext cx="9336375" cy="5248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Merriweather" pitchFamily="2" charset="77"/>
                  </a:rPr>
                  <a:t>Lasso Regression (L1 Regularization)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latin typeface="Merriweather" pitchFamily="2" charset="77"/>
                  </a:rPr>
                  <a:t>Why use it?</a:t>
                </a:r>
                <a:r>
                  <a:rPr lang="en-US" sz="1600" dirty="0">
                    <a:latin typeface="Merriweather" pitchFamily="2" charset="77"/>
                  </a:rPr>
                  <a:t> We have many correlated variables (Poverty Rate and Unemployment are often linked). Lasso forces the model to choose only the </a:t>
                </a:r>
                <a:r>
                  <a:rPr lang="en-US" sz="1600" i="1" dirty="0">
                    <a:latin typeface="Merriweather" pitchFamily="2" charset="77"/>
                  </a:rPr>
                  <a:t>most important</a:t>
                </a:r>
                <a:r>
                  <a:rPr lang="en-US" sz="1600" dirty="0">
                    <a:latin typeface="Merriweather" pitchFamily="2" charset="77"/>
                  </a:rPr>
                  <a:t> ones and sets the others to zero. This solves the "noise" problem.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 dirty="0">
                  <a:latin typeface="Merriweather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latin typeface="Merriweather" pitchFamily="2" charset="77"/>
                  </a:rPr>
                  <a:t>The Equation:</a:t>
                </a:r>
                <a:r>
                  <a:rPr lang="en-US" sz="1600" dirty="0">
                    <a:latin typeface="Merriweather" pitchFamily="2" charset="77"/>
                  </a:rPr>
                  <a:t> The model tries to minimize the error (difference between predicted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1" i="0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</m:oMath>
                </a14:m>
                <a:r>
                  <a:rPr lang="en-US" sz="1600" b="1" dirty="0">
                    <a:latin typeface="Merriweather" pitchFamily="2" charset="77"/>
                  </a:rPr>
                  <a:t> </a:t>
                </a:r>
                <a:r>
                  <a:rPr lang="en-US" sz="1600" dirty="0">
                    <a:latin typeface="Merriweather" pitchFamily="2" charset="77"/>
                  </a:rPr>
                  <a:t>and actual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600" dirty="0">
                    <a:latin typeface="Merriweather" pitchFamily="2" charset="77"/>
                  </a:rPr>
                  <a:t>) plus a "penalty" for using too many variables.</a:t>
                </a:r>
              </a:p>
              <a:p>
                <a:r>
                  <a:rPr lang="en-US" sz="1600" dirty="0"/>
                  <a:t> </a:t>
                </a:r>
                <a:endParaRPr lang="en-US" sz="2000" dirty="0">
                  <a:latin typeface="Merriweather" pitchFamily="2" charset="77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1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Minimize</m:t>
                      </m:r>
                      <m:d>
                        <m:dPr>
                          <m:ctrlP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b="1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b="1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1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sz="1600" b="1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sz="1600" b="1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600" b="1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nary>
                            <m:naryPr>
                              <m:chr m:val="∑"/>
                              <m:ctrlP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1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  <m:sub>
                                      <m:r>
                                        <a:rPr lang="en-US" sz="1600" b="1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lvl="1"/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lvl="1"/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marL="62865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12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2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12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en-US" sz="12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1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200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1200" b="1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200" b="1" i="1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1" i="1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en-US" sz="1200" b="1" i="1">
                                            <a:solidFill>
                                              <a:schemeClr val="tx1">
                                                <a:lumMod val="75000"/>
                                                <a:lumOff val="2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2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  <m:r>
                      <a:rPr lang="en-US" sz="12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latin typeface="Merriweather" pitchFamily="2" charset="77"/>
                  </a:rPr>
                  <a:t>: The standard error (Residual Sum of Squares)</a:t>
                </a:r>
              </a:p>
              <a:p>
                <a:pPr marL="62865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2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sz="12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200" dirty="0">
                    <a:latin typeface="Merriweather" pitchFamily="2" charset="77"/>
                  </a:rPr>
                  <a:t>The tuning parameter,  if set high, the model is forced to simplify</a:t>
                </a:r>
              </a:p>
              <a:p>
                <a:pPr marL="62865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sz="12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sz="12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200" dirty="0">
                    <a:latin typeface="Merriweather" pitchFamily="2" charset="77"/>
                  </a:rPr>
                  <a:t>The absolute size of the coefficient for variable j</a:t>
                </a:r>
              </a:p>
              <a:p>
                <a:pPr marL="628650" lvl="1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b="1" dirty="0">
                    <a:latin typeface="Merriweather" pitchFamily="2" charset="77"/>
                  </a:rPr>
                  <a:t>How the variables fit:</a:t>
                </a:r>
                <a:r>
                  <a:rPr lang="en-US" sz="1200" dirty="0">
                    <a:latin typeface="Merriweather" pitchFamily="2" charset="77"/>
                  </a:rPr>
                  <a:t> If the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SVI</m:t>
                        </m:r>
                      </m:sub>
                    </m:sSub>
                    <m:r>
                      <a:rPr lang="en-US" sz="12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latin typeface="Merriweather" pitchFamily="2" charset="77"/>
                  </a:rPr>
                  <a:t>for "No Vehicle Access" is high,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Unemp</m:t>
                        </m:r>
                      </m:sub>
                    </m:sSub>
                    <m:r>
                      <a:rPr lang="en-US" sz="12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latin typeface="Merriweather" pitchFamily="2" charset="77"/>
                  </a:rPr>
                  <a:t>shrinks to zero, the equation proves that </a:t>
                </a:r>
                <a:r>
                  <a:rPr lang="en-US" sz="1200" b="1" dirty="0">
                    <a:latin typeface="Merriweather" pitchFamily="2" charset="77"/>
                  </a:rPr>
                  <a:t>transportation vulnerability</a:t>
                </a:r>
                <a:r>
                  <a:rPr lang="en-US" sz="1200" dirty="0">
                    <a:latin typeface="Merriweather" pitchFamily="2" charset="77"/>
                  </a:rPr>
                  <a:t> is a stronger driver of migration than </a:t>
                </a:r>
                <a:r>
                  <a:rPr lang="en-US" sz="1200" b="1" dirty="0">
                    <a:latin typeface="Merriweather" pitchFamily="2" charset="77"/>
                  </a:rPr>
                  <a:t>unemployment</a:t>
                </a:r>
                <a:r>
                  <a:rPr lang="en-US" sz="1200" dirty="0">
                    <a:latin typeface="Merriweather" pitchFamily="2" charset="77"/>
                  </a:rPr>
                  <a:t> in our specific dataset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ACAB45-0C6E-B5C3-02F1-829E465F3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43" y="1519363"/>
                <a:ext cx="9336375" cy="5248168"/>
              </a:xfrm>
              <a:prstGeom prst="rect">
                <a:avLst/>
              </a:prstGeom>
              <a:blipFill>
                <a:blip r:embed="rId3"/>
                <a:stretch>
                  <a:fillRect l="-543" t="-483" r="-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121;p15">
            <a:extLst>
              <a:ext uri="{FF2B5EF4-FFF2-40B4-BE49-F238E27FC236}">
                <a16:creationId xmlns:a16="http://schemas.microsoft.com/office/drawing/2014/main" id="{C0910809-4DFB-18ED-54C4-2580D01E1D62}"/>
              </a:ext>
            </a:extLst>
          </p:cNvPr>
          <p:cNvSpPr txBox="1"/>
          <p:nvPr/>
        </p:nvSpPr>
        <p:spPr>
          <a:xfrm>
            <a:off x="571500" y="764076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00" b="1" dirty="0">
                <a:latin typeface="Merriweather" pitchFamily="2" charset="77"/>
              </a:rPr>
              <a:t>Supervised Learning: Forecasting Population Loss</a:t>
            </a:r>
            <a:endParaRPr sz="2800" b="1" dirty="0">
              <a:latin typeface="Merriweather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07121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20EB2950-2428-5E7D-FF80-C33D232E4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9BD82C1E-F47E-0BA1-D5BC-73146FA9B191}"/>
              </a:ext>
            </a:extLst>
          </p:cNvPr>
          <p:cNvSpPr txBox="1"/>
          <p:nvPr/>
        </p:nvSpPr>
        <p:spPr>
          <a:xfrm>
            <a:off x="571500" y="764076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00" b="1" dirty="0">
                <a:latin typeface="Merriweather" pitchFamily="2" charset="77"/>
              </a:rPr>
              <a:t>Supervised Learning: Forecasting Population Loss (Cont.)</a:t>
            </a:r>
            <a:endParaRPr sz="2800" b="1" dirty="0">
              <a:latin typeface="Merriweather" pitchFamily="2" charset="77"/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62E4B516-81D4-83EC-FF89-CCE629FE8358}"/>
              </a:ext>
            </a:extLst>
          </p:cNvPr>
          <p:cNvSpPr/>
          <p:nvPr/>
        </p:nvSpPr>
        <p:spPr>
          <a:xfrm>
            <a:off x="571500" y="1214437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2D67AD-0F58-6B2F-24E6-FF34E893A269}"/>
                  </a:ext>
                </a:extLst>
              </p:cNvPr>
              <p:cNvSpPr txBox="1"/>
              <p:nvPr/>
            </p:nvSpPr>
            <p:spPr>
              <a:xfrm>
                <a:off x="472643" y="1519363"/>
                <a:ext cx="9336375" cy="5171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Merriweather" pitchFamily="2" charset="77"/>
                  </a:rPr>
                  <a:t>Random Forest (Regression Trees)</a:t>
                </a:r>
                <a:endParaRPr lang="en-US" dirty="0">
                  <a:latin typeface="Merriweather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Merriweather" pitchFamily="2" charset="77"/>
                  </a:rPr>
                  <a:t>Why use it?</a:t>
                </a:r>
                <a:r>
                  <a:rPr lang="en-US" dirty="0">
                    <a:latin typeface="Merriweather" pitchFamily="2" charset="77"/>
                  </a:rPr>
                  <a:t> Linear models assume smooth trends. Natural disasters (hurricanes/earthquakes) are not smooth; they are "cliffs." Trees handle this by splitting data into "Normal Years" and "Shock Years.”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Merriweather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Merriweather" pitchFamily="2" charset="77"/>
                  </a:rPr>
                  <a:t>The Logic (Split Criterion):</a:t>
                </a:r>
                <a:r>
                  <a:rPr lang="en-US" dirty="0">
                    <a:latin typeface="Merriweather" pitchFamily="2" charset="77"/>
                  </a:rPr>
                  <a:t> The algorithm splits municipalities into groups to minimize the Variance </a:t>
                </a:r>
                <a:r>
                  <a:rPr lang="en-US" b="1" dirty="0">
                    <a:latin typeface="Merriweather" pitchFamily="2" charset="77"/>
                  </a:rPr>
                  <a:t>(Var) </a:t>
                </a:r>
                <a:r>
                  <a:rPr lang="en-US" dirty="0">
                    <a:latin typeface="Merriweather" pitchFamily="2" charset="77"/>
                  </a:rPr>
                  <a:t>of population loss within each group.</a:t>
                </a:r>
                <a:endParaRPr lang="en-US" dirty="0"/>
              </a:p>
              <a:p>
                <a:r>
                  <a:rPr lang="en-US" sz="1600" dirty="0"/>
                  <a:t> </a:t>
                </a:r>
                <a:endParaRPr lang="en-US" sz="2000" dirty="0">
                  <a:latin typeface="Merriweather" pitchFamily="2" charset="77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1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Gain</m:t>
                      </m:r>
                      <m:r>
                        <a:rPr lang="en-US" sz="16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𝑽𝒂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𝒑𝒂𝒓𝒆𝒏𝒕</m:t>
                          </m:r>
                        </m:sub>
                      </m:sSub>
                      <m:r>
                        <a:rPr lang="en-US" sz="1600" b="1" i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𝒍𝒆𝒇𝒕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den>
                          </m:f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𝑽𝒂</m:t>
                          </m:r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𝒍𝒆𝒇𝒕</m:t>
                              </m:r>
                            </m:sub>
                          </m:sSub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𝒓𝒊𝒈𝒉𝒕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den>
                          </m:f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𝑽𝒂</m:t>
                          </m:r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𝒓𝒊𝒈𝒉𝒕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lvl="1"/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lvl="1"/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lvl="1"/>
                <a:r>
                  <a:rPr lang="en-US" sz="1400" dirty="0">
                    <a:latin typeface="Merriweather" pitchFamily="2" charset="77"/>
                  </a:rPr>
                  <a:t>The model might make its </a:t>
                </a:r>
                <a:r>
                  <a:rPr lang="en-US" sz="1400" b="1" dirty="0">
                    <a:latin typeface="Merriweather" pitchFamily="2" charset="77"/>
                  </a:rPr>
                  <a:t>root split</a:t>
                </a:r>
                <a:r>
                  <a:rPr lang="en-US" sz="1400" dirty="0">
                    <a:latin typeface="Merriweather" pitchFamily="2" charset="77"/>
                  </a:rPr>
                  <a:t> based on the Hazard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h𝑎𝑧𝑎𝑟𝑑</m:t>
                        </m:r>
                      </m:sub>
                    </m:sSub>
                  </m:oMath>
                </a14:m>
                <a:r>
                  <a:rPr lang="en-US" sz="1400" dirty="0">
                    <a:latin typeface="Merriweather" pitchFamily="2" charset="77"/>
                  </a:rPr>
                  <a:t>:</a:t>
                </a:r>
              </a:p>
              <a:p>
                <a:pPr lvl="1"/>
                <a:endParaRPr lang="en-US" sz="1400" dirty="0">
                  <a:latin typeface="Merriweather" pitchFamily="2" charset="77"/>
                </a:endParaRPr>
              </a:p>
              <a:p>
                <a:pPr lvl="2"/>
                <a:r>
                  <a:rPr lang="en-US" sz="1400" b="1" dirty="0">
                    <a:latin typeface="Merriweather" pitchFamily="2" charset="77"/>
                  </a:rPr>
                  <a:t>IF</a:t>
                </a:r>
                <a:r>
                  <a:rPr lang="en-US" sz="1400" dirty="0">
                    <a:latin typeface="Merriweather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h𝑎𝑧𝑎𝑟𝑑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Merriweather" pitchFamily="2" charset="77"/>
                  </a:rPr>
                  <a:t>= 1 (Hurricane Year): Go Left </a:t>
                </a:r>
                <a:r>
                  <a:rPr lang="en-US" sz="1400" dirty="0">
                    <a:latin typeface="Merriweather" pitchFamily="2" charset="77"/>
                    <a:sym typeface="Wingdings" pitchFamily="2" charset="2"/>
                  </a:rPr>
                  <a:t> </a:t>
                </a:r>
                <a:r>
                  <a:rPr lang="en-US" sz="1400" dirty="0">
                    <a:latin typeface="Merriweather" pitchFamily="2" charset="77"/>
                  </a:rPr>
                  <a:t>Predict high population loss.</a:t>
                </a:r>
              </a:p>
              <a:p>
                <a:pPr lvl="2"/>
                <a:r>
                  <a:rPr lang="en-US" sz="1400" b="1" dirty="0">
                    <a:latin typeface="Merriweather" pitchFamily="2" charset="77"/>
                  </a:rPr>
                  <a:t>IF</a:t>
                </a:r>
                <a:r>
                  <a:rPr lang="en-US" sz="1400" dirty="0">
                    <a:latin typeface="Merriweather" pitchFamily="2" charset="7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h𝑎𝑧𝑎𝑟𝑑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Merriweather" pitchFamily="2" charset="77"/>
                  </a:rPr>
                  <a:t>= 0 (Normal Year): Go Right </a:t>
                </a:r>
                <a:r>
                  <a:rPr lang="en-US" sz="1400" dirty="0">
                    <a:latin typeface="Merriweather" pitchFamily="2" charset="77"/>
                    <a:sym typeface="Wingdings" pitchFamily="2" charset="2"/>
                  </a:rPr>
                  <a:t> </a:t>
                </a:r>
                <a:r>
                  <a:rPr lang="en-US" sz="1400" dirty="0">
                    <a:latin typeface="Merriweather" pitchFamily="2" charset="77"/>
                  </a:rPr>
                  <a:t>Check Economic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𝑢𝑛𝑒𝑚𝑝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Merriweather" pitchFamily="2" charset="77"/>
                  </a:rPr>
                  <a:t>to refine the prediction.</a:t>
                </a:r>
              </a:p>
              <a:p>
                <a:pPr lvl="1"/>
                <a:endParaRPr lang="en-US" sz="1400" dirty="0">
                  <a:latin typeface="Merriweather" pitchFamily="2" charset="77"/>
                </a:endParaRPr>
              </a:p>
              <a:p>
                <a:pPr lvl="1"/>
                <a:r>
                  <a:rPr lang="en-US" sz="1400" dirty="0">
                    <a:latin typeface="Merriweather" pitchFamily="2" charset="77"/>
                  </a:rPr>
                  <a:t>This effectively captures the "Shock vs. Structural" dynamic.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2D67AD-0F58-6B2F-24E6-FF34E893A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43" y="1519363"/>
                <a:ext cx="9336375" cy="5171609"/>
              </a:xfrm>
              <a:prstGeom prst="rect">
                <a:avLst/>
              </a:prstGeom>
              <a:blipFill>
                <a:blip r:embed="rId3"/>
                <a:stretch>
                  <a:fillRect l="-408" t="-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4798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E980A3D1-0808-729F-75B9-ABE74F775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5DFA7EF6-54CE-5621-6B13-544B705E7AA7}"/>
              </a:ext>
            </a:extLst>
          </p:cNvPr>
          <p:cNvSpPr txBox="1"/>
          <p:nvPr/>
        </p:nvSpPr>
        <p:spPr>
          <a:xfrm>
            <a:off x="571500" y="764076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00" b="1" dirty="0">
                <a:latin typeface="Merriweather" pitchFamily="2" charset="77"/>
              </a:rPr>
              <a:t>Unsupervised Learning: The Vulnerability Score</a:t>
            </a:r>
            <a:endParaRPr sz="2800" b="1" dirty="0">
              <a:latin typeface="Merriweather" pitchFamily="2" charset="77"/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04128C63-1862-D3F5-6B90-998325088067}"/>
              </a:ext>
            </a:extLst>
          </p:cNvPr>
          <p:cNvSpPr/>
          <p:nvPr/>
        </p:nvSpPr>
        <p:spPr>
          <a:xfrm>
            <a:off x="571500" y="1214437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CDA93AE-6B20-F095-78C6-B7F50DF2A9C9}"/>
                  </a:ext>
                </a:extLst>
              </p:cNvPr>
              <p:cNvSpPr txBox="1"/>
              <p:nvPr/>
            </p:nvSpPr>
            <p:spPr>
              <a:xfrm>
                <a:off x="472643" y="1519363"/>
                <a:ext cx="9336375" cy="4748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Merriweather" pitchFamily="2" charset="77"/>
                  </a:rPr>
                  <a:t>K-Means Clustering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Merriweather" pitchFamily="2" charset="77"/>
                  </a:rPr>
                  <a:t>Why use it?</a:t>
                </a:r>
                <a:r>
                  <a:rPr lang="en-US" dirty="0">
                    <a:latin typeface="Merriweather" pitchFamily="2" charset="77"/>
                  </a:rPr>
                  <a:t> To group 78 municipalities into 3-4 "Risk Profiles" without being told the answer beforehand.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Merriweather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Merriweather" pitchFamily="2" charset="77"/>
                  </a:rPr>
                  <a:t>The Equation:</a:t>
                </a:r>
                <a:r>
                  <a:rPr lang="en-US" dirty="0">
                    <a:latin typeface="Merriweather" pitchFamily="2" charset="77"/>
                  </a:rPr>
                  <a:t> The algorithm finds k centroids (centers of clusters) and assigns every municipality to the nearest one by minimizing the "Within-Cluster Sum of Squares" (WCSS).</a:t>
                </a:r>
              </a:p>
              <a:p>
                <a:r>
                  <a:rPr lang="en-US" sz="1600" dirty="0">
                    <a:latin typeface="Merriweather" pitchFamily="2" charset="77"/>
                  </a:rPr>
                  <a:t> </a:t>
                </a:r>
                <a:endParaRPr lang="en-US" sz="2000" dirty="0">
                  <a:latin typeface="Merriweather" pitchFamily="2" charset="77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1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erriweather" pitchFamily="2" charset="77"/>
                        </a:rPr>
                        <m:t>Minimize</m:t>
                      </m:r>
                      <m:nary>
                        <m:naryPr>
                          <m:chr m:val="∑"/>
                          <m:ctrlP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600" b="1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600" b="1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b="1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lvl="1"/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14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4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400" dirty="0">
                    <a:latin typeface="Merriweather" pitchFamily="2" charset="77"/>
                  </a:rPr>
                  <a:t>The vector of attributes for municipality </a:t>
                </a:r>
                <a:r>
                  <a:rPr lang="en-US" sz="1400" dirty="0" err="1">
                    <a:latin typeface="Merriweather" pitchFamily="2" charset="77"/>
                  </a:rPr>
                  <a:t>i</a:t>
                </a:r>
                <a:r>
                  <a:rPr lang="en-US" sz="1400" dirty="0">
                    <a:latin typeface="Merriweather" pitchFamily="2" charset="77"/>
                  </a:rPr>
                  <a:t> (Age, Poverty, Hurricane Risk)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14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14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400" dirty="0">
                    <a:latin typeface="Merriweather" pitchFamily="2" charset="77"/>
                  </a:rPr>
                  <a:t>The "center" of Cluster j (e.g., the average "High Risk" town)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4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1400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400" b="1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400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1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sz="1400" b="1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400" b="1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1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400" dirty="0">
                    <a:latin typeface="Merriweather" pitchFamily="2" charset="77"/>
                  </a:rPr>
                  <a:t>The Euclidean distance</a:t>
                </a:r>
              </a:p>
              <a:p>
                <a:r>
                  <a:rPr lang="en-US" dirty="0">
                    <a:latin typeface="Merriweather" pitchFamily="2" charset="77"/>
                  </a:rPr>
                  <a:t> </a:t>
                </a:r>
              </a:p>
              <a:p>
                <a:pPr lvl="1"/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CDA93AE-6B20-F095-78C6-B7F50DF2A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43" y="1519363"/>
                <a:ext cx="9336375" cy="4748544"/>
              </a:xfrm>
              <a:prstGeom prst="rect">
                <a:avLst/>
              </a:prstGeom>
              <a:blipFill>
                <a:blip r:embed="rId3"/>
                <a:stretch>
                  <a:fillRect l="-408" t="-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569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06EF50BF-94BC-B937-4417-B83DF5AB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FA8C4DC3-B6EA-348C-A077-492FABC2F2F2}"/>
              </a:ext>
            </a:extLst>
          </p:cNvPr>
          <p:cNvSpPr txBox="1"/>
          <p:nvPr/>
        </p:nvSpPr>
        <p:spPr>
          <a:xfrm>
            <a:off x="571500" y="764076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00" b="1" dirty="0">
                <a:latin typeface="Merriweather" pitchFamily="2" charset="77"/>
              </a:rPr>
              <a:t>Unsupervised Learning: The Vulnerability Score (Cont.)</a:t>
            </a:r>
            <a:endParaRPr sz="2800" b="1" dirty="0">
              <a:latin typeface="Merriweather" pitchFamily="2" charset="77"/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4B550ABC-7669-F226-207D-FAA4232C8F4B}"/>
              </a:ext>
            </a:extLst>
          </p:cNvPr>
          <p:cNvSpPr/>
          <p:nvPr/>
        </p:nvSpPr>
        <p:spPr>
          <a:xfrm>
            <a:off x="571500" y="1214437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020E62-57B3-D132-562C-99AD62E7F5DA}"/>
                  </a:ext>
                </a:extLst>
              </p:cNvPr>
              <p:cNvSpPr txBox="1"/>
              <p:nvPr/>
            </p:nvSpPr>
            <p:spPr>
              <a:xfrm>
                <a:off x="472643" y="1519363"/>
                <a:ext cx="9336375" cy="5621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latin typeface="Merriweather" pitchFamily="2" charset="77"/>
                  </a:rPr>
                  <a:t>K-Means Clustering</a:t>
                </a:r>
              </a:p>
              <a:p>
                <a:r>
                  <a:rPr lang="en-US" sz="1600" dirty="0">
                    <a:latin typeface="Merriweather" pitchFamily="2" charset="77"/>
                  </a:rPr>
                  <a:t> </a:t>
                </a:r>
                <a:endParaRPr lang="en-US" sz="2000" dirty="0">
                  <a:latin typeface="Merriweather" pitchFamily="2" charset="77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1" i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erriweather" pitchFamily="2" charset="77"/>
                        </a:rPr>
                        <m:t>Minimize</m:t>
                      </m:r>
                      <m:nary>
                        <m:naryPr>
                          <m:chr m:val="∑"/>
                          <m:ctrlP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6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16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b>
                                  <m: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600" b="1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600" b="1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𝑿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b="1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𝒋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16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lvl="1"/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 lvl="1"/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Merriweather" pitchFamily="2" charset="77"/>
                  </a:rPr>
                  <a:t> </a:t>
                </a:r>
                <a:r>
                  <a:rPr lang="en-US" b="1" dirty="0">
                    <a:latin typeface="Merriweather" pitchFamily="2" charset="77"/>
                    <a:ea typeface="Times New Roman" panose="02020603050405020304" pitchFamily="18" charset="0"/>
                  </a:rPr>
                  <a:t>How the variables fit:</a:t>
                </a:r>
                <a:r>
                  <a:rPr lang="en-US" dirty="0">
                    <a:latin typeface="Merriweather" pitchFamily="2" charset="77"/>
                    <a:ea typeface="Times New Roman" panose="02020603050405020304" pitchFamily="18" charset="0"/>
                  </a:rPr>
                  <a:t> The "Distance" tells us how similar two towns are.</a:t>
                </a:r>
              </a:p>
              <a:p>
                <a:pPr marL="342900" marR="0" lvl="0" indent="-342900">
                  <a:lnSpc>
                    <a:spcPct val="150000"/>
                  </a:lnSpc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latin typeface="Merriweather" pitchFamily="2" charset="77"/>
                    <a:ea typeface="Times New Roman" panose="02020603050405020304" pitchFamily="18" charset="0"/>
                  </a:rPr>
                  <a:t>Town A (Old population, High Poverty, Coastal)</a:t>
                </a:r>
              </a:p>
              <a:p>
                <a:pPr marL="342900" marR="0" lvl="0" indent="-342900">
                  <a:lnSpc>
                    <a:spcPct val="150000"/>
                  </a:lnSpc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latin typeface="Merriweather" pitchFamily="2" charset="77"/>
                    <a:ea typeface="Times New Roman" panose="02020603050405020304" pitchFamily="18" charset="0"/>
                  </a:rPr>
                  <a:t>Town B (Young population, Low Poverty, Mountain)</a:t>
                </a:r>
              </a:p>
              <a:p>
                <a:pPr marL="342900" marR="0" lvl="0" indent="-342900">
                  <a:lnSpc>
                    <a:spcPct val="150000"/>
                  </a:lnSpc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:r>
                  <a:rPr lang="en-US" dirty="0">
                    <a:latin typeface="Merriweather" pitchFamily="2" charset="77"/>
                    <a:ea typeface="Times New Roman" panose="02020603050405020304" pitchFamily="18" charset="0"/>
                  </a:rPr>
                  <a:t>Town C (Old population, High Poverty, Coastal)</a:t>
                </a:r>
              </a:p>
              <a:p>
                <a:pPr marL="342900" marR="0" lvl="0" indent="-342900">
                  <a:buSzPts val="1000"/>
                  <a:buFont typeface="Symbol" pitchFamily="2" charset="2"/>
                  <a:buChar char=""/>
                  <a:tabLst>
                    <a:tab pos="457200" algn="l"/>
                  </a:tabLst>
                </a:pPr>
                <a:endParaRPr lang="en-US" dirty="0">
                  <a:latin typeface="Merriweather" pitchFamily="2" charset="77"/>
                  <a:ea typeface="Times New Roman" panose="02020603050405020304" pitchFamily="18" charset="0"/>
                </a:endParaRPr>
              </a:p>
              <a:p>
                <a:pPr marR="0" lvl="0">
                  <a:buSzPts val="1000"/>
                  <a:tabLst>
                    <a:tab pos="457200" algn="l"/>
                  </a:tabLst>
                </a:pPr>
                <a:endParaRPr lang="en-US" dirty="0">
                  <a:latin typeface="Merriweather" pitchFamily="2" charset="77"/>
                  <a:ea typeface="Times New Roman" panose="02020603050405020304" pitchFamily="18" charset="0"/>
                </a:endParaRPr>
              </a:p>
              <a:p>
                <a:r>
                  <a:rPr lang="en-US" dirty="0">
                    <a:latin typeface="Merriweather" pitchFamily="2" charset="77"/>
                    <a:ea typeface="Times New Roman" panose="02020603050405020304" pitchFamily="18" charset="0"/>
                  </a:rPr>
                  <a:t>The equation calculates that the mathematical distance between </a:t>
                </a:r>
                <a:r>
                  <a:rPr lang="en-US" b="1" dirty="0">
                    <a:latin typeface="Merriweather" pitchFamily="2" charset="77"/>
                    <a:ea typeface="Times New Roman" panose="02020603050405020304" pitchFamily="18" charset="0"/>
                  </a:rPr>
                  <a:t>Town A</a:t>
                </a:r>
                <a:r>
                  <a:rPr lang="en-US" dirty="0">
                    <a:latin typeface="Merriweather" pitchFamily="2" charset="77"/>
                    <a:ea typeface="Times New Roman" panose="02020603050405020304" pitchFamily="18" charset="0"/>
                  </a:rPr>
                  <a:t> and </a:t>
                </a:r>
                <a:r>
                  <a:rPr lang="en-US" b="1" dirty="0">
                    <a:latin typeface="Merriweather" pitchFamily="2" charset="77"/>
                    <a:ea typeface="Times New Roman" panose="02020603050405020304" pitchFamily="18" charset="0"/>
                  </a:rPr>
                  <a:t>Town C</a:t>
                </a:r>
                <a:r>
                  <a:rPr lang="en-US" dirty="0">
                    <a:latin typeface="Merriweather" pitchFamily="2" charset="77"/>
                    <a:ea typeface="Times New Roman" panose="02020603050405020304" pitchFamily="18" charset="0"/>
                  </a:rPr>
                  <a:t> is very small, so it groups them together into the same "Vulnerability Cluster."</a:t>
                </a:r>
              </a:p>
              <a:p>
                <a:endParaRPr lang="en-US" dirty="0">
                  <a:latin typeface="Merriweather" pitchFamily="2" charset="77"/>
                </a:endParaRPr>
              </a:p>
              <a:p>
                <a:pPr lvl="1"/>
                <a:endPara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020E62-57B3-D132-562C-99AD62E7F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43" y="1519363"/>
                <a:ext cx="9336375" cy="5621154"/>
              </a:xfrm>
              <a:prstGeom prst="rect">
                <a:avLst/>
              </a:prstGeom>
              <a:blipFill>
                <a:blip r:embed="rId3"/>
                <a:stretch>
                  <a:fillRect l="-543" t="-4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7826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2FD24D36-A192-8DD1-E97D-FAF95975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FD4E32FA-91EE-1C76-2726-C556DD27EE49}"/>
              </a:ext>
            </a:extLst>
          </p:cNvPr>
          <p:cNvSpPr txBox="1"/>
          <p:nvPr/>
        </p:nvSpPr>
        <p:spPr>
          <a:xfrm>
            <a:off x="571500" y="764076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800" b="1" dirty="0">
                <a:latin typeface="Merriweather" pitchFamily="2" charset="77"/>
              </a:rPr>
              <a:t>Evaluation Metrics </a:t>
            </a:r>
            <a:endParaRPr sz="2800" b="1" dirty="0">
              <a:latin typeface="Merriweather" pitchFamily="2" charset="77"/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495C9027-A1ED-B2F1-E68D-AB033BD59F6C}"/>
              </a:ext>
            </a:extLst>
          </p:cNvPr>
          <p:cNvSpPr/>
          <p:nvPr/>
        </p:nvSpPr>
        <p:spPr>
          <a:xfrm>
            <a:off x="571500" y="1214437"/>
            <a:ext cx="11049000" cy="2857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8C55C5-5517-9766-E34B-469866D9E598}"/>
                  </a:ext>
                </a:extLst>
              </p:cNvPr>
              <p:cNvSpPr txBox="1"/>
              <p:nvPr/>
            </p:nvSpPr>
            <p:spPr>
              <a:xfrm>
                <a:off x="472643" y="1519363"/>
                <a:ext cx="9336375" cy="52427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Merriweather" pitchFamily="2" charset="77"/>
                  </a:rPr>
                  <a:t>To define "Success", we will use these formulas to grade the  forecast:</a:t>
                </a:r>
              </a:p>
              <a:p>
                <a:endParaRPr lang="en-US" sz="1600" dirty="0">
                  <a:latin typeface="Merriweather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latin typeface="Merriweather" pitchFamily="2" charset="77"/>
                  </a:rPr>
                  <a:t>MAE (Mean Absolute Error):</a:t>
                </a:r>
                <a:r>
                  <a:rPr lang="en-US" sz="1600" dirty="0">
                    <a:latin typeface="Merriweather" pitchFamily="2" charset="77"/>
                  </a:rPr>
                  <a:t> The average size of the mistake.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 dirty="0">
                  <a:latin typeface="Merriweather" pitchFamily="2" charset="77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>
                  <a:latin typeface="Merriweather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 dirty="0">
                  <a:latin typeface="Merriweather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1600" dirty="0">
                  <a:latin typeface="Merriweather" pitchFamily="2" charset="77"/>
                </a:endParaRPr>
              </a:p>
              <a:p>
                <a:r>
                  <a:rPr lang="en-US" sz="1600" i="1" dirty="0">
                    <a:latin typeface="Merriweather" pitchFamily="2" charset="77"/>
                  </a:rPr>
                  <a:t>		Interpretation:</a:t>
                </a:r>
                <a:r>
                  <a:rPr lang="en-US" sz="1600" dirty="0">
                    <a:latin typeface="Merriweather" pitchFamily="2" charset="77"/>
                  </a:rPr>
                  <a:t> "On average, my model is off by 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200 </m:t>
                    </m:r>
                  </m:oMath>
                </a14:m>
                <a:r>
                  <a:rPr lang="en-US" sz="1600" dirty="0">
                    <a:latin typeface="Merriweather" pitchFamily="2" charset="77"/>
                  </a:rPr>
                  <a:t> people per town."</a:t>
                </a:r>
              </a:p>
              <a:p>
                <a:endParaRPr lang="en-US" sz="1600" b="1" dirty="0">
                  <a:latin typeface="Merriweather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1600" b="1" dirty="0">
                    <a:latin typeface="Merriweather" pitchFamily="2" charset="77"/>
                  </a:rPr>
                  <a:t>RMSE (Root Mean Squared Error):</a:t>
                </a:r>
                <a:r>
                  <a:rPr lang="en-US" sz="1600" dirty="0">
                    <a:latin typeface="Merriweather" pitchFamily="2" charset="77"/>
                  </a:rPr>
                  <a:t> Penalizes </a:t>
                </a:r>
                <a:r>
                  <a:rPr lang="en-US" sz="1600" i="1" dirty="0">
                    <a:latin typeface="Merriweather" pitchFamily="2" charset="77"/>
                  </a:rPr>
                  <a:t>large</a:t>
                </a:r>
                <a:r>
                  <a:rPr lang="en-US" sz="1600" dirty="0">
                    <a:latin typeface="Merriweather" pitchFamily="2" charset="77"/>
                  </a:rPr>
                  <a:t> mistakes more heavily.</a:t>
                </a:r>
              </a:p>
              <a:p>
                <a:endParaRPr lang="en-US" sz="1600" dirty="0">
                  <a:latin typeface="Merriweather" pitchFamily="2" charset="7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𝑹𝑴𝑺𝑬</m:t>
                      </m:r>
                      <m:r>
                        <a:rPr lang="en-US" sz="1400" b="1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400" b="1" i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4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14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4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14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4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400" b="1" i="1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4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400" b="1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b="1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1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n-US" sz="1400" b="1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sz="1400" b="1" i="1">
                                          <a:solidFill>
                                            <a:schemeClr val="tx1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1400" b="1" i="1">
                                              <a:solidFill>
                                                <a:schemeClr val="tx1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b="1" i="1">
                                                  <a:solidFill>
                                                    <a:schemeClr val="tx1">
                                                      <a:lumMod val="75000"/>
                                                      <a:lumOff val="2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1400" b="1" i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endPara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  <a:p>
                <a:r>
                  <a:rPr lang="en-US" sz="1600" i="1" dirty="0">
                    <a:latin typeface="Merriweather" pitchFamily="2" charset="77"/>
                  </a:rPr>
                  <a:t>		</a:t>
                </a:r>
              </a:p>
              <a:p>
                <a:r>
                  <a:rPr lang="en-US" sz="1600" i="1" dirty="0">
                    <a:latin typeface="Merriweather" pitchFamily="2" charset="77"/>
                  </a:rPr>
                  <a:t>		Interpretation:</a:t>
                </a:r>
                <a:r>
                  <a:rPr lang="en-US" sz="1600" dirty="0">
                    <a:latin typeface="Merriweather" pitchFamily="2" charset="77"/>
                  </a:rPr>
                  <a:t> If our RMSE is much higher than your MAE, it means our model is failing specifically on the extreme cases (likely the Hurricane Maria years). This is a great diagnostic tool.</a:t>
                </a:r>
                <a:endPara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Merriweather" pitchFamily="2" charset="7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8C55C5-5517-9766-E34B-469866D9E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643" y="1519363"/>
                <a:ext cx="9336375" cy="5242782"/>
              </a:xfrm>
              <a:prstGeom prst="rect">
                <a:avLst/>
              </a:prstGeom>
              <a:blipFill>
                <a:blip r:embed="rId3"/>
                <a:stretch>
                  <a:fillRect l="-408" t="-242" b="-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799541"/>
      </p:ext>
    </p:extLst>
  </p:cSld>
  <p:clrMapOvr>
    <a:masterClrMapping/>
  </p:clrMapOvr>
</p:sld>
</file>

<file path=ppt/theme/theme1.xml><?xml version="1.0" encoding="utf-8"?>
<a:theme xmlns:a="http://schemas.openxmlformats.org/drawingml/2006/main" name="Rutgers Theme">
  <a:themeElements>
    <a:clrScheme name="Rutgers">
      <a:dk1>
        <a:srgbClr val="000000"/>
      </a:dk1>
      <a:lt1>
        <a:srgbClr val="FFFFFF"/>
      </a:lt1>
      <a:dk2>
        <a:srgbClr val="62666A"/>
      </a:dk2>
      <a:lt2>
        <a:srgbClr val="BBBCBC"/>
      </a:lt2>
      <a:accent1>
        <a:srgbClr val="CC0033"/>
      </a:accent1>
      <a:accent2>
        <a:srgbClr val="212121"/>
      </a:accent2>
      <a:accent3>
        <a:srgbClr val="8E0D18"/>
      </a:accent3>
      <a:accent4>
        <a:srgbClr val="666666"/>
      </a:accent4>
      <a:accent5>
        <a:srgbClr val="D7D7D7"/>
      </a:accent5>
      <a:accent6>
        <a:srgbClr val="EFEFEF"/>
      </a:accent6>
      <a:hlink>
        <a:srgbClr val="027EAB"/>
      </a:hlink>
      <a:folHlink>
        <a:srgbClr val="027EAB"/>
      </a:folHlink>
    </a:clrScheme>
    <a:fontScheme name="ppt">
      <a:majorFont>
        <a:latin typeface="PT serif"/>
        <a:ea typeface=""/>
        <a:cs typeface=""/>
      </a:majorFont>
      <a:minorFont>
        <a:latin typeface="Source sans 3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utgers Theme" id="{9C799BE5-DC3B-C543-8DB1-997FB77415E5}" vid="{EE68E9E8-FE1E-FA4C-9487-082FBBF8EA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e45801-bee2-4eee-abb6-7fc01a89663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021A5DC4BEF54E90B3A7E0D30B82FD" ma:contentTypeVersion="5" ma:contentTypeDescription="Create a new document." ma:contentTypeScope="" ma:versionID="0b09cb170d6a15113edb6f479f6ecd10">
  <xsd:schema xmlns:xsd="http://www.w3.org/2001/XMLSchema" xmlns:xs="http://www.w3.org/2001/XMLSchema" xmlns:p="http://schemas.microsoft.com/office/2006/metadata/properties" xmlns:ns3="11e45801-bee2-4eee-abb6-7fc01a896634" targetNamespace="http://schemas.microsoft.com/office/2006/metadata/properties" ma:root="true" ma:fieldsID="c9b1b393770a16940206f9bb69539431" ns3:_="">
    <xsd:import namespace="11e45801-bee2-4eee-abb6-7fc01a89663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e45801-bee2-4eee-abb6-7fc01a89663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FFF01E-6DF4-4530-B663-FF4BD91444A6}">
  <ds:schemaRefs>
    <ds:schemaRef ds:uri="11e45801-bee2-4eee-abb6-7fc01a896634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B7AAD6B-2CD1-4FD9-A228-72630DF2E7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e45801-bee2-4eee-abb6-7fc01a8966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4EBF72-05B3-4092-B058-100DE54983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Rutgers Theme</Template>
  <TotalTime>27231</TotalTime>
  <Words>2606</Words>
  <Application>Microsoft Macintosh PowerPoint</Application>
  <PresentationFormat>Widescreen</PresentationFormat>
  <Paragraphs>405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Source sans 3</vt:lpstr>
      <vt:lpstr>Merriweather</vt:lpstr>
      <vt:lpstr>Arial</vt:lpstr>
      <vt:lpstr>Symbol</vt:lpstr>
      <vt:lpstr>Cambria Math</vt:lpstr>
      <vt:lpstr>Calibri</vt:lpstr>
      <vt:lpstr>PT serif</vt:lpstr>
      <vt:lpstr>Roboto</vt:lpstr>
      <vt:lpstr>Wingdings</vt:lpstr>
      <vt:lpstr>Rutgers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Andres Ruiz</cp:lastModifiedBy>
  <cp:revision>326</cp:revision>
  <cp:lastPrinted>2025-12-23T15:43:13Z</cp:lastPrinted>
  <dcterms:created xsi:type="dcterms:W3CDTF">2018-07-12T14:29:14Z</dcterms:created>
  <dcterms:modified xsi:type="dcterms:W3CDTF">2026-03-27T21:45:02Z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0x01010015021A5DC4BEF54E90B3A7E0D30B82FD</vt:lpwstr>
  </property>
</Properties>
</file>