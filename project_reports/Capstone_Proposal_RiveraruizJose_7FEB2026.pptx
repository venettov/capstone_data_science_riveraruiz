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4910" r:id="rId1"/>
  </p:sldMasterIdLst>
  <p:notesMasterIdLst>
    <p:notesMasterId r:id="rId23"/>
  </p:notesMasterIdLst>
  <p:sldIdLst>
    <p:sldId id="256" r:id="rId2"/>
    <p:sldId id="257" r:id="rId3"/>
    <p:sldId id="269" r:id="rId4"/>
    <p:sldId id="268" r:id="rId5"/>
    <p:sldId id="282" r:id="rId6"/>
    <p:sldId id="270" r:id="rId7"/>
    <p:sldId id="264" r:id="rId8"/>
    <p:sldId id="271" r:id="rId9"/>
    <p:sldId id="272" r:id="rId10"/>
    <p:sldId id="283" r:id="rId11"/>
    <p:sldId id="260" r:id="rId12"/>
    <p:sldId id="265" r:id="rId13"/>
    <p:sldId id="266" r:id="rId14"/>
    <p:sldId id="274" r:id="rId15"/>
    <p:sldId id="273" r:id="rId16"/>
    <p:sldId id="275" r:id="rId17"/>
    <p:sldId id="276" r:id="rId18"/>
    <p:sldId id="277" r:id="rId19"/>
    <p:sldId id="279" r:id="rId20"/>
    <p:sldId id="281" r:id="rId21"/>
    <p:sldId id="280" r:id="rId22"/>
  </p:sldIdLst>
  <p:sldSz cx="12192000" cy="6858000"/>
  <p:notesSz cx="6858000" cy="9144000"/>
  <p:embeddedFontLst>
    <p:embeddedFont>
      <p:font typeface="Cambria Math" panose="02040503050406030204" pitchFamily="18" charset="0"/>
      <p:regular r:id="rId24"/>
    </p:embeddedFont>
    <p:embeddedFont>
      <p:font typeface="Merriweather" pitchFamily="2" charset="77"/>
      <p:regular r:id="rId25"/>
      <p:bold r:id="rId26"/>
      <p:italic r:id="rId27"/>
      <p:boldItalic r:id="rId28"/>
    </p:embeddedFont>
    <p:embeddedFont>
      <p:font typeface="Trebuchet MS" panose="020B0703020202090204" pitchFamily="34" charset="0"/>
      <p:regular r:id="rId29"/>
      <p:bold r:id="rId30"/>
      <p:italic r:id="rId31"/>
    </p:embeddedFont>
    <p:embeddedFont>
      <p:font typeface="Wingdings 3" pitchFamily="2" charset="2"/>
      <p:regular r:id="rId3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415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443421-4A4E-0D48-9FA0-A647388FDC4B}" v="497" dt="2026-02-06T18:20:22.45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22"/>
    <p:restoredTop sz="85187"/>
  </p:normalViewPr>
  <p:slideViewPr>
    <p:cSldViewPr snapToGrid="0">
      <p:cViewPr varScale="1">
        <p:scale>
          <a:sx n="135" d="100"/>
          <a:sy n="135" d="100"/>
        </p:scale>
        <p:origin x="696" y="176"/>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font" Target="fonts/font9.fntdata"/><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font" Target="fonts/font7.fntdata"/><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dres Ruiz" userId="62a6500062035754" providerId="LiveId" clId="{F33B1512-0172-5E6B-941A-79F389C6819A}"/>
    <pc:docChg chg="undo custSel addSld delSld modSld sldOrd">
      <pc:chgData name="Andres Ruiz" userId="62a6500062035754" providerId="LiveId" clId="{F33B1512-0172-5E6B-941A-79F389C6819A}" dt="2026-02-06T18:21:41.887" v="1549" actId="1035"/>
      <pc:docMkLst>
        <pc:docMk/>
      </pc:docMkLst>
      <pc:sldChg chg="addSp delSp modSp mod">
        <pc:chgData name="Andres Ruiz" userId="62a6500062035754" providerId="LiveId" clId="{F33B1512-0172-5E6B-941A-79F389C6819A}" dt="2026-02-06T18:21:41.887" v="1549" actId="1035"/>
        <pc:sldMkLst>
          <pc:docMk/>
          <pc:sldMk cId="0" sldId="256"/>
        </pc:sldMkLst>
        <pc:spChg chg="mod">
          <ac:chgData name="Andres Ruiz" userId="62a6500062035754" providerId="LiveId" clId="{F33B1512-0172-5E6B-941A-79F389C6819A}" dt="2026-02-06T16:01:49.998" v="366" actId="20577"/>
          <ac:spMkLst>
            <pc:docMk/>
            <pc:sldMk cId="0" sldId="256"/>
            <ac:spMk id="86" creationId="{00000000-0000-0000-0000-000000000000}"/>
          </ac:spMkLst>
        </pc:spChg>
        <pc:spChg chg="del mod">
          <ac:chgData name="Andres Ruiz" userId="62a6500062035754" providerId="LiveId" clId="{F33B1512-0172-5E6B-941A-79F389C6819A}" dt="2026-02-06T16:01:53.358" v="367" actId="478"/>
          <ac:spMkLst>
            <pc:docMk/>
            <pc:sldMk cId="0" sldId="256"/>
            <ac:spMk id="87" creationId="{00000000-0000-0000-0000-000000000000}"/>
          </ac:spMkLst>
        </pc:spChg>
        <pc:spChg chg="mod">
          <ac:chgData name="Andres Ruiz" userId="62a6500062035754" providerId="LiveId" clId="{F33B1512-0172-5E6B-941A-79F389C6819A}" dt="2026-02-06T18:21:41.887" v="1549" actId="1035"/>
          <ac:spMkLst>
            <pc:docMk/>
            <pc:sldMk cId="0" sldId="256"/>
            <ac:spMk id="88" creationId="{00000000-0000-0000-0000-000000000000}"/>
          </ac:spMkLst>
        </pc:spChg>
        <pc:spChg chg="add del mod">
          <ac:chgData name="Andres Ruiz" userId="62a6500062035754" providerId="LiveId" clId="{F33B1512-0172-5E6B-941A-79F389C6819A}" dt="2026-02-06T15:44:56.186" v="209" actId="1036"/>
          <ac:spMkLst>
            <pc:docMk/>
            <pc:sldMk cId="0" sldId="256"/>
            <ac:spMk id="89" creationId="{00000000-0000-0000-0000-000000000000}"/>
          </ac:spMkLst>
        </pc:spChg>
        <pc:spChg chg="del mod">
          <ac:chgData name="Andres Ruiz" userId="62a6500062035754" providerId="LiveId" clId="{F33B1512-0172-5E6B-941A-79F389C6819A}" dt="2026-02-06T15:44:02.619" v="190" actId="478"/>
          <ac:spMkLst>
            <pc:docMk/>
            <pc:sldMk cId="0" sldId="256"/>
            <ac:spMk id="90" creationId="{00000000-0000-0000-0000-000000000000}"/>
          </ac:spMkLst>
        </pc:spChg>
      </pc:sldChg>
      <pc:sldChg chg="addSp delSp modSp mod">
        <pc:chgData name="Andres Ruiz" userId="62a6500062035754" providerId="LiveId" clId="{F33B1512-0172-5E6B-941A-79F389C6819A}" dt="2026-02-06T17:44:25.715" v="1378" actId="1037"/>
        <pc:sldMkLst>
          <pc:docMk/>
          <pc:sldMk cId="0" sldId="257"/>
        </pc:sldMkLst>
        <pc:spChg chg="add mod">
          <ac:chgData name="Andres Ruiz" userId="62a6500062035754" providerId="LiveId" clId="{F33B1512-0172-5E6B-941A-79F389C6819A}" dt="2026-02-06T17:44:25.715" v="1378" actId="1037"/>
          <ac:spMkLst>
            <pc:docMk/>
            <pc:sldMk cId="0" sldId="257"/>
            <ac:spMk id="2" creationId="{092ABE9F-B64B-5BD1-9BE9-966EBB86F4F4}"/>
          </ac:spMkLst>
        </pc:spChg>
        <pc:spChg chg="add del mod">
          <ac:chgData name="Andres Ruiz" userId="62a6500062035754" providerId="LiveId" clId="{F33B1512-0172-5E6B-941A-79F389C6819A}" dt="2026-02-06T16:08:02.335" v="379" actId="478"/>
          <ac:spMkLst>
            <pc:docMk/>
            <pc:sldMk cId="0" sldId="257"/>
            <ac:spMk id="3" creationId="{FCEEEC7B-DA8E-C367-7F8D-6EF3D88950DE}"/>
          </ac:spMkLst>
        </pc:spChg>
        <pc:spChg chg="del">
          <ac:chgData name="Andres Ruiz" userId="62a6500062035754" providerId="LiveId" clId="{F33B1512-0172-5E6B-941A-79F389C6819A}" dt="2026-02-06T15:21:39.915" v="9" actId="478"/>
          <ac:spMkLst>
            <pc:docMk/>
            <pc:sldMk cId="0" sldId="257"/>
            <ac:spMk id="99" creationId="{00000000-0000-0000-0000-000000000000}"/>
          </ac:spMkLst>
        </pc:spChg>
        <pc:spChg chg="del">
          <ac:chgData name="Andres Ruiz" userId="62a6500062035754" providerId="LiveId" clId="{F33B1512-0172-5E6B-941A-79F389C6819A}" dt="2026-02-06T15:21:41.950" v="10" actId="478"/>
          <ac:spMkLst>
            <pc:docMk/>
            <pc:sldMk cId="0" sldId="257"/>
            <ac:spMk id="100" creationId="{00000000-0000-0000-0000-000000000000}"/>
          </ac:spMkLst>
        </pc:spChg>
        <pc:spChg chg="del">
          <ac:chgData name="Andres Ruiz" userId="62a6500062035754" providerId="LiveId" clId="{F33B1512-0172-5E6B-941A-79F389C6819A}" dt="2026-02-06T15:21:37.973" v="8" actId="478"/>
          <ac:spMkLst>
            <pc:docMk/>
            <pc:sldMk cId="0" sldId="257"/>
            <ac:spMk id="101" creationId="{00000000-0000-0000-0000-000000000000}"/>
          </ac:spMkLst>
        </pc:spChg>
        <pc:spChg chg="del">
          <ac:chgData name="Andres Ruiz" userId="62a6500062035754" providerId="LiveId" clId="{F33B1512-0172-5E6B-941A-79F389C6819A}" dt="2026-02-06T15:21:36.238" v="7" actId="478"/>
          <ac:spMkLst>
            <pc:docMk/>
            <pc:sldMk cId="0" sldId="257"/>
            <ac:spMk id="102" creationId="{00000000-0000-0000-0000-000000000000}"/>
          </ac:spMkLst>
        </pc:spChg>
        <pc:spChg chg="mod">
          <ac:chgData name="Andres Ruiz" userId="62a6500062035754" providerId="LiveId" clId="{F33B1512-0172-5E6B-941A-79F389C6819A}" dt="2026-02-06T16:14:05.367" v="460" actId="113"/>
          <ac:spMkLst>
            <pc:docMk/>
            <pc:sldMk cId="0" sldId="257"/>
            <ac:spMk id="103" creationId="{00000000-0000-0000-0000-000000000000}"/>
          </ac:spMkLst>
        </pc:spChg>
        <pc:picChg chg="del">
          <ac:chgData name="Andres Ruiz" userId="62a6500062035754" providerId="LiveId" clId="{F33B1512-0172-5E6B-941A-79F389C6819A}" dt="2026-02-06T15:21:32.495" v="5" actId="478"/>
          <ac:picMkLst>
            <pc:docMk/>
            <pc:sldMk cId="0" sldId="257"/>
            <ac:picMk id="96" creationId="{00000000-0000-0000-0000-000000000000}"/>
          </ac:picMkLst>
        </pc:picChg>
        <pc:picChg chg="del">
          <ac:chgData name="Andres Ruiz" userId="62a6500062035754" providerId="LiveId" clId="{F33B1512-0172-5E6B-941A-79F389C6819A}" dt="2026-02-06T15:21:34.183" v="6" actId="478"/>
          <ac:picMkLst>
            <pc:docMk/>
            <pc:sldMk cId="0" sldId="257"/>
            <ac:picMk id="97" creationId="{00000000-0000-0000-0000-000000000000}"/>
          </ac:picMkLst>
        </pc:picChg>
      </pc:sldChg>
      <pc:sldChg chg="modSp del mod">
        <pc:chgData name="Andres Ruiz" userId="62a6500062035754" providerId="LiveId" clId="{F33B1512-0172-5E6B-941A-79F389C6819A}" dt="2026-02-06T15:58:37.916" v="320" actId="2696"/>
        <pc:sldMkLst>
          <pc:docMk/>
          <pc:sldMk cId="0" sldId="258"/>
        </pc:sldMkLst>
        <pc:spChg chg="mod">
          <ac:chgData name="Andres Ruiz" userId="62a6500062035754" providerId="LiveId" clId="{F33B1512-0172-5E6B-941A-79F389C6819A}" dt="2026-02-06T15:54:59.337" v="302" actId="20577"/>
          <ac:spMkLst>
            <pc:docMk/>
            <pc:sldMk cId="0" sldId="258"/>
            <ac:spMk id="2" creationId="{8A082676-4820-4E6F-F48F-3225163100E1}"/>
          </ac:spMkLst>
        </pc:spChg>
      </pc:sldChg>
      <pc:sldChg chg="del">
        <pc:chgData name="Andres Ruiz" userId="62a6500062035754" providerId="LiveId" clId="{F33B1512-0172-5E6B-941A-79F389C6819A}" dt="2026-02-06T15:46:32.249" v="214" actId="2696"/>
        <pc:sldMkLst>
          <pc:docMk/>
          <pc:sldMk cId="0" sldId="259"/>
        </pc:sldMkLst>
      </pc:sldChg>
      <pc:sldChg chg="del">
        <pc:chgData name="Andres Ruiz" userId="62a6500062035754" providerId="LiveId" clId="{F33B1512-0172-5E6B-941A-79F389C6819A}" dt="2026-02-06T15:46:40.035" v="215" actId="2696"/>
        <pc:sldMkLst>
          <pc:docMk/>
          <pc:sldMk cId="0" sldId="260"/>
        </pc:sldMkLst>
      </pc:sldChg>
      <pc:sldChg chg="modSp mod ord">
        <pc:chgData name="Andres Ruiz" userId="62a6500062035754" providerId="LiveId" clId="{F33B1512-0172-5E6B-941A-79F389C6819A}" dt="2026-02-06T15:46:29.099" v="213" actId="2711"/>
        <pc:sldMkLst>
          <pc:docMk/>
          <pc:sldMk cId="0" sldId="264"/>
        </pc:sldMkLst>
        <pc:graphicFrameChg chg="mod modGraphic">
          <ac:chgData name="Andres Ruiz" userId="62a6500062035754" providerId="LiveId" clId="{F33B1512-0172-5E6B-941A-79F389C6819A}" dt="2026-02-06T15:46:29.099" v="213" actId="2711"/>
          <ac:graphicFrameMkLst>
            <pc:docMk/>
            <pc:sldMk cId="0" sldId="264"/>
            <ac:graphicFrameMk id="2" creationId="{6FB321E9-64B3-87B4-341C-34471D9A24C4}"/>
          </ac:graphicFrameMkLst>
        </pc:graphicFrameChg>
      </pc:sldChg>
      <pc:sldChg chg="modSp mod">
        <pc:chgData name="Andres Ruiz" userId="62a6500062035754" providerId="LiveId" clId="{F33B1512-0172-5E6B-941A-79F389C6819A}" dt="2026-02-06T17:51:19.501" v="1403" actId="207"/>
        <pc:sldMkLst>
          <pc:docMk/>
          <pc:sldMk cId="0" sldId="265"/>
        </pc:sldMkLst>
        <pc:spChg chg="mod">
          <ac:chgData name="Andres Ruiz" userId="62a6500062035754" providerId="LiveId" clId="{F33B1512-0172-5E6B-941A-79F389C6819A}" dt="2026-02-06T17:51:19.501" v="1403" actId="207"/>
          <ac:spMkLst>
            <pc:docMk/>
            <pc:sldMk cId="0" sldId="265"/>
            <ac:spMk id="228" creationId="{00000000-0000-0000-0000-000000000000}"/>
          </ac:spMkLst>
        </pc:spChg>
      </pc:sldChg>
      <pc:sldChg chg="modSp mod">
        <pc:chgData name="Andres Ruiz" userId="62a6500062035754" providerId="LiveId" clId="{F33B1512-0172-5E6B-941A-79F389C6819A}" dt="2026-02-06T16:14:59.609" v="471" actId="404"/>
        <pc:sldMkLst>
          <pc:docMk/>
          <pc:sldMk cId="0" sldId="266"/>
        </pc:sldMkLst>
        <pc:spChg chg="mod">
          <ac:chgData name="Andres Ruiz" userId="62a6500062035754" providerId="LiveId" clId="{F33B1512-0172-5E6B-941A-79F389C6819A}" dt="2026-02-06T16:14:59.609" v="471" actId="404"/>
          <ac:spMkLst>
            <pc:docMk/>
            <pc:sldMk cId="0" sldId="266"/>
            <ac:spMk id="5" creationId="{0FB95E58-2EAE-363C-3896-66B07A8ADE29}"/>
          </ac:spMkLst>
        </pc:spChg>
      </pc:sldChg>
      <pc:sldChg chg="del">
        <pc:chgData name="Andres Ruiz" userId="62a6500062035754" providerId="LiveId" clId="{F33B1512-0172-5E6B-941A-79F389C6819A}" dt="2026-02-06T15:31:53.761" v="94" actId="2696"/>
        <pc:sldMkLst>
          <pc:docMk/>
          <pc:sldMk cId="212360400" sldId="267"/>
        </pc:sldMkLst>
      </pc:sldChg>
      <pc:sldChg chg="addSp delSp modSp mod">
        <pc:chgData name="Andres Ruiz" userId="62a6500062035754" providerId="LiveId" clId="{F33B1512-0172-5E6B-941A-79F389C6819A}" dt="2026-02-06T18:17:41.627" v="1503" actId="20577"/>
        <pc:sldMkLst>
          <pc:docMk/>
          <pc:sldMk cId="2134621465" sldId="268"/>
        </pc:sldMkLst>
        <pc:spChg chg="del">
          <ac:chgData name="Andres Ruiz" userId="62a6500062035754" providerId="LiveId" clId="{F33B1512-0172-5E6B-941A-79F389C6819A}" dt="2026-02-06T15:33:05.853" v="95" actId="478"/>
          <ac:spMkLst>
            <pc:docMk/>
            <pc:sldMk cId="2134621465" sldId="268"/>
            <ac:spMk id="3" creationId="{5819E248-EAB7-6930-99ED-9BB6C6C5E010}"/>
          </ac:spMkLst>
        </pc:spChg>
        <pc:spChg chg="add mod">
          <ac:chgData name="Andres Ruiz" userId="62a6500062035754" providerId="LiveId" clId="{F33B1512-0172-5E6B-941A-79F389C6819A}" dt="2026-02-06T15:46:03.333" v="211"/>
          <ac:spMkLst>
            <pc:docMk/>
            <pc:sldMk cId="2134621465" sldId="268"/>
            <ac:spMk id="4" creationId="{9788B4DA-6EB7-10A5-7B03-B5C288E6CF2B}"/>
          </ac:spMkLst>
        </pc:spChg>
        <pc:spChg chg="add mod">
          <ac:chgData name="Andres Ruiz" userId="62a6500062035754" providerId="LiveId" clId="{F33B1512-0172-5E6B-941A-79F389C6819A}" dt="2026-02-06T17:45:36.501" v="1384" actId="1582"/>
          <ac:spMkLst>
            <pc:docMk/>
            <pc:sldMk cId="2134621465" sldId="268"/>
            <ac:spMk id="5" creationId="{C7E982BD-80E2-A391-B2CA-6E69F5DAED35}"/>
          </ac:spMkLst>
        </pc:spChg>
        <pc:spChg chg="del">
          <ac:chgData name="Andres Ruiz" userId="62a6500062035754" providerId="LiveId" clId="{F33B1512-0172-5E6B-941A-79F389C6819A}" dt="2026-02-06T15:46:02.946" v="210" actId="478"/>
          <ac:spMkLst>
            <pc:docMk/>
            <pc:sldMk cId="2134621465" sldId="268"/>
            <ac:spMk id="103" creationId="{167DFC63-970B-1264-CEFF-6B8ECD77EB3D}"/>
          </ac:spMkLst>
        </pc:spChg>
        <pc:graphicFrameChg chg="add mod modGraphic">
          <ac:chgData name="Andres Ruiz" userId="62a6500062035754" providerId="LiveId" clId="{F33B1512-0172-5E6B-941A-79F389C6819A}" dt="2026-02-06T18:17:41.627" v="1503" actId="20577"/>
          <ac:graphicFrameMkLst>
            <pc:docMk/>
            <pc:sldMk cId="2134621465" sldId="268"/>
            <ac:graphicFrameMk id="2" creationId="{E6155FB8-21BD-5532-7667-295FE945482A}"/>
          </ac:graphicFrameMkLst>
        </pc:graphicFrameChg>
      </pc:sldChg>
      <pc:sldChg chg="delSp modSp add mod setBg">
        <pc:chgData name="Andres Ruiz" userId="62a6500062035754" providerId="LiveId" clId="{F33B1512-0172-5E6B-941A-79F389C6819A}" dt="2026-02-06T18:13:24.229" v="1440" actId="20577"/>
        <pc:sldMkLst>
          <pc:docMk/>
          <pc:sldMk cId="172994736" sldId="269"/>
        </pc:sldMkLst>
        <pc:spChg chg="mod">
          <ac:chgData name="Andres Ruiz" userId="62a6500062035754" providerId="LiveId" clId="{F33B1512-0172-5E6B-941A-79F389C6819A}" dt="2026-02-06T18:13:24.229" v="1440" actId="20577"/>
          <ac:spMkLst>
            <pc:docMk/>
            <pc:sldMk cId="172994736" sldId="269"/>
            <ac:spMk id="2" creationId="{69C5C7B1-4A72-92C6-8DC9-C4C36D580380}"/>
          </ac:spMkLst>
        </pc:spChg>
        <pc:spChg chg="del mod">
          <ac:chgData name="Andres Ruiz" userId="62a6500062035754" providerId="LiveId" clId="{F33B1512-0172-5E6B-941A-79F389C6819A}" dt="2026-02-06T15:27:47.384" v="70" actId="478"/>
          <ac:spMkLst>
            <pc:docMk/>
            <pc:sldMk cId="172994736" sldId="269"/>
            <ac:spMk id="3" creationId="{332B2C1F-B2D9-0E6A-F194-02F6C01E0E12}"/>
          </ac:spMkLst>
        </pc:spChg>
        <pc:spChg chg="mod">
          <ac:chgData name="Andres Ruiz" userId="62a6500062035754" providerId="LiveId" clId="{F33B1512-0172-5E6B-941A-79F389C6819A}" dt="2026-02-06T16:09:48.288" v="418" actId="2711"/>
          <ac:spMkLst>
            <pc:docMk/>
            <pc:sldMk cId="172994736" sldId="269"/>
            <ac:spMk id="103" creationId="{B1793E83-1122-1FC3-F7BE-839635155236}"/>
          </ac:spMkLst>
        </pc:spChg>
      </pc:sldChg>
      <pc:sldChg chg="modSp add mod">
        <pc:chgData name="Andres Ruiz" userId="62a6500062035754" providerId="LiveId" clId="{F33B1512-0172-5E6B-941A-79F389C6819A}" dt="2026-02-06T18:14:33.229" v="1477" actId="2710"/>
        <pc:sldMkLst>
          <pc:docMk/>
          <pc:sldMk cId="3115640133" sldId="270"/>
        </pc:sldMkLst>
        <pc:spChg chg="mod">
          <ac:chgData name="Andres Ruiz" userId="62a6500062035754" providerId="LiveId" clId="{F33B1512-0172-5E6B-941A-79F389C6819A}" dt="2026-02-06T18:14:33.229" v="1477" actId="2710"/>
          <ac:spMkLst>
            <pc:docMk/>
            <pc:sldMk cId="3115640133" sldId="270"/>
            <ac:spMk id="2" creationId="{A575159E-617B-692E-E980-557348AEFC4D}"/>
          </ac:spMkLst>
        </pc:spChg>
        <pc:spChg chg="mod">
          <ac:chgData name="Andres Ruiz" userId="62a6500062035754" providerId="LiveId" clId="{F33B1512-0172-5E6B-941A-79F389C6819A}" dt="2026-02-06T15:52:23.077" v="278" actId="2711"/>
          <ac:spMkLst>
            <pc:docMk/>
            <pc:sldMk cId="3115640133" sldId="270"/>
            <ac:spMk id="103" creationId="{689DF898-FDBD-E2CF-EFC4-3D418AD1E87D}"/>
          </ac:spMkLst>
        </pc:spChg>
      </pc:sldChg>
      <pc:sldChg chg="modSp add mod setBg">
        <pc:chgData name="Andres Ruiz" userId="62a6500062035754" providerId="LiveId" clId="{F33B1512-0172-5E6B-941A-79F389C6819A}" dt="2026-02-06T18:15:47.762" v="1480" actId="20577"/>
        <pc:sldMkLst>
          <pc:docMk/>
          <pc:sldMk cId="1236293639" sldId="271"/>
        </pc:sldMkLst>
        <pc:spChg chg="mod">
          <ac:chgData name="Andres Ruiz" userId="62a6500062035754" providerId="LiveId" clId="{F33B1512-0172-5E6B-941A-79F389C6819A}" dt="2026-02-06T18:15:47.762" v="1480" actId="20577"/>
          <ac:spMkLst>
            <pc:docMk/>
            <pc:sldMk cId="1236293639" sldId="271"/>
            <ac:spMk id="2" creationId="{E212188C-A8E7-6CBA-C8DB-92BA37D564E4}"/>
          </ac:spMkLst>
        </pc:spChg>
        <pc:spChg chg="mod">
          <ac:chgData name="Andres Ruiz" userId="62a6500062035754" providerId="LiveId" clId="{F33B1512-0172-5E6B-941A-79F389C6819A}" dt="2026-02-06T15:54:03.712" v="287" actId="20577"/>
          <ac:spMkLst>
            <pc:docMk/>
            <pc:sldMk cId="1236293639" sldId="271"/>
            <ac:spMk id="121" creationId="{68B3B535-048D-C9CF-CB92-97CC6687BC27}"/>
          </ac:spMkLst>
        </pc:spChg>
      </pc:sldChg>
      <pc:sldChg chg="modSp add mod">
        <pc:chgData name="Andres Ruiz" userId="62a6500062035754" providerId="LiveId" clId="{F33B1512-0172-5E6B-941A-79F389C6819A}" dt="2026-02-06T18:16:31.928" v="1486" actId="20577"/>
        <pc:sldMkLst>
          <pc:docMk/>
          <pc:sldMk cId="706046162" sldId="272"/>
        </pc:sldMkLst>
        <pc:spChg chg="mod">
          <ac:chgData name="Andres Ruiz" userId="62a6500062035754" providerId="LiveId" clId="{F33B1512-0172-5E6B-941A-79F389C6819A}" dt="2026-02-06T18:16:31.928" v="1486" actId="20577"/>
          <ac:spMkLst>
            <pc:docMk/>
            <pc:sldMk cId="706046162" sldId="272"/>
            <ac:spMk id="2" creationId="{E13DB30C-D98C-0DD2-A6C5-50F382E70EA8}"/>
          </ac:spMkLst>
        </pc:spChg>
        <pc:spChg chg="mod">
          <ac:chgData name="Andres Ruiz" userId="62a6500062035754" providerId="LiveId" clId="{F33B1512-0172-5E6B-941A-79F389C6819A}" dt="2026-02-06T15:58:44.282" v="329" actId="20577"/>
          <ac:spMkLst>
            <pc:docMk/>
            <pc:sldMk cId="706046162" sldId="272"/>
            <ac:spMk id="121" creationId="{6A154461-7246-4411-1A17-724F54EEB480}"/>
          </ac:spMkLst>
        </pc:spChg>
      </pc:sldChg>
      <pc:sldChg chg="modSp add mod">
        <pc:chgData name="Andres Ruiz" userId="62a6500062035754" providerId="LiveId" clId="{F33B1512-0172-5E6B-941A-79F389C6819A}" dt="2026-02-06T18:20:25.163" v="1533" actId="20577"/>
        <pc:sldMkLst>
          <pc:docMk/>
          <pc:sldMk cId="116912610" sldId="273"/>
        </pc:sldMkLst>
        <pc:spChg chg="mod">
          <ac:chgData name="Andres Ruiz" userId="62a6500062035754" providerId="LiveId" clId="{F33B1512-0172-5E6B-941A-79F389C6819A}" dt="2026-02-06T18:20:25.163" v="1533" actId="20577"/>
          <ac:spMkLst>
            <pc:docMk/>
            <pc:sldMk cId="116912610" sldId="273"/>
            <ac:spMk id="2" creationId="{388D4477-5AA5-0731-D8FE-47D12D442B93}"/>
          </ac:spMkLst>
        </pc:spChg>
        <pc:spChg chg="mod">
          <ac:chgData name="Andres Ruiz" userId="62a6500062035754" providerId="LiveId" clId="{F33B1512-0172-5E6B-941A-79F389C6819A}" dt="2026-02-06T16:58:06.806" v="515" actId="20577"/>
          <ac:spMkLst>
            <pc:docMk/>
            <pc:sldMk cId="116912610" sldId="273"/>
            <ac:spMk id="121" creationId="{0413897F-0458-EB29-B12F-B1F119CC2D2E}"/>
          </ac:spMkLst>
        </pc:spChg>
      </pc:sldChg>
      <pc:sldChg chg="delSp modSp add mod setBg">
        <pc:chgData name="Andres Ruiz" userId="62a6500062035754" providerId="LiveId" clId="{F33B1512-0172-5E6B-941A-79F389C6819A}" dt="2026-02-06T16:18:21.622" v="495" actId="122"/>
        <pc:sldMkLst>
          <pc:docMk/>
          <pc:sldMk cId="3992467816" sldId="274"/>
        </pc:sldMkLst>
        <pc:spChg chg="del">
          <ac:chgData name="Andres Ruiz" userId="62a6500062035754" providerId="LiveId" clId="{F33B1512-0172-5E6B-941A-79F389C6819A}" dt="2026-02-06T16:17:57.286" v="474" actId="478"/>
          <ac:spMkLst>
            <pc:docMk/>
            <pc:sldMk cId="3992467816" sldId="274"/>
            <ac:spMk id="5" creationId="{4B1677BD-9E3C-F098-6ADF-E6EBA726D397}"/>
          </ac:spMkLst>
        </pc:spChg>
        <pc:spChg chg="mod">
          <ac:chgData name="Andres Ruiz" userId="62a6500062035754" providerId="LiveId" clId="{F33B1512-0172-5E6B-941A-79F389C6819A}" dt="2026-02-06T16:18:21.622" v="495" actId="122"/>
          <ac:spMkLst>
            <pc:docMk/>
            <pc:sldMk cId="3992467816" sldId="274"/>
            <ac:spMk id="250" creationId="{610CE911-60A4-33B0-DF5A-C994FC86E0EA}"/>
          </ac:spMkLst>
        </pc:spChg>
        <pc:spChg chg="del">
          <ac:chgData name="Andres Ruiz" userId="62a6500062035754" providerId="LiveId" clId="{F33B1512-0172-5E6B-941A-79F389C6819A}" dt="2026-02-06T16:18:01.879" v="477" actId="478"/>
          <ac:spMkLst>
            <pc:docMk/>
            <pc:sldMk cId="3992467816" sldId="274"/>
            <ac:spMk id="251" creationId="{9121E3CF-49D3-32C2-1B6C-B0CCAFEBD24B}"/>
          </ac:spMkLst>
        </pc:spChg>
      </pc:sldChg>
      <pc:sldChg chg="addSp delSp modSp add mod">
        <pc:chgData name="Andres Ruiz" userId="62a6500062035754" providerId="LiveId" clId="{F33B1512-0172-5E6B-941A-79F389C6819A}" dt="2026-02-06T18:20:06.167" v="1523" actId="113"/>
        <pc:sldMkLst>
          <pc:docMk/>
          <pc:sldMk cId="1407121199" sldId="275"/>
        </pc:sldMkLst>
        <pc:spChg chg="mod">
          <ac:chgData name="Andres Ruiz" userId="62a6500062035754" providerId="LiveId" clId="{F33B1512-0172-5E6B-941A-79F389C6819A}" dt="2026-02-06T18:20:06.167" v="1523" actId="113"/>
          <ac:spMkLst>
            <pc:docMk/>
            <pc:sldMk cId="1407121199" sldId="275"/>
            <ac:spMk id="2" creationId="{4AACAB45-0C6E-B5C3-02F1-829E465F3DE6}"/>
          </ac:spMkLst>
        </pc:spChg>
        <pc:spChg chg="add">
          <ac:chgData name="Andres Ruiz" userId="62a6500062035754" providerId="LiveId" clId="{F33B1512-0172-5E6B-941A-79F389C6819A}" dt="2026-02-06T17:06:25.505" v="754"/>
          <ac:spMkLst>
            <pc:docMk/>
            <pc:sldMk cId="1407121199" sldId="275"/>
            <ac:spMk id="3" creationId="{ABA45E39-7447-5B44-B351-C3329C07D97A}"/>
          </ac:spMkLst>
        </pc:spChg>
        <pc:spChg chg="add">
          <ac:chgData name="Andres Ruiz" userId="62a6500062035754" providerId="LiveId" clId="{F33B1512-0172-5E6B-941A-79F389C6819A}" dt="2026-02-06T17:06:29.097" v="755"/>
          <ac:spMkLst>
            <pc:docMk/>
            <pc:sldMk cId="1407121199" sldId="275"/>
            <ac:spMk id="4" creationId="{528F8AEE-80E3-02FE-14F5-1F8FFA3EF85C}"/>
          </ac:spMkLst>
        </pc:spChg>
        <pc:spChg chg="add">
          <ac:chgData name="Andres Ruiz" userId="62a6500062035754" providerId="LiveId" clId="{F33B1512-0172-5E6B-941A-79F389C6819A}" dt="2026-02-06T17:06:33.657" v="756"/>
          <ac:spMkLst>
            <pc:docMk/>
            <pc:sldMk cId="1407121199" sldId="275"/>
            <ac:spMk id="5" creationId="{022DA20C-C8EE-653F-DF66-659723F586BF}"/>
          </ac:spMkLst>
        </pc:spChg>
        <pc:spChg chg="add">
          <ac:chgData name="Andres Ruiz" userId="62a6500062035754" providerId="LiveId" clId="{F33B1512-0172-5E6B-941A-79F389C6819A}" dt="2026-02-06T17:10:40.571" v="824"/>
          <ac:spMkLst>
            <pc:docMk/>
            <pc:sldMk cId="1407121199" sldId="275"/>
            <ac:spMk id="6" creationId="{43222E21-8698-D9CE-47D4-1B6F44C907BF}"/>
          </ac:spMkLst>
        </pc:spChg>
        <pc:spChg chg="add mod">
          <ac:chgData name="Andres Ruiz" userId="62a6500062035754" providerId="LiveId" clId="{F33B1512-0172-5E6B-941A-79F389C6819A}" dt="2026-02-06T17:24:29.989" v="1066"/>
          <ac:spMkLst>
            <pc:docMk/>
            <pc:sldMk cId="1407121199" sldId="275"/>
            <ac:spMk id="7" creationId="{C0910809-4DFB-18ED-54C4-2580D01E1D62}"/>
          </ac:spMkLst>
        </pc:spChg>
        <pc:spChg chg="del mod">
          <ac:chgData name="Andres Ruiz" userId="62a6500062035754" providerId="LiveId" clId="{F33B1512-0172-5E6B-941A-79F389C6819A}" dt="2026-02-06T17:24:29.584" v="1065" actId="478"/>
          <ac:spMkLst>
            <pc:docMk/>
            <pc:sldMk cId="1407121199" sldId="275"/>
            <ac:spMk id="121" creationId="{54AAD307-0141-02D9-F685-C889AE2D5002}"/>
          </ac:spMkLst>
        </pc:spChg>
      </pc:sldChg>
      <pc:sldChg chg="modSp add mod">
        <pc:chgData name="Andres Ruiz" userId="62a6500062035754" providerId="LiveId" clId="{F33B1512-0172-5E6B-941A-79F389C6819A}" dt="2026-02-06T18:19:25.035" v="1522" actId="20577"/>
        <pc:sldMkLst>
          <pc:docMk/>
          <pc:sldMk cId="3144798509" sldId="276"/>
        </pc:sldMkLst>
        <pc:spChg chg="mod">
          <ac:chgData name="Andres Ruiz" userId="62a6500062035754" providerId="LiveId" clId="{F33B1512-0172-5E6B-941A-79F389C6819A}" dt="2026-02-06T18:19:25.035" v="1522" actId="20577"/>
          <ac:spMkLst>
            <pc:docMk/>
            <pc:sldMk cId="3144798509" sldId="276"/>
            <ac:spMk id="2" creationId="{032D67AD-0F58-6B2F-24E6-FF34E893A269}"/>
          </ac:spMkLst>
        </pc:spChg>
        <pc:spChg chg="mod">
          <ac:chgData name="Andres Ruiz" userId="62a6500062035754" providerId="LiveId" clId="{F33B1512-0172-5E6B-941A-79F389C6819A}" dt="2026-02-06T17:24:35.479" v="1074" actId="20577"/>
          <ac:spMkLst>
            <pc:docMk/>
            <pc:sldMk cId="3144798509" sldId="276"/>
            <ac:spMk id="121" creationId="{9BD82C1E-F47E-0BA1-D5BC-73146FA9B191}"/>
          </ac:spMkLst>
        </pc:spChg>
      </pc:sldChg>
      <pc:sldChg chg="addSp delSp modSp add mod">
        <pc:chgData name="Andres Ruiz" userId="62a6500062035754" providerId="LiveId" clId="{F33B1512-0172-5E6B-941A-79F389C6819A}" dt="2026-02-06T17:34:17.210" v="1238" actId="478"/>
        <pc:sldMkLst>
          <pc:docMk/>
          <pc:sldMk cId="794569439" sldId="277"/>
        </pc:sldMkLst>
        <pc:spChg chg="mod">
          <ac:chgData name="Andres Ruiz" userId="62a6500062035754" providerId="LiveId" clId="{F33B1512-0172-5E6B-941A-79F389C6819A}" dt="2026-02-06T17:34:14.742" v="1237" actId="2711"/>
          <ac:spMkLst>
            <pc:docMk/>
            <pc:sldMk cId="794569439" sldId="277"/>
            <ac:spMk id="2" creationId="{2CDA93AE-6B20-F095-78C6-B7F50DF2A9C9}"/>
          </ac:spMkLst>
        </pc:spChg>
        <pc:spChg chg="add">
          <ac:chgData name="Andres Ruiz" userId="62a6500062035754" providerId="LiveId" clId="{F33B1512-0172-5E6B-941A-79F389C6819A}" dt="2026-02-06T17:27:45.312" v="1118"/>
          <ac:spMkLst>
            <pc:docMk/>
            <pc:sldMk cId="794569439" sldId="277"/>
            <ac:spMk id="3" creationId="{0F2777A7-B85E-6999-EA57-204EC6716A8A}"/>
          </ac:spMkLst>
        </pc:spChg>
        <pc:spChg chg="add del mod">
          <ac:chgData name="Andres Ruiz" userId="62a6500062035754" providerId="LiveId" clId="{F33B1512-0172-5E6B-941A-79F389C6819A}" dt="2026-02-06T17:34:17.210" v="1238" actId="478"/>
          <ac:spMkLst>
            <pc:docMk/>
            <pc:sldMk cId="794569439" sldId="277"/>
            <ac:spMk id="4" creationId="{0FF7D55C-0BB4-029B-1253-3490AB9AA75D}"/>
          </ac:spMkLst>
        </pc:spChg>
        <pc:spChg chg="mod">
          <ac:chgData name="Andres Ruiz" userId="62a6500062035754" providerId="LiveId" clId="{F33B1512-0172-5E6B-941A-79F389C6819A}" dt="2026-02-06T17:25:26.502" v="1096" actId="20577"/>
          <ac:spMkLst>
            <pc:docMk/>
            <pc:sldMk cId="794569439" sldId="277"/>
            <ac:spMk id="121" creationId="{5DFA7EF6-54CE-5621-6B13-544B705E7AA7}"/>
          </ac:spMkLst>
        </pc:spChg>
      </pc:sldChg>
      <pc:sldChg chg="addSp modSp new del mod">
        <pc:chgData name="Andres Ruiz" userId="62a6500062035754" providerId="LiveId" clId="{F33B1512-0172-5E6B-941A-79F389C6819A}" dt="2026-02-06T17:32:25.930" v="1194" actId="2696"/>
        <pc:sldMkLst>
          <pc:docMk/>
          <pc:sldMk cId="4196898028" sldId="278"/>
        </pc:sldMkLst>
        <pc:spChg chg="add mod">
          <ac:chgData name="Andres Ruiz" userId="62a6500062035754" providerId="LiveId" clId="{F33B1512-0172-5E6B-941A-79F389C6819A}" dt="2026-02-06T17:30:44.431" v="1157" actId="1076"/>
          <ac:spMkLst>
            <pc:docMk/>
            <pc:sldMk cId="4196898028" sldId="278"/>
            <ac:spMk id="3" creationId="{507D63FB-C12B-B628-91E0-EA6FEE357AFC}"/>
          </ac:spMkLst>
        </pc:spChg>
      </pc:sldChg>
      <pc:sldChg chg="delSp modSp add mod">
        <pc:chgData name="Andres Ruiz" userId="62a6500062035754" providerId="LiveId" clId="{F33B1512-0172-5E6B-941A-79F389C6819A}" dt="2026-02-06T17:34:39.556" v="1242" actId="20577"/>
        <pc:sldMkLst>
          <pc:docMk/>
          <pc:sldMk cId="1207826547" sldId="279"/>
        </pc:sldMkLst>
        <pc:spChg chg="mod">
          <ac:chgData name="Andres Ruiz" userId="62a6500062035754" providerId="LiveId" clId="{F33B1512-0172-5E6B-941A-79F389C6819A}" dt="2026-02-06T17:34:39.556" v="1242" actId="20577"/>
          <ac:spMkLst>
            <pc:docMk/>
            <pc:sldMk cId="1207826547" sldId="279"/>
            <ac:spMk id="2" creationId="{43020E62-57B3-D132-562C-99AD62E7F5DA}"/>
          </ac:spMkLst>
        </pc:spChg>
        <pc:spChg chg="del">
          <ac:chgData name="Andres Ruiz" userId="62a6500062035754" providerId="LiveId" clId="{F33B1512-0172-5E6B-941A-79F389C6819A}" dt="2026-02-06T17:32:05.625" v="1188" actId="478"/>
          <ac:spMkLst>
            <pc:docMk/>
            <pc:sldMk cId="1207826547" sldId="279"/>
            <ac:spMk id="4" creationId="{6E076CD4-4424-3771-07C9-F798912C8474}"/>
          </ac:spMkLst>
        </pc:spChg>
        <pc:spChg chg="mod">
          <ac:chgData name="Andres Ruiz" userId="62a6500062035754" providerId="LiveId" clId="{F33B1512-0172-5E6B-941A-79F389C6819A}" dt="2026-02-06T17:31:49.362" v="1184" actId="20577"/>
          <ac:spMkLst>
            <pc:docMk/>
            <pc:sldMk cId="1207826547" sldId="279"/>
            <ac:spMk id="121" creationId="{FA8C4DC3-B6EA-348C-A077-492FABC2F2F2}"/>
          </ac:spMkLst>
        </pc:spChg>
      </pc:sldChg>
      <pc:sldChg chg="new">
        <pc:chgData name="Andres Ruiz" userId="62a6500062035754" providerId="LiveId" clId="{F33B1512-0172-5E6B-941A-79F389C6819A}" dt="2026-02-06T17:32:28.881" v="1195" actId="680"/>
        <pc:sldMkLst>
          <pc:docMk/>
          <pc:sldMk cId="3804228012" sldId="280"/>
        </pc:sldMkLst>
      </pc:sldChg>
      <pc:sldChg chg="addSp modSp add mod">
        <pc:chgData name="Andres Ruiz" userId="62a6500062035754" providerId="LiveId" clId="{F33B1512-0172-5E6B-941A-79F389C6819A}" dt="2026-02-06T18:21:03.189" v="1536" actId="20577"/>
        <pc:sldMkLst>
          <pc:docMk/>
          <pc:sldMk cId="3659799541" sldId="281"/>
        </pc:sldMkLst>
        <pc:spChg chg="mod">
          <ac:chgData name="Andres Ruiz" userId="62a6500062035754" providerId="LiveId" clId="{F33B1512-0172-5E6B-941A-79F389C6819A}" dt="2026-02-06T18:21:03.189" v="1536" actId="20577"/>
          <ac:spMkLst>
            <pc:docMk/>
            <pc:sldMk cId="3659799541" sldId="281"/>
            <ac:spMk id="2" creationId="{CA8C55C5-5517-9766-E34B-469866D9E598}"/>
          </ac:spMkLst>
        </pc:spChg>
        <pc:spChg chg="add">
          <ac:chgData name="Andres Ruiz" userId="62a6500062035754" providerId="LiveId" clId="{F33B1512-0172-5E6B-941A-79F389C6819A}" dt="2026-02-06T17:34:59.172" v="1248"/>
          <ac:spMkLst>
            <pc:docMk/>
            <pc:sldMk cId="3659799541" sldId="281"/>
            <ac:spMk id="3" creationId="{DE447168-E7F6-094D-F61A-DA7B8A4B46ED}"/>
          </ac:spMkLst>
        </pc:spChg>
        <pc:spChg chg="mod">
          <ac:chgData name="Andres Ruiz" userId="62a6500062035754" providerId="LiveId" clId="{F33B1512-0172-5E6B-941A-79F389C6819A}" dt="2026-02-06T17:33:08.056" v="1214" actId="20577"/>
          <ac:spMkLst>
            <pc:docMk/>
            <pc:sldMk cId="3659799541" sldId="281"/>
            <ac:spMk id="121" creationId="{FD4E32FA-91EE-1C76-2726-C556DD27EE49}"/>
          </ac:spMkLst>
        </pc:spChg>
      </pc:sldChg>
      <pc:sldChg chg="modSp add mod">
        <pc:chgData name="Andres Ruiz" userId="62a6500062035754" providerId="LiveId" clId="{F33B1512-0172-5E6B-941A-79F389C6819A}" dt="2026-02-06T18:20:30.922" v="1534" actId="20577"/>
        <pc:sldMkLst>
          <pc:docMk/>
          <pc:sldMk cId="1263261784" sldId="282"/>
        </pc:sldMkLst>
        <pc:spChg chg="mod">
          <ac:chgData name="Andres Ruiz" userId="62a6500062035754" providerId="LiveId" clId="{F33B1512-0172-5E6B-941A-79F389C6819A}" dt="2026-02-06T18:20:30.922" v="1534" actId="20577"/>
          <ac:spMkLst>
            <pc:docMk/>
            <pc:sldMk cId="1263261784" sldId="282"/>
            <ac:spMk id="2" creationId="{C27CDE3B-CC27-BB7E-3635-7B0660CD3FB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21F1386E-0C3D-22A4-F0D5-7712A0A90F32}"/>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C969117D-A3F9-1F0C-421C-2E0F171FC35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a:extLst>
              <a:ext uri="{FF2B5EF4-FFF2-40B4-BE49-F238E27FC236}">
                <a16:creationId xmlns:a16="http://schemas.microsoft.com/office/drawing/2014/main" id="{C9ABF158-9A7E-03CD-AEEF-2122F76E01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16035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63CF8D67-C888-4F67-6C5E-1BFBFFE44C0B}"/>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8238EBB0-1376-A1F0-6F30-4DF6232CC4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16 census-based variables—grouped into socioeconomic status, household composition, minority status, and housing/transportation</a:t>
            </a:r>
            <a:r>
              <a:rPr lang="en-US" sz="1100" b="0" i="0" u="none" strike="noStrike" cap="none" dirty="0">
                <a:solidFill>
                  <a:srgbClr val="000000"/>
                </a:solidFill>
                <a:effectLst/>
                <a:latin typeface="Arial"/>
                <a:ea typeface="Arial"/>
                <a:cs typeface="Arial"/>
                <a:sym typeface="Arial"/>
              </a:rPr>
              <a:t>—to identify, map, and predict community-level vulnerability to disasters, disease outbreaks, and health emergencies. It assists in anticipating needs for resources like shelters, vaccines, and healthcare,</a:t>
            </a:r>
            <a:endParaRPr dirty="0"/>
          </a:p>
        </p:txBody>
      </p:sp>
      <p:sp>
        <p:nvSpPr>
          <p:cNvPr id="93" name="Google Shape;93;p2:notes">
            <a:extLst>
              <a:ext uri="{FF2B5EF4-FFF2-40B4-BE49-F238E27FC236}">
                <a16:creationId xmlns:a16="http://schemas.microsoft.com/office/drawing/2014/main" id="{814D87E9-A15C-0234-44C0-666BB660DF2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73972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5058BDB5-DE8D-13B2-5DA8-5701AF7009D1}"/>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122B8E03-AE8F-9950-1A05-04B87DFBFFB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9558C5A5-E93C-C998-E7F4-8E85E485C34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954096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1B9AC07F-B568-D706-2CE6-263B47F5AB3C}"/>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A0830D25-BF5B-FE63-53F3-92D61C1B982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a:extLst>
              <a:ext uri="{FF2B5EF4-FFF2-40B4-BE49-F238E27FC236}">
                <a16:creationId xmlns:a16="http://schemas.microsoft.com/office/drawing/2014/main" id="{53513535-3F5C-10CE-0EA5-618D4D43A8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3755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9" name="Google Shape;209;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2B684AC-37D4-506E-72F1-27BA76CC656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ED749674-B992-8176-1F31-E6CFA300D1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 Lasso, my data variables act as </a:t>
            </a:r>
            <a:r>
              <a:rPr lang="en-US" b="1" dirty="0"/>
              <a:t>multipliers</a:t>
            </a:r>
            <a:r>
              <a:rPr lang="en-US" dirty="0"/>
              <a:t> where the model learns which variables carry the most weight. In Random Forest, my variables act as </a:t>
            </a:r>
            <a:r>
              <a:rPr lang="en-US" b="1" dirty="0"/>
              <a:t>sorting criteria</a:t>
            </a:r>
            <a:r>
              <a:rPr lang="en-US" dirty="0"/>
              <a:t>, where the model learns which questions (like 'Was there a hurricane?') best separate high-loss years from normal years.</a:t>
            </a:r>
            <a:endParaRPr dirty="0"/>
          </a:p>
        </p:txBody>
      </p:sp>
      <p:sp>
        <p:nvSpPr>
          <p:cNvPr id="107" name="Google Shape;107;p3:notes">
            <a:extLst>
              <a:ext uri="{FF2B5EF4-FFF2-40B4-BE49-F238E27FC236}">
                <a16:creationId xmlns:a16="http://schemas.microsoft.com/office/drawing/2014/main" id="{CAF48092-35D6-C90F-1B0A-1BDFD02F5A5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416661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4C56F2E9-DC1F-C9B2-16B6-2261C015C1AC}"/>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1BA4F1EA-3842-F483-B91C-4BA6F2C74A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 K-Means model treats every variable (Poverty, Age, Economics) as a </a:t>
            </a:r>
            <a:r>
              <a:rPr lang="en-US" b="1" dirty="0"/>
              <a:t>coordinate in space</a:t>
            </a:r>
            <a:r>
              <a:rPr lang="en-US" dirty="0"/>
              <a:t>. It calculates the mathematical distance between municipalities based on these coordinates. Towns that are 'close' to each other in this multi-dimensional space are grouped together, creating my Vulnerability Typology.</a:t>
            </a:r>
            <a:endParaRPr dirty="0"/>
          </a:p>
        </p:txBody>
      </p:sp>
      <p:sp>
        <p:nvSpPr>
          <p:cNvPr id="107" name="Google Shape;107;p3:notes">
            <a:extLst>
              <a:ext uri="{FF2B5EF4-FFF2-40B4-BE49-F238E27FC236}">
                <a16:creationId xmlns:a16="http://schemas.microsoft.com/office/drawing/2014/main" id="{9DB7C75C-62F7-2336-142B-4458ED4AB1B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87224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9C4782E1-07A8-8989-4179-275FAC9B723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48E9123D-C78F-1428-FD64-8EDE94B861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 am using </a:t>
            </a:r>
            <a:r>
              <a:rPr lang="en-US" b="1" dirty="0"/>
              <a:t>MAE</a:t>
            </a:r>
            <a:r>
              <a:rPr lang="en-US" dirty="0"/>
              <a:t> to measure the general accuracy of my baseline trends—how well I track normal demographic decline. I am using </a:t>
            </a:r>
            <a:r>
              <a:rPr lang="en-US" b="1" dirty="0"/>
              <a:t>RMSE</a:t>
            </a:r>
            <a:r>
              <a:rPr lang="en-US" dirty="0"/>
              <a:t> specifically to validate the 'Shock' periods (2017). Because RMSE squares the errors, it will aggressively penalize my model if it fails to capture the massive population cliffs caused by Hurricane Maria.</a:t>
            </a:r>
            <a:endParaRPr dirty="0"/>
          </a:p>
        </p:txBody>
      </p:sp>
      <p:sp>
        <p:nvSpPr>
          <p:cNvPr id="107" name="Google Shape;107;p3:notes">
            <a:extLst>
              <a:ext uri="{FF2B5EF4-FFF2-40B4-BE49-F238E27FC236}">
                <a16:creationId xmlns:a16="http://schemas.microsoft.com/office/drawing/2014/main" id="{2FEA0A0E-B982-A005-7582-53E4189E1A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843473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Extract, Transform, and Load</a:t>
            </a:r>
            <a:r>
              <a:rPr lang="en-US" dirty="0"/>
              <a:t>. (ETL)</a:t>
            </a:r>
            <a:endParaRPr dirty="0"/>
          </a:p>
        </p:txBody>
      </p:sp>
      <p:sp>
        <p:nvSpPr>
          <p:cNvPr id="152" name="Google Shape;15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2" name="Google Shape;232;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a:extLst>
            <a:ext uri="{FF2B5EF4-FFF2-40B4-BE49-F238E27FC236}">
              <a16:creationId xmlns:a16="http://schemas.microsoft.com/office/drawing/2014/main" id="{47AE5DB5-1792-C653-A58D-3A8739E231F0}"/>
            </a:ext>
          </a:extLst>
        </p:cNvPr>
        <p:cNvGrpSpPr/>
        <p:nvPr/>
      </p:nvGrpSpPr>
      <p:grpSpPr>
        <a:xfrm>
          <a:off x="0" y="0"/>
          <a:ext cx="0" cy="0"/>
          <a:chOff x="0" y="0"/>
          <a:chExt cx="0" cy="0"/>
        </a:xfrm>
      </p:grpSpPr>
      <p:sp>
        <p:nvSpPr>
          <p:cNvPr id="231" name="Google Shape;231;p11:notes">
            <a:extLst>
              <a:ext uri="{FF2B5EF4-FFF2-40B4-BE49-F238E27FC236}">
                <a16:creationId xmlns:a16="http://schemas.microsoft.com/office/drawing/2014/main" id="{04B11639-FD0E-6B85-E4AE-E9AF206FF5E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2" name="Google Shape;232;p11:notes">
            <a:extLst>
              <a:ext uri="{FF2B5EF4-FFF2-40B4-BE49-F238E27FC236}">
                <a16:creationId xmlns:a16="http://schemas.microsoft.com/office/drawing/2014/main" id="{0EEC33E4-CDAB-6C6D-C9E1-1A7C252575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80826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39367696-265F-DE2B-1904-76667E212561}"/>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E6AF7C20-EDEC-A329-A9C8-13246C3A4D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843AE9C3-6C12-22E4-B786-2D87B04835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1030195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5683150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899710720"/>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10970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98294269"/>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8604352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9559135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129162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424906460"/>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80393672"/>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94024774"/>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973161087"/>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066148857"/>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784984781"/>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347340271"/>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191623613"/>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44574089"/>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530346332"/>
      </p:ext>
    </p:extLst>
  </p:cSld>
  <p:clrMap bg1="lt1" tx1="dk1" bg2="lt2" tx2="dk2" accent1="accent1" accent2="accent2" accent3="accent3" accent4="accent4" accent5="accent5" accent6="accent6" hlink="hlink" folHlink="folHlink"/>
  <p:sldLayoutIdLst>
    <p:sldLayoutId id="2147484911" r:id="rId1"/>
    <p:sldLayoutId id="2147484912" r:id="rId2"/>
    <p:sldLayoutId id="2147484913" r:id="rId3"/>
    <p:sldLayoutId id="2147484914" r:id="rId4"/>
    <p:sldLayoutId id="2147484915" r:id="rId5"/>
    <p:sldLayoutId id="2147484916" r:id="rId6"/>
    <p:sldLayoutId id="2147484917" r:id="rId7"/>
    <p:sldLayoutId id="2147484918" r:id="rId8"/>
    <p:sldLayoutId id="2147484919" r:id="rId9"/>
    <p:sldLayoutId id="2147484920" r:id="rId10"/>
    <p:sldLayoutId id="2147484921" r:id="rId11"/>
    <p:sldLayoutId id="2147484922" r:id="rId12"/>
    <p:sldLayoutId id="2147484923" r:id="rId13"/>
    <p:sldLayoutId id="2147484924" r:id="rId14"/>
    <p:sldLayoutId id="2147484925" r:id="rId15"/>
    <p:sldLayoutId id="2147484926" r:id="rId16"/>
  </p:sldLayoutIdLst>
  <p:hf sldNum="0"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hyperlink" Target="https://data.census.gov/" TargetMode="External"/><Relationship Id="rId7" Type="http://schemas.openxmlformats.org/officeDocument/2006/relationships/hyperlink" Target="https://earthquake.usgs.gov/earthquakes/search/" TargetMode="External"/><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hyperlink" Target="https://www.nhc.noaa.gov/data/" TargetMode="External"/><Relationship Id="rId5" Type="http://schemas.openxmlformats.org/officeDocument/2006/relationships/hyperlink" Target="https://www.census.gov/programs-surveys/cbp.html" TargetMode="External"/><Relationship Id="rId4" Type="http://schemas.openxmlformats.org/officeDocument/2006/relationships/hyperlink" Target="https://www.census.gov/programs-surveys/popest.html"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3"/>
        <p:cNvGrpSpPr/>
        <p:nvPr/>
      </p:nvGrpSpPr>
      <p:grpSpPr>
        <a:xfrm>
          <a:off x="0" y="0"/>
          <a:ext cx="0" cy="0"/>
          <a:chOff x="0" y="0"/>
          <a:chExt cx="0" cy="0"/>
        </a:xfrm>
      </p:grpSpPr>
      <p:pic>
        <p:nvPicPr>
          <p:cNvPr id="85" name="Google Shape;85;p13" descr="image.png"/>
          <p:cNvPicPr preferRelativeResize="0"/>
          <p:nvPr/>
        </p:nvPicPr>
        <p:blipFill rotWithShape="1">
          <a:blip r:embed="rId3">
            <a:alphaModFix/>
          </a:blip>
          <a:srcRect/>
          <a:stretch/>
        </p:blipFill>
        <p:spPr>
          <a:xfrm>
            <a:off x="1047750" y="4566195"/>
            <a:ext cx="3438525" cy="1053405"/>
          </a:xfrm>
          <a:prstGeom prst="rect">
            <a:avLst/>
          </a:prstGeom>
          <a:noFill/>
          <a:ln>
            <a:noFill/>
          </a:ln>
        </p:spPr>
      </p:pic>
      <p:sp>
        <p:nvSpPr>
          <p:cNvPr id="86" name="Google Shape;86;p13"/>
          <p:cNvSpPr txBox="1"/>
          <p:nvPr/>
        </p:nvSpPr>
        <p:spPr>
          <a:xfrm>
            <a:off x="879589" y="1238398"/>
            <a:ext cx="8642783" cy="984885"/>
          </a:xfrm>
          <a:prstGeom prst="rect">
            <a:avLst/>
          </a:prstGeom>
          <a:noFill/>
          <a:ln>
            <a:noFill/>
          </a:ln>
        </p:spPr>
        <p:txBody>
          <a:bodyPr spcFirstLastPara="1" wrap="square" lIns="0" tIns="0" rIns="0" bIns="0" anchor="t" anchorCtr="0">
            <a:spAutoFit/>
          </a:bodyPr>
          <a:lstStyle/>
          <a:p>
            <a:r>
              <a:rPr lang="en-US" sz="3200" b="1" dirty="0">
                <a:latin typeface="Merriweather" pitchFamily="2" charset="77"/>
                <a:cs typeface="Arial" panose="020B0604020202020204" pitchFamily="34" charset="0"/>
              </a:rPr>
              <a:t>Predictive Modeling of Population Dynamics in Puerto Rico </a:t>
            </a:r>
            <a:endParaRPr sz="3200" b="1" dirty="0">
              <a:latin typeface="Merriweather" pitchFamily="2" charset="77"/>
              <a:cs typeface="Arial" panose="020B0604020202020204" pitchFamily="34" charset="0"/>
            </a:endParaRPr>
          </a:p>
        </p:txBody>
      </p:sp>
      <p:sp>
        <p:nvSpPr>
          <p:cNvPr id="88" name="Google Shape;88;p13"/>
          <p:cNvSpPr txBox="1"/>
          <p:nvPr/>
        </p:nvSpPr>
        <p:spPr>
          <a:xfrm>
            <a:off x="1047750" y="4052582"/>
            <a:ext cx="3438525" cy="492443"/>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000" b="1" i="0" u="none" strike="noStrike" cap="none" dirty="0">
                <a:solidFill>
                  <a:srgbClr val="334155"/>
                </a:solidFill>
                <a:latin typeface="Merriweather" pitchFamily="2" charset="77"/>
                <a:ea typeface="DM Sans"/>
                <a:cs typeface="Arial" panose="020B0604020202020204" pitchFamily="34" charset="0"/>
                <a:sym typeface="DM Sans"/>
              </a:rPr>
              <a:t>Jose Andres RiveraRuiz</a:t>
            </a:r>
            <a:endParaRPr sz="2800" dirty="0">
              <a:latin typeface="Merriweather" pitchFamily="2" charset="77"/>
            </a:endParaRPr>
          </a:p>
        </p:txBody>
      </p:sp>
      <p:sp>
        <p:nvSpPr>
          <p:cNvPr id="89" name="Google Shape;89;p13"/>
          <p:cNvSpPr txBox="1"/>
          <p:nvPr/>
        </p:nvSpPr>
        <p:spPr>
          <a:xfrm>
            <a:off x="1047750" y="4607760"/>
            <a:ext cx="3745923" cy="6647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dirty="0">
                <a:solidFill>
                  <a:srgbClr val="334155"/>
                </a:solidFill>
                <a:latin typeface="Merriweather" pitchFamily="2" charset="77"/>
                <a:ea typeface="DM Sans"/>
                <a:cs typeface="Arial" panose="020B0604020202020204" pitchFamily="34" charset="0"/>
                <a:sym typeface="DM Sans"/>
              </a:rPr>
              <a:t>Rutgers, The State University of New Jersey</a:t>
            </a:r>
          </a:p>
          <a:p>
            <a:pPr>
              <a:lnSpc>
                <a:spcPct val="160000"/>
              </a:lnSpc>
            </a:pPr>
            <a:r>
              <a:rPr lang="en-US" sz="1350" dirty="0">
                <a:solidFill>
                  <a:srgbClr val="334155"/>
                </a:solidFill>
                <a:latin typeface="Merriweather" pitchFamily="2" charset="77"/>
                <a:cs typeface="Arial" panose="020B0604020202020204" pitchFamily="34" charset="0"/>
                <a:sym typeface="DM Sans"/>
              </a:rPr>
              <a:t>Master’s Project- Spring 2026</a:t>
            </a:r>
            <a:endParaRPr lang="en-US" sz="1350" dirty="0">
              <a:solidFill>
                <a:srgbClr val="334155"/>
              </a:solidFill>
              <a:latin typeface="Merriweather" pitchFamily="2" charset="77"/>
              <a:cs typeface="Arial" panose="020B0604020202020204" pitchFamily="34" charset="0"/>
            </a:endParaRPr>
          </a:p>
        </p:txBody>
      </p:sp>
      <p:pic>
        <p:nvPicPr>
          <p:cNvPr id="3" name="Picture 2" descr="A screenshot of a computer screen&#10;&#10;AI-generated content may be incorrect.">
            <a:extLst>
              <a:ext uri="{FF2B5EF4-FFF2-40B4-BE49-F238E27FC236}">
                <a16:creationId xmlns:a16="http://schemas.microsoft.com/office/drawing/2014/main" id="{62D92894-057D-658E-A26D-4C143127E31F}"/>
              </a:ext>
            </a:extLst>
          </p:cNvPr>
          <p:cNvPicPr>
            <a:picLocks noChangeAspect="1"/>
          </p:cNvPicPr>
          <p:nvPr/>
        </p:nvPicPr>
        <p:blipFill>
          <a:blip r:embed="rId4"/>
          <a:stretch>
            <a:fillRect/>
          </a:stretch>
        </p:blipFill>
        <p:spPr>
          <a:xfrm>
            <a:off x="5753341" y="2596056"/>
            <a:ext cx="3569576" cy="36943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4"/>
        <p:cNvGrpSpPr/>
        <p:nvPr/>
      </p:nvGrpSpPr>
      <p:grpSpPr>
        <a:xfrm>
          <a:off x="0" y="0"/>
          <a:ext cx="0" cy="0"/>
          <a:chOff x="0" y="0"/>
          <a:chExt cx="0" cy="0"/>
        </a:xfrm>
      </p:grpSpPr>
      <p:sp>
        <p:nvSpPr>
          <p:cNvPr id="103" name="Google Shape;103;p14"/>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pitchFamily="2" charset="77"/>
              </a:rPr>
              <a:t>Problem &amp; Goal </a:t>
            </a:r>
            <a:endParaRPr sz="3600" b="1" dirty="0">
              <a:latin typeface="Merriweather" pitchFamily="2" charset="77"/>
            </a:endParaRPr>
          </a:p>
        </p:txBody>
      </p:sp>
      <p:sp>
        <p:nvSpPr>
          <p:cNvPr id="104" name="Google Shape;104;p14"/>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092ABE9F-B64B-5BD1-9BE9-966EBB86F4F4}"/>
              </a:ext>
            </a:extLst>
          </p:cNvPr>
          <p:cNvSpPr txBox="1"/>
          <p:nvPr/>
        </p:nvSpPr>
        <p:spPr>
          <a:xfrm>
            <a:off x="449579" y="1469167"/>
            <a:ext cx="9560053" cy="5293757"/>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2000" b="1" dirty="0">
                <a:solidFill>
                  <a:srgbClr val="000000"/>
                </a:solidFill>
                <a:latin typeface="Merriweather" pitchFamily="2" charset="77"/>
                <a:ea typeface="Arial"/>
                <a:cs typeface="Arial"/>
                <a:sym typeface="Arial"/>
              </a:rPr>
              <a:t>The Problem:</a:t>
            </a:r>
            <a:r>
              <a:rPr lang="en-US" sz="2000" dirty="0">
                <a:solidFill>
                  <a:srgbClr val="000000"/>
                </a:solidFill>
                <a:latin typeface="Merriweather" pitchFamily="2" charset="77"/>
                <a:ea typeface="Arial"/>
                <a:cs typeface="Arial"/>
                <a:sym typeface="Arial"/>
              </a:rPr>
              <a:t> Puerto Rico is facing a "double threat" of population decline:</a:t>
            </a:r>
          </a:p>
          <a:p>
            <a:pPr marL="742950" lvl="1" indent="-285750" fontAlgn="base">
              <a:lnSpc>
                <a:spcPct val="150000"/>
              </a:lnSpc>
              <a:buFont typeface="Arial" panose="020B0604020202020204" pitchFamily="34" charset="0"/>
              <a:buChar char="•"/>
            </a:pPr>
            <a:r>
              <a:rPr lang="en-US" sz="2000" b="1" dirty="0">
                <a:solidFill>
                  <a:srgbClr val="000000"/>
                </a:solidFill>
                <a:latin typeface="Merriweather" pitchFamily="2" charset="77"/>
                <a:ea typeface="Arial"/>
                <a:cs typeface="Arial"/>
                <a:sym typeface="Arial"/>
              </a:rPr>
              <a:t>Structural decline: P</a:t>
            </a:r>
            <a:r>
              <a:rPr lang="en-US" sz="2000" dirty="0">
                <a:solidFill>
                  <a:srgbClr val="000000"/>
                </a:solidFill>
                <a:latin typeface="Merriweather" pitchFamily="2" charset="77"/>
                <a:ea typeface="Arial"/>
                <a:cs typeface="Arial"/>
                <a:sym typeface="Arial"/>
              </a:rPr>
              <a:t>eople getting older and having fewer children </a:t>
            </a:r>
          </a:p>
          <a:p>
            <a:pPr marL="742950" lvl="1" indent="-285750" fontAlgn="base">
              <a:lnSpc>
                <a:spcPct val="150000"/>
              </a:lnSpc>
              <a:buFont typeface="Arial" panose="020B0604020202020204" pitchFamily="34" charset="0"/>
              <a:buChar char="•"/>
            </a:pPr>
            <a:r>
              <a:rPr lang="en-US" sz="2000" b="1" dirty="0">
                <a:solidFill>
                  <a:srgbClr val="000000"/>
                </a:solidFill>
                <a:latin typeface="Merriweather" pitchFamily="2" charset="77"/>
                <a:ea typeface="Arial"/>
                <a:cs typeface="Arial"/>
                <a:sym typeface="Arial"/>
              </a:rPr>
              <a:t>Shock-driven decline: M</a:t>
            </a:r>
            <a:r>
              <a:rPr lang="en-US" sz="2000" dirty="0">
                <a:solidFill>
                  <a:srgbClr val="000000"/>
                </a:solidFill>
                <a:latin typeface="Merriweather" pitchFamily="2" charset="77"/>
                <a:ea typeface="Arial"/>
                <a:cs typeface="Arial"/>
                <a:sym typeface="Arial"/>
              </a:rPr>
              <a:t>ass migration after hurricanes/earthquakes </a:t>
            </a:r>
          </a:p>
          <a:p>
            <a:pPr fontAlgn="base"/>
            <a:endParaRPr lang="en-US" sz="2000" dirty="0">
              <a:solidFill>
                <a:srgbClr val="000000"/>
              </a:solidFill>
              <a:latin typeface="Merriweather" pitchFamily="2" charset="77"/>
              <a:ea typeface="Arial"/>
              <a:cs typeface="Arial"/>
              <a:sym typeface="Arial"/>
            </a:endParaRPr>
          </a:p>
          <a:p>
            <a:pPr fontAlgn="base"/>
            <a:endParaRPr lang="en-US" sz="2000" dirty="0">
              <a:solidFill>
                <a:srgbClr val="000000"/>
              </a:solidFill>
              <a:latin typeface="Merriweather" pitchFamily="2" charset="77"/>
              <a:ea typeface="Arial"/>
              <a:cs typeface="Arial"/>
              <a:sym typeface="Arial"/>
            </a:endParaRPr>
          </a:p>
          <a:p>
            <a:pPr marL="285750" indent="-285750" fontAlgn="base">
              <a:buFont typeface="Arial" panose="020B0604020202020204" pitchFamily="34" charset="0"/>
              <a:buChar char="•"/>
            </a:pPr>
            <a:r>
              <a:rPr lang="en-US" sz="2000" b="1" dirty="0">
                <a:solidFill>
                  <a:srgbClr val="000000"/>
                </a:solidFill>
                <a:latin typeface="Merriweather" pitchFamily="2" charset="77"/>
                <a:ea typeface="Arial"/>
                <a:cs typeface="Arial"/>
                <a:sym typeface="Arial"/>
              </a:rPr>
              <a:t>The Goal:</a:t>
            </a:r>
            <a:r>
              <a:rPr lang="en-US" sz="2000" dirty="0">
                <a:solidFill>
                  <a:srgbClr val="000000"/>
                </a:solidFill>
                <a:latin typeface="Merriweather" pitchFamily="2" charset="77"/>
                <a:ea typeface="Arial"/>
                <a:cs typeface="Arial"/>
                <a:sym typeface="Arial"/>
              </a:rPr>
              <a:t> To build a predictive model tool that generates a Demographic Vulnerability Score (0 </a:t>
            </a:r>
            <a:r>
              <a:rPr lang="en-US" sz="2000" dirty="0">
                <a:solidFill>
                  <a:srgbClr val="000000"/>
                </a:solidFill>
                <a:latin typeface="Merriweather" pitchFamily="2" charset="77"/>
                <a:ea typeface="Arial"/>
                <a:cs typeface="Arial"/>
                <a:sym typeface="Wingdings" pitchFamily="2" charset="2"/>
              </a:rPr>
              <a:t> 1) </a:t>
            </a:r>
            <a:r>
              <a:rPr lang="en-US" sz="2000" dirty="0">
                <a:solidFill>
                  <a:srgbClr val="000000"/>
                </a:solidFill>
                <a:latin typeface="Merriweather" pitchFamily="2" charset="77"/>
                <a:ea typeface="Arial"/>
                <a:cs typeface="Arial"/>
                <a:sym typeface="Arial"/>
              </a:rPr>
              <a:t> for my customer: The Puerto Rico Planning Board</a:t>
            </a:r>
          </a:p>
          <a:p>
            <a:pPr marL="285750" indent="-285750" fontAlgn="base">
              <a:buFont typeface="Arial" panose="020B0604020202020204" pitchFamily="34" charset="0"/>
              <a:buChar char="•"/>
            </a:pPr>
            <a:endParaRPr lang="en-US" sz="2000" dirty="0">
              <a:solidFill>
                <a:srgbClr val="000000"/>
              </a:solidFill>
              <a:latin typeface="Merriweather" pitchFamily="2" charset="77"/>
              <a:ea typeface="Arial"/>
              <a:cs typeface="Arial"/>
              <a:sym typeface="Arial"/>
            </a:endParaRPr>
          </a:p>
          <a:p>
            <a:pPr marL="285750" indent="-285750" fontAlgn="base">
              <a:buFont typeface="Arial" panose="020B0604020202020204" pitchFamily="34" charset="0"/>
              <a:buChar char="•"/>
            </a:pPr>
            <a:r>
              <a:rPr lang="en-US" sz="2000" b="1" dirty="0">
                <a:solidFill>
                  <a:srgbClr val="000000"/>
                </a:solidFill>
                <a:latin typeface="Merriweather" pitchFamily="2" charset="77"/>
                <a:ea typeface="Arial"/>
                <a:cs typeface="Arial"/>
                <a:sym typeface="Arial"/>
              </a:rPr>
              <a:t>Importance: </a:t>
            </a:r>
            <a:r>
              <a:rPr lang="en-US" sz="2000" dirty="0">
                <a:solidFill>
                  <a:srgbClr val="000000"/>
                </a:solidFill>
                <a:latin typeface="Merriweather" pitchFamily="2" charset="77"/>
                <a:ea typeface="Arial"/>
                <a:cs typeface="Arial"/>
                <a:sym typeface="Arial"/>
              </a:rPr>
              <a:t>This score will tell policymakers not just which municipalities are shrinking, but </a:t>
            </a:r>
            <a:r>
              <a:rPr lang="en-US" sz="2000" i="1" dirty="0">
                <a:solidFill>
                  <a:srgbClr val="000000"/>
                </a:solidFill>
                <a:latin typeface="Merriweather" pitchFamily="2" charset="77"/>
                <a:ea typeface="Arial"/>
                <a:cs typeface="Arial"/>
                <a:sym typeface="Arial"/>
              </a:rPr>
              <a:t>which ones are at risk of collapse (No improvement!)</a:t>
            </a:r>
            <a:r>
              <a:rPr lang="en-US" sz="2000" dirty="0">
                <a:solidFill>
                  <a:srgbClr val="000000"/>
                </a:solidFill>
                <a:latin typeface="Merriweather" pitchFamily="2" charset="77"/>
                <a:ea typeface="Arial"/>
                <a:cs typeface="Arial"/>
                <a:sym typeface="Arial"/>
              </a:rPr>
              <a:t> due to low resilience, allowing for better resource allocation!</a:t>
            </a:r>
          </a:p>
          <a:p>
            <a:pPr marL="342900" indent="-342900">
              <a:buFont typeface="Arial" panose="020B0604020202020204" pitchFamily="34" charset="0"/>
              <a:buChar char="•"/>
            </a:pPr>
            <a:endParaRPr lang="en-US" b="1" dirty="0">
              <a:solidFill>
                <a:schemeClr val="tx1">
                  <a:lumMod val="75000"/>
                  <a:lumOff val="25000"/>
                </a:schemeClr>
              </a:solidFill>
              <a:latin typeface="Merriweather" pitchFamily="2" charset="77"/>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07D61C06-4217-96F7-ED30-1423151028C5}"/>
            </a:ext>
          </a:extLst>
        </p:cNvPr>
        <p:cNvGrpSpPr/>
        <p:nvPr/>
      </p:nvGrpSpPr>
      <p:grpSpPr>
        <a:xfrm>
          <a:off x="0" y="0"/>
          <a:ext cx="0" cy="0"/>
          <a:chOff x="0" y="0"/>
          <a:chExt cx="0" cy="0"/>
        </a:xfrm>
      </p:grpSpPr>
      <p:sp>
        <p:nvSpPr>
          <p:cNvPr id="103" name="Google Shape;103;p14">
            <a:extLst>
              <a:ext uri="{FF2B5EF4-FFF2-40B4-BE49-F238E27FC236}">
                <a16:creationId xmlns:a16="http://schemas.microsoft.com/office/drawing/2014/main" id="{B1793E83-1122-1FC3-F7BE-839635155236}"/>
              </a:ext>
            </a:extLst>
          </p:cNvPr>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fontAlgn="base"/>
            <a:r>
              <a:rPr lang="en-US" sz="3600" b="1" dirty="0">
                <a:solidFill>
                  <a:srgbClr val="000000"/>
                </a:solidFill>
                <a:latin typeface="Merriweather" pitchFamily="2" charset="77"/>
                <a:ea typeface="Arial"/>
                <a:cs typeface="Arial"/>
                <a:sym typeface="Arial"/>
              </a:rPr>
              <a:t>Expected Insights</a:t>
            </a:r>
            <a:endParaRPr lang="en-US" sz="3600" dirty="0">
              <a:solidFill>
                <a:srgbClr val="000000"/>
              </a:solidFill>
              <a:latin typeface="Merriweather" pitchFamily="2" charset="77"/>
              <a:ea typeface="Arial"/>
              <a:cs typeface="Arial"/>
              <a:sym typeface="Arial"/>
            </a:endParaRPr>
          </a:p>
        </p:txBody>
      </p:sp>
      <p:sp>
        <p:nvSpPr>
          <p:cNvPr id="104" name="Google Shape;104;p14">
            <a:extLst>
              <a:ext uri="{FF2B5EF4-FFF2-40B4-BE49-F238E27FC236}">
                <a16:creationId xmlns:a16="http://schemas.microsoft.com/office/drawing/2014/main" id="{27734248-EBB3-8859-B81B-AABFFF4E3875}"/>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69C5C7B1-4A72-92C6-8DC9-C4C36D580380}"/>
              </a:ext>
            </a:extLst>
          </p:cNvPr>
          <p:cNvSpPr txBox="1"/>
          <p:nvPr/>
        </p:nvSpPr>
        <p:spPr>
          <a:xfrm>
            <a:off x="571500" y="1469167"/>
            <a:ext cx="9043555" cy="5355312"/>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2000" b="1" dirty="0">
                <a:solidFill>
                  <a:srgbClr val="000000"/>
                </a:solidFill>
                <a:latin typeface="Merriweather" pitchFamily="2" charset="77"/>
                <a:ea typeface="Arial"/>
                <a:cs typeface="Arial"/>
                <a:sym typeface="Arial"/>
              </a:rPr>
              <a:t>Expected Insights:  </a:t>
            </a:r>
            <a:r>
              <a:rPr lang="en-US" sz="2000" dirty="0">
                <a:latin typeface="Merriweather" pitchFamily="2" charset="77"/>
              </a:rPr>
              <a:t>Identifying which municipalities are shrinking due to:</a:t>
            </a:r>
          </a:p>
          <a:p>
            <a:pPr marL="742950" lvl="1" indent="-285750" fontAlgn="base">
              <a:lnSpc>
                <a:spcPct val="150000"/>
              </a:lnSpc>
              <a:buFont typeface="Arial" panose="020B0604020202020204" pitchFamily="34" charset="0"/>
              <a:buChar char="•"/>
            </a:pPr>
            <a:r>
              <a:rPr lang="en-US" sz="2000" dirty="0">
                <a:latin typeface="Merriweather" pitchFamily="2" charset="77"/>
              </a:rPr>
              <a:t>Structural demographics (aging)</a:t>
            </a:r>
          </a:p>
          <a:p>
            <a:pPr marL="742950" lvl="1" indent="-285750" fontAlgn="base">
              <a:lnSpc>
                <a:spcPct val="150000"/>
              </a:lnSpc>
              <a:buFont typeface="Arial" panose="020B0604020202020204" pitchFamily="34" charset="0"/>
              <a:buChar char="•"/>
            </a:pPr>
            <a:r>
              <a:rPr lang="en-US" sz="2000" dirty="0">
                <a:latin typeface="Merriweather" pitchFamily="2" charset="77"/>
              </a:rPr>
              <a:t>External shocks (natural disasters)</a:t>
            </a:r>
          </a:p>
          <a:p>
            <a:pPr marL="742950" lvl="1" indent="-285750" fontAlgn="base">
              <a:lnSpc>
                <a:spcPct val="150000"/>
              </a:lnSpc>
              <a:buFont typeface="Arial" panose="020B0604020202020204" pitchFamily="34" charset="0"/>
              <a:buChar char="•"/>
            </a:pPr>
            <a:endParaRPr lang="en-US" sz="2000" dirty="0">
              <a:latin typeface="Merriweather" pitchFamily="2" charset="77"/>
            </a:endParaRPr>
          </a:p>
          <a:p>
            <a:pPr fontAlgn="base"/>
            <a:endParaRPr lang="en-US" sz="2000" dirty="0">
              <a:solidFill>
                <a:srgbClr val="000000"/>
              </a:solidFill>
              <a:latin typeface="Merriweather" pitchFamily="2" charset="77"/>
              <a:ea typeface="Arial"/>
              <a:cs typeface="Arial"/>
              <a:sym typeface="Arial"/>
            </a:endParaRPr>
          </a:p>
          <a:p>
            <a:pPr marL="288925" lvl="0"/>
            <a:r>
              <a:rPr lang="en-US" sz="2000" dirty="0">
                <a:solidFill>
                  <a:srgbClr val="000000"/>
                </a:solidFill>
                <a:latin typeface="Arial"/>
                <a:ea typeface="Arial"/>
                <a:cs typeface="Arial"/>
                <a:sym typeface="Arial"/>
              </a:rPr>
              <a:t>Today, existing tools track </a:t>
            </a:r>
            <a:r>
              <a:rPr lang="en-US" sz="2000" i="1" dirty="0">
                <a:solidFill>
                  <a:srgbClr val="000000"/>
                </a:solidFill>
                <a:latin typeface="Arial"/>
                <a:ea typeface="Arial"/>
                <a:cs typeface="Arial"/>
                <a:sym typeface="Arial"/>
              </a:rPr>
              <a:t>how many</a:t>
            </a:r>
            <a:r>
              <a:rPr lang="en-US" sz="2000" dirty="0">
                <a:solidFill>
                  <a:srgbClr val="000000"/>
                </a:solidFill>
                <a:latin typeface="Arial"/>
                <a:ea typeface="Arial"/>
                <a:cs typeface="Arial"/>
                <a:sym typeface="Arial"/>
              </a:rPr>
              <a:t> people leave, but they don't explain </a:t>
            </a:r>
            <a:r>
              <a:rPr lang="en-US" sz="2000" i="1" dirty="0">
                <a:solidFill>
                  <a:srgbClr val="000000"/>
                </a:solidFill>
                <a:latin typeface="Arial"/>
                <a:ea typeface="Arial"/>
                <a:cs typeface="Arial"/>
                <a:sym typeface="Arial"/>
              </a:rPr>
              <a:t>why </a:t>
            </a:r>
            <a:r>
              <a:rPr lang="en-US" sz="2000" dirty="0">
                <a:solidFill>
                  <a:srgbClr val="000000"/>
                </a:solidFill>
                <a:latin typeface="Arial"/>
                <a:ea typeface="Arial"/>
                <a:cs typeface="Arial"/>
                <a:sym typeface="Arial"/>
              </a:rPr>
              <a:t>— specifically, they fail to distinguish between towns shrinking due to "natural" demographic momentum versus those emptying out due to external shocks, like natural disasters</a:t>
            </a:r>
          </a:p>
          <a:p>
            <a:pPr marL="288925" lvl="0"/>
            <a:endParaRPr lang="en-US" sz="2000" dirty="0">
              <a:solidFill>
                <a:srgbClr val="000000"/>
              </a:solidFill>
              <a:latin typeface="Arial"/>
              <a:cs typeface="Arial"/>
              <a:sym typeface="Arial"/>
            </a:endParaRPr>
          </a:p>
          <a:p>
            <a:pPr marL="631825" indent="-342900">
              <a:buFont typeface="Arial" panose="020B0604020202020204" pitchFamily="34" charset="0"/>
              <a:buChar char="•"/>
            </a:pPr>
            <a:r>
              <a:rPr lang="en-US" dirty="0">
                <a:solidFill>
                  <a:srgbClr val="000000"/>
                </a:solidFill>
                <a:latin typeface="Arial"/>
                <a:cs typeface="Arial"/>
                <a:sym typeface="Arial"/>
              </a:rPr>
              <a:t>One tool is </a:t>
            </a:r>
            <a:r>
              <a:rPr lang="en-US" sz="1600" b="1" dirty="0"/>
              <a:t>Demographic Analysis &amp; Population Projection System (DAPPS) </a:t>
            </a:r>
            <a:r>
              <a:rPr lang="en-US" sz="1600" dirty="0"/>
              <a:t>Software from the Census Bureau and it doesn’t account for natural disasters!</a:t>
            </a:r>
          </a:p>
          <a:p>
            <a:pPr marL="631825" lvl="0" indent="-342900">
              <a:buFont typeface="Arial" panose="020B0604020202020204" pitchFamily="34" charset="0"/>
              <a:buChar char="•"/>
            </a:pPr>
            <a:endParaRPr lang="en-US" sz="2000" dirty="0">
              <a:latin typeface="Merriweather" pitchFamily="2" charset="77"/>
            </a:endParaRPr>
          </a:p>
          <a:p>
            <a:pPr marL="342900" indent="-342900">
              <a:buFont typeface="Arial" panose="020B0604020202020204" pitchFamily="34" charset="0"/>
              <a:buChar char="•"/>
            </a:pPr>
            <a:endParaRPr lang="en-US" b="1" dirty="0">
              <a:solidFill>
                <a:schemeClr val="tx1">
                  <a:lumMod val="75000"/>
                  <a:lumOff val="25000"/>
                </a:schemeClr>
              </a:solidFill>
              <a:latin typeface="Merriweather" pitchFamily="2" charset="77"/>
            </a:endParaRPr>
          </a:p>
        </p:txBody>
      </p:sp>
    </p:spTree>
    <p:extLst>
      <p:ext uri="{BB962C8B-B14F-4D97-AF65-F5344CB8AC3E}">
        <p14:creationId xmlns:p14="http://schemas.microsoft.com/office/powerpoint/2010/main" val="1729947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6A3B2E0F-1F4C-198C-8642-C7AE9B782DDB}"/>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E6155FB8-21BD-5532-7667-295FE945482A}"/>
              </a:ext>
            </a:extLst>
          </p:cNvPr>
          <p:cNvGraphicFramePr>
            <a:graphicFrameLocks noGrp="1"/>
          </p:cNvGraphicFramePr>
          <p:nvPr>
            <p:extLst>
              <p:ext uri="{D42A27DB-BD31-4B8C-83A1-F6EECF244321}">
                <p14:modId xmlns:p14="http://schemas.microsoft.com/office/powerpoint/2010/main" val="1899420010"/>
              </p:ext>
            </p:extLst>
          </p:nvPr>
        </p:nvGraphicFramePr>
        <p:xfrm>
          <a:off x="571499" y="1450339"/>
          <a:ext cx="11481956" cy="5360361"/>
        </p:xfrm>
        <a:graphic>
          <a:graphicData uri="http://schemas.openxmlformats.org/drawingml/2006/table">
            <a:tbl>
              <a:tblPr>
                <a:tableStyleId>{16D9F66E-5EB9-4882-86FB-DCBF35E3C3E4}</a:tableStyleId>
              </a:tblPr>
              <a:tblGrid>
                <a:gridCol w="2870489">
                  <a:extLst>
                    <a:ext uri="{9D8B030D-6E8A-4147-A177-3AD203B41FA5}">
                      <a16:colId xmlns:a16="http://schemas.microsoft.com/office/drawing/2014/main" val="2776801543"/>
                    </a:ext>
                  </a:extLst>
                </a:gridCol>
                <a:gridCol w="2870489">
                  <a:extLst>
                    <a:ext uri="{9D8B030D-6E8A-4147-A177-3AD203B41FA5}">
                      <a16:colId xmlns:a16="http://schemas.microsoft.com/office/drawing/2014/main" val="1631583992"/>
                    </a:ext>
                  </a:extLst>
                </a:gridCol>
                <a:gridCol w="2870489">
                  <a:extLst>
                    <a:ext uri="{9D8B030D-6E8A-4147-A177-3AD203B41FA5}">
                      <a16:colId xmlns:a16="http://schemas.microsoft.com/office/drawing/2014/main" val="3386111378"/>
                    </a:ext>
                  </a:extLst>
                </a:gridCol>
                <a:gridCol w="2870489">
                  <a:extLst>
                    <a:ext uri="{9D8B030D-6E8A-4147-A177-3AD203B41FA5}">
                      <a16:colId xmlns:a16="http://schemas.microsoft.com/office/drawing/2014/main" val="3400256682"/>
                    </a:ext>
                  </a:extLst>
                </a:gridCol>
              </a:tblGrid>
              <a:tr h="307707">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Data Category</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Source</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a:solidFill>
                            <a:schemeClr val="dk1"/>
                          </a:solidFill>
                          <a:effectLst/>
                          <a:latin typeface="Merriweather" pitchFamily="2" charset="77"/>
                        </a:rPr>
                        <a:t>Variables (Features)</a:t>
                      </a:r>
                      <a:endParaRPr lang="en-US" sz="1200" b="1" kern="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a:solidFill>
                            <a:schemeClr val="dk1"/>
                          </a:solidFill>
                          <a:effectLst/>
                          <a:latin typeface="Merriweather" pitchFamily="2" charset="77"/>
                        </a:rPr>
                        <a:t>Why it’s Appropriate</a:t>
                      </a:r>
                      <a:endParaRPr lang="en-US" sz="1200" b="1" kern="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3605308596"/>
                  </a:ext>
                </a:extLst>
              </a:tr>
              <a:tr h="866902">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Target Variable</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U.S. Census PEP (Population Estimates Program)</a:t>
                      </a:r>
                    </a:p>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 </a:t>
                      </a:r>
                      <a:endParaRPr lang="en-US" sz="1200" b="1" kern="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Total Population</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Net Migration</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This is the Ground Truth variable we are trying to predict.</a:t>
                      </a:r>
                      <a:endParaRPr lang="en-US" sz="1200" b="1" kern="0" dirty="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838205945"/>
                  </a:ext>
                </a:extLst>
              </a:tr>
              <a:tr h="855097">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Demographic Structure</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U.S. Census / Vital Stats</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Age Structure (% under 15, % over 65)</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Crude Birth Rate</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These proxy Demographic Momentum—the internal speed of decline regardless of hurricanes.</a:t>
                      </a:r>
                      <a:endParaRPr lang="en-US" sz="1200" b="1" kern="0" dirty="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1606772923"/>
                  </a:ext>
                </a:extLst>
              </a:tr>
              <a:tr h="962408">
                <a:tc>
                  <a:txBody>
                    <a:bodyPr/>
                    <a:lstStyle/>
                    <a:p>
                      <a:pPr marL="0" marR="0" algn="l" defTabSz="457200" rtl="0" eaLnBrk="1" latinLnBrk="0" hangingPunct="1">
                        <a:lnSpc>
                          <a:spcPct val="115000"/>
                        </a:lnSpc>
                        <a:spcBef>
                          <a:spcPts val="600"/>
                        </a:spcBef>
                        <a:spcAft>
                          <a:spcPts val="800"/>
                        </a:spcAft>
                        <a:buNone/>
                      </a:pPr>
                      <a:r>
                        <a:rPr lang="en-US" sz="1200" b="1" kern="0">
                          <a:solidFill>
                            <a:schemeClr val="dk1"/>
                          </a:solidFill>
                          <a:effectLst/>
                          <a:latin typeface="Merriweather" pitchFamily="2" charset="77"/>
                        </a:rPr>
                        <a:t>Economic Resilience</a:t>
                      </a:r>
                      <a:endParaRPr lang="en-US" sz="1200" b="1" kern="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ACS (American Community Survey) &amp; County Business Patterns</a:t>
                      </a: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Unemployment Rate</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Payroll Counts</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Establishment Counts</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Economic health acts as a "buffer." Towns with jobs may retain people better after a storm.</a:t>
                      </a:r>
                      <a:endParaRPr lang="en-US" sz="1200" b="1" kern="0" dirty="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3744685404"/>
                  </a:ext>
                </a:extLst>
              </a:tr>
              <a:tr h="975694">
                <a:tc>
                  <a:txBody>
                    <a:bodyPr/>
                    <a:lstStyle/>
                    <a:p>
                      <a:pPr marL="0" marR="0" algn="l" defTabSz="457200" rtl="0" eaLnBrk="1" latinLnBrk="0" hangingPunct="1">
                        <a:lnSpc>
                          <a:spcPct val="115000"/>
                        </a:lnSpc>
                        <a:spcBef>
                          <a:spcPts val="600"/>
                        </a:spcBef>
                        <a:spcAft>
                          <a:spcPts val="800"/>
                        </a:spcAft>
                        <a:buNone/>
                      </a:pPr>
                      <a:r>
                        <a:rPr lang="en-US" sz="1200" b="1" kern="0">
                          <a:solidFill>
                            <a:schemeClr val="dk1"/>
                          </a:solidFill>
                          <a:effectLst/>
                          <a:latin typeface="Merriweather" pitchFamily="2" charset="77"/>
                        </a:rPr>
                        <a:t>Social Vulnerability</a:t>
                      </a:r>
                      <a:endParaRPr lang="en-US" sz="1200" b="1" kern="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CDC SVI (Social Vulnerability </a:t>
                      </a:r>
                      <a:r>
                        <a:rPr lang="en-US" sz="1200" b="1" kern="0">
                          <a:solidFill>
                            <a:schemeClr val="dk1"/>
                          </a:solidFill>
                          <a:effectLst/>
                          <a:latin typeface="Merriweather" pitchFamily="2" charset="77"/>
                        </a:rPr>
                        <a:t>Index)</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Poverty Rate</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Transportation / % No Vehicle</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 Disabled, etc.</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16 census-based variables</a:t>
                      </a:r>
                    </a:p>
                  </a:txBody>
                  <a:tcPr marL="67456" marR="67456" marT="44971" marB="44971"/>
                </a:tc>
                <a:extLst>
                  <a:ext uri="{0D108BD9-81ED-4DB2-BD59-A6C34878D82A}">
                    <a16:rowId xmlns:a16="http://schemas.microsoft.com/office/drawing/2014/main" val="423358637"/>
                  </a:ext>
                </a:extLst>
              </a:tr>
              <a:tr h="866902">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External Shocks</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NOAA &amp; USGS</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Hurricane Strike (Binary/Categorical)</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Earthquake Intensity</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Allows the model to distinguish "shock years" (2017, 2020) from "normal years."</a:t>
                      </a:r>
                      <a:endParaRPr lang="en-US" sz="1200" b="1" kern="0" dirty="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2831891992"/>
                  </a:ext>
                </a:extLst>
              </a:tr>
              <a:tr h="525651">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Safety &amp; Security</a:t>
                      </a: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Puerto Rico Police Bureau</a:t>
                      </a: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Violent and Property Crime Rates </a:t>
                      </a:r>
                      <a:r>
                        <a:rPr lang="en-US" sz="1200" b="1" kern="0">
                          <a:solidFill>
                            <a:schemeClr val="dk1"/>
                          </a:solidFill>
                          <a:effectLst/>
                          <a:latin typeface="Merriweather" pitchFamily="2" charset="77"/>
                          <a:ea typeface="+mn-ea"/>
                          <a:cs typeface="+mn-cs"/>
                        </a:rPr>
                        <a:t>per capita</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Controls for "Safety-Driven Displacement"</a:t>
                      </a:r>
                    </a:p>
                  </a:txBody>
                  <a:tcPr marL="67456" marR="67456" marT="44971" marB="44971"/>
                </a:tc>
                <a:extLst>
                  <a:ext uri="{0D108BD9-81ED-4DB2-BD59-A6C34878D82A}">
                    <a16:rowId xmlns:a16="http://schemas.microsoft.com/office/drawing/2014/main" val="3646814754"/>
                  </a:ext>
                </a:extLst>
              </a:tr>
            </a:tbl>
          </a:graphicData>
        </a:graphic>
      </p:graphicFrame>
      <p:sp>
        <p:nvSpPr>
          <p:cNvPr id="4" name="Google Shape;148;p16">
            <a:extLst>
              <a:ext uri="{FF2B5EF4-FFF2-40B4-BE49-F238E27FC236}">
                <a16:creationId xmlns:a16="http://schemas.microsoft.com/office/drawing/2014/main" id="{9788B4DA-6EB7-10A5-7B03-B5C288E6CF2B}"/>
              </a:ext>
            </a:extLst>
          </p:cNvPr>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dirty="0">
                <a:latin typeface="Merriweather"/>
                <a:ea typeface="Merriweather"/>
                <a:cs typeface="Merriweather"/>
                <a:sym typeface="Merriweather"/>
              </a:rPr>
              <a:t>Integrated Data Architecture</a:t>
            </a:r>
            <a:endParaRPr dirty="0"/>
          </a:p>
        </p:txBody>
      </p:sp>
      <p:sp>
        <p:nvSpPr>
          <p:cNvPr id="5" name="Rectangle 4">
            <a:extLst>
              <a:ext uri="{FF2B5EF4-FFF2-40B4-BE49-F238E27FC236}">
                <a16:creationId xmlns:a16="http://schemas.microsoft.com/office/drawing/2014/main" id="{C7E982BD-80E2-A391-B2CA-6E69F5DAED35}"/>
              </a:ext>
            </a:extLst>
          </p:cNvPr>
          <p:cNvSpPr/>
          <p:nvPr/>
        </p:nvSpPr>
        <p:spPr>
          <a:xfrm>
            <a:off x="6291072" y="1450339"/>
            <a:ext cx="2865120" cy="5407661"/>
          </a:xfrm>
          <a:prstGeom prst="rect">
            <a:avLst/>
          </a:prstGeom>
          <a:noFill/>
          <a:ln w="762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Google Shape;122;p15">
            <a:extLst>
              <a:ext uri="{FF2B5EF4-FFF2-40B4-BE49-F238E27FC236}">
                <a16:creationId xmlns:a16="http://schemas.microsoft.com/office/drawing/2014/main" id="{5BAC4574-73F5-5AAA-EA20-73A33BCBBC7D}"/>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1346214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D0C07351-CC76-64D7-C97C-E8135D91FB20}"/>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27173301-C0B4-7274-AA7A-A48B56300CA0}"/>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29885471-EFF5-F924-9293-F9C828DED3F9}"/>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27CDE3B-CC27-BB7E-3635-7B0660CD3FBA}"/>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variables information:</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27CDE3B-CC27-BB7E-3635-7B0660CD3FBA}"/>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12632617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48DC5FCB-68BE-A7B2-3048-3FBEB45CF53E}"/>
            </a:ext>
          </a:extLst>
        </p:cNvPr>
        <p:cNvGrpSpPr/>
        <p:nvPr/>
      </p:nvGrpSpPr>
      <p:grpSpPr>
        <a:xfrm>
          <a:off x="0" y="0"/>
          <a:ext cx="0" cy="0"/>
          <a:chOff x="0" y="0"/>
          <a:chExt cx="0" cy="0"/>
        </a:xfrm>
      </p:grpSpPr>
      <p:sp>
        <p:nvSpPr>
          <p:cNvPr id="103" name="Google Shape;103;p14">
            <a:extLst>
              <a:ext uri="{FF2B5EF4-FFF2-40B4-BE49-F238E27FC236}">
                <a16:creationId xmlns:a16="http://schemas.microsoft.com/office/drawing/2014/main" id="{689DF898-FDBD-E2CF-EFC4-3D418AD1E87D}"/>
              </a:ext>
            </a:extLst>
          </p:cNvPr>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fontAlgn="base"/>
            <a:r>
              <a:rPr lang="en-US" sz="3600" b="1" dirty="0">
                <a:latin typeface="Merriweather" pitchFamily="2" charset="77"/>
              </a:rPr>
              <a:t>Data Viability &amp; Limitations</a:t>
            </a:r>
            <a:endParaRPr lang="en-US" sz="3600" dirty="0">
              <a:latin typeface="Merriweather" pitchFamily="2" charset="77"/>
            </a:endParaRPr>
          </a:p>
        </p:txBody>
      </p:sp>
      <p:sp>
        <p:nvSpPr>
          <p:cNvPr id="104" name="Google Shape;104;p14">
            <a:extLst>
              <a:ext uri="{FF2B5EF4-FFF2-40B4-BE49-F238E27FC236}">
                <a16:creationId xmlns:a16="http://schemas.microsoft.com/office/drawing/2014/main" id="{A75E8988-69E4-1A49-C73D-13D35757ED39}"/>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A575159E-617B-692E-E980-557348AEFC4D}"/>
              </a:ext>
            </a:extLst>
          </p:cNvPr>
          <p:cNvSpPr txBox="1"/>
          <p:nvPr/>
        </p:nvSpPr>
        <p:spPr>
          <a:xfrm>
            <a:off x="571500" y="1469167"/>
            <a:ext cx="9393290" cy="4524315"/>
          </a:xfrm>
          <a:prstGeom prst="rect">
            <a:avLst/>
          </a:prstGeom>
          <a:noFill/>
        </p:spPr>
        <p:txBody>
          <a:bodyPr wrap="square">
            <a:spAutoFit/>
          </a:bodyPr>
          <a:lstStyle/>
          <a:p>
            <a:pPr marL="285750" lvl="0" indent="-285750" fontAlgn="base">
              <a:buFont typeface="Arial" panose="020B0604020202020204" pitchFamily="34" charset="0"/>
              <a:buChar char="•"/>
            </a:pPr>
            <a:r>
              <a:rPr lang="en-US" sz="2400" b="1" dirty="0">
                <a:latin typeface="Merriweather" pitchFamily="2" charset="77"/>
              </a:rPr>
              <a:t>Viability:</a:t>
            </a:r>
            <a:r>
              <a:rPr lang="en-US" sz="2400" dirty="0">
                <a:latin typeface="Merriweather" pitchFamily="2" charset="77"/>
              </a:rPr>
              <a:t> </a:t>
            </a:r>
          </a:p>
          <a:p>
            <a:pPr lvl="1" fontAlgn="base"/>
            <a:r>
              <a:rPr lang="en-US" sz="2400" dirty="0">
                <a:latin typeface="Merriweather" pitchFamily="2" charset="77"/>
              </a:rPr>
              <a:t>All data is publicly available, government-certified, and covers the exact same geographic boundaries (78 Municipalities of Puerto Rico)</a:t>
            </a:r>
          </a:p>
          <a:p>
            <a:pPr lvl="0" fontAlgn="base"/>
            <a:endParaRPr lang="en-US" sz="2400" dirty="0">
              <a:latin typeface="Merriweather" pitchFamily="2" charset="77"/>
            </a:endParaRPr>
          </a:p>
          <a:p>
            <a:pPr marL="285750" lvl="0" indent="-285750" fontAlgn="base">
              <a:buFont typeface="Arial" panose="020B0604020202020204" pitchFamily="34" charset="0"/>
              <a:buChar char="•"/>
            </a:pPr>
            <a:r>
              <a:rPr lang="en-US" sz="2400" b="1" dirty="0">
                <a:latin typeface="Merriweather" pitchFamily="2" charset="77"/>
              </a:rPr>
              <a:t>Limitation:</a:t>
            </a:r>
          </a:p>
          <a:p>
            <a:pPr lvl="1" fontAlgn="base"/>
            <a:r>
              <a:rPr lang="en-US" sz="2400" dirty="0">
                <a:latin typeface="Merriweather" pitchFamily="2" charset="77"/>
              </a:rPr>
              <a:t>Migration data at the town/</a:t>
            </a:r>
            <a:r>
              <a:rPr lang="en-US" sz="2400" dirty="0" err="1">
                <a:latin typeface="Merriweather" pitchFamily="2" charset="77"/>
              </a:rPr>
              <a:t>monucipality</a:t>
            </a:r>
            <a:r>
              <a:rPr lang="en-US" sz="2400" dirty="0">
                <a:latin typeface="Merriweather" pitchFamily="2" charset="77"/>
              </a:rPr>
              <a:t> level can be "noisy" (volatile)</a:t>
            </a:r>
          </a:p>
          <a:p>
            <a:pPr lvl="0" fontAlgn="base"/>
            <a:endParaRPr lang="en-US" sz="2400" dirty="0">
              <a:latin typeface="Merriweather" pitchFamily="2" charset="77"/>
            </a:endParaRPr>
          </a:p>
          <a:p>
            <a:pPr marL="285750" indent="-285750">
              <a:buFont typeface="Arial" panose="020B0604020202020204" pitchFamily="34" charset="0"/>
              <a:buChar char="•"/>
            </a:pPr>
            <a:r>
              <a:rPr lang="en-US" sz="2400" b="1" dirty="0">
                <a:latin typeface="Merriweather" pitchFamily="2" charset="77"/>
              </a:rPr>
              <a:t>Mitigation:</a:t>
            </a:r>
            <a:r>
              <a:rPr lang="en-US" sz="2400" dirty="0">
                <a:latin typeface="Merriweather" pitchFamily="2" charset="77"/>
              </a:rPr>
              <a:t> </a:t>
            </a:r>
          </a:p>
          <a:p>
            <a:pPr lvl="1"/>
            <a:r>
              <a:rPr lang="en-US" sz="2400" dirty="0">
                <a:latin typeface="Merriweather" pitchFamily="2" charset="77"/>
              </a:rPr>
              <a:t>Smooth this noise using Regularization techniques (Ridge/Lasso) that penalize outliers.</a:t>
            </a:r>
            <a:r>
              <a:rPr lang="en-US" sz="2000" dirty="0">
                <a:latin typeface="Merriweather" pitchFamily="2" charset="77"/>
              </a:rPr>
              <a:t> </a:t>
            </a:r>
            <a:endParaRPr lang="en-US" sz="2000" b="1" dirty="0">
              <a:solidFill>
                <a:schemeClr val="tx1">
                  <a:lumMod val="75000"/>
                  <a:lumOff val="25000"/>
                </a:schemeClr>
              </a:solidFill>
              <a:latin typeface="Merriweather" pitchFamily="2" charset="77"/>
            </a:endParaRPr>
          </a:p>
        </p:txBody>
      </p:sp>
    </p:spTree>
    <p:extLst>
      <p:ext uri="{BB962C8B-B14F-4D97-AF65-F5344CB8AC3E}">
        <p14:creationId xmlns:p14="http://schemas.microsoft.com/office/powerpoint/2010/main" val="31156401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0"/>
        <p:cNvGrpSpPr/>
        <p:nvPr/>
      </p:nvGrpSpPr>
      <p:grpSpPr>
        <a:xfrm>
          <a:off x="0" y="0"/>
          <a:ext cx="0" cy="0"/>
          <a:chOff x="0" y="0"/>
          <a:chExt cx="0" cy="0"/>
        </a:xfrm>
      </p:grpSpPr>
      <p:sp>
        <p:nvSpPr>
          <p:cNvPr id="216" name="Google Shape;216;p21"/>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dirty="0">
                <a:latin typeface="Merriweather"/>
                <a:ea typeface="Merriweather"/>
                <a:cs typeface="Merriweather"/>
                <a:sym typeface="Merriweather"/>
              </a:rPr>
              <a:t>Timeline and Milestones </a:t>
            </a:r>
            <a:endParaRPr dirty="0"/>
          </a:p>
        </p:txBody>
      </p:sp>
      <p:sp>
        <p:nvSpPr>
          <p:cNvPr id="217" name="Google Shape;217;p21"/>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aphicFrame>
        <p:nvGraphicFramePr>
          <p:cNvPr id="2" name="Table 1">
            <a:extLst>
              <a:ext uri="{FF2B5EF4-FFF2-40B4-BE49-F238E27FC236}">
                <a16:creationId xmlns:a16="http://schemas.microsoft.com/office/drawing/2014/main" id="{6FB321E9-64B3-87B4-341C-34471D9A24C4}"/>
              </a:ext>
            </a:extLst>
          </p:cNvPr>
          <p:cNvGraphicFramePr>
            <a:graphicFrameLocks noGrp="1"/>
          </p:cNvGraphicFramePr>
          <p:nvPr>
            <p:extLst>
              <p:ext uri="{D42A27DB-BD31-4B8C-83A1-F6EECF244321}">
                <p14:modId xmlns:p14="http://schemas.microsoft.com/office/powerpoint/2010/main" val="1943519082"/>
              </p:ext>
            </p:extLst>
          </p:nvPr>
        </p:nvGraphicFramePr>
        <p:xfrm>
          <a:off x="571497" y="1474827"/>
          <a:ext cx="11049000" cy="5135208"/>
        </p:xfrm>
        <a:graphic>
          <a:graphicData uri="http://schemas.openxmlformats.org/drawingml/2006/table">
            <a:tbl>
              <a:tblPr firstRow="1" firstCol="1" bandRow="1">
                <a:tableStyleId>{16D9F66E-5EB9-4882-86FB-DCBF35E3C3E4}</a:tableStyleId>
              </a:tblPr>
              <a:tblGrid>
                <a:gridCol w="2762250">
                  <a:extLst>
                    <a:ext uri="{9D8B030D-6E8A-4147-A177-3AD203B41FA5}">
                      <a16:colId xmlns:a16="http://schemas.microsoft.com/office/drawing/2014/main" val="1544926438"/>
                    </a:ext>
                  </a:extLst>
                </a:gridCol>
                <a:gridCol w="2762250">
                  <a:extLst>
                    <a:ext uri="{9D8B030D-6E8A-4147-A177-3AD203B41FA5}">
                      <a16:colId xmlns:a16="http://schemas.microsoft.com/office/drawing/2014/main" val="3827530210"/>
                    </a:ext>
                  </a:extLst>
                </a:gridCol>
                <a:gridCol w="2762250">
                  <a:extLst>
                    <a:ext uri="{9D8B030D-6E8A-4147-A177-3AD203B41FA5}">
                      <a16:colId xmlns:a16="http://schemas.microsoft.com/office/drawing/2014/main" val="163946974"/>
                    </a:ext>
                  </a:extLst>
                </a:gridCol>
                <a:gridCol w="2762250">
                  <a:extLst>
                    <a:ext uri="{9D8B030D-6E8A-4147-A177-3AD203B41FA5}">
                      <a16:colId xmlns:a16="http://schemas.microsoft.com/office/drawing/2014/main" val="3546596856"/>
                    </a:ext>
                  </a:extLst>
                </a:gridCol>
              </a:tblGrid>
              <a:tr h="281543">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Phase</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Timeline</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Key Activities</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Milestones &amp; Deliverables</a:t>
                      </a:r>
                      <a:endParaRPr lang="en-US" sz="1200" b="1" kern="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1318399390"/>
                  </a:ext>
                </a:extLst>
              </a:tr>
              <a:tr h="1252935">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I: Data Engineering</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Weeks 1–3</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Data acquisition and harmonization of Census, Vital Statistics, and hazard data into a municipal-level panel. </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Milestone: Finalized, standardized wide-format JSON/CSV dataset ready for modeling.</a:t>
                      </a:r>
                      <a:endParaRPr lang="en-US" sz="1200" b="1" kern="0" dirty="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2308954954"/>
                  </a:ext>
                </a:extLst>
              </a:tr>
              <a:tr h="1414983">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II: Supervised Modeling</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Weeks 4–6</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Development and tuning of Ridge/Lasso and tree-based forecasting models. </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Milestone: Validated population change forecasts with documented metrics.</a:t>
                      </a:r>
                      <a:endParaRPr lang="en-US" sz="1200" b="1" kern="0" dirty="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1972961095"/>
                  </a:ext>
                </a:extLst>
              </a:tr>
              <a:tr h="827334">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III: Unsupervised Modeling</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Weeks 7–9</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Application of K-means/hierarchical clustering to establish municipal typologies. </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Milestone: Composite Municipal Demographic Vulnerability Scores and driver rankings.</a:t>
                      </a:r>
                      <a:endParaRPr lang="en-US" sz="1200" b="1" kern="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1367157351"/>
                  </a:ext>
                </a:extLst>
              </a:tr>
              <a:tr h="1090888">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IV: Synthesis &amp; Reporting</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Weeks 10–12</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Scenario simulation and development of spatial visualizations for the dashboard. Drafting of the final capstone report and presentation materials.</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Milestone: Final submission of report, code repository, poster, and live dashboard demo.</a:t>
                      </a:r>
                      <a:endParaRPr lang="en-US" sz="1200" b="1" kern="0" dirty="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3485564295"/>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71507631-EC4E-2BB8-0A9E-B79C2D08B07E}"/>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68B3B535-048D-C9CF-CB92-97CC6687BC27}"/>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Methodology </a:t>
            </a:r>
            <a:endParaRPr sz="3600" b="1" dirty="0">
              <a:latin typeface="Merriweather"/>
            </a:endParaRPr>
          </a:p>
        </p:txBody>
      </p:sp>
      <p:sp>
        <p:nvSpPr>
          <p:cNvPr id="122" name="Google Shape;122;p15">
            <a:extLst>
              <a:ext uri="{FF2B5EF4-FFF2-40B4-BE49-F238E27FC236}">
                <a16:creationId xmlns:a16="http://schemas.microsoft.com/office/drawing/2014/main" id="{C15D9706-E0EF-8182-5E30-B4347AD7686D}"/>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E212188C-A8E7-6CBA-C8DB-92BA37D564E4}"/>
              </a:ext>
            </a:extLst>
          </p:cNvPr>
          <p:cNvSpPr txBox="1"/>
          <p:nvPr/>
        </p:nvSpPr>
        <p:spPr>
          <a:xfrm>
            <a:off x="472643" y="1519363"/>
            <a:ext cx="9336375" cy="501675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Phase I: Supervised Forecasting (The "Prediction")</a:t>
            </a:r>
          </a:p>
          <a:p>
            <a:pPr lvl="1" fontAlgn="base"/>
            <a:r>
              <a:rPr lang="en-US" sz="2000" b="1" dirty="0">
                <a:latin typeface="Merriweather" pitchFamily="2" charset="77"/>
              </a:rPr>
              <a:t>Objective:</a:t>
            </a:r>
            <a:r>
              <a:rPr lang="en-US" sz="2000" dirty="0">
                <a:latin typeface="Merriweather" pitchFamily="2" charset="77"/>
              </a:rPr>
              <a:t> Predict the population change for each municipality based on the variables above</a:t>
            </a:r>
          </a:p>
          <a:p>
            <a:pPr lvl="1" fontAlgn="base"/>
            <a:endParaRPr lang="en-US" sz="2000" dirty="0">
              <a:latin typeface="Merriweather" pitchFamily="2" charset="77"/>
            </a:endParaRPr>
          </a:p>
          <a:p>
            <a:pPr marL="285750" lvl="0" indent="-285750" fontAlgn="base">
              <a:buFont typeface="Arial" panose="020B0604020202020204" pitchFamily="34" charset="0"/>
              <a:buChar char="•"/>
            </a:pPr>
            <a:r>
              <a:rPr lang="en-US" sz="2000" b="1" dirty="0">
                <a:latin typeface="Merriweather" pitchFamily="2" charset="77"/>
              </a:rPr>
              <a:t>Algorithms:</a:t>
            </a:r>
            <a:endParaRPr lang="en-US" sz="2000" dirty="0">
              <a:latin typeface="Merriweather" pitchFamily="2" charset="77"/>
            </a:endParaRPr>
          </a:p>
          <a:p>
            <a:pPr marL="742950" lvl="1" indent="-285750" fontAlgn="base">
              <a:buFont typeface="Arial" panose="020B0604020202020204" pitchFamily="34" charset="0"/>
              <a:buChar char="•"/>
            </a:pPr>
            <a:r>
              <a:rPr lang="en-US" sz="2000" b="1" dirty="0">
                <a:latin typeface="Merriweather" pitchFamily="2" charset="77"/>
              </a:rPr>
              <a:t>Lasso Regression:</a:t>
            </a:r>
            <a:r>
              <a:rPr lang="en-US" sz="2000" dirty="0">
                <a:latin typeface="Merriweather" pitchFamily="2" charset="77"/>
              </a:rPr>
              <a:t> To identify which variables (e.g., Poverty vs. Age) drive the decline and filter out noise</a:t>
            </a:r>
          </a:p>
          <a:p>
            <a:pPr marL="742950" lvl="1" indent="-285750" fontAlgn="base">
              <a:buFont typeface="Arial" panose="020B0604020202020204" pitchFamily="34" charset="0"/>
              <a:buChar char="•"/>
            </a:pPr>
            <a:endParaRPr lang="en-US" sz="2000" dirty="0">
              <a:latin typeface="Merriweather" pitchFamily="2" charset="77"/>
            </a:endParaRPr>
          </a:p>
          <a:p>
            <a:pPr marL="742950" lvl="1" indent="-285750" fontAlgn="base">
              <a:buFont typeface="Arial" panose="020B0604020202020204" pitchFamily="34" charset="0"/>
              <a:buChar char="•"/>
            </a:pPr>
            <a:r>
              <a:rPr lang="en-US" sz="2000" b="1" dirty="0">
                <a:latin typeface="Merriweather" pitchFamily="2" charset="77"/>
              </a:rPr>
              <a:t>Random Forest / Gradient Boosting:</a:t>
            </a:r>
            <a:r>
              <a:rPr lang="en-US" sz="2000" dirty="0">
                <a:latin typeface="Merriweather" pitchFamily="2" charset="77"/>
              </a:rPr>
              <a:t> To capture "non-linear" events. (Example: Population doesn't drop in a straight line; it "cliffs" after a hurricane. Trees handle these cliffs better than linear regression)</a:t>
            </a:r>
            <a:br>
              <a:rPr lang="en-US" sz="2000" dirty="0">
                <a:latin typeface="Merriweather" pitchFamily="2" charset="77"/>
              </a:rPr>
            </a:br>
            <a:endParaRPr lang="en-US" sz="2000" dirty="0">
              <a:latin typeface="Merriweather" pitchFamily="2" charset="77"/>
            </a:endParaRPr>
          </a:p>
          <a:p>
            <a:pPr marL="285750" indent="-285750">
              <a:buFont typeface="Arial" panose="020B0604020202020204" pitchFamily="34" charset="0"/>
              <a:buChar char="•"/>
            </a:pPr>
            <a:r>
              <a:rPr lang="en-US" sz="2000" b="1" dirty="0">
                <a:latin typeface="Merriweather" pitchFamily="2" charset="77"/>
              </a:rPr>
              <a:t>Validation Strategy:</a:t>
            </a:r>
            <a:r>
              <a:rPr lang="en-US" sz="2000" dirty="0">
                <a:latin typeface="Merriweather" pitchFamily="2" charset="77"/>
              </a:rPr>
              <a:t> Train the model on data from </a:t>
            </a:r>
            <a:r>
              <a:rPr lang="en-US" sz="2000" b="1" dirty="0">
                <a:latin typeface="Merriweather" pitchFamily="2" charset="77"/>
              </a:rPr>
              <a:t>2010–2016</a:t>
            </a:r>
            <a:r>
              <a:rPr lang="en-US" sz="2000" dirty="0">
                <a:latin typeface="Merriweather" pitchFamily="2" charset="77"/>
              </a:rPr>
              <a:t> and test if it can accurately predict the crash in </a:t>
            </a:r>
            <a:r>
              <a:rPr lang="en-US" sz="2000" b="1" dirty="0">
                <a:latin typeface="Merriweather" pitchFamily="2" charset="77"/>
              </a:rPr>
              <a:t>2017 (Hurricane Maria)</a:t>
            </a:r>
            <a:r>
              <a:rPr lang="en-US" sz="2000" dirty="0">
                <a:latin typeface="Merriweather" pitchFamily="2" charset="77"/>
              </a:rPr>
              <a:t>. This proves the model understands "shocks"</a:t>
            </a:r>
            <a:endParaRPr lang="en-US" sz="4400" b="1" dirty="0">
              <a:solidFill>
                <a:schemeClr val="tx1">
                  <a:lumMod val="75000"/>
                  <a:lumOff val="25000"/>
                </a:schemeClr>
              </a:solidFill>
              <a:latin typeface="Merriweather" pitchFamily="2" charset="77"/>
            </a:endParaRPr>
          </a:p>
        </p:txBody>
      </p:sp>
    </p:spTree>
    <p:extLst>
      <p:ext uri="{BB962C8B-B14F-4D97-AF65-F5344CB8AC3E}">
        <p14:creationId xmlns:p14="http://schemas.microsoft.com/office/powerpoint/2010/main" val="12362936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6AAE5B3E-124A-0E53-265B-B432CE9573A3}"/>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6A154461-7246-4411-1A17-724F54EEB480}"/>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Methodology (Cont.) </a:t>
            </a:r>
            <a:endParaRPr sz="3600" b="1" dirty="0">
              <a:latin typeface="Merriweather"/>
            </a:endParaRPr>
          </a:p>
        </p:txBody>
      </p:sp>
      <p:sp>
        <p:nvSpPr>
          <p:cNvPr id="122" name="Google Shape;122;p15">
            <a:extLst>
              <a:ext uri="{FF2B5EF4-FFF2-40B4-BE49-F238E27FC236}">
                <a16:creationId xmlns:a16="http://schemas.microsoft.com/office/drawing/2014/main" id="{1133CDFA-74F4-61AC-3D6A-1EC8EC724E02}"/>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E13DB30C-D98C-0DD2-A6C5-50F382E70EA8}"/>
              </a:ext>
            </a:extLst>
          </p:cNvPr>
          <p:cNvSpPr txBox="1"/>
          <p:nvPr/>
        </p:nvSpPr>
        <p:spPr>
          <a:xfrm>
            <a:off x="472643" y="1519363"/>
            <a:ext cx="9170121" cy="4814267"/>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Phase II: Unsupervised Clustering (The "Typology")</a:t>
            </a:r>
          </a:p>
          <a:p>
            <a:pPr lvl="1"/>
            <a:r>
              <a:rPr lang="en-US" sz="2000" b="1" dirty="0">
                <a:latin typeface="Merriweather" pitchFamily="2" charset="77"/>
              </a:rPr>
              <a:t>Objective:</a:t>
            </a:r>
            <a:r>
              <a:rPr lang="en-US" sz="2000" dirty="0">
                <a:latin typeface="Merriweather" pitchFamily="2" charset="77"/>
              </a:rPr>
              <a:t> Group the 78 municipalities into "Types" based on their risk factors</a:t>
            </a:r>
          </a:p>
          <a:p>
            <a:pPr marL="285750" lvl="0" indent="-285750" fontAlgn="base">
              <a:buFont typeface="Arial" panose="020B0604020202020204" pitchFamily="34" charset="0"/>
              <a:buChar char="•"/>
            </a:pPr>
            <a:endParaRPr lang="en-US" sz="2000" dirty="0">
              <a:latin typeface="Merriweather" pitchFamily="2" charset="77"/>
            </a:endParaRPr>
          </a:p>
          <a:p>
            <a:pPr marL="285750" lvl="0" indent="-285750" fontAlgn="base">
              <a:buFont typeface="Arial" panose="020B0604020202020204" pitchFamily="34" charset="0"/>
              <a:buChar char="•"/>
            </a:pPr>
            <a:r>
              <a:rPr lang="en-US" sz="2000" b="1" dirty="0">
                <a:latin typeface="Merriweather" pitchFamily="2" charset="77"/>
              </a:rPr>
              <a:t>Algorithm:</a:t>
            </a:r>
            <a:r>
              <a:rPr lang="en-US" sz="2000" dirty="0">
                <a:latin typeface="Merriweather" pitchFamily="2" charset="77"/>
              </a:rPr>
              <a:t> </a:t>
            </a:r>
            <a:r>
              <a:rPr lang="en-US" sz="2000" b="1" dirty="0">
                <a:latin typeface="Merriweather" pitchFamily="2" charset="77"/>
              </a:rPr>
              <a:t>K-Means Clustering</a:t>
            </a:r>
            <a:r>
              <a:rPr lang="en-US" sz="2000" dirty="0">
                <a:latin typeface="Merriweather" pitchFamily="2" charset="77"/>
              </a:rPr>
              <a:t> or </a:t>
            </a:r>
            <a:r>
              <a:rPr lang="en-US" sz="2000" b="1" dirty="0">
                <a:latin typeface="Merriweather" pitchFamily="2" charset="77"/>
              </a:rPr>
              <a:t>Hierarchical Clustering</a:t>
            </a:r>
            <a:br>
              <a:rPr lang="en-US" sz="2000" dirty="0">
                <a:latin typeface="Merriweather" pitchFamily="2" charset="77"/>
              </a:rPr>
            </a:br>
            <a:endParaRPr lang="en-US" sz="2000" dirty="0">
              <a:latin typeface="Merriweather" pitchFamily="2" charset="77"/>
            </a:endParaRPr>
          </a:p>
          <a:p>
            <a:pPr marL="285750" lvl="0" indent="-285750" fontAlgn="base">
              <a:buFont typeface="Arial" panose="020B0604020202020204" pitchFamily="34" charset="0"/>
              <a:buChar char="•"/>
            </a:pPr>
            <a:r>
              <a:rPr lang="en-US" sz="2000" b="1" dirty="0">
                <a:latin typeface="Merriweather" pitchFamily="2" charset="77"/>
              </a:rPr>
              <a:t>Output:</a:t>
            </a:r>
            <a:r>
              <a:rPr lang="en-US" sz="2000" dirty="0">
                <a:latin typeface="Merriweather" pitchFamily="2" charset="77"/>
              </a:rPr>
              <a:t> Instead of just a list of 78 names, we get interpretable groups like:</a:t>
            </a:r>
          </a:p>
          <a:p>
            <a:pPr marL="742950" lvl="1" indent="-285750" fontAlgn="base">
              <a:lnSpc>
                <a:spcPct val="150000"/>
              </a:lnSpc>
              <a:buFont typeface="Arial" panose="020B0604020202020204" pitchFamily="34" charset="0"/>
              <a:buChar char="•"/>
            </a:pPr>
            <a:r>
              <a:rPr lang="en-US" sz="2000" i="1" dirty="0">
                <a:latin typeface="Merriweather" pitchFamily="2" charset="77"/>
              </a:rPr>
              <a:t>Cluster A:</a:t>
            </a:r>
            <a:r>
              <a:rPr lang="en-US" sz="2000" dirty="0">
                <a:latin typeface="Merriweather" pitchFamily="2" charset="77"/>
              </a:rPr>
              <a:t> "Resilient Urban Centers" (Stable pop, high economy)</a:t>
            </a:r>
          </a:p>
          <a:p>
            <a:pPr marL="742950" lvl="1" indent="-285750" fontAlgn="base">
              <a:lnSpc>
                <a:spcPct val="150000"/>
              </a:lnSpc>
              <a:buFont typeface="Arial" panose="020B0604020202020204" pitchFamily="34" charset="0"/>
              <a:buChar char="•"/>
            </a:pPr>
            <a:r>
              <a:rPr lang="en-US" sz="2000" i="1" dirty="0">
                <a:latin typeface="Merriweather" pitchFamily="2" charset="77"/>
              </a:rPr>
              <a:t>Cluster B:</a:t>
            </a:r>
            <a:r>
              <a:rPr lang="en-US" sz="2000" dirty="0">
                <a:latin typeface="Merriweather" pitchFamily="2" charset="77"/>
              </a:rPr>
              <a:t> "Rapidly Aging Rural" (High decline due to age, low migration)</a:t>
            </a:r>
          </a:p>
          <a:p>
            <a:pPr marL="742950" lvl="1" indent="-285750" fontAlgn="base">
              <a:lnSpc>
                <a:spcPct val="150000"/>
              </a:lnSpc>
              <a:buFont typeface="Arial" panose="020B0604020202020204" pitchFamily="34" charset="0"/>
              <a:buChar char="•"/>
            </a:pPr>
            <a:r>
              <a:rPr lang="en-US" sz="2000" i="1" dirty="0">
                <a:latin typeface="Merriweather" pitchFamily="2" charset="77"/>
              </a:rPr>
              <a:t>Cluster C:</a:t>
            </a:r>
            <a:r>
              <a:rPr lang="en-US" sz="2000" dirty="0">
                <a:latin typeface="Merriweather" pitchFamily="2" charset="77"/>
              </a:rPr>
              <a:t> "Shock-Sensitive Coastal" (Population drops only when storms hit)</a:t>
            </a:r>
          </a:p>
        </p:txBody>
      </p:sp>
    </p:spTree>
    <p:extLst>
      <p:ext uri="{BB962C8B-B14F-4D97-AF65-F5344CB8AC3E}">
        <p14:creationId xmlns:p14="http://schemas.microsoft.com/office/powerpoint/2010/main" val="7060461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90365F6B-ACB6-96DF-6331-AF6791825B78}"/>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B5A6A27E-58C5-3E9A-6DD2-52B58A608983}"/>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84854FF3-0B15-2815-6A27-99AD372C25AF}"/>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BD6AE68B-8B99-82FA-204B-F37FC1707BD3}"/>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9550514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8" name="Google Shape;158;p17"/>
          <p:cNvSpPr txBox="1"/>
          <p:nvPr/>
        </p:nvSpPr>
        <p:spPr>
          <a:xfrm>
            <a:off x="846083" y="4681869"/>
            <a:ext cx="5449614" cy="36933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dirty="0">
                <a:latin typeface="Merriweather" pitchFamily="2" charset="77"/>
                <a:ea typeface="DM Sans"/>
                <a:cs typeface="DM Sans"/>
                <a:sym typeface="DM Sans"/>
              </a:rPr>
              <a:t>Result: A living platform that can be refreshed instantly</a:t>
            </a:r>
            <a:endParaRPr dirty="0">
              <a:latin typeface="Merriweather" pitchFamily="2" charset="77"/>
            </a:endParaRPr>
          </a:p>
        </p:txBody>
      </p:sp>
      <p:sp>
        <p:nvSpPr>
          <p:cNvPr id="161" name="Google Shape;161;p17"/>
          <p:cNvSpPr txBox="1"/>
          <p:nvPr/>
        </p:nvSpPr>
        <p:spPr>
          <a:xfrm>
            <a:off x="571500" y="1573771"/>
            <a:ext cx="5377355" cy="2462213"/>
          </a:xfrm>
          <a:prstGeom prst="rect">
            <a:avLst/>
          </a:prstGeom>
          <a:noFill/>
          <a:ln>
            <a:noFill/>
          </a:ln>
        </p:spPr>
        <p:txBody>
          <a:bodyPr spcFirstLastPara="1" wrap="square" lIns="66675" tIns="0" rIns="0" bIns="0" anchor="t" anchorCtr="0">
            <a:spAutoFit/>
          </a:bodyPr>
          <a:lstStyle/>
          <a:p>
            <a:pPr marL="285750" marR="0" lvl="0" indent="-285750" algn="l" rtl="0">
              <a:lnSpc>
                <a:spcPct val="200000"/>
              </a:lnSpc>
              <a:spcBef>
                <a:spcPts val="0"/>
              </a:spcBef>
              <a:spcAft>
                <a:spcPts val="0"/>
              </a:spcAft>
              <a:buFont typeface="Arial" panose="020B0604020202020204" pitchFamily="34" charset="0"/>
              <a:buChar char="•"/>
            </a:pPr>
            <a:r>
              <a:rPr lang="en-US" sz="1600" b="1" i="0" u="none" strike="noStrike" cap="none" dirty="0">
                <a:solidFill>
                  <a:srgbClr val="334155"/>
                </a:solidFill>
                <a:latin typeface="Merriweather" pitchFamily="2" charset="77"/>
                <a:ea typeface="DM Sans"/>
                <a:cs typeface="DM Sans"/>
                <a:sym typeface="DM Sans"/>
              </a:rPr>
              <a:t>Extract:</a:t>
            </a:r>
            <a:r>
              <a:rPr lang="en-US" sz="1600" b="0" i="0" u="none" strike="noStrike" cap="none" dirty="0">
                <a:solidFill>
                  <a:srgbClr val="334155"/>
                </a:solidFill>
                <a:latin typeface="Merriweather" pitchFamily="2" charset="77"/>
                <a:ea typeface="DM Sans"/>
                <a:cs typeface="DM Sans"/>
                <a:sym typeface="DM Sans"/>
              </a:rPr>
              <a:t> Scripts fetch JSON/CSV from Census APIs</a:t>
            </a:r>
          </a:p>
          <a:p>
            <a:pPr marL="285750" indent="-285750">
              <a:lnSpc>
                <a:spcPct val="200000"/>
              </a:lnSpc>
              <a:buFont typeface="Arial" panose="020B0604020202020204" pitchFamily="34" charset="0"/>
              <a:buChar char="•"/>
            </a:pPr>
            <a:r>
              <a:rPr lang="en-US" sz="1600" b="1" dirty="0">
                <a:solidFill>
                  <a:srgbClr val="334155"/>
                </a:solidFill>
                <a:latin typeface="Merriweather" pitchFamily="2" charset="77"/>
                <a:ea typeface="DM Sans"/>
                <a:cs typeface="DM Sans"/>
                <a:sym typeface="DM Sans"/>
              </a:rPr>
              <a:t>Transform:</a:t>
            </a:r>
            <a:r>
              <a:rPr lang="en-US" sz="1600" dirty="0">
                <a:solidFill>
                  <a:srgbClr val="334155"/>
                </a:solidFill>
                <a:latin typeface="Merriweather" pitchFamily="2" charset="77"/>
                <a:ea typeface="DM Sans"/>
                <a:cs typeface="DM Sans"/>
                <a:sym typeface="DM Sans"/>
              </a:rPr>
              <a:t> Pandas normalizes column names and handles missing values</a:t>
            </a:r>
          </a:p>
          <a:p>
            <a:pPr marL="285750" indent="-285750">
              <a:lnSpc>
                <a:spcPct val="200000"/>
              </a:lnSpc>
              <a:buFont typeface="Arial" panose="020B0604020202020204" pitchFamily="34" charset="0"/>
              <a:buChar char="•"/>
            </a:pPr>
            <a:r>
              <a:rPr lang="en-US" sz="1600" b="1" dirty="0">
                <a:solidFill>
                  <a:srgbClr val="334155"/>
                </a:solidFill>
                <a:latin typeface="Merriweather" pitchFamily="2" charset="77"/>
                <a:ea typeface="DM Sans"/>
                <a:cs typeface="DM Sans"/>
                <a:sym typeface="DM Sans"/>
              </a:rPr>
              <a:t>Load:</a:t>
            </a:r>
            <a:r>
              <a:rPr lang="en-US" sz="1600" dirty="0">
                <a:solidFill>
                  <a:srgbClr val="334155"/>
                </a:solidFill>
                <a:latin typeface="Merriweather" pitchFamily="2" charset="77"/>
                <a:ea typeface="DM Sans"/>
                <a:cs typeface="DM Sans"/>
                <a:sym typeface="DM Sans"/>
              </a:rPr>
              <a:t> Data is exported to standardized JSON files for the web</a:t>
            </a:r>
            <a:endParaRPr lang="en-US" sz="1600" dirty="0">
              <a:latin typeface="Merriweather" pitchFamily="2" charset="77"/>
            </a:endParaRPr>
          </a:p>
        </p:txBody>
      </p:sp>
      <p:pic>
        <p:nvPicPr>
          <p:cNvPr id="3" name="Picture 2" descr="A diagram of a software flow&#10;&#10;AI-generated content may be incorrect.">
            <a:extLst>
              <a:ext uri="{FF2B5EF4-FFF2-40B4-BE49-F238E27FC236}">
                <a16:creationId xmlns:a16="http://schemas.microsoft.com/office/drawing/2014/main" id="{8296C527-041B-E186-EE2C-88643D1FD619}"/>
              </a:ext>
            </a:extLst>
          </p:cNvPr>
          <p:cNvPicPr>
            <a:picLocks noChangeAspect="1"/>
          </p:cNvPicPr>
          <p:nvPr/>
        </p:nvPicPr>
        <p:blipFill>
          <a:blip r:embed="rId3"/>
          <a:stretch>
            <a:fillRect/>
          </a:stretch>
        </p:blipFill>
        <p:spPr>
          <a:xfrm>
            <a:off x="6295696" y="1225082"/>
            <a:ext cx="3485801" cy="5632918"/>
          </a:xfrm>
          <a:prstGeom prst="rect">
            <a:avLst/>
          </a:prstGeom>
        </p:spPr>
      </p:pic>
      <p:sp>
        <p:nvSpPr>
          <p:cNvPr id="2" name="Google Shape;179;p18">
            <a:extLst>
              <a:ext uri="{FF2B5EF4-FFF2-40B4-BE49-F238E27FC236}">
                <a16:creationId xmlns:a16="http://schemas.microsoft.com/office/drawing/2014/main" id="{08118FF3-0A62-C53B-487F-40729536117A}"/>
              </a:ext>
            </a:extLst>
          </p:cNvPr>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pitchFamily="2" charset="77"/>
                <a:ea typeface="Merriweather"/>
                <a:cs typeface="Merriweather"/>
                <a:sym typeface="Merriweather"/>
              </a:rPr>
              <a:t>Reproducible ETL Pipeline</a:t>
            </a:r>
            <a:endParaRPr lang="en-US" sz="3600" dirty="0">
              <a:latin typeface="Merriweather" pitchFamily="2" charset="77"/>
            </a:endParaRPr>
          </a:p>
        </p:txBody>
      </p:sp>
      <p:sp>
        <p:nvSpPr>
          <p:cNvPr id="4" name="Google Shape;180;p18">
            <a:extLst>
              <a:ext uri="{FF2B5EF4-FFF2-40B4-BE49-F238E27FC236}">
                <a16:creationId xmlns:a16="http://schemas.microsoft.com/office/drawing/2014/main" id="{8A9F53D4-0DA6-93D8-963F-E269A2C4F71B}"/>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Merriweather" pitchFamily="2" charset="77"/>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5"/>
        <p:cNvGrpSpPr/>
        <p:nvPr/>
      </p:nvGrpSpPr>
      <p:grpSpPr>
        <a:xfrm>
          <a:off x="0" y="0"/>
          <a:ext cx="0" cy="0"/>
          <a:chOff x="0" y="0"/>
          <a:chExt cx="0" cy="0"/>
        </a:xfrm>
      </p:grpSpPr>
      <p:sp>
        <p:nvSpPr>
          <p:cNvPr id="227" name="Google Shape;227;p22"/>
          <p:cNvSpPr txBox="1"/>
          <p:nvPr/>
        </p:nvSpPr>
        <p:spPr>
          <a:xfrm>
            <a:off x="930415" y="2232719"/>
            <a:ext cx="9001125" cy="7143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600" b="1" dirty="0">
                <a:latin typeface="Merriweather"/>
                <a:sym typeface="Merriweather"/>
              </a:rPr>
              <a:t>Evidence-Based</a:t>
            </a:r>
            <a:r>
              <a:rPr lang="en-US" sz="4500" b="1" i="0" u="none" strike="noStrike" cap="none" dirty="0">
                <a:latin typeface="Merriweather"/>
                <a:ea typeface="Merriweather"/>
                <a:cs typeface="Merriweather"/>
                <a:sym typeface="Merriweather"/>
              </a:rPr>
              <a:t> </a:t>
            </a:r>
            <a:r>
              <a:rPr lang="en-US" sz="3600" b="1" dirty="0">
                <a:latin typeface="Merriweather"/>
                <a:sym typeface="Merriweather"/>
              </a:rPr>
              <a:t>Resilience</a:t>
            </a:r>
            <a:endParaRPr sz="3600" b="1" dirty="0">
              <a:latin typeface="Merriweather"/>
            </a:endParaRPr>
          </a:p>
        </p:txBody>
      </p:sp>
      <p:sp>
        <p:nvSpPr>
          <p:cNvPr id="228" name="Google Shape;228;p22"/>
          <p:cNvSpPr txBox="1"/>
          <p:nvPr/>
        </p:nvSpPr>
        <p:spPr>
          <a:xfrm>
            <a:off x="1144728" y="3137594"/>
            <a:ext cx="8572500" cy="1329595"/>
          </a:xfrm>
          <a:prstGeom prst="rect">
            <a:avLst/>
          </a:prstGeom>
          <a:noFill/>
          <a:ln>
            <a:noFill/>
          </a:ln>
        </p:spPr>
        <p:txBody>
          <a:bodyPr spcFirstLastPara="1" wrap="square" lIns="0" tIns="0" rIns="0" bIns="0" anchor="t" anchorCtr="0">
            <a:spAutoFit/>
          </a:bodyPr>
          <a:lstStyle/>
          <a:p>
            <a:pPr marL="0" marR="0" lvl="0" indent="0" algn="ctr" rtl="0">
              <a:lnSpc>
                <a:spcPct val="159944"/>
              </a:lnSpc>
              <a:spcBef>
                <a:spcPts val="0"/>
              </a:spcBef>
              <a:spcAft>
                <a:spcPts val="0"/>
              </a:spcAft>
              <a:buNone/>
            </a:pPr>
            <a:r>
              <a:rPr lang="en-US" sz="1800" b="0" i="0" u="none" strike="noStrike" cap="none" dirty="0">
                <a:latin typeface="Merriweather" pitchFamily="2" charset="77"/>
                <a:ea typeface="DM Sans"/>
                <a:cs typeface="DM Sans"/>
                <a:sym typeface="DM Sans"/>
              </a:rPr>
              <a:t>Ultimately, this project wil</a:t>
            </a:r>
            <a:r>
              <a:rPr lang="en-US" dirty="0">
                <a:latin typeface="Merriweather" pitchFamily="2" charset="77"/>
                <a:ea typeface="DM Sans"/>
                <a:cs typeface="DM Sans"/>
                <a:sym typeface="DM Sans"/>
              </a:rPr>
              <a:t>l </a:t>
            </a:r>
            <a:r>
              <a:rPr lang="en-US" sz="1800" b="0" i="0" u="none" strike="noStrike" cap="none" dirty="0">
                <a:latin typeface="Merriweather" pitchFamily="2" charset="77"/>
                <a:ea typeface="DM Sans"/>
                <a:cs typeface="DM Sans"/>
                <a:sym typeface="DM Sans"/>
              </a:rPr>
              <a:t>serve as more than a technical demonstration; it is a foundational step toward empowering stakeholders with the data needed to navigate Puerto Rico's complex future</a:t>
            </a:r>
            <a:r>
              <a:rPr lang="en-US" dirty="0">
                <a:latin typeface="Merriweather" pitchFamily="2" charset="77"/>
                <a:ea typeface="DM Sans"/>
                <a:cs typeface="DM Sans"/>
                <a:sym typeface="DM Sans"/>
              </a:rPr>
              <a:t>!</a:t>
            </a:r>
            <a:endParaRPr dirty="0">
              <a:latin typeface="Merriweather" pitchFamily="2" charset="77"/>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3"/>
        <p:cNvGrpSpPr/>
        <p:nvPr/>
      </p:nvGrpSpPr>
      <p:grpSpPr>
        <a:xfrm>
          <a:off x="0" y="0"/>
          <a:ext cx="0" cy="0"/>
          <a:chOff x="0" y="0"/>
          <a:chExt cx="0" cy="0"/>
        </a:xfrm>
      </p:grpSpPr>
      <p:sp>
        <p:nvSpPr>
          <p:cNvPr id="250" name="Google Shape;250;p23"/>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dirty="0">
                <a:latin typeface="Merriweather"/>
                <a:ea typeface="Merriweather"/>
                <a:cs typeface="Merriweather"/>
                <a:sym typeface="Merriweather"/>
              </a:rPr>
              <a:t>Res</a:t>
            </a:r>
            <a:r>
              <a:rPr lang="en-US" sz="3600" b="1" i="0" u="none" strike="noStrike" cap="none" dirty="0">
                <a:latin typeface="Merriweather"/>
                <a:ea typeface="Merriweather"/>
                <a:cs typeface="Merriweather"/>
                <a:sym typeface="Merriweather"/>
              </a:rPr>
              <a:t>ources</a:t>
            </a:r>
            <a:endParaRPr dirty="0"/>
          </a:p>
        </p:txBody>
      </p:sp>
      <p:sp>
        <p:nvSpPr>
          <p:cNvPr id="251" name="Google Shape;251;p23"/>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 name="TextBox 4">
            <a:extLst>
              <a:ext uri="{FF2B5EF4-FFF2-40B4-BE49-F238E27FC236}">
                <a16:creationId xmlns:a16="http://schemas.microsoft.com/office/drawing/2014/main" id="{0FB95E58-2EAE-363C-3896-66B07A8ADE29}"/>
              </a:ext>
            </a:extLst>
          </p:cNvPr>
          <p:cNvSpPr txBox="1"/>
          <p:nvPr/>
        </p:nvSpPr>
        <p:spPr>
          <a:xfrm>
            <a:off x="359466" y="1474827"/>
            <a:ext cx="9433891" cy="5139869"/>
          </a:xfrm>
          <a:prstGeom prst="rect">
            <a:avLst/>
          </a:prstGeom>
          <a:noFill/>
        </p:spPr>
        <p:txBody>
          <a:bodyPr wrap="square">
            <a:spAutoFit/>
          </a:bodyPr>
          <a:lstStyle/>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American Community Survey (ACS) 1-Year and 5-Year Estimates: Population, Income, Housing, Labor Force, and Education Tables for Puerto Rico Municipalities.</a:t>
            </a:r>
            <a:r>
              <a:rPr lang="en-US" sz="1600" dirty="0">
                <a:effectLst/>
                <a:latin typeface="Merriweather" pitchFamily="2" charset="77"/>
                <a:ea typeface="Times New Roman" panose="02020603050405020304" pitchFamily="18" charset="0"/>
              </a:rPr>
              <a:t> U.S. Department of Commerce, 2010–2023. Available at: </a:t>
            </a:r>
            <a:r>
              <a:rPr lang="en-US" sz="1600" u="sng" dirty="0">
                <a:solidFill>
                  <a:srgbClr val="0000FF"/>
                </a:solidFill>
                <a:effectLst/>
                <a:latin typeface="Merriweather" pitchFamily="2" charset="77"/>
                <a:ea typeface="Times New Roman" panose="02020603050405020304" pitchFamily="18" charset="0"/>
                <a:hlinkClick r:id="rId3"/>
              </a:rPr>
              <a:t>https://data.census.gov</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Population Estimates Program (PEP): Puerto Rico Municipal Population Estimates, Vintage 2024.</a:t>
            </a:r>
            <a:r>
              <a:rPr lang="en-US" sz="1600" dirty="0">
                <a:effectLst/>
                <a:latin typeface="Merriweather" pitchFamily="2" charset="77"/>
                <a:ea typeface="Times New Roman" panose="02020603050405020304" pitchFamily="18" charset="0"/>
              </a:rPr>
              <a:t> U.S. Department of Commerce. Available at: </a:t>
            </a:r>
            <a:r>
              <a:rPr lang="en-US" sz="1600" u="sng" dirty="0">
                <a:solidFill>
                  <a:srgbClr val="0000FF"/>
                </a:solidFill>
                <a:effectLst/>
                <a:latin typeface="Merriweather" pitchFamily="2" charset="77"/>
                <a:ea typeface="Times New Roman" panose="02020603050405020304" pitchFamily="18" charset="0"/>
                <a:hlinkClick r:id="rId4"/>
              </a:rPr>
              <a:t>https://www.census.gov/programs-surveys/popest.html</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County Business Patterns (CBP) and Related Economic Statistics for Puerto Rico, 2010–2022/2023.</a:t>
            </a:r>
            <a:r>
              <a:rPr lang="en-US" sz="1600" dirty="0">
                <a:effectLst/>
                <a:latin typeface="Merriweather" pitchFamily="2" charset="77"/>
                <a:ea typeface="Times New Roman" panose="02020603050405020304" pitchFamily="18" charset="0"/>
              </a:rPr>
              <a:t> Available at: </a:t>
            </a:r>
            <a:r>
              <a:rPr lang="en-US" sz="1600" u="sng" dirty="0">
                <a:solidFill>
                  <a:srgbClr val="0000FF"/>
                </a:solidFill>
                <a:effectLst/>
                <a:latin typeface="Merriweather" pitchFamily="2" charset="77"/>
                <a:ea typeface="Times New Roman" panose="02020603050405020304" pitchFamily="18" charset="0"/>
                <a:hlinkClick r:id="rId5"/>
              </a:rPr>
              <a:t>https://www.census.gov/programs-surveys/cbp.html</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NOAA National Hurricane Center. </a:t>
            </a:r>
            <a:r>
              <a:rPr lang="en-US" sz="1600" i="1" dirty="0">
                <a:effectLst/>
                <a:latin typeface="Merriweather" pitchFamily="2" charset="77"/>
                <a:ea typeface="Times New Roman" panose="02020603050405020304" pitchFamily="18" charset="0"/>
              </a:rPr>
              <a:t>HURDAT2 Atlantic Hurricane Database, 1851–2024.</a:t>
            </a:r>
            <a:r>
              <a:rPr lang="en-US" sz="1600" dirty="0">
                <a:effectLst/>
                <a:latin typeface="Merriweather" pitchFamily="2" charset="77"/>
                <a:ea typeface="Times New Roman" panose="02020603050405020304" pitchFamily="18" charset="0"/>
              </a:rPr>
              <a:t> National Oceanic and Atmospheric Administration. Available at: </a:t>
            </a:r>
            <a:r>
              <a:rPr lang="en-US" sz="1600" u="sng" dirty="0">
                <a:solidFill>
                  <a:srgbClr val="0000FF"/>
                </a:solidFill>
                <a:effectLst/>
                <a:latin typeface="Merriweather" pitchFamily="2" charset="77"/>
                <a:ea typeface="Times New Roman" panose="02020603050405020304" pitchFamily="18" charset="0"/>
                <a:hlinkClick r:id="rId6"/>
              </a:rPr>
              <a:t>https://www.nhc.noaa.gov/data/</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USGS (United States Geological Survey). </a:t>
            </a:r>
            <a:r>
              <a:rPr lang="en-US" sz="1600" i="1" dirty="0">
                <a:effectLst/>
                <a:latin typeface="Merriweather" pitchFamily="2" charset="77"/>
                <a:ea typeface="Times New Roman" panose="02020603050405020304" pitchFamily="18" charset="0"/>
              </a:rPr>
              <a:t>Earthquake Catalog for Puerto Rico and the Caribbean Region.</a:t>
            </a:r>
            <a:r>
              <a:rPr lang="en-US" sz="1600" dirty="0">
                <a:effectLst/>
                <a:latin typeface="Merriweather" pitchFamily="2" charset="77"/>
                <a:ea typeface="Times New Roman" panose="02020603050405020304" pitchFamily="18" charset="0"/>
              </a:rPr>
              <a:t> U.S. Department of the Interior. Available at: </a:t>
            </a:r>
            <a:r>
              <a:rPr lang="en-US" sz="1600" u="sng" dirty="0">
                <a:solidFill>
                  <a:srgbClr val="0000FF"/>
                </a:solidFill>
                <a:effectLst/>
                <a:latin typeface="Merriweather" pitchFamily="2" charset="77"/>
                <a:ea typeface="Times New Roman" panose="02020603050405020304" pitchFamily="18" charset="0"/>
                <a:hlinkClick r:id="rId7"/>
              </a:rPr>
              <a:t>https://earthquake.usgs.gov/earthquakes/search/</a:t>
            </a:r>
            <a:endParaRPr lang="en-US" sz="1600" dirty="0">
              <a:effectLst/>
              <a:latin typeface="Merriweather" pitchFamily="2" charset="77"/>
              <a:ea typeface="Times New Roman" panose="02020603050405020304" pitchFamily="18"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3">
          <a:extLst>
            <a:ext uri="{FF2B5EF4-FFF2-40B4-BE49-F238E27FC236}">
              <a16:creationId xmlns:a16="http://schemas.microsoft.com/office/drawing/2014/main" id="{AC756361-480D-0353-5015-F80BB27970C7}"/>
            </a:ext>
          </a:extLst>
        </p:cNvPr>
        <p:cNvGrpSpPr/>
        <p:nvPr/>
      </p:nvGrpSpPr>
      <p:grpSpPr>
        <a:xfrm>
          <a:off x="0" y="0"/>
          <a:ext cx="0" cy="0"/>
          <a:chOff x="0" y="0"/>
          <a:chExt cx="0" cy="0"/>
        </a:xfrm>
      </p:grpSpPr>
      <p:sp>
        <p:nvSpPr>
          <p:cNvPr id="250" name="Google Shape;250;p23">
            <a:extLst>
              <a:ext uri="{FF2B5EF4-FFF2-40B4-BE49-F238E27FC236}">
                <a16:creationId xmlns:a16="http://schemas.microsoft.com/office/drawing/2014/main" id="{610CE911-60A4-33B0-DF5A-C994FC86E0EA}"/>
              </a:ext>
            </a:extLst>
          </p:cNvPr>
          <p:cNvSpPr txBox="1"/>
          <p:nvPr/>
        </p:nvSpPr>
        <p:spPr>
          <a:xfrm>
            <a:off x="0" y="2875002"/>
            <a:ext cx="12192000" cy="553998"/>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600" b="1" dirty="0">
                <a:latin typeface="Merriweather"/>
                <a:ea typeface="Merriweather"/>
                <a:cs typeface="Merriweather"/>
                <a:sym typeface="Merriweather"/>
              </a:rPr>
              <a:t>Backup Slides</a:t>
            </a:r>
            <a:endParaRPr dirty="0"/>
          </a:p>
        </p:txBody>
      </p:sp>
    </p:spTree>
    <p:extLst>
      <p:ext uri="{BB962C8B-B14F-4D97-AF65-F5344CB8AC3E}">
        <p14:creationId xmlns:p14="http://schemas.microsoft.com/office/powerpoint/2010/main" val="39924678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AD5AB897-1974-2EFF-538D-4903935420B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0413897F-0458-EB29-B12F-B1F119CC2D2E}"/>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991B08BF-AC67-B480-D6CC-4F6BE253D6C5}"/>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388D4477-5AA5-0731-D8FE-47D12D442B9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1169126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04228012"/>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Facet</Template>
  <TotalTime>1616</TotalTime>
  <Words>2781</Words>
  <Application>Microsoft Macintosh PowerPoint</Application>
  <PresentationFormat>Widescreen</PresentationFormat>
  <Paragraphs>253</Paragraphs>
  <Slides>21</Slides>
  <Notes>20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21</vt:i4>
      </vt:variant>
    </vt:vector>
  </HeadingPairs>
  <TitlesOfParts>
    <vt:vector size="29" baseType="lpstr">
      <vt:lpstr>Arial</vt:lpstr>
      <vt:lpstr>Symbol</vt:lpstr>
      <vt:lpstr>Calibri</vt:lpstr>
      <vt:lpstr>Wingdings 3</vt:lpstr>
      <vt:lpstr>Cambria Math</vt:lpstr>
      <vt:lpstr>Trebuchet MS</vt:lpstr>
      <vt:lpstr>Merriweather</vt:lpstr>
      <vt:lpstr>Facet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Andres Ruiz</cp:lastModifiedBy>
  <cp:revision>24</cp:revision>
  <dcterms:modified xsi:type="dcterms:W3CDTF">2026-02-07T15:47:12Z</dcterms:modified>
</cp:coreProperties>
</file>