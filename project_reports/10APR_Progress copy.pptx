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61" r:id="rId4"/>
  </p:sldMasterIdLst>
  <p:notesMasterIdLst>
    <p:notesMasterId r:id="rId29"/>
  </p:notesMasterIdLst>
  <p:handoutMasterIdLst>
    <p:handoutMasterId r:id="rId30"/>
  </p:handoutMasterIdLst>
  <p:sldIdLst>
    <p:sldId id="408" r:id="rId5"/>
    <p:sldId id="407" r:id="rId6"/>
    <p:sldId id="429" r:id="rId7"/>
    <p:sldId id="431" r:id="rId8"/>
    <p:sldId id="440" r:id="rId9"/>
    <p:sldId id="443" r:id="rId10"/>
    <p:sldId id="434" r:id="rId11"/>
    <p:sldId id="435" r:id="rId12"/>
    <p:sldId id="436" r:id="rId13"/>
    <p:sldId id="437" r:id="rId14"/>
    <p:sldId id="446" r:id="rId15"/>
    <p:sldId id="444" r:id="rId16"/>
    <p:sldId id="445" r:id="rId17"/>
    <p:sldId id="441" r:id="rId18"/>
    <p:sldId id="438" r:id="rId19"/>
    <p:sldId id="439" r:id="rId20"/>
    <p:sldId id="430" r:id="rId21"/>
    <p:sldId id="273" r:id="rId22"/>
    <p:sldId id="442" r:id="rId23"/>
    <p:sldId id="275" r:id="rId24"/>
    <p:sldId id="276" r:id="rId25"/>
    <p:sldId id="277" r:id="rId26"/>
    <p:sldId id="279" r:id="rId27"/>
    <p:sldId id="281" r:id="rId28"/>
  </p:sldIdLst>
  <p:sldSz cx="12192000" cy="6858000"/>
  <p:notesSz cx="9296400" cy="7010400"/>
  <p:embeddedFontLst>
    <p:embeddedFont>
      <p:font typeface="Cambria Math" panose="02040503050406030204" pitchFamily="18" charset="0"/>
      <p:regular r:id="rId31"/>
    </p:embeddedFont>
    <p:embeddedFont>
      <p:font typeface="Merriweather" pitchFamily="2" charset="77"/>
      <p:regular r:id="rId32"/>
      <p:bold r:id="rId33"/>
      <p:italic r:id="rId34"/>
      <p:boldItalic r:id="rId35"/>
    </p:embeddedFont>
    <p:embeddedFont>
      <p:font typeface="PT serif" panose="020A0603040505020204" pitchFamily="18" charset="77"/>
      <p:regular r:id="rId36"/>
      <p:bold r:id="rId37"/>
      <p:italic r:id="rId38"/>
      <p:boldItalic r:id="rId39"/>
    </p:embeddedFont>
    <p:embeddedFont>
      <p:font typeface="Roboto" panose="02000000000000000000" pitchFamily="2" charset="0"/>
      <p:regular r:id="rId40"/>
      <p:bold r:id="rId41"/>
      <p:italic r:id="rId42"/>
      <p:boldItalic r:id="rId43"/>
    </p:embeddedFont>
    <p:embeddedFont>
      <p:font typeface="Source sans 3" panose="020B0303030403020204" pitchFamily="34" charset="0"/>
      <p:regular r:id="rId44"/>
      <p:bold r:id="rId45"/>
      <p:italic r:id="rId46"/>
      <p:boldItalic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040" userDrawn="1">
          <p15:clr>
            <a:srgbClr val="A4A3A4"/>
          </p15:clr>
        </p15:guide>
        <p15:guide id="3"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D9A515-A0C6-4C39-B80A-0C748B322470}" name="Guest User" initials="GU" userId="S::urn:spo:anon#478b1eeea21ed088306c92a0690f2574a00c4f9d76636cfc48aafd1929b89e8d::" providerId="AD"/>
  <p188:author id="{B554E72E-7BE9-4954-8657-B40E48A6468B}" name="Aimee Eng" initials="" userId="S::aeng@ucm.rutgers.edu::f54c9e5d-d2be-4fa6-b8aa-32e0dd0b0c4e" providerId="AD"/>
  <p188:author id="{A304F87C-87A2-4AF4-D2F8-2488045FDB69}" name="Lisa Elwood" initials="LE" userId="S::lmelwood@ucm.rutgers.edu::03804305-3005-4b93-b69a-8f24f540b0c5" providerId="AD"/>
  <p188:author id="{0CBAB0E6-7E79-6A3E-78D3-3B9AF4DE16A5}" name="Cindy Paul" initials="CP" userId="S::cpaul@ucm.rutgers.edu::12ab90d8-01fd-4713-a936-11af35f1ffe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sa Elwood" initials="LE [3]" lastIdx="1" clrIdx="3">
    <p:extLst>
      <p:ext uri="{19B8F6BF-5375-455C-9EA6-DF929625EA0E}">
        <p15:presenceInfo xmlns:p15="http://schemas.microsoft.com/office/powerpoint/2012/main" userId="Lisa Elwood" providerId="None"/>
      </p:ext>
    </p:extLst>
  </p:cmAuthor>
  <p:cmAuthor id="2" name="Lisa Elwood" initials="LE [2]" lastIdx="19" clrIdx="1">
    <p:extLst>
      <p:ext uri="{19B8F6BF-5375-455C-9EA6-DF929625EA0E}">
        <p15:presenceInfo xmlns:p15="http://schemas.microsoft.com/office/powerpoint/2012/main" userId="S::lmelwood@ucm.rutgers.edu::03804305-3005-4b93-b69a-8f24f540b0c5" providerId="AD"/>
      </p:ext>
    </p:extLst>
  </p:cmAuthor>
  <p:cmAuthor id="3" name="Jeanne Weber" initials="JW" lastIdx="8" clrIdx="2">
    <p:extLst>
      <p:ext uri="{19B8F6BF-5375-455C-9EA6-DF929625EA0E}">
        <p15:presenceInfo xmlns:p15="http://schemas.microsoft.com/office/powerpoint/2012/main" userId="S::raisin@ucm.rutgers.edu::68f6c61b-37f0-470c-950a-fb222073ffc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289"/>
    <a:srgbClr val="F3D169"/>
    <a:srgbClr val="E8B51F"/>
    <a:srgbClr val="E0002B"/>
    <a:srgbClr val="D82042"/>
    <a:srgbClr val="ECC734"/>
    <a:srgbClr val="FFD579"/>
    <a:srgbClr val="988CB0"/>
    <a:srgbClr val="CC0033"/>
    <a:srgbClr val="62E8DD"/>
  </p:clrMru>
  <p:extLst>
    <p:ext uri="{E76CE94A-603C-4142-B9EB-6D1370010A27}">
      <p14:discardImageEditData xmlns:p14="http://schemas.microsoft.com/office/powerpoint/2010/main" val="1"/>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4452"/>
  </p:normalViewPr>
  <p:slideViewPr>
    <p:cSldViewPr snapToGrid="0">
      <p:cViewPr>
        <p:scale>
          <a:sx n="108" d="100"/>
          <a:sy n="108" d="100"/>
        </p:scale>
        <p:origin x="928" y="-152"/>
      </p:cViewPr>
      <p:guideLst>
        <p:guide pos="3040"/>
        <p:guide orient="horz" pos="2160"/>
      </p:guideLst>
    </p:cSldViewPr>
  </p:slideViewPr>
  <p:notesTextViewPr>
    <p:cViewPr>
      <p:scale>
        <a:sx n="110" d="100"/>
        <a:sy n="11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notesMaster" Target="notesMasters/notesMaster1.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6.xml"/><Relationship Id="rId41"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B827CF-08EA-764E-8003-51B8F765B1CB}"/>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686CA0-FF0C-C04F-B37E-5D98B3C30711}"/>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81946028-ECFD-5C4B-8E7B-DD9207B52179}" type="datetimeFigureOut">
              <a:rPr lang="en-US" smtClean="0"/>
              <a:t>4/10/26</a:t>
            </a:fld>
            <a:endParaRPr lang="en-US" dirty="0"/>
          </a:p>
        </p:txBody>
      </p:sp>
      <p:sp>
        <p:nvSpPr>
          <p:cNvPr id="4" name="Footer Placeholder 3">
            <a:extLst>
              <a:ext uri="{FF2B5EF4-FFF2-40B4-BE49-F238E27FC236}">
                <a16:creationId xmlns:a16="http://schemas.microsoft.com/office/drawing/2014/main" id="{3C46A26B-F35F-B24F-B9EF-5C98A76D560D}"/>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5" name="Slide Number Placeholder 4">
            <a:extLst>
              <a:ext uri="{FF2B5EF4-FFF2-40B4-BE49-F238E27FC236}">
                <a16:creationId xmlns:a16="http://schemas.microsoft.com/office/drawing/2014/main" id="{C9DEDE1E-24CC-3B4C-BDF2-C8DF6FAA3E8E}"/>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7AED1D86-69B6-0643-B1D5-1FC7C9750E4C}" type="slidenum">
              <a:rPr lang="en-US" smtClean="0"/>
              <a:t>‹#›</a:t>
            </a:fld>
            <a:endParaRPr lang="en-US" dirty="0"/>
          </a:p>
        </p:txBody>
      </p:sp>
    </p:spTree>
    <p:extLst>
      <p:ext uri="{BB962C8B-B14F-4D97-AF65-F5344CB8AC3E}">
        <p14:creationId xmlns:p14="http://schemas.microsoft.com/office/powerpoint/2010/main" val="9545407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1DDFAB82-E1E5-D84E-A45E-DAE72AA12B1D}" type="datetimeFigureOut">
              <a:rPr lang="en-US" smtClean="0"/>
              <a:t>4/10/26</a:t>
            </a:fld>
            <a:endParaRPr lang="en-US"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373756"/>
            <a:ext cx="7437120" cy="2760345"/>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5068C1A6-6C9C-C342-8E0F-AE9AC9AFD13B}" type="slidenum">
              <a:rPr lang="en-US" smtClean="0"/>
              <a:t>‹#›</a:t>
            </a:fld>
            <a:endParaRPr lang="en-US" dirty="0"/>
          </a:p>
        </p:txBody>
      </p:sp>
    </p:spTree>
    <p:extLst>
      <p:ext uri="{BB962C8B-B14F-4D97-AF65-F5344CB8AC3E}">
        <p14:creationId xmlns:p14="http://schemas.microsoft.com/office/powerpoint/2010/main" val="11671225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EA4F-49BC-A7C5-B92B-3D818E91A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CE3EE-CD7C-5619-02B5-32CAD737F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F4F28-EA78-3C57-C284-ABF8055DF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F245D2-D66B-E1FB-D52E-B2E07E0087B4}"/>
              </a:ext>
            </a:extLst>
          </p:cNvPr>
          <p:cNvSpPr>
            <a:spLocks noGrp="1"/>
          </p:cNvSpPr>
          <p:nvPr>
            <p:ph type="sldNum" sz="quarter" idx="5"/>
          </p:nvPr>
        </p:nvSpPr>
        <p:spPr/>
        <p:txBody>
          <a:bodyPr/>
          <a:lstStyle/>
          <a:p>
            <a:fld id="{5068C1A6-6C9C-C342-8E0F-AE9AC9AFD13B}" type="slidenum">
              <a:rPr lang="en-US" smtClean="0"/>
              <a:t>0</a:t>
            </a:fld>
            <a:endParaRPr lang="en-US" dirty="0"/>
          </a:p>
        </p:txBody>
      </p:sp>
    </p:spTree>
    <p:extLst>
      <p:ext uri="{BB962C8B-B14F-4D97-AF65-F5344CB8AC3E}">
        <p14:creationId xmlns:p14="http://schemas.microsoft.com/office/powerpoint/2010/main" val="1890989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EFFB1-C4FB-1607-BF3C-978ECFD5B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B9984A-BB3A-F8CC-018E-CA6906529F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87E3E-148A-8C84-E0F1-9A294744677B}"/>
              </a:ext>
            </a:extLst>
          </p:cNvPr>
          <p:cNvSpPr>
            <a:spLocks noGrp="1"/>
          </p:cNvSpPr>
          <p:nvPr>
            <p:ph type="body" idx="1"/>
          </p:nvPr>
        </p:nvSpPr>
        <p:spPr/>
        <p:txBody>
          <a:bodyPr/>
          <a:lstStyle/>
          <a:p>
            <a:endParaRPr lang="en-US" dirty="0"/>
          </a:p>
          <a:p>
            <a:r>
              <a:rPr lang="en-US" b="1" dirty="0"/>
              <a:t>Show (diagram or bullets):</a:t>
            </a:r>
          </a:p>
          <a:p>
            <a:r>
              <a:rPr lang="en-US" dirty="0"/>
              <a:t>Data sources (ACS, NOAA, USGS, Crime) </a:t>
            </a:r>
          </a:p>
          <a:p>
            <a:r>
              <a:rPr lang="en-US" dirty="0"/>
              <a:t>Feature engineering </a:t>
            </a:r>
          </a:p>
          <a:p>
            <a:r>
              <a:rPr lang="en-US" dirty="0"/>
              <a:t>Train/test split </a:t>
            </a:r>
          </a:p>
          <a:p>
            <a:r>
              <a:rPr lang="en-US" dirty="0"/>
              <a:t>Model training </a:t>
            </a:r>
          </a:p>
          <a:p>
            <a:r>
              <a:rPr lang="en-US" dirty="0"/>
              <a:t>Evaluation </a:t>
            </a:r>
          </a:p>
          <a:p>
            <a:r>
              <a:rPr lang="en-US" dirty="0"/>
              <a:t>Outputs (forecasts + summaries) </a:t>
            </a:r>
          </a:p>
          <a:p>
            <a:br>
              <a:rPr lang="en-US" dirty="0"/>
            </a:br>
            <a:endParaRPr lang="en-US" dirty="0"/>
          </a:p>
          <a:p>
            <a:r>
              <a:rPr lang="en-US" dirty="0"/>
              <a:t>***The pipeline now runs fully end-to-end without manual patching</a:t>
            </a:r>
          </a:p>
          <a:p>
            <a:endParaRPr lang="en-US" dirty="0"/>
          </a:p>
          <a:p>
            <a:endParaRPr lang="en-US" dirty="0"/>
          </a:p>
          <a:p>
            <a:endParaRPr lang="en-US" dirty="0"/>
          </a:p>
          <a:p>
            <a:endParaRPr lang="en-US" dirty="0"/>
          </a:p>
          <a:p>
            <a:r>
              <a:rPr lang="en-US" dirty="0"/>
              <a:t>The project uses both supervised and unsupervised methods. Supervised models such as Random Forest and Lasso  are used to predict population change. Unsupervised methods, including K-Means and hierarchical clustering, are then used to identify structural municipal typologies based on socioeconomic and environmental characteristics.</a:t>
            </a:r>
          </a:p>
          <a:p>
            <a:endParaRPr lang="en-US" dirty="0"/>
          </a:p>
          <a:p>
            <a:endParaRPr lang="en-US" dirty="0"/>
          </a:p>
          <a:p>
            <a:r>
              <a:rPr lang="en-US" b="1" dirty="0"/>
              <a:t>Why Clustering Comes After Prediction</a:t>
            </a:r>
          </a:p>
          <a:p>
            <a:r>
              <a:rPr lang="en-US" dirty="0"/>
              <a:t>Clustering works best </a:t>
            </a:r>
            <a:r>
              <a:rPr lang="en-US" b="1" dirty="0"/>
              <a:t>after you understand the data</a:t>
            </a:r>
            <a:r>
              <a:rPr lang="en-US" dirty="0"/>
              <a:t>.</a:t>
            </a:r>
          </a:p>
          <a:p>
            <a:r>
              <a:rPr lang="en-US" dirty="0"/>
              <a:t>By Phase 5 you already have:</a:t>
            </a:r>
          </a:p>
          <a:p>
            <a:r>
              <a:rPr lang="en-US" dirty="0"/>
              <a:t>engineered features</a:t>
            </a:r>
          </a:p>
          <a:p>
            <a:r>
              <a:rPr lang="en-US" dirty="0"/>
              <a:t>vulnerability index</a:t>
            </a:r>
          </a:p>
          <a:p>
            <a:r>
              <a:rPr lang="en-US" dirty="0"/>
              <a:t>population change</a:t>
            </a:r>
          </a:p>
          <a:p>
            <a:r>
              <a:rPr lang="en-US" dirty="0"/>
              <a:t>economic indicators</a:t>
            </a:r>
          </a:p>
          <a:p>
            <a:r>
              <a:rPr lang="en-US" dirty="0"/>
              <a:t>disaster exposure</a:t>
            </a:r>
          </a:p>
          <a:p>
            <a:r>
              <a:rPr lang="en-US" dirty="0"/>
              <a:t>Now clustering can identify </a:t>
            </a:r>
            <a:r>
              <a:rPr lang="en-US" b="1" dirty="0"/>
              <a:t>municipal typologies</a:t>
            </a:r>
            <a:r>
              <a:rPr lang="en-US" dirty="0"/>
              <a:t>.</a:t>
            </a:r>
          </a:p>
          <a:p>
            <a:r>
              <a:rPr lang="en-US" dirty="0"/>
              <a:t>Example clusters might represent:</a:t>
            </a:r>
          </a:p>
          <a:p>
            <a:r>
              <a:rPr lang="en-US" dirty="0" err="1"/>
              <a:t>ClusterInterpretationCluster</a:t>
            </a:r>
            <a:r>
              <a:rPr lang="en-US" dirty="0"/>
              <a:t> 1high-income stable </a:t>
            </a:r>
            <a:r>
              <a:rPr lang="en-US" dirty="0" err="1"/>
              <a:t>municipalitiesCluster</a:t>
            </a:r>
            <a:r>
              <a:rPr lang="en-US" dirty="0"/>
              <a:t> 2economically vulnerable </a:t>
            </a:r>
            <a:r>
              <a:rPr lang="en-US" dirty="0" err="1"/>
              <a:t>areasCluster</a:t>
            </a:r>
            <a:r>
              <a:rPr lang="en-US" dirty="0"/>
              <a:t> 3disaster-exposed municipalities</a:t>
            </a:r>
          </a:p>
          <a:p>
            <a:endParaRPr lang="en-US" dirty="0"/>
          </a:p>
        </p:txBody>
      </p:sp>
      <p:sp>
        <p:nvSpPr>
          <p:cNvPr id="4" name="Slide Number Placeholder 3">
            <a:extLst>
              <a:ext uri="{FF2B5EF4-FFF2-40B4-BE49-F238E27FC236}">
                <a16:creationId xmlns:a16="http://schemas.microsoft.com/office/drawing/2014/main" id="{0C794E44-F55F-7E5D-DE4B-38F748BE98D7}"/>
              </a:ext>
            </a:extLst>
          </p:cNvPr>
          <p:cNvSpPr>
            <a:spLocks noGrp="1"/>
          </p:cNvSpPr>
          <p:nvPr>
            <p:ph type="sldNum" sz="quarter" idx="5"/>
          </p:nvPr>
        </p:nvSpPr>
        <p:spPr/>
        <p:txBody>
          <a:bodyPr/>
          <a:lstStyle/>
          <a:p>
            <a:fld id="{5068C1A6-6C9C-C342-8E0F-AE9AC9AFD13B}" type="slidenum">
              <a:rPr lang="en-US" smtClean="0"/>
              <a:t>2</a:t>
            </a:fld>
            <a:endParaRPr lang="en-US" dirty="0"/>
          </a:p>
        </p:txBody>
      </p:sp>
    </p:spTree>
    <p:extLst>
      <p:ext uri="{BB962C8B-B14F-4D97-AF65-F5344CB8AC3E}">
        <p14:creationId xmlns:p14="http://schemas.microsoft.com/office/powerpoint/2010/main" val="1347168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all models had negative R². This week, after testing nonlinear models, Extra Trees achieved positive R², showing that population dynamics require nonlinear modeling.</a:t>
            </a:r>
          </a:p>
        </p:txBody>
      </p:sp>
      <p:sp>
        <p:nvSpPr>
          <p:cNvPr id="4" name="Slide Number Placeholder 3"/>
          <p:cNvSpPr>
            <a:spLocks noGrp="1"/>
          </p:cNvSpPr>
          <p:nvPr>
            <p:ph type="sldNum" sz="quarter" idx="5"/>
          </p:nvPr>
        </p:nvSpPr>
        <p:spPr/>
        <p:txBody>
          <a:bodyPr/>
          <a:lstStyle/>
          <a:p>
            <a:fld id="{5068C1A6-6C9C-C342-8E0F-AE9AC9AFD13B}" type="slidenum">
              <a:rPr lang="en-US" smtClean="0"/>
              <a:t>3</a:t>
            </a:fld>
            <a:endParaRPr lang="en-US" dirty="0"/>
          </a:p>
        </p:txBody>
      </p:sp>
    </p:spTree>
    <p:extLst>
      <p:ext uri="{BB962C8B-B14F-4D97-AF65-F5344CB8AC3E}">
        <p14:creationId xmlns:p14="http://schemas.microsoft.com/office/powerpoint/2010/main" val="3312028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SHAP to understand what the model is actually learning. What I found is that the model is dominated by past population trends and structural variables, while disaster effects are inconsistent. This explains why short-term prediction is difficult, but structural patterns still emerge.</a:t>
            </a:r>
          </a:p>
          <a:p>
            <a:endParaRPr lang="en-US" dirty="0"/>
          </a:p>
          <a:p>
            <a:r>
              <a:rPr lang="en-US" dirty="0"/>
              <a:t>SHAP shows consistent drivers </a:t>
            </a:r>
          </a:p>
          <a:p>
            <a:r>
              <a:rPr lang="en-US" dirty="0"/>
              <a:t>3-year target improves signal </a:t>
            </a:r>
          </a:p>
          <a:p>
            <a:r>
              <a:rPr lang="en-US" dirty="0"/>
              <a:t>spatial patterns are clear</a:t>
            </a:r>
          </a:p>
          <a:p>
            <a:endParaRPr lang="en-US" dirty="0"/>
          </a:p>
          <a:p>
            <a:endParaRPr lang="en-US" dirty="0"/>
          </a:p>
          <a:p>
            <a:endParaRPr lang="en-US" dirty="0"/>
          </a:p>
          <a:p>
            <a:r>
              <a:rPr lang="en-US" dirty="0"/>
              <a:t>These two plots work together to explain both </a:t>
            </a:r>
            <a:r>
              <a:rPr lang="en-US" b="1" dirty="0"/>
              <a:t>what drives population change</a:t>
            </a:r>
            <a:r>
              <a:rPr lang="en-US" dirty="0"/>
              <a:t> and </a:t>
            </a:r>
            <a:r>
              <a:rPr lang="en-US" b="1" dirty="0"/>
              <a:t>when those drivers matter</a:t>
            </a:r>
            <a:r>
              <a:rPr lang="en-US" dirty="0"/>
              <a:t>.</a:t>
            </a:r>
          </a:p>
          <a:p>
            <a:r>
              <a:rPr lang="en-US" dirty="0"/>
              <a:t>On the right, the SHAP plot identifies the most important variables overall. We see that seismic activity, regional differences, and lagged population change are key drivers, which tells us that population dynamics are strongly influenced by structural conditions and persistence over time.</a:t>
            </a:r>
          </a:p>
          <a:p>
            <a:r>
              <a:rPr lang="en-US" dirty="0"/>
              <a:t>However, SHAP alone doesn’t tell us </a:t>
            </a:r>
            <a:r>
              <a:rPr lang="en-US" i="1" dirty="0"/>
              <a:t>when</a:t>
            </a:r>
            <a:r>
              <a:rPr lang="en-US" dirty="0"/>
              <a:t> these effects occur. That’s where the lead–lag analysis on the left comes in.</a:t>
            </a:r>
          </a:p>
          <a:p>
            <a:r>
              <a:rPr lang="en-US" dirty="0"/>
              <a:t>This plot shows that hurricane exposure is actually the most influential variable — but only at a one-year lag. In other words, the impact of hurricanes on population change is delayed, likely reflecting migration and recovery processes rather than immediate responses.</a:t>
            </a:r>
          </a:p>
          <a:p>
            <a:r>
              <a:rPr lang="en-US" dirty="0"/>
              <a:t>Seismic activity, by contrast, shows both immediate and short-term effects, while structural variables like vulnerability and income remain consistently important across time.</a:t>
            </a:r>
          </a:p>
          <a:p>
            <a:r>
              <a:rPr lang="en-US" dirty="0"/>
              <a:t>So together, these plots show that population change in Puerto Rico is not just driven by structural factors, but also by </a:t>
            </a:r>
            <a:r>
              <a:rPr lang="en-US" b="1" dirty="0"/>
              <a:t>delayed responses to shocks</a:t>
            </a:r>
            <a:r>
              <a:rPr lang="en-US" dirty="0"/>
              <a:t>, highlighting that timing plays a critical role in understanding demographic change.</a:t>
            </a:r>
          </a:p>
          <a:p>
            <a:endParaRPr lang="en-US" dirty="0"/>
          </a:p>
          <a:p>
            <a:endParaRPr lang="en-US" dirty="0"/>
          </a:p>
          <a:p>
            <a:endParaRPr lang="en-US" dirty="0"/>
          </a:p>
          <a:p>
            <a:endParaRPr lang="en-US" dirty="0"/>
          </a:p>
          <a:p>
            <a:endParaRPr lang="en-US" dirty="0"/>
          </a:p>
          <a:p>
            <a:r>
              <a:rPr lang="en-US" dirty="0"/>
              <a:t>Those features were chosen because they capture </a:t>
            </a:r>
            <a:r>
              <a:rPr lang="en-US" b="1" dirty="0"/>
              <a:t>four fundamental mechanisms of population change</a:t>
            </a:r>
            <a:r>
              <a:rPr lang="en-US" dirty="0"/>
              <a:t>:</a:t>
            </a:r>
          </a:p>
          <a:p>
            <a:r>
              <a:rPr lang="en-US" b="1" dirty="0"/>
              <a:t>Persistence (momentum)</a:t>
            </a:r>
            <a:r>
              <a:rPr lang="en-US" dirty="0"/>
              <a:t> </a:t>
            </a:r>
          </a:p>
          <a:p>
            <a:r>
              <a:rPr lang="en-US" b="1" dirty="0"/>
              <a:t>Vulnerability (who is exposed)</a:t>
            </a:r>
            <a:r>
              <a:rPr lang="en-US" dirty="0"/>
              <a:t> </a:t>
            </a:r>
          </a:p>
          <a:p>
            <a:r>
              <a:rPr lang="en-US" b="1" dirty="0"/>
              <a:t>Shocks (what happens)</a:t>
            </a:r>
            <a:r>
              <a:rPr lang="en-US" dirty="0"/>
              <a:t> </a:t>
            </a:r>
          </a:p>
          <a:p>
            <a:r>
              <a:rPr lang="en-US" b="1" dirty="0"/>
              <a:t>Structure (where it happens)</a:t>
            </a:r>
          </a:p>
          <a:p>
            <a:endParaRPr lang="en-US" b="1" dirty="0"/>
          </a:p>
          <a:p>
            <a:endParaRPr lang="en-US" b="1" dirty="0"/>
          </a:p>
          <a:p>
            <a:r>
              <a:rPr lang="en-US" dirty="0"/>
              <a:t>The feature set is not random — it is </a:t>
            </a:r>
            <a:r>
              <a:rPr lang="en-US" b="1" dirty="0"/>
              <a:t>theory-driven + data-driven</a:t>
            </a:r>
            <a:r>
              <a:rPr lang="en-US" dirty="0"/>
              <a:t>.</a:t>
            </a:r>
          </a:p>
          <a:p>
            <a:endParaRPr lang="en-US" dirty="0"/>
          </a:p>
          <a:p>
            <a:endParaRPr lang="en-US" dirty="0"/>
          </a:p>
          <a:p>
            <a:endParaRPr lang="en-US" dirty="0"/>
          </a:p>
          <a:p>
            <a:r>
              <a:rPr lang="en-US" b="1" dirty="0"/>
              <a:t>Features:</a:t>
            </a:r>
          </a:p>
          <a:p>
            <a:pPr lvl="1"/>
            <a:r>
              <a:rPr lang="en-US" sz="1200" kern="1200" dirty="0">
                <a:solidFill>
                  <a:schemeClr val="tx1"/>
                </a:solidFill>
                <a:latin typeface="+mn-lt"/>
                <a:ea typeface="+mn-ea"/>
                <a:cs typeface="+mn-cs"/>
              </a:rPr>
              <a:t>lag_pop_change_1</a:t>
            </a:r>
            <a:r>
              <a:rPr lang="en-US" dirty="0"/>
              <a:t> </a:t>
            </a:r>
          </a:p>
          <a:p>
            <a:pPr lvl="1"/>
            <a:r>
              <a:rPr lang="en-US" sz="1200" kern="1200" dirty="0">
                <a:solidFill>
                  <a:schemeClr val="tx1"/>
                </a:solidFill>
                <a:latin typeface="+mn-lt"/>
                <a:ea typeface="+mn-ea"/>
                <a:cs typeface="+mn-cs"/>
              </a:rPr>
              <a:t>lag_pop_change_2</a:t>
            </a:r>
            <a:r>
              <a:rPr lang="en-US" dirty="0"/>
              <a:t> </a:t>
            </a:r>
          </a:p>
          <a:p>
            <a:r>
              <a:rPr lang="en-US" b="1" dirty="0"/>
              <a:t>Why? </a:t>
            </a:r>
            <a:r>
              <a:rPr lang="en-US" dirty="0"/>
              <a:t>Population doesn’t change randomly, it follows trends.</a:t>
            </a:r>
          </a:p>
          <a:p>
            <a:r>
              <a:rPr lang="en-US" dirty="0"/>
              <a:t>decline → tends to continue declining </a:t>
            </a:r>
          </a:p>
          <a:p>
            <a:r>
              <a:rPr lang="en-US" dirty="0"/>
              <a:t>growth → tends to continue growing </a:t>
            </a:r>
          </a:p>
          <a:p>
            <a:r>
              <a:rPr lang="en-US" b="1" dirty="0"/>
              <a:t>Interpretation: </a:t>
            </a:r>
            <a:r>
              <a:rPr lang="en-US" dirty="0"/>
              <a:t>These variables capture </a:t>
            </a:r>
            <a:r>
              <a:rPr lang="en-US" b="1" dirty="0"/>
              <a:t>momentum and path dependence</a:t>
            </a:r>
          </a:p>
          <a:p>
            <a:endParaRPr lang="en-US" b="1" dirty="0"/>
          </a:p>
          <a:p>
            <a:endParaRPr lang="en-US" b="1" dirty="0"/>
          </a:p>
          <a:p>
            <a:r>
              <a:rPr lang="en-US" b="1" dirty="0"/>
              <a:t>Feature:</a:t>
            </a:r>
          </a:p>
          <a:p>
            <a:pPr lvl="1"/>
            <a:r>
              <a:rPr lang="en-US" sz="1200" kern="1200" dirty="0">
                <a:solidFill>
                  <a:schemeClr val="tx1"/>
                </a:solidFill>
                <a:latin typeface="+mn-lt"/>
                <a:ea typeface="+mn-ea"/>
                <a:cs typeface="+mn-cs"/>
              </a:rPr>
              <a:t>svi_pca_1</a:t>
            </a:r>
            <a:r>
              <a:rPr lang="en-US" dirty="0"/>
              <a:t> </a:t>
            </a:r>
          </a:p>
          <a:p>
            <a:r>
              <a:rPr lang="en-US" b="1" dirty="0"/>
              <a:t>Why? </a:t>
            </a:r>
            <a:r>
              <a:rPr lang="en-US" dirty="0"/>
              <a:t>Not all municipalities respond the same way to shocks.</a:t>
            </a:r>
          </a:p>
          <a:p>
            <a:r>
              <a:rPr lang="en-US" dirty="0"/>
              <a:t>SVI captures:</a:t>
            </a:r>
          </a:p>
          <a:p>
            <a:pPr lvl="1"/>
            <a:r>
              <a:rPr lang="en-US" dirty="0"/>
              <a:t>poverty </a:t>
            </a:r>
          </a:p>
          <a:p>
            <a:pPr lvl="1"/>
            <a:r>
              <a:rPr lang="en-US" dirty="0"/>
              <a:t>age structure </a:t>
            </a:r>
          </a:p>
          <a:p>
            <a:pPr lvl="1"/>
            <a:r>
              <a:rPr lang="en-US" dirty="0"/>
              <a:t>housing conditions </a:t>
            </a:r>
          </a:p>
          <a:p>
            <a:pPr lvl="1"/>
            <a:r>
              <a:rPr lang="en-US" dirty="0"/>
              <a:t>social disadvantage </a:t>
            </a:r>
          </a:p>
          <a:p>
            <a:r>
              <a:rPr lang="en-US" b="1" dirty="0"/>
              <a:t>Interpretation: </a:t>
            </a:r>
            <a:r>
              <a:rPr lang="en-US" dirty="0"/>
              <a:t>This measures </a:t>
            </a:r>
            <a:r>
              <a:rPr lang="en-US" b="1" dirty="0"/>
              <a:t>baseline resilience vs vulnerability</a:t>
            </a:r>
            <a:endParaRPr lang="en-US" dirty="0"/>
          </a:p>
          <a:p>
            <a:endParaRPr lang="en-US" dirty="0"/>
          </a:p>
          <a:p>
            <a:r>
              <a:rPr lang="en-US" b="1" dirty="0"/>
              <a:t>Features:</a:t>
            </a:r>
          </a:p>
          <a:p>
            <a:pPr lvl="1"/>
            <a:r>
              <a:rPr lang="en-US" sz="1200" kern="1200" dirty="0">
                <a:solidFill>
                  <a:schemeClr val="tx1"/>
                </a:solidFill>
                <a:latin typeface="+mn-lt"/>
                <a:ea typeface="+mn-ea"/>
                <a:cs typeface="+mn-cs"/>
              </a:rPr>
              <a:t>wind_3yr_sum</a:t>
            </a:r>
            <a:r>
              <a:rPr lang="en-US" dirty="0"/>
              <a:t> (hurricanes) </a:t>
            </a:r>
          </a:p>
          <a:p>
            <a:pPr lvl="1"/>
            <a:r>
              <a:rPr lang="en-US" sz="1200" kern="1200" dirty="0">
                <a:solidFill>
                  <a:schemeClr val="tx1"/>
                </a:solidFill>
                <a:latin typeface="+mn-lt"/>
                <a:ea typeface="+mn-ea"/>
                <a:cs typeface="+mn-cs"/>
              </a:rPr>
              <a:t>seismic_3yr_sum</a:t>
            </a:r>
            <a:r>
              <a:rPr lang="en-US" dirty="0"/>
              <a:t> (earthquakes) </a:t>
            </a:r>
          </a:p>
          <a:p>
            <a:r>
              <a:rPr lang="en-US" b="1" dirty="0"/>
              <a:t>Why? </a:t>
            </a:r>
            <a:r>
              <a:rPr lang="en-US" dirty="0"/>
              <a:t>Puerto Rico’s population is heavily influenced by disasters.</a:t>
            </a:r>
          </a:p>
          <a:p>
            <a:r>
              <a:rPr lang="en-US" dirty="0"/>
              <a:t>But not just events — you used:</a:t>
            </a:r>
          </a:p>
          <a:p>
            <a:r>
              <a:rPr lang="en-US" b="1" dirty="0"/>
              <a:t>3-year rolling exposure</a:t>
            </a:r>
            <a:r>
              <a:rPr lang="en-US" dirty="0"/>
              <a:t> </a:t>
            </a:r>
          </a:p>
          <a:p>
            <a:r>
              <a:rPr lang="en-US" dirty="0"/>
              <a:t>This is VERY important because it captures </a:t>
            </a:r>
            <a:r>
              <a:rPr lang="en-US" b="1" dirty="0"/>
              <a:t>cumulative stress</a:t>
            </a:r>
            <a:r>
              <a:rPr lang="en-US" dirty="0"/>
              <a:t>, not just single events</a:t>
            </a:r>
          </a:p>
          <a:p>
            <a:endParaRPr lang="en-US" dirty="0"/>
          </a:p>
          <a:p>
            <a:endParaRPr lang="en-US" dirty="0"/>
          </a:p>
          <a:p>
            <a:r>
              <a:rPr lang="en-US" b="1" dirty="0"/>
              <a:t>Features:</a:t>
            </a:r>
          </a:p>
          <a:p>
            <a:pPr lvl="1"/>
            <a:r>
              <a:rPr lang="en-US" sz="1200" kern="1200" dirty="0">
                <a:solidFill>
                  <a:schemeClr val="tx1"/>
                </a:solidFill>
                <a:latin typeface="+mn-lt"/>
                <a:ea typeface="+mn-ea"/>
                <a:cs typeface="+mn-cs"/>
              </a:rPr>
              <a:t>wind_3yr_x_svi</a:t>
            </a:r>
            <a:r>
              <a:rPr lang="en-US" dirty="0"/>
              <a:t> </a:t>
            </a:r>
          </a:p>
          <a:p>
            <a:pPr lvl="1"/>
            <a:r>
              <a:rPr lang="en-US" sz="1200" kern="1200" dirty="0">
                <a:solidFill>
                  <a:schemeClr val="tx1"/>
                </a:solidFill>
                <a:latin typeface="+mn-lt"/>
                <a:ea typeface="+mn-ea"/>
                <a:cs typeface="+mn-cs"/>
              </a:rPr>
              <a:t>seismic_3yr_x_svi</a:t>
            </a:r>
            <a:r>
              <a:rPr lang="en-US" dirty="0"/>
              <a:t> </a:t>
            </a:r>
          </a:p>
          <a:p>
            <a:r>
              <a:rPr lang="en-US" b="1" dirty="0"/>
              <a:t>Why? </a:t>
            </a:r>
            <a:r>
              <a:rPr lang="en-US" dirty="0"/>
              <a:t>Disasters don’t affect everyone equally.</a:t>
            </a:r>
          </a:p>
          <a:p>
            <a:r>
              <a:rPr lang="en-US" dirty="0"/>
              <a:t>Example:</a:t>
            </a:r>
          </a:p>
          <a:p>
            <a:pPr lvl="1"/>
            <a:r>
              <a:rPr lang="en-US" dirty="0"/>
              <a:t>high-SVI area + hurricane → bigger impact </a:t>
            </a:r>
          </a:p>
          <a:p>
            <a:pPr lvl="1"/>
            <a:r>
              <a:rPr lang="en-US" dirty="0"/>
              <a:t>low-SVI area + hurricane → smaller impact </a:t>
            </a:r>
          </a:p>
          <a:p>
            <a:r>
              <a:rPr lang="en-US" b="1" dirty="0"/>
              <a:t>Interpretation: </a:t>
            </a:r>
            <a:r>
              <a:rPr lang="en-US" dirty="0"/>
              <a:t>These features capture </a:t>
            </a:r>
            <a:r>
              <a:rPr lang="en-US" b="1" dirty="0"/>
              <a:t>heterogeneous effects</a:t>
            </a:r>
            <a:endParaRPr lang="en-US" dirty="0"/>
          </a:p>
          <a:p>
            <a:endParaRPr lang="en-US" dirty="0"/>
          </a:p>
          <a:p>
            <a:endParaRPr lang="en-US" dirty="0"/>
          </a:p>
          <a:p>
            <a:r>
              <a:rPr lang="en-US" b="1" dirty="0"/>
              <a:t>Features: </a:t>
            </a:r>
            <a:r>
              <a:rPr lang="en-US" dirty="0"/>
              <a:t>Economic Structure</a:t>
            </a:r>
            <a:endParaRPr lang="en-US" b="1" dirty="0"/>
          </a:p>
          <a:p>
            <a:pPr lvl="1"/>
            <a:r>
              <a:rPr lang="en-US" sz="1200" kern="1200" dirty="0" err="1">
                <a:solidFill>
                  <a:schemeClr val="tx1"/>
                </a:solidFill>
                <a:latin typeface="+mn-lt"/>
                <a:ea typeface="+mn-ea"/>
                <a:cs typeface="+mn-cs"/>
              </a:rPr>
              <a:t>income_growth</a:t>
            </a:r>
            <a:r>
              <a:rPr lang="en-US" dirty="0"/>
              <a:t> </a:t>
            </a:r>
          </a:p>
          <a:p>
            <a:pPr lvl="1"/>
            <a:r>
              <a:rPr lang="en-US" sz="1200" kern="1200" dirty="0" err="1">
                <a:solidFill>
                  <a:schemeClr val="tx1"/>
                </a:solidFill>
                <a:latin typeface="+mn-lt"/>
                <a:ea typeface="+mn-ea"/>
                <a:cs typeface="+mn-cs"/>
              </a:rPr>
              <a:t>establishment_growth</a:t>
            </a:r>
            <a:r>
              <a:rPr lang="en-US" dirty="0"/>
              <a:t> </a:t>
            </a:r>
          </a:p>
          <a:p>
            <a:r>
              <a:rPr lang="en-US" b="1" dirty="0"/>
              <a:t>Why? </a:t>
            </a:r>
            <a:r>
              <a:rPr lang="en-US" dirty="0"/>
              <a:t>Economic conditions influence:</a:t>
            </a:r>
          </a:p>
          <a:p>
            <a:pPr lvl="1"/>
            <a:r>
              <a:rPr lang="en-US" dirty="0"/>
              <a:t>migration </a:t>
            </a:r>
          </a:p>
          <a:p>
            <a:pPr lvl="1"/>
            <a:r>
              <a:rPr lang="en-US" dirty="0"/>
              <a:t>opportunity </a:t>
            </a:r>
          </a:p>
          <a:p>
            <a:r>
              <a:rPr lang="en-US" dirty="0"/>
              <a:t>	resilience </a:t>
            </a:r>
          </a:p>
          <a:p>
            <a:r>
              <a:rPr lang="en-US" b="1" dirty="0"/>
              <a:t>Interpretation: </a:t>
            </a:r>
            <a:r>
              <a:rPr lang="en-US" dirty="0"/>
              <a:t>These are </a:t>
            </a:r>
            <a:r>
              <a:rPr lang="en-US" b="1" dirty="0"/>
              <a:t>slow-moving structural drivers</a:t>
            </a:r>
          </a:p>
          <a:p>
            <a:endParaRPr lang="en-US" b="1" dirty="0"/>
          </a:p>
          <a:p>
            <a:r>
              <a:rPr lang="en-US" b="1" dirty="0"/>
              <a:t>Feature: </a:t>
            </a:r>
            <a:r>
              <a:rPr lang="en-US" dirty="0"/>
              <a:t>Social Conditions</a:t>
            </a:r>
            <a:endParaRPr lang="en-US" b="1" dirty="0"/>
          </a:p>
          <a:p>
            <a:r>
              <a:rPr lang="en-US" sz="1200" kern="1200" dirty="0" err="1">
                <a:solidFill>
                  <a:schemeClr val="tx1"/>
                </a:solidFill>
                <a:latin typeface="+mn-lt"/>
                <a:ea typeface="+mn-ea"/>
                <a:cs typeface="+mn-cs"/>
              </a:rPr>
              <a:t>lag_total_crime_rate</a:t>
            </a:r>
            <a:r>
              <a:rPr lang="en-US" dirty="0"/>
              <a:t> </a:t>
            </a:r>
          </a:p>
          <a:p>
            <a:r>
              <a:rPr lang="en-US" b="1" dirty="0"/>
              <a:t>Why? </a:t>
            </a:r>
            <a:r>
              <a:rPr lang="en-US" dirty="0"/>
              <a:t>Crime affects:</a:t>
            </a:r>
          </a:p>
          <a:p>
            <a:pPr lvl="1"/>
            <a:r>
              <a:rPr lang="en-US" dirty="0"/>
              <a:t>out-migration </a:t>
            </a:r>
          </a:p>
          <a:p>
            <a:pPr lvl="1"/>
            <a:r>
              <a:rPr lang="en-US" dirty="0"/>
              <a:t>quality of life </a:t>
            </a:r>
          </a:p>
          <a:p>
            <a:r>
              <a:rPr lang="en-US" dirty="0"/>
              <a:t>And you used </a:t>
            </a:r>
            <a:r>
              <a:rPr lang="en-US" b="1" dirty="0"/>
              <a:t>lagged crime</a:t>
            </a:r>
            <a:r>
              <a:rPr lang="en-US" dirty="0"/>
              <a:t> → correct direction of causality</a:t>
            </a:r>
          </a:p>
          <a:p>
            <a:endParaRPr lang="en-US" dirty="0"/>
          </a:p>
          <a:p>
            <a:endParaRPr lang="en-US" dirty="0"/>
          </a:p>
          <a:p>
            <a:r>
              <a:rPr lang="en-US" b="1" dirty="0"/>
              <a:t>Features: </a:t>
            </a:r>
            <a:r>
              <a:rPr lang="en-US" dirty="0"/>
              <a:t>Spatial Structure</a:t>
            </a:r>
            <a:endParaRPr lang="en-US" b="1" dirty="0"/>
          </a:p>
          <a:p>
            <a:pPr lvl="1"/>
            <a:r>
              <a:rPr lang="en-US" sz="1200" kern="1200" dirty="0">
                <a:solidFill>
                  <a:schemeClr val="tx1"/>
                </a:solidFill>
                <a:latin typeface="+mn-lt"/>
                <a:ea typeface="+mn-ea"/>
                <a:cs typeface="+mn-cs"/>
              </a:rPr>
              <a:t>region</a:t>
            </a:r>
            <a:r>
              <a:rPr lang="en-US" dirty="0"/>
              <a:t> </a:t>
            </a:r>
          </a:p>
          <a:p>
            <a:pPr lvl="1"/>
            <a:r>
              <a:rPr lang="en-US" sz="1200" kern="1200" dirty="0">
                <a:solidFill>
                  <a:schemeClr val="tx1"/>
                </a:solidFill>
                <a:latin typeface="+mn-lt"/>
                <a:ea typeface="+mn-ea"/>
                <a:cs typeface="+mn-cs"/>
              </a:rPr>
              <a:t>municipio</a:t>
            </a:r>
            <a:r>
              <a:rPr lang="en-US" dirty="0"/>
              <a:t> </a:t>
            </a:r>
          </a:p>
          <a:p>
            <a:r>
              <a:rPr lang="en-US" b="1" dirty="0"/>
              <a:t>Why? </a:t>
            </a:r>
            <a:r>
              <a:rPr lang="en-US" dirty="0"/>
              <a:t>Geography matters:</a:t>
            </a:r>
          </a:p>
          <a:p>
            <a:r>
              <a:rPr lang="en-US" dirty="0"/>
              <a:t>South ≠ Metro ≠ West </a:t>
            </a:r>
          </a:p>
          <a:p>
            <a:r>
              <a:rPr lang="en-US" dirty="0"/>
              <a:t>each has different: </a:t>
            </a:r>
          </a:p>
          <a:p>
            <a:pPr lvl="1"/>
            <a:r>
              <a:rPr lang="en-US" dirty="0"/>
              <a:t>economy </a:t>
            </a:r>
          </a:p>
          <a:p>
            <a:pPr lvl="1"/>
            <a:r>
              <a:rPr lang="en-US" dirty="0"/>
              <a:t>exposure </a:t>
            </a:r>
          </a:p>
          <a:p>
            <a:pPr lvl="1"/>
            <a:r>
              <a:rPr lang="en-US" dirty="0"/>
              <a:t>demographics </a:t>
            </a:r>
          </a:p>
          <a:p>
            <a:r>
              <a:rPr lang="en-US" b="1" dirty="0"/>
              <a:t>Interpretation: </a:t>
            </a:r>
            <a:r>
              <a:rPr lang="en-US" dirty="0"/>
              <a:t>These capture </a:t>
            </a:r>
            <a:r>
              <a:rPr lang="en-US" b="1" dirty="0"/>
              <a:t>unobserved spatial differences</a:t>
            </a:r>
          </a:p>
          <a:p>
            <a:endParaRPr lang="en-US" b="1" dirty="0"/>
          </a:p>
          <a:p>
            <a:r>
              <a:rPr lang="en-US" b="1" dirty="0"/>
              <a:t>Feature: </a:t>
            </a:r>
            <a:r>
              <a:rPr lang="en-US" dirty="0"/>
              <a:t>Time Trend</a:t>
            </a:r>
            <a:endParaRPr lang="en-US" b="1" dirty="0"/>
          </a:p>
          <a:p>
            <a:r>
              <a:rPr lang="en-US" sz="1200" kern="1200" dirty="0">
                <a:solidFill>
                  <a:schemeClr val="tx1"/>
                </a:solidFill>
                <a:latin typeface="+mn-lt"/>
                <a:ea typeface="+mn-ea"/>
                <a:cs typeface="+mn-cs"/>
              </a:rPr>
              <a:t>year</a:t>
            </a:r>
            <a:r>
              <a:rPr lang="en-US" dirty="0"/>
              <a:t> </a:t>
            </a:r>
          </a:p>
          <a:p>
            <a:r>
              <a:rPr lang="en-US" b="1" dirty="0"/>
              <a:t>Why? </a:t>
            </a:r>
            <a:r>
              <a:rPr lang="en-US" dirty="0"/>
              <a:t>Captures:</a:t>
            </a:r>
          </a:p>
          <a:p>
            <a:pPr lvl="1"/>
            <a:r>
              <a:rPr lang="en-US" dirty="0"/>
              <a:t>macro trends </a:t>
            </a:r>
          </a:p>
          <a:p>
            <a:pPr lvl="1"/>
            <a:r>
              <a:rPr lang="en-US" dirty="0"/>
              <a:t>policy changes </a:t>
            </a:r>
          </a:p>
          <a:p>
            <a:r>
              <a:rPr lang="en-US" dirty="0"/>
              <a:t>          overall island trajectory</a:t>
            </a:r>
          </a:p>
          <a:p>
            <a:endParaRPr lang="en-US" dirty="0"/>
          </a:p>
          <a:p>
            <a:endParaRPr lang="en-US" dirty="0"/>
          </a:p>
          <a:p>
            <a:r>
              <a:rPr lang="en-US" dirty="0"/>
              <a:t>The feature set was designed to capture the key mechanisms driving population change: temporal persistence, vulnerability, external shocks, and structural differences.</a:t>
            </a:r>
          </a:p>
          <a:p>
            <a:r>
              <a:rPr lang="en-US" dirty="0"/>
              <a:t>Lagged population variables capture momentum, SVI captures baseline vulnerability, disaster exposure variables represent external shocks, and interaction terms allow these shocks to vary by vulnerability.</a:t>
            </a:r>
          </a:p>
          <a:p>
            <a:r>
              <a:rPr lang="en-US" dirty="0"/>
              <a:t>Economic and social variables capture longer-term structural conditions, while regional indicators account for spatial heterogeneity. Together, this creates a balanced and interpretable model.</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4</a:t>
            </a:fld>
            <a:endParaRPr lang="en-US" dirty="0"/>
          </a:p>
        </p:txBody>
      </p:sp>
    </p:spTree>
    <p:extLst>
      <p:ext uri="{BB962C8B-B14F-4D97-AF65-F5344CB8AC3E}">
        <p14:creationId xmlns:p14="http://schemas.microsoft.com/office/powerpoint/2010/main" val="3120430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58BF-2752-B391-56A9-F664D9534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5FE71-47E3-4CB3-EEB6-583D6D4DE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3D1F1-E2B5-70B3-B317-B979A4B294B0}"/>
              </a:ext>
            </a:extLst>
          </p:cNvPr>
          <p:cNvSpPr>
            <a:spLocks noGrp="1"/>
          </p:cNvSpPr>
          <p:nvPr>
            <p:ph type="body" idx="1"/>
          </p:nvPr>
        </p:nvSpPr>
        <p:spPr/>
        <p:txBody>
          <a:bodyPr/>
          <a:lstStyle/>
          <a:p>
            <a:r>
              <a:rPr lang="en-US" dirty="0"/>
              <a:t>This slide shows a lead–lag analysis, which helps us understand not just what matters, but when it matters.</a:t>
            </a:r>
          </a:p>
          <a:p>
            <a:r>
              <a:rPr lang="en-US" dirty="0"/>
              <a:t>The key result is that hurricane exposure has its strongest effect at a one-year lag, not immediately. This suggests that population responses—such as migration or displacement—occur after some delay.</a:t>
            </a:r>
          </a:p>
          <a:p>
            <a:r>
              <a:rPr lang="en-US" dirty="0"/>
              <a:t>Earthquake effects appear both immediate and slightly persistent, while structural factors like vulnerability remain important across multiple time periods.</a:t>
            </a:r>
          </a:p>
          <a:p>
            <a:r>
              <a:rPr lang="en-US" dirty="0"/>
              <a:t>Overall, this tells us that population change is not driven by instant shocks, but by delayed and evolving responses over time.</a:t>
            </a:r>
          </a:p>
          <a:p>
            <a:endParaRPr lang="en-US" dirty="0"/>
          </a:p>
          <a:p>
            <a:endParaRPr lang="en-US" dirty="0"/>
          </a:p>
          <a:p>
            <a:r>
              <a:rPr lang="en-US" dirty="0"/>
              <a:t>These two plots work together to explain both </a:t>
            </a:r>
            <a:r>
              <a:rPr lang="en-US" b="1" dirty="0"/>
              <a:t>what drives population change</a:t>
            </a:r>
            <a:r>
              <a:rPr lang="en-US" dirty="0"/>
              <a:t> and </a:t>
            </a:r>
            <a:r>
              <a:rPr lang="en-US" b="1" dirty="0"/>
              <a:t>when those drivers matter</a:t>
            </a:r>
            <a:r>
              <a:rPr lang="en-US" dirty="0"/>
              <a:t>.</a:t>
            </a:r>
          </a:p>
          <a:p>
            <a:r>
              <a:rPr lang="en-US" dirty="0"/>
              <a:t>On the right, the SHAP plot identifies the most important variables overall. We see that seismic activity, regional differences, and lagged population change are key drivers, which tells us that population dynamics are strongly influenced by structural conditions and persistence over time.</a:t>
            </a:r>
          </a:p>
          <a:p>
            <a:r>
              <a:rPr lang="en-US" dirty="0"/>
              <a:t>However, SHAP alone doesn’t tell us </a:t>
            </a:r>
            <a:r>
              <a:rPr lang="en-US" i="1" dirty="0"/>
              <a:t>when</a:t>
            </a:r>
            <a:r>
              <a:rPr lang="en-US" dirty="0"/>
              <a:t> these effects occur. That’s where the lead–lag analysis on the left comes in.</a:t>
            </a:r>
          </a:p>
          <a:p>
            <a:r>
              <a:rPr lang="en-US" dirty="0"/>
              <a:t>This plot shows that hurricane exposure is actually the most influential variable — but only at a one-year lag. In other words, the impact of hurricanes on population change is delayed, likely reflecting migration and recovery processes rather than immediate responses.</a:t>
            </a:r>
          </a:p>
          <a:p>
            <a:r>
              <a:rPr lang="en-US" dirty="0"/>
              <a:t>Seismic activity, by contrast, shows both immediate and short-term effects, while structural variables like vulnerability and income remain consistently important across time.</a:t>
            </a:r>
          </a:p>
          <a:p>
            <a:r>
              <a:rPr lang="en-US" dirty="0"/>
              <a:t>So together, these plots show that population change in Puerto Rico is not just driven by structural factors, but also by </a:t>
            </a:r>
            <a:r>
              <a:rPr lang="en-US" b="1" dirty="0"/>
              <a:t>delayed responses to shocks</a:t>
            </a:r>
            <a:r>
              <a:rPr lang="en-US" dirty="0"/>
              <a:t>, highlighting that timing plays a critical role in understanding demographic change.</a:t>
            </a:r>
          </a:p>
          <a:p>
            <a:endParaRPr lang="en-US" dirty="0"/>
          </a:p>
          <a:p>
            <a:endParaRPr lang="en-US" dirty="0"/>
          </a:p>
        </p:txBody>
      </p:sp>
      <p:sp>
        <p:nvSpPr>
          <p:cNvPr id="4" name="Slide Number Placeholder 3">
            <a:extLst>
              <a:ext uri="{FF2B5EF4-FFF2-40B4-BE49-F238E27FC236}">
                <a16:creationId xmlns:a16="http://schemas.microsoft.com/office/drawing/2014/main" id="{685C73E6-5BEC-A8F8-A1AF-781212921898}"/>
              </a:ext>
            </a:extLst>
          </p:cNvPr>
          <p:cNvSpPr>
            <a:spLocks noGrp="1"/>
          </p:cNvSpPr>
          <p:nvPr>
            <p:ph type="sldNum" sz="quarter" idx="5"/>
          </p:nvPr>
        </p:nvSpPr>
        <p:spPr/>
        <p:txBody>
          <a:bodyPr/>
          <a:lstStyle/>
          <a:p>
            <a:fld id="{5068C1A6-6C9C-C342-8E0F-AE9AC9AFD13B}" type="slidenum">
              <a:rPr lang="en-US" smtClean="0"/>
              <a:t>5</a:t>
            </a:fld>
            <a:endParaRPr lang="en-US" dirty="0"/>
          </a:p>
        </p:txBody>
      </p:sp>
    </p:spTree>
    <p:extLst>
      <p:ext uri="{BB962C8B-B14F-4D97-AF65-F5344CB8AC3E}">
        <p14:creationId xmlns:p14="http://schemas.microsoft.com/office/powerpoint/2010/main" val="2308053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b="1" dirty="0"/>
              <a:t>Phase 5</a:t>
            </a:r>
            <a:r>
              <a:rPr lang="en-US" dirty="0"/>
              <a:t>, I used clustering to group municipios based on:</a:t>
            </a:r>
          </a:p>
          <a:p>
            <a:r>
              <a:rPr lang="en-US" dirty="0"/>
              <a:t>Economic conditions (income, employment) </a:t>
            </a:r>
          </a:p>
          <a:p>
            <a:r>
              <a:rPr lang="en-US" dirty="0"/>
              <a:t>Vulnerability (SVI, poverty, housing) </a:t>
            </a:r>
          </a:p>
          <a:p>
            <a:r>
              <a:rPr lang="en-US" dirty="0"/>
              <a:t>Demographics (age structure, etc.) </a:t>
            </a:r>
          </a:p>
          <a:p>
            <a:br>
              <a:rPr lang="en-US" dirty="0"/>
            </a:br>
            <a:endParaRPr lang="en-US" dirty="0"/>
          </a:p>
          <a:p>
            <a:r>
              <a:rPr lang="en-US" b="1" dirty="0"/>
              <a:t>Result:</a:t>
            </a:r>
          </a:p>
          <a:p>
            <a:r>
              <a:rPr lang="en-US" dirty="0"/>
              <a:t>I didn’t get random groups, but a </a:t>
            </a:r>
            <a:r>
              <a:rPr lang="en-US" b="1" dirty="0"/>
              <a:t>clear, repeatable patterns</a:t>
            </a:r>
          </a:p>
          <a:p>
            <a:endParaRPr lang="en-US" dirty="0"/>
          </a:p>
          <a:p>
            <a:r>
              <a:rPr lang="en-US" dirty="0"/>
              <a:t>So instead of 78 completely unique municipios, I found:</a:t>
            </a:r>
          </a:p>
          <a:p>
            <a:r>
              <a:rPr lang="en-US" dirty="0"/>
              <a:t>A </a:t>
            </a:r>
            <a:r>
              <a:rPr lang="en-US" b="1" dirty="0"/>
              <a:t>small number of types</a:t>
            </a:r>
            <a:r>
              <a:rPr lang="en-US" dirty="0"/>
              <a:t>, like:</a:t>
            </a:r>
          </a:p>
          <a:p>
            <a:r>
              <a:rPr lang="en-US" dirty="0"/>
              <a:t>High vulnerability / declining areas </a:t>
            </a:r>
          </a:p>
          <a:p>
            <a:r>
              <a:rPr lang="en-US" dirty="0"/>
              <a:t>More stable / economically resilient areas </a:t>
            </a:r>
          </a:p>
          <a:p>
            <a:r>
              <a:rPr lang="en-US" dirty="0"/>
              <a:t>Intermediate or mixed regions</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8</a:t>
            </a:fld>
            <a:endParaRPr lang="en-US" dirty="0"/>
          </a:p>
        </p:txBody>
      </p:sp>
    </p:spTree>
    <p:extLst>
      <p:ext uri="{BB962C8B-B14F-4D97-AF65-F5344CB8AC3E}">
        <p14:creationId xmlns:p14="http://schemas.microsoft.com/office/powerpoint/2010/main" val="789598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9</a:t>
            </a:fld>
            <a:endParaRPr lang="en-US" dirty="0"/>
          </a:p>
        </p:txBody>
      </p:sp>
    </p:spTree>
    <p:extLst>
      <p:ext uri="{BB962C8B-B14F-4D97-AF65-F5344CB8AC3E}">
        <p14:creationId xmlns:p14="http://schemas.microsoft.com/office/powerpoint/2010/main" val="2989634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BB172-3F24-3E94-A5DE-DBFF22636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4CCE8-3D2F-7AA0-9B10-2F363DF45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3E17D-A98F-69D5-013C-E0A67996AF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BBAA54-B176-F39C-3CFF-6E7B899142BB}"/>
              </a:ext>
            </a:extLst>
          </p:cNvPr>
          <p:cNvSpPr>
            <a:spLocks noGrp="1"/>
          </p:cNvSpPr>
          <p:nvPr>
            <p:ph type="sldNum" sz="quarter" idx="5"/>
          </p:nvPr>
        </p:nvSpPr>
        <p:spPr/>
        <p:txBody>
          <a:bodyPr/>
          <a:lstStyle/>
          <a:p>
            <a:fld id="{5068C1A6-6C9C-C342-8E0F-AE9AC9AFD13B}" type="slidenum">
              <a:rPr lang="en-US" smtClean="0"/>
              <a:t>10</a:t>
            </a:fld>
            <a:endParaRPr lang="en-US" dirty="0"/>
          </a:p>
        </p:txBody>
      </p:sp>
    </p:spTree>
    <p:extLst>
      <p:ext uri="{BB962C8B-B14F-4D97-AF65-F5344CB8AC3E}">
        <p14:creationId xmlns:p14="http://schemas.microsoft.com/office/powerpoint/2010/main" val="1381555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76FB7-E1E1-DF26-DD42-A6914910E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697AD-0E16-C69C-3838-FDE2DCF9C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9A24C-0EA7-83F2-3028-7B89A1FC2C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1F1F4F-300D-524D-88DA-F56D106F648B}"/>
              </a:ext>
            </a:extLst>
          </p:cNvPr>
          <p:cNvSpPr>
            <a:spLocks noGrp="1"/>
          </p:cNvSpPr>
          <p:nvPr>
            <p:ph type="sldNum" sz="quarter" idx="5"/>
          </p:nvPr>
        </p:nvSpPr>
        <p:spPr/>
        <p:txBody>
          <a:bodyPr/>
          <a:lstStyle/>
          <a:p>
            <a:fld id="{5068C1A6-6C9C-C342-8E0F-AE9AC9AFD13B}" type="slidenum">
              <a:rPr lang="en-US" smtClean="0"/>
              <a:t>11</a:t>
            </a:fld>
            <a:endParaRPr lang="en-US" dirty="0"/>
          </a:p>
        </p:txBody>
      </p:sp>
    </p:spTree>
    <p:extLst>
      <p:ext uri="{BB962C8B-B14F-4D97-AF65-F5344CB8AC3E}">
        <p14:creationId xmlns:p14="http://schemas.microsoft.com/office/powerpoint/2010/main" val="4055531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0C211-7FD4-82EB-FB58-FE463015F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6E33D-00B6-FB9C-1548-6554AB87B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BB1E5-C0C5-D8C2-DE97-00FDF2B7D79A}"/>
              </a:ext>
            </a:extLst>
          </p:cNvPr>
          <p:cNvSpPr>
            <a:spLocks noGrp="1"/>
          </p:cNvSpPr>
          <p:nvPr>
            <p:ph type="body" idx="1"/>
          </p:nvPr>
        </p:nvSpPr>
        <p:spPr/>
        <p:txBody>
          <a:bodyPr/>
          <a:lstStyle/>
          <a:p>
            <a:r>
              <a:rPr lang="en-US" b="1" dirty="0"/>
              <a:t>1. The "Anchor" (Historical vs. Forecast)</a:t>
            </a:r>
          </a:p>
          <a:p>
            <a:r>
              <a:rPr lang="en-US" b="1" dirty="0"/>
              <a:t>The Black Line (2014–2023):</a:t>
            </a:r>
            <a:r>
              <a:rPr lang="en-US" dirty="0"/>
              <a:t> This represents </a:t>
            </a:r>
            <a:r>
              <a:rPr lang="en-US" b="1" dirty="0"/>
              <a:t>Observed Data</a:t>
            </a:r>
            <a:r>
              <a:rPr lang="en-US" dirty="0"/>
              <a:t>. It establishes the baseline trend of population decline that the models are "learning" from.</a:t>
            </a:r>
          </a:p>
          <a:p>
            <a:r>
              <a:rPr lang="en-US" b="1" dirty="0"/>
              <a:t>The Red Dashed Line (Current: 2023):</a:t>
            </a:r>
            <a:r>
              <a:rPr lang="en-US" dirty="0"/>
              <a:t> This is the </a:t>
            </a:r>
            <a:r>
              <a:rPr lang="en-US" b="1" dirty="0"/>
              <a:t>Pivot Point</a:t>
            </a:r>
            <a:r>
              <a:rPr lang="en-US" dirty="0"/>
              <a:t>. Everything to the left is fact; everything to the right is a probabilistic projection based on Phase 6 modeling.</a:t>
            </a:r>
          </a:p>
          <a:p>
            <a:endParaRPr lang="en-US" dirty="0"/>
          </a:p>
          <a:p>
            <a:r>
              <a:rPr lang="en-US" b="1" dirty="0"/>
              <a:t>2. The "Median" (The Expected Path)</a:t>
            </a:r>
          </a:p>
          <a:p>
            <a:r>
              <a:rPr lang="en-US" dirty="0"/>
              <a:t>The center line represents the </a:t>
            </a:r>
            <a:r>
              <a:rPr lang="en-US" b="1" dirty="0"/>
              <a:t>P50 (Median) Forecast</a:t>
            </a:r>
            <a:r>
              <a:rPr lang="en-US" dirty="0"/>
              <a:t>.</a:t>
            </a:r>
          </a:p>
          <a:p>
            <a:r>
              <a:rPr lang="en-US" b="1" dirty="0"/>
              <a:t>The Insight:</a:t>
            </a:r>
            <a:r>
              <a:rPr lang="en-US" dirty="0"/>
              <a:t> Our analysis suggests that the most likely outcome is a continued, linear decline, bringing the population toward the </a:t>
            </a:r>
            <a:r>
              <a:rPr lang="en-US" b="1" dirty="0"/>
              <a:t>3.0M mark by 2030</a:t>
            </a:r>
            <a:r>
              <a:rPr lang="en-US" dirty="0"/>
              <a:t>.</a:t>
            </a:r>
          </a:p>
          <a:p>
            <a:endParaRPr lang="en-US" dirty="0"/>
          </a:p>
          <a:p>
            <a:r>
              <a:rPr lang="en-US" b="1" dirty="0"/>
              <a:t>3. Understanding the "Fan" (The Probability Bands)</a:t>
            </a:r>
          </a:p>
          <a:p>
            <a:r>
              <a:rPr lang="en-US" dirty="0"/>
              <a:t>Instead of giving a single "guess," the fan shows a range of possible futures:</a:t>
            </a:r>
          </a:p>
          <a:p>
            <a:r>
              <a:rPr lang="en-US" b="1" dirty="0"/>
              <a:t>The Core (Central Bands):</a:t>
            </a:r>
            <a:r>
              <a:rPr lang="en-US" dirty="0"/>
              <a:t> The green and teal areas represent the </a:t>
            </a:r>
            <a:r>
              <a:rPr lang="en-US" b="1" dirty="0"/>
              <a:t>50% probability interval</a:t>
            </a:r>
            <a:r>
              <a:rPr lang="en-US" dirty="0"/>
              <a:t>. If current structural conditions remain stable, the population will almost certainly land within this range.</a:t>
            </a:r>
          </a:p>
          <a:p>
            <a:r>
              <a:rPr lang="en-US" b="1" dirty="0"/>
              <a:t>The Tails (Outer Bands):</a:t>
            </a:r>
            <a:r>
              <a:rPr lang="en-US" dirty="0"/>
              <a:t> The dark purple and light orange areas represent </a:t>
            </a:r>
            <a:r>
              <a:rPr lang="en-US" b="1" dirty="0"/>
              <a:t>extreme scenarios</a:t>
            </a:r>
            <a:r>
              <a:rPr lang="en-US" dirty="0"/>
              <a:t> (Tail Risks).</a:t>
            </a:r>
          </a:p>
          <a:p>
            <a:pPr lvl="1"/>
            <a:r>
              <a:rPr lang="en-US" b="1" dirty="0"/>
              <a:t>Upper Tail (Orange):</a:t>
            </a:r>
            <a:r>
              <a:rPr lang="en-US" dirty="0"/>
              <a:t> Represents a "Favorable" scenario where decline slows significantly (e.g., due to economic stabilization or migration shifts).</a:t>
            </a:r>
          </a:p>
          <a:p>
            <a:pPr lvl="1"/>
            <a:r>
              <a:rPr lang="en-US" b="1" dirty="0"/>
              <a:t>Lower Tail (Dark Purple):</a:t>
            </a:r>
            <a:r>
              <a:rPr lang="en-US" dirty="0"/>
              <a:t> Represents an "Adverse" scenario where decline accelerates (e.g., due to external shocks or deepening structural vulnerability).</a:t>
            </a:r>
          </a:p>
          <a:p>
            <a:pPr lvl="1"/>
            <a:endParaRPr lang="en-US" dirty="0"/>
          </a:p>
          <a:p>
            <a:r>
              <a:rPr lang="en-US" b="1" dirty="0"/>
              <a:t>4. Key Takeaway for Policy</a:t>
            </a:r>
          </a:p>
          <a:p>
            <a:r>
              <a:rPr lang="en-US" b="1" dirty="0"/>
              <a:t>Systemic Persistence:</a:t>
            </a:r>
            <a:r>
              <a:rPr lang="en-US" dirty="0"/>
              <a:t> Even in the most "optimistic" scenario (the top of the fan), the island does not return to growth by 2030.</a:t>
            </a:r>
          </a:p>
          <a:p>
            <a:r>
              <a:rPr lang="en-US" b="1" dirty="0"/>
              <a:t>Widening Uncertainty:</a:t>
            </a:r>
            <a:r>
              <a:rPr lang="en-US" dirty="0"/>
              <a:t> The "width" of the fan at 2030 illustrates that while we are certain about the </a:t>
            </a:r>
            <a:r>
              <a:rPr lang="en-US" i="1" dirty="0"/>
              <a:t>direction</a:t>
            </a:r>
            <a:r>
              <a:rPr lang="en-US" dirty="0"/>
              <a:t> of the trend, the </a:t>
            </a:r>
            <a:r>
              <a:rPr lang="en-US" i="1" dirty="0"/>
              <a:t>magnitude</a:t>
            </a:r>
            <a:r>
              <a:rPr lang="en-US" dirty="0"/>
              <a:t> of the loss is subject to high volatility, requiring flexible regional planning.</a:t>
            </a:r>
          </a:p>
          <a:p>
            <a:endParaRPr lang="en-US" dirty="0"/>
          </a:p>
        </p:txBody>
      </p:sp>
      <p:sp>
        <p:nvSpPr>
          <p:cNvPr id="4" name="Slide Number Placeholder 3">
            <a:extLst>
              <a:ext uri="{FF2B5EF4-FFF2-40B4-BE49-F238E27FC236}">
                <a16:creationId xmlns:a16="http://schemas.microsoft.com/office/drawing/2014/main" id="{C98D717C-2CE1-A6ED-31E3-1DF7106F5466}"/>
              </a:ext>
            </a:extLst>
          </p:cNvPr>
          <p:cNvSpPr>
            <a:spLocks noGrp="1"/>
          </p:cNvSpPr>
          <p:nvPr>
            <p:ph type="sldNum" sz="quarter" idx="5"/>
          </p:nvPr>
        </p:nvSpPr>
        <p:spPr/>
        <p:txBody>
          <a:bodyPr/>
          <a:lstStyle/>
          <a:p>
            <a:fld id="{5068C1A6-6C9C-C342-8E0F-AE9AC9AFD13B}" type="slidenum">
              <a:rPr lang="en-US" smtClean="0"/>
              <a:t>12</a:t>
            </a:fld>
            <a:endParaRPr lang="en-US" dirty="0"/>
          </a:p>
        </p:txBody>
      </p:sp>
    </p:spTree>
    <p:extLst>
      <p:ext uri="{BB962C8B-B14F-4D97-AF65-F5344CB8AC3E}">
        <p14:creationId xmlns:p14="http://schemas.microsoft.com/office/powerpoint/2010/main" val="3480380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EA427-81D9-8638-B014-D7D6B66A8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92FA8-99E7-2249-4E33-7E00FACAE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EC3EC-A4BE-10D4-D5E9-5AA2177EBF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B3FB73-4168-D653-2B89-94D839E625D0}"/>
              </a:ext>
            </a:extLst>
          </p:cNvPr>
          <p:cNvSpPr>
            <a:spLocks noGrp="1"/>
          </p:cNvSpPr>
          <p:nvPr>
            <p:ph type="sldNum" sz="quarter" idx="5"/>
          </p:nvPr>
        </p:nvSpPr>
        <p:spPr/>
        <p:txBody>
          <a:bodyPr/>
          <a:lstStyle/>
          <a:p>
            <a:fld id="{5068C1A6-6C9C-C342-8E0F-AE9AC9AFD13B}" type="slidenum">
              <a:rPr lang="en-US" smtClean="0"/>
              <a:t>13</a:t>
            </a:fld>
            <a:endParaRPr lang="en-US" dirty="0"/>
          </a:p>
        </p:txBody>
      </p:sp>
    </p:spTree>
    <p:extLst>
      <p:ext uri="{BB962C8B-B14F-4D97-AF65-F5344CB8AC3E}">
        <p14:creationId xmlns:p14="http://schemas.microsoft.com/office/powerpoint/2010/main" val="1746274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0AB45-ECFC-7929-641D-AC7B10694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68FDB-3D4E-1F34-5B50-53EBDB67C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BF334-9481-B967-6FDA-3E1D6772EF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56073-BB5F-27B4-E844-C4B566405FF2}"/>
              </a:ext>
            </a:extLst>
          </p:cNvPr>
          <p:cNvSpPr>
            <a:spLocks noGrp="1"/>
          </p:cNvSpPr>
          <p:nvPr>
            <p:ph type="sldNum" sz="quarter" idx="5"/>
          </p:nvPr>
        </p:nvSpPr>
        <p:spPr/>
        <p:txBody>
          <a:bodyPr/>
          <a:lstStyle/>
          <a:p>
            <a:fld id="{5068C1A6-6C9C-C342-8E0F-AE9AC9AFD13B}" type="slidenum">
              <a:rPr lang="en-US" smtClean="0"/>
              <a:t>16</a:t>
            </a:fld>
            <a:endParaRPr lang="en-US" dirty="0"/>
          </a:p>
        </p:txBody>
      </p:sp>
    </p:spTree>
    <p:extLst>
      <p:ext uri="{BB962C8B-B14F-4D97-AF65-F5344CB8AC3E}">
        <p14:creationId xmlns:p14="http://schemas.microsoft.com/office/powerpoint/2010/main" val="3081826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9367696-265F-DE2B-1904-76667E212561}"/>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E6AF7C20-EDEC-A329-A9C8-13246C3A4D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Step-by-Step Intuition (What the Model Does)</a:t>
            </a:r>
          </a:p>
          <a:p>
            <a:r>
              <a:rPr lang="en-US" dirty="0"/>
              <a:t>Start with training data (</a:t>
            </a:r>
            <a:r>
              <a:rPr lang="en-US" b="1" dirty="0" err="1"/>
              <a:t>X_train</a:t>
            </a:r>
            <a:r>
              <a:rPr lang="en-US" dirty="0"/>
              <a:t>) </a:t>
            </a:r>
          </a:p>
          <a:p>
            <a:r>
              <a:rPr lang="en-US" dirty="0"/>
              <a:t>Randomly select: </a:t>
            </a:r>
          </a:p>
          <a:p>
            <a:pPr lvl="1"/>
            <a:r>
              <a:rPr lang="en-US" dirty="0"/>
              <a:t>Features (e.g., income, windspeed, region) </a:t>
            </a:r>
          </a:p>
          <a:p>
            <a:pPr lvl="1"/>
            <a:r>
              <a:rPr lang="en-US" dirty="0"/>
              <a:t>Observations (rows) </a:t>
            </a:r>
          </a:p>
          <a:p>
            <a:r>
              <a:rPr lang="en-US" dirty="0"/>
              <a:t>Build many decision trees: </a:t>
            </a:r>
          </a:p>
          <a:p>
            <a:pPr lvl="1"/>
            <a:r>
              <a:rPr lang="en-US" dirty="0"/>
              <a:t>Each tree uses different random splits </a:t>
            </a:r>
          </a:p>
          <a:p>
            <a:r>
              <a:rPr lang="en-US" dirty="0"/>
              <a:t>Each tree makes a prediction </a:t>
            </a:r>
          </a:p>
          <a:p>
            <a:r>
              <a:rPr lang="en-US" dirty="0"/>
              <a:t>Final prediction = </a:t>
            </a:r>
            <a:r>
              <a:rPr lang="en-US" b="1" dirty="0"/>
              <a:t>average of all tree predictions</a:t>
            </a:r>
            <a:r>
              <a:rPr lang="en-US" dirty="0"/>
              <a:t> </a:t>
            </a:r>
          </a:p>
          <a:p>
            <a:br>
              <a:rPr lang="en-US" dirty="0"/>
            </a:br>
            <a:endParaRPr lang="en-US" dirty="0"/>
          </a:p>
          <a:p>
            <a:r>
              <a:rPr lang="en-US" b="1" dirty="0"/>
              <a:t>Example (Simple Intuition)</a:t>
            </a:r>
          </a:p>
          <a:p>
            <a:r>
              <a:rPr lang="en-US" dirty="0"/>
              <a:t>Tree predictions:</a:t>
            </a:r>
          </a:p>
          <a:p>
            <a:r>
              <a:rPr lang="en-US" dirty="0"/>
              <a:t>Tree 1 → </a:t>
            </a:r>
            <a:r>
              <a:rPr lang="en-US" b="1" dirty="0"/>
              <a:t>-1.2%</a:t>
            </a:r>
            <a:r>
              <a:rPr lang="en-US" dirty="0"/>
              <a:t> </a:t>
            </a:r>
          </a:p>
          <a:p>
            <a:r>
              <a:rPr lang="en-US" dirty="0"/>
              <a:t>Tree 2 → </a:t>
            </a:r>
            <a:r>
              <a:rPr lang="en-US" b="1" dirty="0"/>
              <a:t>-1.4%</a:t>
            </a:r>
            <a:r>
              <a:rPr lang="en-US" dirty="0"/>
              <a:t> </a:t>
            </a:r>
          </a:p>
          <a:p>
            <a:r>
              <a:rPr lang="en-US" dirty="0"/>
              <a:t>Tree 3 → </a:t>
            </a:r>
            <a:r>
              <a:rPr lang="en-US" b="1" dirty="0"/>
              <a:t>-1.2%</a:t>
            </a:r>
            <a:r>
              <a:rPr lang="en-US" dirty="0"/>
              <a:t> </a:t>
            </a:r>
          </a:p>
          <a:p>
            <a:endParaRPr lang="en-US" dirty="0"/>
          </a:p>
          <a:p>
            <a:r>
              <a:rPr lang="en-US" dirty="0"/>
              <a:t>Final prediction:</a:t>
            </a:r>
            <a:br>
              <a:rPr lang="en-US" dirty="0"/>
            </a:br>
            <a:r>
              <a:rPr lang="en-US" b="1" dirty="0"/>
              <a:t>(-1.2% - 1.4% - 1.2%) / 3 = -1.3%</a:t>
            </a:r>
            <a:endParaRPr lang="en-US" dirty="0"/>
          </a:p>
          <a:p>
            <a:br>
              <a:rPr lang="en-US" dirty="0"/>
            </a:br>
            <a:endParaRPr lang="en-US" dirty="0"/>
          </a:p>
          <a:p>
            <a:r>
              <a:rPr lang="en-US" b="1" dirty="0"/>
              <a:t>Final Output</a:t>
            </a:r>
          </a:p>
          <a:p>
            <a:r>
              <a:rPr lang="en-US" b="1" dirty="0"/>
              <a:t>Final Population Change Prediction: -1.3%</a:t>
            </a:r>
            <a:endParaRPr lang="en-US" dirty="0"/>
          </a:p>
          <a:p>
            <a:br>
              <a:rPr lang="en-US" dirty="0"/>
            </a:br>
            <a:endParaRPr lang="en-US" dirty="0"/>
          </a:p>
          <a:p>
            <a:r>
              <a:rPr lang="en-US" b="1" dirty="0"/>
              <a:t>Key Takeaway</a:t>
            </a:r>
          </a:p>
          <a:p>
            <a:r>
              <a:rPr lang="en-US" dirty="0"/>
              <a:t>More randomness → </a:t>
            </a:r>
            <a:r>
              <a:rPr lang="en-US" b="1" dirty="0"/>
              <a:t>less overfitting</a:t>
            </a:r>
            <a:r>
              <a:rPr lang="en-US" dirty="0"/>
              <a:t> </a:t>
            </a:r>
          </a:p>
          <a:p>
            <a:r>
              <a:rPr lang="en-US" dirty="0"/>
              <a:t>Ensemble averaging → </a:t>
            </a:r>
            <a:r>
              <a:rPr lang="en-US" b="1" dirty="0"/>
              <a:t>more stable predictions</a:t>
            </a:r>
            <a:r>
              <a:rPr lang="en-US" dirty="0"/>
              <a:t> </a:t>
            </a:r>
          </a:p>
          <a:p>
            <a:r>
              <a:rPr lang="en-US" dirty="0"/>
              <a:t>Captures </a:t>
            </a:r>
            <a:r>
              <a:rPr lang="en-US" b="1" dirty="0"/>
              <a:t>nonlinear relationships</a:t>
            </a:r>
            <a:r>
              <a:rPr lang="en-US" dirty="0"/>
              <a:t> in the data</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b="1" dirty="0"/>
              <a:t>Extra Trees</a:t>
            </a:r>
            <a:r>
              <a:rPr lang="en-US" dirty="0"/>
              <a:t> (Extremely Randomized Trees) is a strong candidate for predicting population changes and declines, especially when your dataset includes a wide variety of "noisy" or complex tabular features like migration rates, birth/death stats, economic indicators, and infrastructure data.</a:t>
            </a:r>
          </a:p>
          <a:p>
            <a:r>
              <a:rPr lang="en-US" dirty="0"/>
              <a:t>Because population dynamics are rarely linear and often influenced by sudden shifts in policy or environment, Extra Trees' ensemble nature makes it more resilient than a single decision tree.</a:t>
            </a:r>
          </a:p>
          <a:p>
            <a:r>
              <a:rPr lang="en-US" b="1" dirty="0"/>
              <a:t>Why Extra Trees Works Well for Demographic Data</a:t>
            </a:r>
          </a:p>
          <a:p>
            <a:r>
              <a:rPr lang="en-US" b="1" dirty="0"/>
              <a:t>Reduction of Variance:</a:t>
            </a:r>
            <a:r>
              <a:rPr lang="en-US" dirty="0"/>
              <a:t> Population data can be "noisy" due to reporting lags or census errors. Extra Trees reduces variance by using random split points for each feature, which helps prevent the model from over-fitting to specific anomalies in your historical data.</a:t>
            </a:r>
          </a:p>
          <a:p>
            <a:r>
              <a:rPr lang="en-US" b="1" dirty="0"/>
              <a:t>Handling Non-Linearity:</a:t>
            </a:r>
            <a:r>
              <a:rPr lang="en-US" dirty="0"/>
              <a:t> Unlike traditional linear regression models, Extra Trees can capture complex, non-linear relationships—such as the "tipping point" where a slight increase in out-migration leads to a sudden sharp decline in local services and further population loss.</a:t>
            </a:r>
          </a:p>
          <a:p>
            <a:r>
              <a:rPr lang="en-US" b="1" dirty="0"/>
              <a:t>Feature Importance:</a:t>
            </a:r>
            <a:r>
              <a:rPr lang="en-US" dirty="0"/>
              <a:t> It provides a clear ranking of which variables (e.g., unemployment vs. housing costs) are most predictive of a population decline, allowing for better "why" analysis rather than just "what" predictions.</a:t>
            </a:r>
          </a:p>
          <a:p>
            <a:r>
              <a:rPr lang="en-US" b="1" dirty="0"/>
              <a:t>Predicting "Declines" Specifically</a:t>
            </a:r>
          </a:p>
          <a:p>
            <a:r>
              <a:rPr lang="en-US" dirty="0"/>
              <a:t>If your goal is specifically to predict </a:t>
            </a:r>
            <a:r>
              <a:rPr lang="en-US" b="1" dirty="0"/>
              <a:t>declines</a:t>
            </a:r>
            <a:r>
              <a:rPr lang="en-US" dirty="0"/>
              <a:t> (a binary outcome of "decline" vs. "growth"), you can use the </a:t>
            </a:r>
            <a:r>
              <a:rPr lang="en-US" b="1" dirty="0"/>
              <a:t>Extra Trees Classifier</a:t>
            </a:r>
            <a:r>
              <a:rPr lang="en-US" dirty="0"/>
              <a:t>.</a:t>
            </a:r>
          </a:p>
          <a:p>
            <a:r>
              <a:rPr lang="en-US" b="1" dirty="0"/>
              <a:t>Addressing Imbalance:</a:t>
            </a:r>
            <a:r>
              <a:rPr lang="en-US" dirty="0"/>
              <a:t> If population declines are rare events in your dataset, the classifier can be tuned (using </a:t>
            </a:r>
            <a:r>
              <a:rPr lang="en-US" sz="1200" kern="1200" dirty="0" err="1">
                <a:solidFill>
                  <a:schemeClr val="tx1"/>
                </a:solidFill>
                <a:latin typeface="+mn-lt"/>
                <a:ea typeface="+mn-ea"/>
                <a:cs typeface="+mn-cs"/>
              </a:rPr>
              <a:t>class_weight</a:t>
            </a:r>
            <a:r>
              <a:rPr lang="en-US" sz="1200" kern="1200" dirty="0">
                <a:solidFill>
                  <a:schemeClr val="tx1"/>
                </a:solidFill>
                <a:latin typeface="+mn-lt"/>
                <a:ea typeface="+mn-ea"/>
                <a:cs typeface="+mn-cs"/>
              </a:rPr>
              <a:t>='balanced'</a:t>
            </a:r>
            <a:r>
              <a:rPr lang="en-US" dirty="0"/>
              <a:t>) to ensure the model doesn't ignore the "decline" signals in favor of more common growth patterns.</a:t>
            </a:r>
          </a:p>
          <a:p>
            <a:r>
              <a:rPr lang="en-US" b="1" dirty="0"/>
              <a:t>Probabilistic Output:</a:t>
            </a:r>
            <a:r>
              <a:rPr lang="en-US" dirty="0"/>
              <a:t> Instead of a simple "yes/no," it can give you the probability of a decline, which is often more useful for policy planning.</a:t>
            </a:r>
          </a:p>
          <a:p>
            <a:r>
              <a:rPr lang="en-US" b="1" dirty="0"/>
              <a:t>Considerations and Limitations</a:t>
            </a:r>
          </a:p>
          <a:p>
            <a:r>
              <a:rPr lang="en-US" dirty="0"/>
              <a:t>While powerful, there are a few technical hurdles to keep in mind:</a:t>
            </a:r>
          </a:p>
          <a:p>
            <a:r>
              <a:rPr lang="en-US" b="1" dirty="0"/>
              <a:t>Extrapolation Issues:</a:t>
            </a:r>
            <a:r>
              <a:rPr lang="en-US" dirty="0"/>
              <a:t> Tree-based models generally cannot predict values outside the range of their training data. If a future population decline is projected to be more severe than anything seen in the historical record, a tree-regressor might "cap" its prediction at the historical minimum.</a:t>
            </a:r>
          </a:p>
          <a:p>
            <a:r>
              <a:rPr lang="en-US" b="1" dirty="0"/>
              <a:t>Time-Series Sensitivity:</a:t>
            </a:r>
            <a:r>
              <a:rPr lang="en-US" dirty="0"/>
              <a:t> If you are treating this strictly as a time-series problem, you may need to engineer "lag features" (like the population from 1, 5, and 10 years ago) to help the trees understand the temporal trend.</a:t>
            </a:r>
          </a:p>
          <a:p>
            <a:r>
              <a:rPr lang="en-US" b="1" dirty="0"/>
              <a:t>Comparison to Boosting:</a:t>
            </a:r>
            <a:r>
              <a:rPr lang="en-US" dirty="0"/>
              <a:t> While Extra Trees is faster and often more robust to noise, models like </a:t>
            </a:r>
            <a:r>
              <a:rPr lang="en-US" b="1" dirty="0" err="1"/>
              <a:t>XGBoost</a:t>
            </a:r>
            <a:r>
              <a:rPr lang="en-US" dirty="0"/>
              <a:t> or </a:t>
            </a:r>
            <a:r>
              <a:rPr lang="en-US" b="1" dirty="0" err="1"/>
              <a:t>LightGBM</a:t>
            </a:r>
            <a:r>
              <a:rPr lang="en-US" dirty="0"/>
              <a:t> might achieve slightly higher accuracy if your data is very clean and you have the computational time to fine-tune hyperparameters.</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843AE9C3-6C12-22E4-B786-2D87B04835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0301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88137BA3-3B38-2E50-ADE9-DB22B1B981E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72FD4A5C-40C3-7571-F15D-F43282F97A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9DB3AF1A-645B-DCD3-7D8B-A456C1EED0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07138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5084435-FB04-6CFD-9422-ACEB9D49CE15}"/>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9ADD672D-7C88-1DCE-9DF7-DAEA9F837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E21A681-4741-BEC1-5979-6E77A637E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0566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280E3E4-01AB-9257-C86F-2DC05B5114B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C9F7E034-6329-E7D3-5C50-BAD3C5C72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2D2794F7-686B-2998-1183-AB5AD1451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96727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BBC6D0-ED3F-6661-146F-21FF3E68AF7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AFE447EE-6A12-6956-4F80-6FB5C32442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C308905-ECFA-B802-62AF-32EBC8A38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42585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AB11D52-C68B-FE5E-425D-F7D5759FF066}"/>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FA781364-F366-3EEB-9883-38D40334F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380A8DFD-28AB-379A-8B0C-888140A21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753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274DD90-9961-D207-A4E2-6FC07233BB0F}"/>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2AA0AA85-9557-D61C-B1B3-28FA88F81E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0E1129C9-F9FF-DEF6-7CDE-AD1526986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059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1"/>
        </a:solidFill>
        <a:effectLst/>
      </p:bgPr>
    </p:bg>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A05E2955-3CC6-3EA2-BE9C-EABB3CE2844C}"/>
              </a:ext>
            </a:extLst>
          </p:cNvPr>
          <p:cNvSpPr>
            <a:spLocks noGrp="1"/>
          </p:cNvSpPr>
          <p:nvPr>
            <p:ph type="pic" sz="quarter" idx="10"/>
          </p:nvPr>
        </p:nvSpPr>
        <p:spPr>
          <a:xfrm>
            <a:off x="741260" y="618654"/>
            <a:ext cx="2496312" cy="731520"/>
          </a:xfrm>
        </p:spPr>
        <p:txBody>
          <a:bodyPr/>
          <a:lstStyle/>
          <a:p>
            <a:endParaRPr lang="en-US"/>
          </a:p>
        </p:txBody>
      </p:sp>
      <p:sp>
        <p:nvSpPr>
          <p:cNvPr id="13" name="Text Placeholder 11">
            <a:extLst>
              <a:ext uri="{FF2B5EF4-FFF2-40B4-BE49-F238E27FC236}">
                <a16:creationId xmlns:a16="http://schemas.microsoft.com/office/drawing/2014/main" id="{85E8870C-EE10-582E-ABAB-3C62C758BCA9}"/>
              </a:ext>
            </a:extLst>
          </p:cNvPr>
          <p:cNvSpPr>
            <a:spLocks noGrp="1"/>
          </p:cNvSpPr>
          <p:nvPr>
            <p:ph type="body" sz="quarter" idx="11" hasCustomPrompt="1"/>
          </p:nvPr>
        </p:nvSpPr>
        <p:spPr>
          <a:xfrm>
            <a:off x="2347768" y="2862397"/>
            <a:ext cx="7464055" cy="1217654"/>
          </a:xfrm>
        </p:spPr>
        <p:txBody>
          <a:bodyPr/>
          <a:lstStyle>
            <a:lvl1pPr algn="ctr">
              <a:buNone/>
              <a:defRPr sz="6600" b="1">
                <a:solidFill>
                  <a:schemeClr val="bg1"/>
                </a:solidFill>
                <a:latin typeface="+mj-lt"/>
              </a:defRPr>
            </a:lvl1pPr>
          </a:lstStyle>
          <a:p>
            <a:pPr lvl="0"/>
            <a:r>
              <a:rPr lang="en-US" dirty="0"/>
              <a:t>Title Goes Here</a:t>
            </a:r>
          </a:p>
        </p:txBody>
      </p:sp>
      <p:sp>
        <p:nvSpPr>
          <p:cNvPr id="15" name="Text Placeholder 11">
            <a:extLst>
              <a:ext uri="{FF2B5EF4-FFF2-40B4-BE49-F238E27FC236}">
                <a16:creationId xmlns:a16="http://schemas.microsoft.com/office/drawing/2014/main" id="{05A9F16C-FAED-6858-99A5-5FF7D84E74A9}"/>
              </a:ext>
            </a:extLst>
          </p:cNvPr>
          <p:cNvSpPr>
            <a:spLocks noGrp="1"/>
          </p:cNvSpPr>
          <p:nvPr>
            <p:ph type="body" sz="quarter" idx="12" hasCustomPrompt="1"/>
          </p:nvPr>
        </p:nvSpPr>
        <p:spPr>
          <a:xfrm>
            <a:off x="2349043" y="4467816"/>
            <a:ext cx="7461504" cy="1312862"/>
          </a:xfrm>
        </p:spPr>
        <p:txBody>
          <a:bodyPr/>
          <a:lstStyle>
            <a:lvl1pPr algn="ctr">
              <a:buNone/>
              <a:defRPr sz="2000" b="0">
                <a:solidFill>
                  <a:schemeClr val="bg1"/>
                </a:solidFill>
                <a:latin typeface="+mn-lt"/>
              </a:defRPr>
            </a:lvl1pPr>
          </a:lstStyle>
          <a:p>
            <a:pPr algn="ctr"/>
            <a:r>
              <a:rPr lang="en-US" dirty="0"/>
              <a:t>Subhead Text To Go Here</a:t>
            </a:r>
          </a:p>
        </p:txBody>
      </p:sp>
    </p:spTree>
    <p:extLst>
      <p:ext uri="{BB962C8B-B14F-4D97-AF65-F5344CB8AC3E}">
        <p14:creationId xmlns:p14="http://schemas.microsoft.com/office/powerpoint/2010/main" val="2747204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 Titles">
    <p:bg>
      <p:bgPr>
        <a:solidFill>
          <a:schemeClr val="accent1"/>
        </a:solidFill>
        <a:effectLst/>
      </p:bgPr>
    </p:bg>
    <p:spTree>
      <p:nvGrpSpPr>
        <p:cNvPr id="1" name=""/>
        <p:cNvGrpSpPr/>
        <p:nvPr/>
      </p:nvGrpSpPr>
      <p:grpSpPr>
        <a:xfrm>
          <a:off x="0" y="0"/>
          <a:ext cx="0" cy="0"/>
          <a:chOff x="0" y="0"/>
          <a:chExt cx="0" cy="0"/>
        </a:xfrm>
      </p:grpSpPr>
      <p:sp>
        <p:nvSpPr>
          <p:cNvPr id="8" name="Text Placeholder 11">
            <a:extLst>
              <a:ext uri="{FF2B5EF4-FFF2-40B4-BE49-F238E27FC236}">
                <a16:creationId xmlns:a16="http://schemas.microsoft.com/office/drawing/2014/main" id="{B5A3205A-2345-2AEE-3F62-D3176A688E7E}"/>
              </a:ext>
            </a:extLst>
          </p:cNvPr>
          <p:cNvSpPr>
            <a:spLocks noGrp="1"/>
          </p:cNvSpPr>
          <p:nvPr>
            <p:ph type="body" sz="quarter" idx="11" hasCustomPrompt="1"/>
          </p:nvPr>
        </p:nvSpPr>
        <p:spPr>
          <a:xfrm>
            <a:off x="741260" y="5071577"/>
            <a:ext cx="7452713" cy="731521"/>
          </a:xfrm>
          <a:solidFill>
            <a:schemeClr val="accent1"/>
          </a:solidFill>
        </p:spPr>
        <p:txBody>
          <a:bodyPr/>
          <a:lstStyle>
            <a:lvl1pPr algn="l">
              <a:buNone/>
              <a:defRPr sz="5400" b="1">
                <a:solidFill>
                  <a:schemeClr val="bg1"/>
                </a:solidFill>
                <a:latin typeface="+mj-lt"/>
              </a:defRPr>
            </a:lvl1pPr>
          </a:lstStyle>
          <a:p>
            <a:pPr lvl="0"/>
            <a:r>
              <a:rPr lang="en-US" dirty="0"/>
              <a:t>Title Goes Here</a:t>
            </a:r>
          </a:p>
        </p:txBody>
      </p:sp>
      <p:sp>
        <p:nvSpPr>
          <p:cNvPr id="9" name="Picture Placeholder 8">
            <a:extLst>
              <a:ext uri="{FF2B5EF4-FFF2-40B4-BE49-F238E27FC236}">
                <a16:creationId xmlns:a16="http://schemas.microsoft.com/office/drawing/2014/main" id="{14491410-5EF2-A3F1-9803-EEF09A604273}"/>
              </a:ext>
            </a:extLst>
          </p:cNvPr>
          <p:cNvSpPr>
            <a:spLocks noGrp="1"/>
          </p:cNvSpPr>
          <p:nvPr>
            <p:ph type="pic" sz="quarter" idx="10"/>
          </p:nvPr>
        </p:nvSpPr>
        <p:spPr>
          <a:xfrm>
            <a:off x="8954428" y="5311670"/>
            <a:ext cx="2496312" cy="731520"/>
          </a:xfrm>
        </p:spPr>
        <p:txBody>
          <a:bodyPr/>
          <a:lstStyle/>
          <a:p>
            <a:endParaRPr lang="en-US"/>
          </a:p>
        </p:txBody>
      </p:sp>
      <p:sp>
        <p:nvSpPr>
          <p:cNvPr id="11" name="Text Placeholder 11">
            <a:extLst>
              <a:ext uri="{FF2B5EF4-FFF2-40B4-BE49-F238E27FC236}">
                <a16:creationId xmlns:a16="http://schemas.microsoft.com/office/drawing/2014/main" id="{1C73EC6F-78EF-CF85-0C65-293E2A6826C1}"/>
              </a:ext>
            </a:extLst>
          </p:cNvPr>
          <p:cNvSpPr>
            <a:spLocks noGrp="1"/>
          </p:cNvSpPr>
          <p:nvPr>
            <p:ph type="body" sz="quarter" idx="12" hasCustomPrompt="1"/>
          </p:nvPr>
        </p:nvSpPr>
        <p:spPr>
          <a:xfrm>
            <a:off x="741260" y="6043190"/>
            <a:ext cx="7452714" cy="731520"/>
          </a:xfrm>
        </p:spPr>
        <p:txBody>
          <a:bodyPr/>
          <a:lstStyle>
            <a:lvl1pPr marL="0" algn="l">
              <a:buNone/>
              <a:defRPr sz="1400" b="0">
                <a:solidFill>
                  <a:schemeClr val="bg1"/>
                </a:solidFill>
                <a:latin typeface="+mn-lt"/>
              </a:defRPr>
            </a:lvl1pPr>
          </a:lstStyle>
          <a:p>
            <a:pPr lvl="0"/>
            <a:r>
              <a:rPr lang="en-US" dirty="0"/>
              <a:t>Subtitle Goes Here</a:t>
            </a:r>
          </a:p>
        </p:txBody>
      </p:sp>
      <p:sp>
        <p:nvSpPr>
          <p:cNvPr id="13" name="Picture Placeholder 13">
            <a:extLst>
              <a:ext uri="{FF2B5EF4-FFF2-40B4-BE49-F238E27FC236}">
                <a16:creationId xmlns:a16="http://schemas.microsoft.com/office/drawing/2014/main" id="{B1AE16CA-3447-1F67-F1E9-E2B698520310}"/>
              </a:ext>
            </a:extLst>
          </p:cNvPr>
          <p:cNvSpPr>
            <a:spLocks noGrp="1"/>
          </p:cNvSpPr>
          <p:nvPr>
            <p:ph type="pic" sz="quarter" idx="13"/>
          </p:nvPr>
        </p:nvSpPr>
        <p:spPr>
          <a:xfrm>
            <a:off x="0" y="0"/>
            <a:ext cx="12191216" cy="4796833"/>
          </a:xfrm>
        </p:spPr>
        <p:txBody>
          <a:bodyPr/>
          <a:lstStyle/>
          <a:p>
            <a:endParaRPr lang="en-US" dirty="0"/>
          </a:p>
        </p:txBody>
      </p:sp>
    </p:spTree>
    <p:extLst>
      <p:ext uri="{BB962C8B-B14F-4D97-AF65-F5344CB8AC3E}">
        <p14:creationId xmlns:p14="http://schemas.microsoft.com/office/powerpoint/2010/main" val="423008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3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Left Text Righ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7040880"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9" name="Text Placeholder 17">
            <a:extLst>
              <a:ext uri="{FF2B5EF4-FFF2-40B4-BE49-F238E27FC236}">
                <a16:creationId xmlns:a16="http://schemas.microsoft.com/office/drawing/2014/main" id="{A850F251-5C1C-21AB-883A-1098129F95E3}"/>
              </a:ext>
            </a:extLst>
          </p:cNvPr>
          <p:cNvSpPr>
            <a:spLocks noGrp="1"/>
          </p:cNvSpPr>
          <p:nvPr>
            <p:ph type="body" sz="quarter" idx="11"/>
          </p:nvPr>
        </p:nvSpPr>
        <p:spPr>
          <a:xfrm>
            <a:off x="7473501" y="1352811"/>
            <a:ext cx="4221543"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064778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hoto Left 2 Column Right">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5120639"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0" name="Text Placeholder 17">
            <a:extLst>
              <a:ext uri="{FF2B5EF4-FFF2-40B4-BE49-F238E27FC236}">
                <a16:creationId xmlns:a16="http://schemas.microsoft.com/office/drawing/2014/main" id="{CDF36E1A-2884-D15B-5F23-B66AA0D3699F}"/>
              </a:ext>
            </a:extLst>
          </p:cNvPr>
          <p:cNvSpPr>
            <a:spLocks noGrp="1"/>
          </p:cNvSpPr>
          <p:nvPr>
            <p:ph type="body" sz="quarter" idx="13"/>
          </p:nvPr>
        </p:nvSpPr>
        <p:spPr>
          <a:xfrm>
            <a:off x="8804077"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15" name="Text Placeholder 17">
            <a:extLst>
              <a:ext uri="{FF2B5EF4-FFF2-40B4-BE49-F238E27FC236}">
                <a16:creationId xmlns:a16="http://schemas.microsoft.com/office/drawing/2014/main" id="{906DBCFA-87EC-CFA4-3B36-76CC76236053}"/>
              </a:ext>
            </a:extLst>
          </p:cNvPr>
          <p:cNvSpPr>
            <a:spLocks noGrp="1"/>
          </p:cNvSpPr>
          <p:nvPr>
            <p:ph type="body" sz="quarter" idx="14"/>
          </p:nvPr>
        </p:nvSpPr>
        <p:spPr>
          <a:xfrm>
            <a:off x="5589430"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38118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hoto Left 2 Column Right">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13">
            <a:extLst>
              <a:ext uri="{FF2B5EF4-FFF2-40B4-BE49-F238E27FC236}">
                <a16:creationId xmlns:a16="http://schemas.microsoft.com/office/drawing/2014/main" id="{51DA43C2-8913-1900-E4DA-7713E311CF90}"/>
              </a:ext>
            </a:extLst>
          </p:cNvPr>
          <p:cNvSpPr>
            <a:spLocks noGrp="1"/>
          </p:cNvSpPr>
          <p:nvPr>
            <p:ph type="pic" sz="quarter" idx="15"/>
          </p:nvPr>
        </p:nvSpPr>
        <p:spPr>
          <a:xfrm>
            <a:off x="5151120" y="-1"/>
            <a:ext cx="7040880" cy="6336792"/>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612309E-6E2A-730C-ED41-93FDF71CE874}"/>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bg1"/>
                </a:solidFill>
              </a:defRPr>
            </a:lvl1pPr>
            <a:lvl2pPr>
              <a:spcAft>
                <a:spcPts val="600"/>
              </a:spcAft>
              <a:buClr>
                <a:schemeClr val="accent1"/>
              </a:buClr>
              <a:buSzPct val="120000"/>
              <a:buFont typeface="Arial" panose="020B0604020202020204" pitchFamily="34" charset="0"/>
              <a:buChar char="•"/>
              <a:defRPr sz="1800">
                <a:solidFill>
                  <a:schemeClr val="bg1"/>
                </a:solidFill>
              </a:defRPr>
            </a:lvl2pPr>
            <a:lvl3pPr>
              <a:spcAft>
                <a:spcPts val="6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12888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Left 3 Photo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4">
            <a:extLst>
              <a:ext uri="{FF2B5EF4-FFF2-40B4-BE49-F238E27FC236}">
                <a16:creationId xmlns:a16="http://schemas.microsoft.com/office/drawing/2014/main" id="{79A139FF-777C-1F87-E22A-BE0FD1A7F716}"/>
              </a:ext>
            </a:extLst>
          </p:cNvPr>
          <p:cNvSpPr>
            <a:spLocks noGrp="1"/>
          </p:cNvSpPr>
          <p:nvPr>
            <p:ph type="pic" sz="quarter" idx="14"/>
          </p:nvPr>
        </p:nvSpPr>
        <p:spPr>
          <a:xfrm>
            <a:off x="5329617" y="3143058"/>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3" name="Picture Placeholder 4">
            <a:extLst>
              <a:ext uri="{FF2B5EF4-FFF2-40B4-BE49-F238E27FC236}">
                <a16:creationId xmlns:a16="http://schemas.microsoft.com/office/drawing/2014/main" id="{4632644C-A0B2-57F1-ABC9-C655C6683726}"/>
              </a:ext>
            </a:extLst>
          </p:cNvPr>
          <p:cNvSpPr>
            <a:spLocks noGrp="1"/>
          </p:cNvSpPr>
          <p:nvPr>
            <p:ph type="pic" sz="quarter" idx="15"/>
          </p:nvPr>
        </p:nvSpPr>
        <p:spPr>
          <a:xfrm>
            <a:off x="8798616" y="3143059"/>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4" name="Picture Placeholder 4">
            <a:extLst>
              <a:ext uri="{FF2B5EF4-FFF2-40B4-BE49-F238E27FC236}">
                <a16:creationId xmlns:a16="http://schemas.microsoft.com/office/drawing/2014/main" id="{086D8FE7-C118-FF87-989E-A143922D83EC}"/>
              </a:ext>
            </a:extLst>
          </p:cNvPr>
          <p:cNvSpPr>
            <a:spLocks noGrp="1"/>
          </p:cNvSpPr>
          <p:nvPr>
            <p:ph type="pic" sz="quarter" idx="11"/>
          </p:nvPr>
        </p:nvSpPr>
        <p:spPr>
          <a:xfrm>
            <a:off x="5335930" y="0"/>
            <a:ext cx="6856070" cy="3072384"/>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5" name="Text Placeholder 17">
            <a:extLst>
              <a:ext uri="{FF2B5EF4-FFF2-40B4-BE49-F238E27FC236}">
                <a16:creationId xmlns:a16="http://schemas.microsoft.com/office/drawing/2014/main" id="{6455BADC-08E0-B69E-9C32-77DE336A3032}"/>
              </a:ext>
            </a:extLst>
          </p:cNvPr>
          <p:cNvSpPr>
            <a:spLocks noGrp="1"/>
          </p:cNvSpPr>
          <p:nvPr>
            <p:ph type="body" sz="quarter" idx="16"/>
          </p:nvPr>
        </p:nvSpPr>
        <p:spPr>
          <a:xfrm>
            <a:off x="472931" y="1317813"/>
            <a:ext cx="4573631"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217203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2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7" name="Picture Placeholder 6">
            <a:extLst>
              <a:ext uri="{FF2B5EF4-FFF2-40B4-BE49-F238E27FC236}">
                <a16:creationId xmlns:a16="http://schemas.microsoft.com/office/drawing/2014/main" id="{85E4E935-034C-4B50-67FA-1994E8493C28}"/>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19646"/>
            <a:ext cx="11231389" cy="2407212"/>
          </a:xfrm>
        </p:spPr>
        <p:txBody>
          <a:bodyPr numCol="2" spcCol="182880"/>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532269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1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31220"/>
            <a:ext cx="11229073" cy="2404872"/>
          </a:xfrm>
        </p:spPr>
        <p:txBody>
          <a:bodyPr numCol="1" spcCol="0">
            <a:noAutofit/>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3" name="Picture Placeholder 6">
            <a:extLst>
              <a:ext uri="{FF2B5EF4-FFF2-40B4-BE49-F238E27FC236}">
                <a16:creationId xmlns:a16="http://schemas.microsoft.com/office/drawing/2014/main" id="{A831A398-5196-CF47-F666-4A8AE953F42C}"/>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Tree>
    <p:extLst>
      <p:ext uri="{BB962C8B-B14F-4D97-AF65-F5344CB8AC3E}">
        <p14:creationId xmlns:p14="http://schemas.microsoft.com/office/powerpoint/2010/main" val="192434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xt Left Photo Righ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6" name="Picture Placeholder 13">
            <a:extLst>
              <a:ext uri="{FF2B5EF4-FFF2-40B4-BE49-F238E27FC236}">
                <a16:creationId xmlns:a16="http://schemas.microsoft.com/office/drawing/2014/main" id="{BB660254-223C-1D2E-6173-16CC1ECCC445}"/>
              </a:ext>
            </a:extLst>
          </p:cNvPr>
          <p:cNvSpPr>
            <a:spLocks noGrp="1"/>
          </p:cNvSpPr>
          <p:nvPr>
            <p:ph type="pic" sz="quarter" idx="10"/>
          </p:nvPr>
        </p:nvSpPr>
        <p:spPr>
          <a:xfrm>
            <a:off x="5151120" y="0"/>
            <a:ext cx="7040880" cy="6334125"/>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7FAE002-532E-4725-5033-25D4A01D77AA}"/>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tx1"/>
                </a:solidFill>
              </a:defRPr>
            </a:lvl1pPr>
            <a:lvl2pPr>
              <a:spcAft>
                <a:spcPts val="600"/>
              </a:spcAft>
              <a:buClr>
                <a:schemeClr val="accent1"/>
              </a:buClr>
              <a:buSzPct val="120000"/>
              <a:buFont typeface="Arial" panose="020B0604020202020204" pitchFamily="34" charset="0"/>
              <a:buChar char="•"/>
              <a:defRPr sz="1800">
                <a:solidFill>
                  <a:schemeClr val="tx1"/>
                </a:solidFill>
              </a:defRPr>
            </a:lvl2pPr>
            <a:lvl3pPr>
              <a:spcAft>
                <a:spcPts val="600"/>
              </a:spcAft>
              <a:buClr>
                <a:schemeClr val="accent1"/>
              </a:buClr>
              <a:buSzPct val="120000"/>
              <a:buFont typeface="Arial" panose="020B0604020202020204" pitchFamily="34" charset="0"/>
              <a:buChar char="•"/>
              <a:defRPr sz="1800">
                <a:solidFill>
                  <a:schemeClr val="tx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95471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utgers Closing">
    <p:bg>
      <p:bgPr>
        <a:solidFill>
          <a:srgbClr val="CC0033"/>
        </a:solidFill>
        <a:effectLst/>
      </p:bgPr>
    </p:bg>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3A760144-371E-729D-1C97-258FD5692618}"/>
              </a:ext>
            </a:extLst>
          </p:cNvPr>
          <p:cNvSpPr>
            <a:spLocks noGrp="1"/>
          </p:cNvSpPr>
          <p:nvPr>
            <p:ph type="pic" sz="quarter" idx="10"/>
          </p:nvPr>
        </p:nvSpPr>
        <p:spPr>
          <a:xfrm>
            <a:off x="2909279" y="2484320"/>
            <a:ext cx="6373439" cy="1889359"/>
          </a:xfrm>
        </p:spPr>
        <p:txBody>
          <a:bodyPr/>
          <a:lstStyle/>
          <a:p>
            <a:endParaRPr lang="en-US"/>
          </a:p>
        </p:txBody>
      </p:sp>
      <p:sp>
        <p:nvSpPr>
          <p:cNvPr id="9" name="Text Placeholder 17">
            <a:extLst>
              <a:ext uri="{FF2B5EF4-FFF2-40B4-BE49-F238E27FC236}">
                <a16:creationId xmlns:a16="http://schemas.microsoft.com/office/drawing/2014/main" id="{6CE4981A-2A29-96CA-153A-2922DE3B1D43}"/>
              </a:ext>
            </a:extLst>
          </p:cNvPr>
          <p:cNvSpPr>
            <a:spLocks noGrp="1"/>
          </p:cNvSpPr>
          <p:nvPr>
            <p:ph type="body" sz="quarter" idx="11"/>
          </p:nvPr>
        </p:nvSpPr>
        <p:spPr>
          <a:xfrm>
            <a:off x="2909279" y="6030760"/>
            <a:ext cx="6373439" cy="640080"/>
          </a:xfrm>
        </p:spPr>
        <p:txBody>
          <a:bodyPr/>
          <a:lstStyle>
            <a:lvl1pPr algn="ctr">
              <a:spcAft>
                <a:spcPts val="1000"/>
              </a:spcAft>
              <a:buClr>
                <a:schemeClr val="accent1"/>
              </a:buClr>
              <a:buSzPct val="120000"/>
              <a:buFont typeface="Arial" panose="020B0604020202020204" pitchFamily="34" charset="0"/>
              <a:buNone/>
              <a:defRPr sz="1000">
                <a:solidFill>
                  <a:schemeClr val="bg1"/>
                </a:solidFill>
              </a:defRPr>
            </a:lvl1pPr>
            <a:lvl2pPr algn="ctr">
              <a:spcAft>
                <a:spcPts val="1000"/>
              </a:spcAft>
              <a:buClr>
                <a:schemeClr val="accent1"/>
              </a:buClr>
              <a:buSzPct val="120000"/>
              <a:buFont typeface="Arial" panose="020B0604020202020204" pitchFamily="34" charset="0"/>
              <a:buNone/>
              <a:defRPr sz="1000">
                <a:solidFill>
                  <a:schemeClr val="bg1"/>
                </a:solidFill>
              </a:defRPr>
            </a:lvl2pPr>
            <a:lvl3pPr algn="ctr">
              <a:spcAft>
                <a:spcPts val="1000"/>
              </a:spcAft>
              <a:buClr>
                <a:schemeClr val="accent1"/>
              </a:buClr>
              <a:buSzPct val="120000"/>
              <a:buFont typeface="Arial" panose="020B0604020202020204" pitchFamily="34" charset="0"/>
              <a:buNone/>
              <a:defRPr sz="10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p:txBody>
      </p:sp>
    </p:spTree>
    <p:extLst>
      <p:ext uri="{BB962C8B-B14F-4D97-AF65-F5344CB8AC3E}">
        <p14:creationId xmlns:p14="http://schemas.microsoft.com/office/powerpoint/2010/main" val="330601106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585627" y="365126"/>
            <a:ext cx="10768173" cy="896116"/>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585627" y="1825625"/>
            <a:ext cx="10768173"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45B747C4-6C3D-7CB4-12B7-BFA60319A4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1862707679"/>
      </p:ext>
    </p:extLst>
  </p:cSld>
  <p:clrMap bg1="lt1" tx1="dk1" bg2="lt2" tx2="dk2" accent1="accent1" accent2="accent2" accent3="accent3" accent4="accent4" accent5="accent5" accent6="accent6" hlink="hlink" folHlink="folHlink"/>
  <p:sldLayoutIdLst>
    <p:sldLayoutId id="2147483695" r:id="rId1"/>
    <p:sldLayoutId id="2147483706" r:id="rId2"/>
    <p:sldLayoutId id="2147483705" r:id="rId3"/>
    <p:sldLayoutId id="2147483698" r:id="rId4"/>
    <p:sldLayoutId id="2147483704" r:id="rId5"/>
    <p:sldLayoutId id="2147483707" r:id="rId6"/>
    <p:sldLayoutId id="2147483703" r:id="rId7"/>
    <p:sldLayoutId id="2147483701" r:id="rId8"/>
    <p:sldLayoutId id="2147483702" r:id="rId9"/>
    <p:sldLayoutId id="2147483700" r:id="rId10"/>
    <p:sldLayoutId id="2147483694" r:id="rId11"/>
  </p:sldLayoutIdLst>
  <p:hf sldNum="0" hdr="0" ftr="0" dt="0"/>
  <p:txStyles>
    <p:titleStyle>
      <a:lvl1pPr algn="l" defTabSz="914400" rtl="0" eaLnBrk="1" latinLnBrk="0" hangingPunct="1">
        <a:lnSpc>
          <a:spcPct val="90000"/>
        </a:lnSpc>
        <a:spcBef>
          <a:spcPct val="0"/>
        </a:spcBef>
        <a:buNone/>
        <a:defRPr sz="3400" b="1" kern="1200">
          <a:solidFill>
            <a:schemeClr val="tx1"/>
          </a:solidFill>
          <a:latin typeface="+mj-lt"/>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000" kern="1200">
          <a:solidFill>
            <a:schemeClr val="tx1"/>
          </a:solidFill>
          <a:latin typeface="+mn-lt"/>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FF1E-8490-9821-6039-8A60832A0D94}"/>
            </a:ext>
          </a:extLst>
        </p:cNvPr>
        <p:cNvGrpSpPr/>
        <p:nvPr/>
      </p:nvGrpSpPr>
      <p:grpSpPr>
        <a:xfrm>
          <a:off x="0" y="0"/>
          <a:ext cx="0" cy="0"/>
          <a:chOff x="0" y="0"/>
          <a:chExt cx="0" cy="0"/>
        </a:xfrm>
      </p:grpSpPr>
      <p:pic>
        <p:nvPicPr>
          <p:cNvPr id="8" name="Picture Placeholder 7" descr="A black square with white text&#10;&#10;AI-generated content may be incorrect.">
            <a:extLst>
              <a:ext uri="{FF2B5EF4-FFF2-40B4-BE49-F238E27FC236}">
                <a16:creationId xmlns:a16="http://schemas.microsoft.com/office/drawing/2014/main" id="{2AB7E9DF-DA96-4187-AE8F-CF45BEE69144}"/>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E0599098-B346-AB02-DADA-06FB7B91383A}"/>
              </a:ext>
            </a:extLst>
          </p:cNvPr>
          <p:cNvSpPr>
            <a:spLocks noGrp="1"/>
          </p:cNvSpPr>
          <p:nvPr>
            <p:ph type="body" sz="quarter" idx="11"/>
          </p:nvPr>
        </p:nvSpPr>
        <p:spPr>
          <a:xfrm>
            <a:off x="612924" y="2667357"/>
            <a:ext cx="11081771" cy="590932"/>
          </a:xfrm>
        </p:spPr>
        <p:txBody>
          <a:bodyPr>
            <a:normAutofit/>
          </a:bodyPr>
          <a:lstStyle/>
          <a:p>
            <a:pPr marL="14288" indent="-14288"/>
            <a:r>
              <a:rPr lang="en-US" sz="2800" dirty="0"/>
              <a:t>Population &amp; Migration Forecasting in Puerto Rico</a:t>
            </a:r>
          </a:p>
        </p:txBody>
      </p:sp>
      <p:cxnSp>
        <p:nvCxnSpPr>
          <p:cNvPr id="6" name="Straight Connector 5">
            <a:extLst>
              <a:ext uri="{FF2B5EF4-FFF2-40B4-BE49-F238E27FC236}">
                <a16:creationId xmlns:a16="http://schemas.microsoft.com/office/drawing/2014/main" id="{1FF35A4E-A51B-8BA0-C03D-F01BD1C9AAA6}"/>
              </a:ext>
            </a:extLst>
          </p:cNvPr>
          <p:cNvCxnSpPr>
            <a:cxnSpLocks/>
          </p:cNvCxnSpPr>
          <p:nvPr/>
        </p:nvCxnSpPr>
        <p:spPr>
          <a:xfrm>
            <a:off x="2438400" y="3266544"/>
            <a:ext cx="7315200" cy="0"/>
          </a:xfrm>
          <a:prstGeom prst="line">
            <a:avLst/>
          </a:prstGeom>
          <a:ln w="12700">
            <a:solidFill>
              <a:schemeClr val="bg1">
                <a:lumMod val="85000"/>
              </a:schemeClr>
            </a:solidFill>
          </a:ln>
          <a:effectLst/>
        </p:spPr>
        <p:style>
          <a:lnRef idx="2">
            <a:schemeClr val="dk1"/>
          </a:lnRef>
          <a:fillRef idx="0">
            <a:schemeClr val="dk1"/>
          </a:fillRef>
          <a:effectRef idx="1">
            <a:schemeClr val="dk1"/>
          </a:effectRef>
          <a:fontRef idx="minor">
            <a:schemeClr val="tx1"/>
          </a:fontRef>
        </p:style>
      </p:cxnSp>
      <p:sp>
        <p:nvSpPr>
          <p:cNvPr id="7" name="Google Shape;88;p13">
            <a:extLst>
              <a:ext uri="{FF2B5EF4-FFF2-40B4-BE49-F238E27FC236}">
                <a16:creationId xmlns:a16="http://schemas.microsoft.com/office/drawing/2014/main" id="{4D2A67CD-7517-7D45-DD36-E4BA9F4D4926}"/>
              </a:ext>
            </a:extLst>
          </p:cNvPr>
          <p:cNvSpPr txBox="1"/>
          <p:nvPr/>
        </p:nvSpPr>
        <p:spPr>
          <a:xfrm>
            <a:off x="741260" y="4200029"/>
            <a:ext cx="3438525"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latin typeface="+mj-lt"/>
                <a:ea typeface="DM Sans"/>
                <a:cs typeface="Arial" panose="020B0604020202020204" pitchFamily="34" charset="0"/>
                <a:sym typeface="DM Sans"/>
              </a:rPr>
              <a:t>Jose Andres RiveraRuiz</a:t>
            </a:r>
            <a:endParaRPr sz="3200" dirty="0">
              <a:latin typeface="+mj-lt"/>
            </a:endParaRPr>
          </a:p>
        </p:txBody>
      </p:sp>
      <p:sp>
        <p:nvSpPr>
          <p:cNvPr id="9" name="Google Shape;89;p13">
            <a:extLst>
              <a:ext uri="{FF2B5EF4-FFF2-40B4-BE49-F238E27FC236}">
                <a16:creationId xmlns:a16="http://schemas.microsoft.com/office/drawing/2014/main" id="{21E89DB3-FE9C-185E-78C9-981857D4CFE9}"/>
              </a:ext>
            </a:extLst>
          </p:cNvPr>
          <p:cNvSpPr txBox="1"/>
          <p:nvPr/>
        </p:nvSpPr>
        <p:spPr>
          <a:xfrm>
            <a:off x="741260" y="4755207"/>
            <a:ext cx="3745923" cy="103412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00" b="1" i="0" u="none" strike="noStrike" cap="none" dirty="0">
                <a:latin typeface="+mj-lt"/>
                <a:ea typeface="DM Sans"/>
                <a:cs typeface="Arial" panose="020B0604020202020204" pitchFamily="34" charset="0"/>
                <a:sym typeface="DM Sans"/>
              </a:rPr>
              <a:t>Rutgers, The State University of New Jersey</a:t>
            </a:r>
          </a:p>
          <a:p>
            <a:pPr>
              <a:lnSpc>
                <a:spcPct val="160000"/>
              </a:lnSpc>
            </a:pPr>
            <a:r>
              <a:rPr lang="en-US" sz="1400" b="1" dirty="0">
                <a:latin typeface="+mj-lt"/>
                <a:cs typeface="Arial" panose="020B0604020202020204" pitchFamily="34" charset="0"/>
                <a:sym typeface="DM Sans"/>
              </a:rPr>
              <a:t>Master’s Project- Spring 2026</a:t>
            </a:r>
          </a:p>
          <a:p>
            <a:pPr>
              <a:lnSpc>
                <a:spcPct val="160000"/>
              </a:lnSpc>
            </a:pPr>
            <a:r>
              <a:rPr lang="en-US" sz="1400" b="1" dirty="0">
                <a:latin typeface="+mj-lt"/>
                <a:cs typeface="Arial" panose="020B0604020202020204" pitchFamily="34" charset="0"/>
                <a:sym typeface="DM Sans"/>
              </a:rPr>
              <a:t>Week 10 Progress: 10 April 2026</a:t>
            </a:r>
            <a:endParaRPr lang="en-US" sz="1400" b="1" dirty="0">
              <a:latin typeface="+mj-lt"/>
              <a:cs typeface="Arial" panose="020B0604020202020204" pitchFamily="34" charset="0"/>
            </a:endParaRPr>
          </a:p>
        </p:txBody>
      </p:sp>
    </p:spTree>
    <p:extLst>
      <p:ext uri="{BB962C8B-B14F-4D97-AF65-F5344CB8AC3E}">
        <p14:creationId xmlns:p14="http://schemas.microsoft.com/office/powerpoint/2010/main" val="3928769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ECE9DE-5569-FB3D-9F3D-4B7D21E06AB8}"/>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782AEBD-D968-67B5-44E1-E37D027F75E9}"/>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Problem &amp; Objective </a:t>
            </a:r>
          </a:p>
        </p:txBody>
      </p:sp>
      <p:sp>
        <p:nvSpPr>
          <p:cNvPr id="11" name="TextBox 10">
            <a:extLst>
              <a:ext uri="{FF2B5EF4-FFF2-40B4-BE49-F238E27FC236}">
                <a16:creationId xmlns:a16="http://schemas.microsoft.com/office/drawing/2014/main" id="{39E0F022-DCC0-E84E-EDEB-7B39259B385C}"/>
              </a:ext>
            </a:extLst>
          </p:cNvPr>
          <p:cNvSpPr txBox="1"/>
          <p:nvPr/>
        </p:nvSpPr>
        <p:spPr>
          <a:xfrm>
            <a:off x="139613" y="1368962"/>
            <a:ext cx="11484828" cy="5247590"/>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1400" b="1" dirty="0">
                <a:latin typeface="Merriweather" pitchFamily="2" charset="77"/>
              </a:rPr>
              <a:t>Research Problem: </a:t>
            </a:r>
            <a:r>
              <a:rPr lang="en-US" sz="1400" dirty="0">
                <a:latin typeface="Merriweather" pitchFamily="2" charset="77"/>
              </a:rPr>
              <a:t>Puerto Rico has experienced </a:t>
            </a:r>
            <a:r>
              <a:rPr lang="en-US" sz="1400" i="1" dirty="0">
                <a:latin typeface="Merriweather" pitchFamily="2" charset="77"/>
              </a:rPr>
              <a:t>significant population decline and regional vulnerability </a:t>
            </a:r>
            <a:r>
              <a:rPr lang="en-US" sz="1400" dirty="0">
                <a:latin typeface="Merriweather" pitchFamily="2" charset="77"/>
              </a:rPr>
              <a:t>driven by economic conditions, natural disasters, and social factors</a:t>
            </a:r>
          </a:p>
          <a:p>
            <a:pPr marL="285750"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Objective: </a:t>
            </a:r>
            <a:r>
              <a:rPr lang="en-US" sz="1400" dirty="0">
                <a:latin typeface="Merriweather" pitchFamily="2" charset="77"/>
              </a:rPr>
              <a:t>Develop a </a:t>
            </a:r>
            <a:r>
              <a:rPr lang="en-US" sz="1400" b="1" i="1" dirty="0">
                <a:latin typeface="Merriweather" pitchFamily="2" charset="77"/>
              </a:rPr>
              <a:t>data-driven framework</a:t>
            </a:r>
            <a:r>
              <a:rPr lang="en-US" sz="1400" i="1" dirty="0">
                <a:latin typeface="Merriweather" pitchFamily="2" charset="77"/>
              </a:rPr>
              <a:t> </a:t>
            </a:r>
            <a:r>
              <a:rPr lang="en-US" sz="1400" dirty="0">
                <a:latin typeface="Merriweather" pitchFamily="2" charset="77"/>
              </a:rPr>
              <a:t>to:</a:t>
            </a:r>
          </a:p>
          <a:p>
            <a:pPr marL="742950" lvl="1" indent="-285750" fontAlgn="base">
              <a:lnSpc>
                <a:spcPct val="150000"/>
              </a:lnSpc>
              <a:buFont typeface="Arial" panose="020B0604020202020204" pitchFamily="34" charset="0"/>
              <a:buChar char="•"/>
            </a:pPr>
            <a:r>
              <a:rPr lang="en-US" sz="1400" dirty="0">
                <a:latin typeface="Merriweather" pitchFamily="2" charset="77"/>
              </a:rPr>
              <a:t>Model municipal and regional population change</a:t>
            </a:r>
          </a:p>
          <a:p>
            <a:pPr marL="742950" lvl="1" indent="-285750" fontAlgn="base">
              <a:lnSpc>
                <a:spcPct val="150000"/>
              </a:lnSpc>
              <a:buFont typeface="Arial" panose="020B0604020202020204" pitchFamily="34" charset="0"/>
              <a:buChar char="•"/>
            </a:pPr>
            <a:r>
              <a:rPr lang="en-US" sz="1400" dirty="0">
                <a:latin typeface="Merriweather" pitchFamily="2" charset="77"/>
              </a:rPr>
              <a:t>Identify drivers of demographic decline</a:t>
            </a:r>
          </a:p>
          <a:p>
            <a:pPr marL="742950" lvl="1" indent="-285750" fontAlgn="base">
              <a:lnSpc>
                <a:spcPct val="150000"/>
              </a:lnSpc>
              <a:buFont typeface="Arial" panose="020B0604020202020204" pitchFamily="34" charset="0"/>
              <a:buChar char="•"/>
            </a:pPr>
            <a:r>
              <a:rPr lang="en-US" sz="1400" dirty="0">
                <a:latin typeface="Merriweather" pitchFamily="2" charset="77"/>
              </a:rPr>
              <a:t>Detect structural municipal vulnerability patterns</a:t>
            </a:r>
          </a:p>
          <a:p>
            <a:pPr marL="742950" lvl="1" indent="-285750" fontAlgn="base">
              <a:lnSpc>
                <a:spcPct val="150000"/>
              </a:lnSpc>
              <a:buFont typeface="Arial" panose="020B0604020202020204" pitchFamily="34" charset="0"/>
              <a:buChar char="•"/>
            </a:pPr>
            <a:r>
              <a:rPr lang="en-US" sz="1400" dirty="0">
                <a:latin typeface="Merriweather" pitchFamily="2" charset="77"/>
              </a:rPr>
              <a:t>Produce population forecasts and typologies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Success Criteria</a:t>
            </a:r>
          </a:p>
          <a:p>
            <a:pPr marL="742950" lvl="1" indent="-285750" fontAlgn="base">
              <a:lnSpc>
                <a:spcPct val="150000"/>
              </a:lnSpc>
              <a:buFont typeface="Arial" panose="020B0604020202020204" pitchFamily="34" charset="0"/>
              <a:buChar char="•"/>
            </a:pPr>
            <a:r>
              <a:rPr lang="en-US" sz="1400" dirty="0">
                <a:latin typeface="Merriweather" pitchFamily="2" charset="77"/>
              </a:rPr>
              <a:t>Predict population change with reasonable accuracy</a:t>
            </a:r>
          </a:p>
          <a:p>
            <a:pPr marL="742950" lvl="1" indent="-285750" fontAlgn="base">
              <a:lnSpc>
                <a:spcPct val="150000"/>
              </a:lnSpc>
              <a:buFont typeface="Arial" panose="020B0604020202020204" pitchFamily="34" charset="0"/>
              <a:buChar char="•"/>
            </a:pPr>
            <a:r>
              <a:rPr lang="en-US" sz="1400" dirty="0">
                <a:latin typeface="Merriweather" pitchFamily="2" charset="77"/>
              </a:rPr>
              <a:t>Identify key drivers </a:t>
            </a:r>
          </a:p>
          <a:p>
            <a:pPr marL="742950" lvl="1" indent="-285750" fontAlgn="base">
              <a:lnSpc>
                <a:spcPct val="150000"/>
              </a:lnSpc>
              <a:buFont typeface="Arial" panose="020B0604020202020204" pitchFamily="34" charset="0"/>
              <a:buChar char="•"/>
            </a:pPr>
            <a:r>
              <a:rPr lang="en-US" sz="1400" dirty="0">
                <a:latin typeface="Merriweather" pitchFamily="2" charset="77"/>
              </a:rPr>
              <a:t>Detect clusters/regions with similar vulnerability profiles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This week, I worked on extend modeling to scenario-based forecasting under disasters</a:t>
            </a:r>
          </a:p>
          <a:p>
            <a:pPr marL="285750" indent="-285750" fontAlgn="base">
              <a:buFont typeface="Arial" panose="020B0604020202020204" pitchFamily="34" charset="0"/>
              <a:buChar char="•"/>
            </a:pPr>
            <a:endParaRPr lang="en-US" sz="1400" dirty="0">
              <a:solidFill>
                <a:srgbClr val="000000"/>
              </a:solidFill>
              <a:latin typeface="Merriweather" pitchFamily="2" charset="77"/>
              <a:ea typeface="Arial"/>
              <a:cs typeface="Arial"/>
              <a:sym typeface="Arial"/>
            </a:endParaRPr>
          </a:p>
        </p:txBody>
      </p:sp>
      <p:pic>
        <p:nvPicPr>
          <p:cNvPr id="9" name="Picture 8" descr="A map of puerto rico with a graph and a chart&#10;&#10;AI-generated content may be incorrect.">
            <a:extLst>
              <a:ext uri="{FF2B5EF4-FFF2-40B4-BE49-F238E27FC236}">
                <a16:creationId xmlns:a16="http://schemas.microsoft.com/office/drawing/2014/main" id="{127A0D1B-B23D-7AB3-2172-9CE8952C1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8987" y="2052133"/>
            <a:ext cx="4517551" cy="3316132"/>
          </a:xfrm>
          <a:prstGeom prst="rect">
            <a:avLst/>
          </a:prstGeom>
        </p:spPr>
      </p:pic>
    </p:spTree>
    <p:extLst>
      <p:ext uri="{BB962C8B-B14F-4D97-AF65-F5344CB8AC3E}">
        <p14:creationId xmlns:p14="http://schemas.microsoft.com/office/powerpoint/2010/main" val="356348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58803-89E1-A3A6-58B1-7837B6A454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C17AFA3-99DB-660C-F47F-04C78C76469B}"/>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B95BF63C-F202-7159-03D4-D816AC91116A}"/>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End-to-End Modeling Pipeline</a:t>
            </a:r>
          </a:p>
        </p:txBody>
      </p:sp>
      <p:sp>
        <p:nvSpPr>
          <p:cNvPr id="11" name="TextBox 10">
            <a:extLst>
              <a:ext uri="{FF2B5EF4-FFF2-40B4-BE49-F238E27FC236}">
                <a16:creationId xmlns:a16="http://schemas.microsoft.com/office/drawing/2014/main" id="{A57A41CD-3A45-A1D2-8AD5-FFAA207C3169}"/>
              </a:ext>
            </a:extLst>
          </p:cNvPr>
          <p:cNvSpPr txBox="1"/>
          <p:nvPr/>
        </p:nvSpPr>
        <p:spPr>
          <a:xfrm>
            <a:off x="5836980" y="1269273"/>
            <a:ext cx="6087928" cy="307777"/>
          </a:xfrm>
          <a:prstGeom prst="rect">
            <a:avLst/>
          </a:prstGeom>
          <a:noFill/>
        </p:spPr>
        <p:txBody>
          <a:bodyPr wrap="square">
            <a:spAutoFit/>
          </a:bodyPr>
          <a:lstStyle/>
          <a:p>
            <a:pPr marL="285750" indent="-285750" fontAlgn="base">
              <a:buFont typeface="Arial" panose="020B0604020202020204" pitchFamily="34" charset="0"/>
              <a:buChar char="•"/>
            </a:pPr>
            <a:r>
              <a:rPr lang="en-US" sz="1400" dirty="0"/>
              <a:t>From raw data → Model v1 → evaluated outputs (no manual patching)</a:t>
            </a:r>
            <a:endParaRPr lang="en-US" sz="1400" dirty="0">
              <a:solidFill>
                <a:srgbClr val="000000"/>
              </a:solidFill>
              <a:latin typeface="Merriweather" pitchFamily="2" charset="77"/>
              <a:ea typeface="Arial"/>
              <a:cs typeface="Arial"/>
              <a:sym typeface="Arial"/>
            </a:endParaRPr>
          </a:p>
        </p:txBody>
      </p:sp>
      <p:grpSp>
        <p:nvGrpSpPr>
          <p:cNvPr id="53" name="Group 52">
            <a:extLst>
              <a:ext uri="{FF2B5EF4-FFF2-40B4-BE49-F238E27FC236}">
                <a16:creationId xmlns:a16="http://schemas.microsoft.com/office/drawing/2014/main" id="{7EDA0FEE-2860-319F-4DFC-9583849F3FD1}"/>
              </a:ext>
            </a:extLst>
          </p:cNvPr>
          <p:cNvGrpSpPr/>
          <p:nvPr/>
        </p:nvGrpSpPr>
        <p:grpSpPr>
          <a:xfrm>
            <a:off x="273808" y="1203766"/>
            <a:ext cx="10858217" cy="5088495"/>
            <a:chOff x="273808" y="1203766"/>
            <a:chExt cx="10858217" cy="5088495"/>
          </a:xfrm>
        </p:grpSpPr>
        <p:sp>
          <p:nvSpPr>
            <p:cNvPr id="3" name="Rounded Rectangle 2">
              <a:extLst>
                <a:ext uri="{FF2B5EF4-FFF2-40B4-BE49-F238E27FC236}">
                  <a16:creationId xmlns:a16="http://schemas.microsoft.com/office/drawing/2014/main" id="{78150EE3-04BB-A376-B9E0-E4BCC2783240}"/>
                </a:ext>
              </a:extLst>
            </p:cNvPr>
            <p:cNvSpPr/>
            <p:nvPr/>
          </p:nvSpPr>
          <p:spPr>
            <a:xfrm>
              <a:off x="699785" y="1518759"/>
              <a:ext cx="2074986" cy="4773502"/>
            </a:xfrm>
            <a:prstGeom prst="roundRect">
              <a:avLst>
                <a:gd name="adj" fmla="val 469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EFD4BFA2-EB82-5C06-8222-7186DF1983CA}"/>
                </a:ext>
              </a:extLst>
            </p:cNvPr>
            <p:cNvSpPr/>
            <p:nvPr/>
          </p:nvSpPr>
          <p:spPr>
            <a:xfrm>
              <a:off x="3231969" y="1984383"/>
              <a:ext cx="2379785" cy="4120083"/>
            </a:xfrm>
            <a:prstGeom prst="roundRect">
              <a:avLst>
                <a:gd name="adj" fmla="val 480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E1C25C73-5E1C-8F90-E170-0287F78995D1}"/>
                </a:ext>
              </a:extLst>
            </p:cNvPr>
            <p:cNvSpPr/>
            <p:nvPr/>
          </p:nvSpPr>
          <p:spPr>
            <a:xfrm>
              <a:off x="6031164" y="2614888"/>
              <a:ext cx="2841318" cy="2871511"/>
            </a:xfrm>
            <a:prstGeom prst="roundRect">
              <a:avLst>
                <a:gd name="adj" fmla="val 4485"/>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FD312F3E-1875-9202-355B-6D155D2E70BF}"/>
                </a:ext>
              </a:extLst>
            </p:cNvPr>
            <p:cNvSpPr/>
            <p:nvPr/>
          </p:nvSpPr>
          <p:spPr>
            <a:xfrm>
              <a:off x="9279779" y="2727039"/>
              <a:ext cx="1852246" cy="2512999"/>
            </a:xfrm>
            <a:prstGeom prst="roundRect">
              <a:avLst>
                <a:gd name="adj" fmla="val 5697"/>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23E4426D-7449-C9E2-515E-CF7B16CFF941}"/>
                </a:ext>
              </a:extLst>
            </p:cNvPr>
            <p:cNvSpPr/>
            <p:nvPr/>
          </p:nvSpPr>
          <p:spPr>
            <a:xfrm>
              <a:off x="788476" y="1591838"/>
              <a:ext cx="1881373" cy="975360"/>
            </a:xfrm>
            <a:prstGeom prst="roundRect">
              <a:avLst>
                <a:gd name="adj" fmla="val 740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9C1B199E-C60A-C0B1-FF33-18040B3BF916}"/>
                </a:ext>
              </a:extLst>
            </p:cNvPr>
            <p:cNvSpPr/>
            <p:nvPr/>
          </p:nvSpPr>
          <p:spPr>
            <a:xfrm>
              <a:off x="796591" y="2743686"/>
              <a:ext cx="1881373" cy="1057952"/>
            </a:xfrm>
            <a:prstGeom prst="roundRect">
              <a:avLst>
                <a:gd name="adj" fmla="val 4929"/>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3395138D-E2FA-345B-C5FF-AAA8BAF753F7}"/>
                </a:ext>
              </a:extLst>
            </p:cNvPr>
            <p:cNvSpPr/>
            <p:nvPr/>
          </p:nvSpPr>
          <p:spPr>
            <a:xfrm>
              <a:off x="788476" y="3965952"/>
              <a:ext cx="1881373" cy="1057952"/>
            </a:xfrm>
            <a:prstGeom prst="roundRect">
              <a:avLst>
                <a:gd name="adj" fmla="val 5996"/>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85A00947-4B3E-619C-C5CB-23B4454C2A96}"/>
                </a:ext>
              </a:extLst>
            </p:cNvPr>
            <p:cNvSpPr/>
            <p:nvPr/>
          </p:nvSpPr>
          <p:spPr>
            <a:xfrm>
              <a:off x="788475" y="5129106"/>
              <a:ext cx="1881373" cy="975360"/>
            </a:xfrm>
            <a:prstGeom prst="roundRect">
              <a:avLst>
                <a:gd name="adj" fmla="val 3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81FBD447-970D-298E-0497-A2BD0ACDFB50}"/>
                </a:ext>
              </a:extLst>
            </p:cNvPr>
            <p:cNvSpPr/>
            <p:nvPr/>
          </p:nvSpPr>
          <p:spPr>
            <a:xfrm>
              <a:off x="3356929" y="2066247"/>
              <a:ext cx="2132833" cy="2696694"/>
            </a:xfrm>
            <a:prstGeom prst="roundRect">
              <a:avLst>
                <a:gd name="adj" fmla="val 3864"/>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903B7CB3-2352-5E72-DC2C-DA89CFE17EE1}"/>
                </a:ext>
              </a:extLst>
            </p:cNvPr>
            <p:cNvSpPr/>
            <p:nvPr/>
          </p:nvSpPr>
          <p:spPr>
            <a:xfrm>
              <a:off x="6136948" y="2692787"/>
              <a:ext cx="2587775" cy="1120141"/>
            </a:xfrm>
            <a:prstGeom prst="roundRect">
              <a:avLst>
                <a:gd name="adj" fmla="val 255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8DBA8383-4171-D7A8-6D18-5FD4B03CB507}"/>
                </a:ext>
              </a:extLst>
            </p:cNvPr>
            <p:cNvSpPr/>
            <p:nvPr/>
          </p:nvSpPr>
          <p:spPr>
            <a:xfrm>
              <a:off x="6136948" y="3934857"/>
              <a:ext cx="2587775" cy="1233107"/>
            </a:xfrm>
            <a:prstGeom prst="roundRect">
              <a:avLst>
                <a:gd name="adj" fmla="val 2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188C7C4F-95EC-94B1-D2D6-F97A77D62E17}"/>
                </a:ext>
              </a:extLst>
            </p:cNvPr>
            <p:cNvSpPr/>
            <p:nvPr/>
          </p:nvSpPr>
          <p:spPr>
            <a:xfrm>
              <a:off x="9406208" y="2796402"/>
              <a:ext cx="1609759" cy="2322154"/>
            </a:xfrm>
            <a:prstGeom prst="roundRect">
              <a:avLst>
                <a:gd name="adj" fmla="val 334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203D34A-B49A-4510-8986-868CB1ADC2C3}"/>
                    </a:ext>
                  </a:extLst>
                </p:cNvPr>
                <p:cNvSpPr txBox="1"/>
                <p:nvPr/>
              </p:nvSpPr>
              <p:spPr>
                <a:xfrm>
                  <a:off x="632976" y="1203766"/>
                  <a:ext cx="1437125" cy="349326"/>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Inputs </a:t>
                  </a:r>
                  <a:r>
                    <a:rPr lang="en-US" sz="1600" b="1" dirty="0">
                      <a:solidFill>
                        <a:srgbClr val="1F1F1F"/>
                      </a:solidFill>
                      <a:latin typeface="Arial" panose="020B0604020202020204" pitchFamily="34" charset="0"/>
                      <a:cs typeface="Arial" panose="020B0604020202020204" pitchFamily="34" charset="0"/>
                    </a:rPr>
                    <a:t>(</a:t>
                  </a:r>
                  <a14:m>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𝑿</m:t>
                          </m:r>
                        </m:e>
                        <m:sub>
                          <m:r>
                            <a:rPr lang="en-US" sz="1600" b="1" i="1">
                              <a:latin typeface="Cambria Math" panose="02040503050406030204" pitchFamily="18" charset="0"/>
                            </a:rPr>
                            <m:t>𝒎</m:t>
                          </m:r>
                          <m:r>
                            <a:rPr lang="en-US" sz="1600" b="1" i="1">
                              <a:latin typeface="Cambria Math" panose="02040503050406030204" pitchFamily="18" charset="0"/>
                            </a:rPr>
                            <m:t>,</m:t>
                          </m:r>
                          <m:r>
                            <a:rPr lang="en-US" sz="1600" b="1" i="1">
                              <a:latin typeface="Cambria Math" panose="02040503050406030204" pitchFamily="18" charset="0"/>
                            </a:rPr>
                            <m:t>𝒕</m:t>
                          </m:r>
                        </m:sub>
                      </m:sSub>
                    </m:oMath>
                  </a14:m>
                  <a:r>
                    <a:rPr lang="en-US" sz="1600" b="1" dirty="0">
                      <a:solidFill>
                        <a:srgbClr val="1F1F1F"/>
                      </a:solidFill>
                      <a:latin typeface="Arial" panose="020B0604020202020204" pitchFamily="34" charset="0"/>
                      <a:cs typeface="Arial" panose="020B0604020202020204" pitchFamily="34" charset="0"/>
                    </a:rPr>
                    <a:t>)</a:t>
                  </a:r>
                  <a:r>
                    <a:rPr lang="en-US" sz="1600" b="1" dirty="0">
                      <a:latin typeface="Arial" panose="020B0604020202020204" pitchFamily="34" charset="0"/>
                      <a:cs typeface="Arial" panose="020B0604020202020204" pitchFamily="34" charset="0"/>
                    </a:rPr>
                    <a:t> </a:t>
                  </a:r>
                </a:p>
              </p:txBody>
            </p:sp>
          </mc:Choice>
          <mc:Fallback xmlns="">
            <p:sp>
              <p:nvSpPr>
                <p:cNvPr id="19" name="TextBox 18">
                  <a:extLst>
                    <a:ext uri="{FF2B5EF4-FFF2-40B4-BE49-F238E27FC236}">
                      <a16:creationId xmlns:a16="http://schemas.microsoft.com/office/drawing/2014/main" id="{A203D34A-B49A-4510-8986-868CB1ADC2C3}"/>
                    </a:ext>
                  </a:extLst>
                </p:cNvPr>
                <p:cNvSpPr txBox="1">
                  <a:spLocks noRot="1" noChangeAspect="1" noMove="1" noResize="1" noEditPoints="1" noAdjustHandles="1" noChangeArrowheads="1" noChangeShapeType="1" noTextEdit="1"/>
                </p:cNvSpPr>
                <p:nvPr/>
              </p:nvSpPr>
              <p:spPr>
                <a:xfrm>
                  <a:off x="632976" y="1203766"/>
                  <a:ext cx="1437125" cy="349326"/>
                </a:xfrm>
                <a:prstGeom prst="rect">
                  <a:avLst/>
                </a:prstGeom>
                <a:blipFill>
                  <a:blip r:embed="rId3"/>
                  <a:stretch>
                    <a:fillRect l="-1739" t="-6897" b="-17241"/>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477A92DE-8F5F-5503-9678-807FDE016A05}"/>
                </a:ext>
              </a:extLst>
            </p:cNvPr>
            <p:cNvSpPr txBox="1"/>
            <p:nvPr/>
          </p:nvSpPr>
          <p:spPr>
            <a:xfrm>
              <a:off x="3907938" y="1645829"/>
              <a:ext cx="102784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Methods</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C17FBEC-0C1F-8181-101E-4A4451A855A1}"/>
                    </a:ext>
                  </a:extLst>
                </p:cNvPr>
                <p:cNvSpPr txBox="1"/>
                <p:nvPr/>
              </p:nvSpPr>
              <p:spPr>
                <a:xfrm>
                  <a:off x="6945174" y="2258111"/>
                  <a:ext cx="1567160" cy="349326"/>
                </a:xfrm>
                <a:prstGeom prst="rect">
                  <a:avLst/>
                </a:prstGeom>
                <a:noFill/>
              </p:spPr>
              <p:txBody>
                <a:bodyPr wrap="square" rtlCol="0">
                  <a:spAutoFit/>
                </a:bodyPr>
                <a:lstStyle/>
                <a:p>
                  <a:r>
                    <a:rPr lang="en-US" sz="1600" b="1" dirty="0">
                      <a:solidFill>
                        <a:srgbClr val="1F1F1F"/>
                      </a:solidFill>
                      <a:latin typeface="Arial" panose="020B0604020202020204" pitchFamily="34" charset="0"/>
                      <a:cs typeface="Arial" panose="020B0604020202020204" pitchFamily="34" charset="0"/>
                    </a:rPr>
                    <a:t>Outputs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𝑌</m:t>
                          </m:r>
                        </m:e>
                        <m:sub>
                          <m:r>
                            <a:rPr lang="en-US" sz="1600" i="1">
                              <a:latin typeface="Cambria Math" panose="02040503050406030204" pitchFamily="18" charset="0"/>
                            </a:rPr>
                            <m:t>𝑚</m:t>
                          </m:r>
                          <m:r>
                            <a:rPr lang="en-US" sz="1600" i="1">
                              <a:latin typeface="Cambria Math" panose="02040503050406030204" pitchFamily="18" charset="0"/>
                            </a:rPr>
                            <m:t>,</m:t>
                          </m:r>
                          <m:r>
                            <a:rPr lang="en-US" sz="1600" i="1">
                              <a:latin typeface="Cambria Math" panose="02040503050406030204" pitchFamily="18" charset="0"/>
                            </a:rPr>
                            <m:t>𝑡</m:t>
                          </m:r>
                        </m:sub>
                      </m:sSub>
                    </m:oMath>
                  </a14:m>
                  <a:r>
                    <a:rPr lang="en-US" sz="1600" b="1" dirty="0">
                      <a:solidFill>
                        <a:srgbClr val="1F1F1F"/>
                      </a:solidFill>
                      <a:latin typeface="Arial" panose="020B0604020202020204" pitchFamily="34" charset="0"/>
                      <a:cs typeface="Arial" panose="020B0604020202020204" pitchFamily="34" charset="0"/>
                    </a:rPr>
                    <a:t>)</a:t>
                  </a:r>
                </a:p>
              </p:txBody>
            </p:sp>
          </mc:Choice>
          <mc:Fallback xmlns="">
            <p:sp>
              <p:nvSpPr>
                <p:cNvPr id="21" name="TextBox 20">
                  <a:extLst>
                    <a:ext uri="{FF2B5EF4-FFF2-40B4-BE49-F238E27FC236}">
                      <a16:creationId xmlns:a16="http://schemas.microsoft.com/office/drawing/2014/main" id="{8C17FBEC-0C1F-8181-101E-4A4451A855A1}"/>
                    </a:ext>
                  </a:extLst>
                </p:cNvPr>
                <p:cNvSpPr txBox="1">
                  <a:spLocks noRot="1" noChangeAspect="1" noMove="1" noResize="1" noEditPoints="1" noAdjustHandles="1" noChangeArrowheads="1" noChangeShapeType="1" noTextEdit="1"/>
                </p:cNvSpPr>
                <p:nvPr/>
              </p:nvSpPr>
              <p:spPr>
                <a:xfrm>
                  <a:off x="6945174" y="2258111"/>
                  <a:ext cx="1567160" cy="349326"/>
                </a:xfrm>
                <a:prstGeom prst="rect">
                  <a:avLst/>
                </a:prstGeom>
                <a:blipFill>
                  <a:blip r:embed="rId4"/>
                  <a:stretch>
                    <a:fillRect l="-1600" t="-6897" b="-17241"/>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F7BFBB9F-67E6-DB1A-F5F7-7AA59A79B6BB}"/>
                </a:ext>
              </a:extLst>
            </p:cNvPr>
            <p:cNvSpPr txBox="1"/>
            <p:nvPr/>
          </p:nvSpPr>
          <p:spPr>
            <a:xfrm>
              <a:off x="9896430" y="2403052"/>
              <a:ext cx="641522" cy="338554"/>
            </a:xfrm>
            <a:prstGeom prst="rect">
              <a:avLst/>
            </a:prstGeom>
            <a:noFill/>
          </p:spPr>
          <p:txBody>
            <a:bodyPr wrap="none" rtlCol="0">
              <a:spAutoFit/>
            </a:bodyPr>
            <a:lstStyle/>
            <a:p>
              <a:r>
                <a:rPr lang="en-US" sz="1600" b="1" dirty="0">
                  <a:solidFill>
                    <a:srgbClr val="1F1F1F"/>
                  </a:solidFill>
                  <a:latin typeface="Arial" panose="020B0604020202020204" pitchFamily="34" charset="0"/>
                  <a:cs typeface="Arial" panose="020B0604020202020204" pitchFamily="34" charset="0"/>
                </a:rPr>
                <a:t>Goal</a:t>
              </a:r>
            </a:p>
          </p:txBody>
        </p:sp>
        <p:sp>
          <p:nvSpPr>
            <p:cNvPr id="23" name="TextBox 22">
              <a:extLst>
                <a:ext uri="{FF2B5EF4-FFF2-40B4-BE49-F238E27FC236}">
                  <a16:creationId xmlns:a16="http://schemas.microsoft.com/office/drawing/2014/main" id="{1C99DB5B-9AEB-260D-44B2-71A66310DECC}"/>
                </a:ext>
              </a:extLst>
            </p:cNvPr>
            <p:cNvSpPr txBox="1"/>
            <p:nvPr/>
          </p:nvSpPr>
          <p:spPr>
            <a:xfrm>
              <a:off x="1430626" y="1664019"/>
              <a:ext cx="1165704"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Structural: </a:t>
              </a:r>
            </a:p>
            <a:p>
              <a:r>
                <a:rPr lang="en-US" sz="1200" dirty="0">
                  <a:latin typeface="Arial" panose="020B0604020202020204" pitchFamily="34" charset="0"/>
                  <a:cs typeface="Arial" panose="020B0604020202020204" pitchFamily="34" charset="0"/>
                </a:rPr>
                <a:t>Birth rates, </a:t>
              </a:r>
            </a:p>
            <a:p>
              <a:r>
                <a:rPr lang="en-US" sz="1200" dirty="0">
                  <a:latin typeface="Arial" panose="020B0604020202020204" pitchFamily="34" charset="0"/>
                  <a:cs typeface="Arial" panose="020B0604020202020204" pitchFamily="34" charset="0"/>
                </a:rPr>
                <a:t>Age structure</a:t>
              </a:r>
            </a:p>
            <a:p>
              <a:r>
                <a:rPr lang="en-US" sz="1200" dirty="0">
                  <a:latin typeface="Arial" panose="020B0604020202020204" pitchFamily="34" charset="0"/>
                  <a:cs typeface="Arial" panose="020B0604020202020204" pitchFamily="34" charset="0"/>
                </a:rPr>
                <a:t>(%&lt;15, %&gt;65)</a:t>
              </a:r>
            </a:p>
          </p:txBody>
        </p:sp>
        <p:sp>
          <p:nvSpPr>
            <p:cNvPr id="24" name="TextBox 23">
              <a:extLst>
                <a:ext uri="{FF2B5EF4-FFF2-40B4-BE49-F238E27FC236}">
                  <a16:creationId xmlns:a16="http://schemas.microsoft.com/office/drawing/2014/main" id="{4313C42F-4DB0-550C-E9E3-9E6F902F5F6F}"/>
                </a:ext>
              </a:extLst>
            </p:cNvPr>
            <p:cNvSpPr txBox="1"/>
            <p:nvPr/>
          </p:nvSpPr>
          <p:spPr>
            <a:xfrm>
              <a:off x="1419337" y="2757753"/>
              <a:ext cx="1258678"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Resilience: </a:t>
              </a:r>
            </a:p>
            <a:p>
              <a:r>
                <a:rPr lang="en-US" sz="1200" dirty="0">
                  <a:latin typeface="Arial" panose="020B0604020202020204" pitchFamily="34" charset="0"/>
                  <a:cs typeface="Arial" panose="020B0604020202020204" pitchFamily="34" charset="0"/>
                </a:rPr>
                <a:t>Unemployment,</a:t>
              </a:r>
            </a:p>
            <a:p>
              <a:r>
                <a:rPr lang="en-US" sz="1200" dirty="0">
                  <a:latin typeface="Arial" panose="020B0604020202020204" pitchFamily="34" charset="0"/>
                  <a:cs typeface="Arial" panose="020B0604020202020204" pitchFamily="34" charset="0"/>
                </a:rPr>
                <a:t>Payroll,</a:t>
              </a:r>
            </a:p>
            <a:p>
              <a:r>
                <a:rPr lang="en-US" sz="1200" dirty="0">
                  <a:latin typeface="Arial" panose="020B0604020202020204" pitchFamily="34" charset="0"/>
                  <a:cs typeface="Arial" panose="020B0604020202020204" pitchFamily="34" charset="0"/>
                </a:rPr>
                <a:t>Establishment</a:t>
              </a:r>
            </a:p>
            <a:p>
              <a:r>
                <a:rPr lang="en-US" sz="1200" dirty="0">
                  <a:latin typeface="Arial" panose="020B0604020202020204" pitchFamily="34" charset="0"/>
                  <a:cs typeface="Arial" panose="020B0604020202020204" pitchFamily="34" charset="0"/>
                </a:rPr>
                <a:t>counts</a:t>
              </a:r>
            </a:p>
          </p:txBody>
        </p:sp>
        <p:sp>
          <p:nvSpPr>
            <p:cNvPr id="25" name="TextBox 24">
              <a:extLst>
                <a:ext uri="{FF2B5EF4-FFF2-40B4-BE49-F238E27FC236}">
                  <a16:creationId xmlns:a16="http://schemas.microsoft.com/office/drawing/2014/main" id="{D4AD680C-D03D-6A37-5A8E-3214E6DCEF87}"/>
                </a:ext>
              </a:extLst>
            </p:cNvPr>
            <p:cNvSpPr txBox="1"/>
            <p:nvPr/>
          </p:nvSpPr>
          <p:spPr>
            <a:xfrm>
              <a:off x="1402290" y="5204000"/>
              <a:ext cx="1335622"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Shocks: </a:t>
              </a:r>
            </a:p>
            <a:p>
              <a:r>
                <a:rPr lang="en-US" sz="1200" dirty="0">
                  <a:latin typeface="Arial" panose="020B0604020202020204" pitchFamily="34" charset="0"/>
                  <a:cs typeface="Arial" panose="020B0604020202020204" pitchFamily="34" charset="0"/>
                </a:rPr>
                <a:t>Hurricane strikes</a:t>
              </a:r>
            </a:p>
            <a:p>
              <a:r>
                <a:rPr lang="en-US" sz="1200" dirty="0">
                  <a:latin typeface="Arial" panose="020B0604020202020204" pitchFamily="34" charset="0"/>
                  <a:cs typeface="Arial" panose="020B0604020202020204" pitchFamily="34" charset="0"/>
                </a:rPr>
                <a:t>Earthquake</a:t>
              </a:r>
            </a:p>
            <a:p>
              <a:r>
                <a:rPr lang="en-US" sz="1200" dirty="0">
                  <a:latin typeface="Arial" panose="020B0604020202020204" pitchFamily="34" charset="0"/>
                  <a:cs typeface="Arial" panose="020B0604020202020204" pitchFamily="34" charset="0"/>
                </a:rPr>
                <a:t>intensity</a:t>
              </a:r>
            </a:p>
          </p:txBody>
        </p:sp>
        <p:sp>
          <p:nvSpPr>
            <p:cNvPr id="26" name="TextBox 25">
              <a:extLst>
                <a:ext uri="{FF2B5EF4-FFF2-40B4-BE49-F238E27FC236}">
                  <a16:creationId xmlns:a16="http://schemas.microsoft.com/office/drawing/2014/main" id="{7A9846B9-BF19-D172-937B-EE732717C6F3}"/>
                </a:ext>
              </a:extLst>
            </p:cNvPr>
            <p:cNvSpPr txBox="1"/>
            <p:nvPr/>
          </p:nvSpPr>
          <p:spPr>
            <a:xfrm>
              <a:off x="1423604" y="4000704"/>
              <a:ext cx="1211294"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Vulnerability: </a:t>
              </a:r>
            </a:p>
            <a:p>
              <a:r>
                <a:rPr lang="en-US" sz="1200" dirty="0">
                  <a:latin typeface="Arial" panose="020B0604020202020204" pitchFamily="34" charset="0"/>
                  <a:cs typeface="Arial" panose="020B0604020202020204" pitchFamily="34" charset="0"/>
                </a:rPr>
                <a:t>CDC SVI</a:t>
              </a:r>
            </a:p>
            <a:p>
              <a:r>
                <a:rPr lang="en-US" sz="1200" dirty="0">
                  <a:latin typeface="Arial" panose="020B0604020202020204" pitchFamily="34" charset="0"/>
                  <a:cs typeface="Arial" panose="020B0604020202020204" pitchFamily="34" charset="0"/>
                </a:rPr>
                <a:t>(Poverty,</a:t>
              </a:r>
            </a:p>
            <a:p>
              <a:r>
                <a:rPr lang="en-US" sz="1200" dirty="0">
                  <a:latin typeface="Arial" panose="020B0604020202020204" pitchFamily="34" charset="0"/>
                  <a:cs typeface="Arial" panose="020B0604020202020204" pitchFamily="34" charset="0"/>
                </a:rPr>
                <a:t>Transportation,</a:t>
              </a:r>
            </a:p>
            <a:p>
              <a:r>
                <a:rPr lang="en-US" sz="1200" dirty="0">
                  <a:latin typeface="Arial" panose="020B0604020202020204" pitchFamily="34" charset="0"/>
                  <a:cs typeface="Arial" panose="020B0604020202020204" pitchFamily="34" charset="0"/>
                </a:rPr>
                <a:t>Housing</a:t>
              </a:r>
            </a:p>
          </p:txBody>
        </p:sp>
        <p:sp>
          <p:nvSpPr>
            <p:cNvPr id="27" name="TextBox 26">
              <a:extLst>
                <a:ext uri="{FF2B5EF4-FFF2-40B4-BE49-F238E27FC236}">
                  <a16:creationId xmlns:a16="http://schemas.microsoft.com/office/drawing/2014/main" id="{1D5939D3-5007-7D0F-39EF-128011980BDF}"/>
                </a:ext>
              </a:extLst>
            </p:cNvPr>
            <p:cNvSpPr txBox="1"/>
            <p:nvPr/>
          </p:nvSpPr>
          <p:spPr>
            <a:xfrm>
              <a:off x="3785731" y="2136371"/>
              <a:ext cx="1645442" cy="2246769"/>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Supervised Modeling (Model v1)</a:t>
              </a:r>
            </a:p>
            <a:p>
              <a:endParaRPr lang="en-US" sz="1000" b="1" dirty="0">
                <a:latin typeface="Arial" panose="020B0604020202020204" pitchFamily="34" charset="0"/>
                <a:cs typeface="Arial" panose="020B0604020202020204" pitchFamily="34" charset="0"/>
              </a:endParaRPr>
            </a:p>
            <a:p>
              <a:pPr marL="114300" indent="-114300">
                <a:buFont typeface="Arial" panose="020B0604020202020204" pitchFamily="34" charset="0"/>
                <a:buChar char="•"/>
              </a:pPr>
              <a:r>
                <a:rPr lang="en-US" sz="1000" dirty="0"/>
                <a:t>Extra Trees regression</a:t>
              </a:r>
            </a:p>
            <a:p>
              <a:pPr marL="114300" indent="-114300">
                <a:buFont typeface="Arial" panose="020B0604020202020204" pitchFamily="34" charset="0"/>
                <a:buChar char="•"/>
              </a:pPr>
              <a:endParaRPr lang="en-US" sz="1000" dirty="0"/>
            </a:p>
            <a:p>
              <a:pPr marL="114300" indent="-114300">
                <a:buFont typeface="Arial" panose="020B0604020202020204" pitchFamily="34" charset="0"/>
                <a:buChar char="•"/>
              </a:pPr>
              <a:r>
                <a:rPr lang="en-US" sz="1000" dirty="0"/>
                <a:t>Compared against: Ridge, Random Forest, HGB </a:t>
              </a:r>
            </a:p>
            <a:p>
              <a:pPr marL="114300" indent="-114300">
                <a:buFont typeface="Arial" panose="020B0604020202020204" pitchFamily="34" charset="0"/>
                <a:buChar char="•"/>
              </a:pPr>
              <a:endParaRPr lang="en-US" sz="1000" dirty="0"/>
            </a:p>
            <a:p>
              <a:pPr marL="114300" indent="-114300">
                <a:buFont typeface="Arial" panose="020B0604020202020204" pitchFamily="34" charset="0"/>
                <a:buChar char="•"/>
              </a:pPr>
              <a:r>
                <a:rPr lang="en-US" sz="1000" dirty="0"/>
                <a:t>Targets tested: </a:t>
              </a:r>
            </a:p>
            <a:p>
              <a:pPr marL="114300" lvl="1" indent="-114300"/>
              <a:r>
                <a:rPr lang="en-US" sz="1000" dirty="0"/>
                <a:t>Annual population change </a:t>
              </a:r>
            </a:p>
            <a:p>
              <a:pPr marL="114300" lvl="1" indent="-114300"/>
              <a:r>
                <a:rPr lang="en-US" sz="1000" b="1" dirty="0"/>
                <a:t>3-year forward average (selected)</a:t>
              </a:r>
              <a:r>
                <a:rPr lang="en-US" sz="1000" dirty="0"/>
                <a:t> </a:t>
              </a:r>
            </a:p>
            <a:p>
              <a:endParaRPr 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136161C-A063-0768-597B-C6F11829787B}"/>
                </a:ext>
              </a:extLst>
            </p:cNvPr>
            <p:cNvSpPr txBox="1"/>
            <p:nvPr/>
          </p:nvSpPr>
          <p:spPr>
            <a:xfrm>
              <a:off x="6806455" y="2764830"/>
              <a:ext cx="1918268" cy="1384995"/>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Primary:</a:t>
              </a: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dirty="0">
                  <a:latin typeface="Arial" panose="020B0604020202020204" pitchFamily="34" charset="0"/>
                </a:rPr>
                <a:t> Predicted population change </a:t>
              </a:r>
            </a:p>
            <a:p>
              <a:pPr lvl="0" eaLnBrk="0" fontAlgn="base" hangingPunct="0">
                <a:spcBef>
                  <a:spcPct val="0"/>
                </a:spcBef>
                <a:spcAft>
                  <a:spcPct val="0"/>
                </a:spcAft>
                <a:buFontTx/>
                <a:buChar char="•"/>
              </a:pPr>
              <a:r>
                <a:rPr lang="en-US" altLang="en-US" sz="1200" dirty="0">
                  <a:latin typeface="Arial" panose="020B0604020202020204" pitchFamily="34" charset="0"/>
                </a:rPr>
                <a:t> Model evaluation (R², errors)</a:t>
              </a:r>
            </a:p>
            <a:p>
              <a:endParaRPr lang="en-US" sz="1200" b="1" dirty="0">
                <a:latin typeface="Arial" panose="020B0604020202020204" pitchFamily="34" charset="0"/>
                <a:cs typeface="Arial" panose="020B0604020202020204" pitchFamily="34" charset="0"/>
              </a:endParaRPr>
            </a:p>
            <a:p>
              <a:endParaRPr lang="en-US" sz="1200" b="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FFF01BD2-BB92-ADB9-5420-3F2DE7B3EBAD}"/>
                </a:ext>
              </a:extLst>
            </p:cNvPr>
            <p:cNvSpPr txBox="1"/>
            <p:nvPr/>
          </p:nvSpPr>
          <p:spPr>
            <a:xfrm>
              <a:off x="6800043" y="3983539"/>
              <a:ext cx="1924680" cy="1015663"/>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Secondary:</a:t>
              </a:r>
            </a:p>
            <a:p>
              <a:pPr lvl="0" eaLnBrk="0" fontAlgn="base" hangingPunct="0">
                <a:spcBef>
                  <a:spcPct val="0"/>
                </a:spcBef>
                <a:spcAft>
                  <a:spcPct val="0"/>
                </a:spcAft>
              </a:pP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dirty="0">
                  <a:latin typeface="Arial" panose="020B0604020202020204" pitchFamily="34" charset="0"/>
                </a:rPr>
                <a:t> Municipal typologies </a:t>
              </a:r>
            </a:p>
            <a:p>
              <a:pPr lvl="0" eaLnBrk="0" fontAlgn="base" hangingPunct="0">
                <a:spcBef>
                  <a:spcPct val="0"/>
                </a:spcBef>
                <a:spcAft>
                  <a:spcPct val="0"/>
                </a:spcAft>
                <a:buFontTx/>
                <a:buChar char="•"/>
              </a:pPr>
              <a:r>
                <a:rPr lang="en-US" altLang="en-US" sz="1200" dirty="0">
                  <a:latin typeface="Arial" panose="020B0604020202020204" pitchFamily="34" charset="0"/>
                </a:rPr>
                <a:t> Vulnerability score (0–1) </a:t>
              </a:r>
            </a:p>
            <a:p>
              <a:pPr lvl="0" eaLnBrk="0" fontAlgn="base" hangingPunct="0">
                <a:spcBef>
                  <a:spcPct val="0"/>
                </a:spcBef>
                <a:spcAft>
                  <a:spcPct val="0"/>
                </a:spcAft>
                <a:buFontTx/>
                <a:buChar char="•"/>
              </a:pPr>
              <a:r>
                <a:rPr lang="en-US" altLang="en-US" sz="1200" dirty="0">
                  <a:latin typeface="Arial" panose="020B0604020202020204" pitchFamily="34" charset="0"/>
                </a:rPr>
                <a:t> Regional summaries</a:t>
              </a:r>
            </a:p>
          </p:txBody>
        </p:sp>
        <p:sp>
          <p:nvSpPr>
            <p:cNvPr id="31" name="TextBox 30">
              <a:extLst>
                <a:ext uri="{FF2B5EF4-FFF2-40B4-BE49-F238E27FC236}">
                  <a16:creationId xmlns:a16="http://schemas.microsoft.com/office/drawing/2014/main" id="{8B98655F-513C-886C-92E6-25278865A6F3}"/>
                </a:ext>
              </a:extLst>
            </p:cNvPr>
            <p:cNvSpPr txBox="1"/>
            <p:nvPr/>
          </p:nvSpPr>
          <p:spPr>
            <a:xfrm>
              <a:off x="9406208" y="3547243"/>
              <a:ext cx="1609759" cy="1569660"/>
            </a:xfrm>
            <a:prstGeom prst="rect">
              <a:avLst/>
            </a:prstGeom>
            <a:noFill/>
          </p:spPr>
          <p:txBody>
            <a:bodyPr wrap="square" rtlCol="0">
              <a:spAutoFit/>
            </a:bodyPr>
            <a:lstStyle/>
            <a:p>
              <a:pPr marL="120650" lvl="0" indent="-120650" eaLnBrk="0" fontAlgn="base" hangingPunct="0">
                <a:spcBef>
                  <a:spcPct val="0"/>
                </a:spcBef>
                <a:spcAft>
                  <a:spcPct val="0"/>
                </a:spcAft>
                <a:buFont typeface="Arial" panose="020B0604020202020204" pitchFamily="34" charset="0"/>
                <a:buChar char="•"/>
              </a:pPr>
              <a:r>
                <a:rPr lang="en-US" altLang="en-US" sz="1200" dirty="0">
                  <a:latin typeface="Arial" panose="020B0604020202020204" pitchFamily="34" charset="0"/>
                </a:rPr>
                <a:t>Distinguish structural vs shock-driven population change</a:t>
              </a:r>
            </a:p>
            <a:p>
              <a:pPr lvl="0" eaLnBrk="0" fontAlgn="base" hangingPunct="0">
                <a:spcBef>
                  <a:spcPct val="0"/>
                </a:spcBef>
                <a:spcAft>
                  <a:spcPct val="0"/>
                </a:spcAft>
              </a:pPr>
              <a:r>
                <a:rPr lang="en-US" altLang="en-US" sz="1200" dirty="0">
                  <a:latin typeface="Arial" panose="020B0604020202020204" pitchFamily="34" charset="0"/>
                </a:rPr>
                <a:t> </a:t>
              </a:r>
            </a:p>
            <a:p>
              <a:pPr marL="120650" lvl="0" indent="-120650" eaLnBrk="0" fontAlgn="base" hangingPunct="0">
                <a:spcBef>
                  <a:spcPct val="0"/>
                </a:spcBef>
                <a:spcAft>
                  <a:spcPct val="0"/>
                </a:spcAft>
                <a:buFont typeface="Arial" panose="020B0604020202020204" pitchFamily="34" charset="0"/>
                <a:buChar char="•"/>
              </a:pPr>
              <a:r>
                <a:rPr lang="en-US" altLang="en-US" sz="1200" dirty="0">
                  <a:latin typeface="Arial" panose="020B0604020202020204" pitchFamily="34" charset="0"/>
                </a:rPr>
                <a:t>Support policy and resource allocation in Puerto Rico</a:t>
              </a:r>
            </a:p>
          </p:txBody>
        </p:sp>
        <p:pic>
          <p:nvPicPr>
            <p:cNvPr id="32" name="Picture 31" descr="A group of people with a clock&#10;&#10;AI-generated content may be incorrect.">
              <a:extLst>
                <a:ext uri="{FF2B5EF4-FFF2-40B4-BE49-F238E27FC236}">
                  <a16:creationId xmlns:a16="http://schemas.microsoft.com/office/drawing/2014/main" id="{F88C4230-0460-5EE5-1628-BAD4DA164292}"/>
                </a:ext>
              </a:extLst>
            </p:cNvPr>
            <p:cNvPicPr>
              <a:picLocks noChangeAspect="1"/>
            </p:cNvPicPr>
            <p:nvPr/>
          </p:nvPicPr>
          <p:blipFill>
            <a:blip r:embed="rId5"/>
            <a:stretch>
              <a:fillRect/>
            </a:stretch>
          </p:blipFill>
          <p:spPr>
            <a:xfrm>
              <a:off x="895259" y="1878367"/>
              <a:ext cx="394765" cy="427662"/>
            </a:xfrm>
            <a:prstGeom prst="rect">
              <a:avLst/>
            </a:prstGeom>
          </p:spPr>
        </p:pic>
        <p:pic>
          <p:nvPicPr>
            <p:cNvPr id="33" name="Picture 32">
              <a:extLst>
                <a:ext uri="{FF2B5EF4-FFF2-40B4-BE49-F238E27FC236}">
                  <a16:creationId xmlns:a16="http://schemas.microsoft.com/office/drawing/2014/main" id="{FE26AED8-9A13-E649-BA47-2D5D4C917B05}"/>
                </a:ext>
              </a:extLst>
            </p:cNvPr>
            <p:cNvPicPr>
              <a:picLocks noChangeAspect="1"/>
            </p:cNvPicPr>
            <p:nvPr/>
          </p:nvPicPr>
          <p:blipFill>
            <a:blip r:embed="rId6"/>
            <a:stretch>
              <a:fillRect/>
            </a:stretch>
          </p:blipFill>
          <p:spPr>
            <a:xfrm>
              <a:off x="874227" y="3060447"/>
              <a:ext cx="454773" cy="486796"/>
            </a:xfrm>
            <a:prstGeom prst="rect">
              <a:avLst/>
            </a:prstGeom>
          </p:spPr>
        </p:pic>
        <p:pic>
          <p:nvPicPr>
            <p:cNvPr id="34" name="Picture 33" descr="A chain with a house and a broken chain&#10;&#10;AI-generated content may be incorrect.">
              <a:extLst>
                <a:ext uri="{FF2B5EF4-FFF2-40B4-BE49-F238E27FC236}">
                  <a16:creationId xmlns:a16="http://schemas.microsoft.com/office/drawing/2014/main" id="{46D09B9A-B92F-3EE6-62AE-25C227D835EA}"/>
                </a:ext>
              </a:extLst>
            </p:cNvPr>
            <p:cNvPicPr>
              <a:picLocks noChangeAspect="1"/>
            </p:cNvPicPr>
            <p:nvPr/>
          </p:nvPicPr>
          <p:blipFill>
            <a:blip r:embed="rId7"/>
            <a:stretch>
              <a:fillRect/>
            </a:stretch>
          </p:blipFill>
          <p:spPr>
            <a:xfrm>
              <a:off x="924379" y="4253435"/>
              <a:ext cx="394303" cy="423874"/>
            </a:xfrm>
            <a:prstGeom prst="rect">
              <a:avLst/>
            </a:prstGeom>
          </p:spPr>
        </p:pic>
        <p:pic>
          <p:nvPicPr>
            <p:cNvPr id="35" name="Picture 34">
              <a:extLst>
                <a:ext uri="{FF2B5EF4-FFF2-40B4-BE49-F238E27FC236}">
                  <a16:creationId xmlns:a16="http://schemas.microsoft.com/office/drawing/2014/main" id="{4B1AC773-459B-07E5-62C2-70C9DC656B4C}"/>
                </a:ext>
              </a:extLst>
            </p:cNvPr>
            <p:cNvPicPr>
              <a:picLocks noChangeAspect="1"/>
            </p:cNvPicPr>
            <p:nvPr/>
          </p:nvPicPr>
          <p:blipFill>
            <a:blip r:embed="rId8"/>
            <a:stretch>
              <a:fillRect/>
            </a:stretch>
          </p:blipFill>
          <p:spPr>
            <a:xfrm>
              <a:off x="900357" y="5338897"/>
              <a:ext cx="414070" cy="514093"/>
            </a:xfrm>
            <a:prstGeom prst="rect">
              <a:avLst/>
            </a:prstGeom>
          </p:spPr>
        </p:pic>
        <p:pic>
          <p:nvPicPr>
            <p:cNvPr id="36" name="Picture 35" descr="A close up of a diagram&#10;&#10;AI-generated content may be incorrect.">
              <a:extLst>
                <a:ext uri="{FF2B5EF4-FFF2-40B4-BE49-F238E27FC236}">
                  <a16:creationId xmlns:a16="http://schemas.microsoft.com/office/drawing/2014/main" id="{1801943C-E9A7-1068-E298-A3D94A6497D6}"/>
                </a:ext>
              </a:extLst>
            </p:cNvPr>
            <p:cNvPicPr>
              <a:picLocks noChangeAspect="1"/>
            </p:cNvPicPr>
            <p:nvPr/>
          </p:nvPicPr>
          <p:blipFill>
            <a:blip r:embed="rId9"/>
            <a:srcRect l="11449" t="8859" r="13661" b="6934"/>
            <a:stretch>
              <a:fillRect/>
            </a:stretch>
          </p:blipFill>
          <p:spPr>
            <a:xfrm>
              <a:off x="3431178" y="2205635"/>
              <a:ext cx="303231" cy="578762"/>
            </a:xfrm>
            <a:prstGeom prst="rect">
              <a:avLst/>
            </a:prstGeom>
          </p:spPr>
        </p:pic>
        <p:pic>
          <p:nvPicPr>
            <p:cNvPr id="38" name="Picture 37" descr="A graph with a red arrow down&#10;&#10;AI-generated content may be incorrect.">
              <a:extLst>
                <a:ext uri="{FF2B5EF4-FFF2-40B4-BE49-F238E27FC236}">
                  <a16:creationId xmlns:a16="http://schemas.microsoft.com/office/drawing/2014/main" id="{0CDD2A8F-CF25-8BA3-E1D5-A606913E8A0A}"/>
                </a:ext>
              </a:extLst>
            </p:cNvPr>
            <p:cNvPicPr>
              <a:picLocks noChangeAspect="1"/>
            </p:cNvPicPr>
            <p:nvPr/>
          </p:nvPicPr>
          <p:blipFill>
            <a:blip r:embed="rId10"/>
            <a:stretch>
              <a:fillRect/>
            </a:stretch>
          </p:blipFill>
          <p:spPr>
            <a:xfrm>
              <a:off x="6281261" y="3102704"/>
              <a:ext cx="434857" cy="508875"/>
            </a:xfrm>
            <a:prstGeom prst="rect">
              <a:avLst/>
            </a:prstGeom>
          </p:spPr>
        </p:pic>
        <p:pic>
          <p:nvPicPr>
            <p:cNvPr id="39" name="Picture 38" descr="A colorful gauge with a needle&#10;&#10;AI-generated content may be incorrect.">
              <a:extLst>
                <a:ext uri="{FF2B5EF4-FFF2-40B4-BE49-F238E27FC236}">
                  <a16:creationId xmlns:a16="http://schemas.microsoft.com/office/drawing/2014/main" id="{8171B061-ED11-CAF2-5A0E-C0B59EE969C9}"/>
                </a:ext>
              </a:extLst>
            </p:cNvPr>
            <p:cNvPicPr>
              <a:picLocks noChangeAspect="1"/>
            </p:cNvPicPr>
            <p:nvPr/>
          </p:nvPicPr>
          <p:blipFill>
            <a:blip r:embed="rId11"/>
            <a:stretch>
              <a:fillRect/>
            </a:stretch>
          </p:blipFill>
          <p:spPr>
            <a:xfrm>
              <a:off x="6236219" y="4396102"/>
              <a:ext cx="447766" cy="448584"/>
            </a:xfrm>
            <a:prstGeom prst="rect">
              <a:avLst/>
            </a:prstGeom>
          </p:spPr>
        </p:pic>
        <p:pic>
          <p:nvPicPr>
            <p:cNvPr id="40" name="Picture 39" descr="A map of the country with gears&#10;&#10;AI-generated content may be incorrect.">
              <a:extLst>
                <a:ext uri="{FF2B5EF4-FFF2-40B4-BE49-F238E27FC236}">
                  <a16:creationId xmlns:a16="http://schemas.microsoft.com/office/drawing/2014/main" id="{6BFEC94D-3CAA-E041-1483-BD615C446DB3}"/>
                </a:ext>
              </a:extLst>
            </p:cNvPr>
            <p:cNvPicPr>
              <a:picLocks noChangeAspect="1"/>
            </p:cNvPicPr>
            <p:nvPr/>
          </p:nvPicPr>
          <p:blipFill>
            <a:blip r:embed="rId12"/>
            <a:stretch>
              <a:fillRect/>
            </a:stretch>
          </p:blipFill>
          <p:spPr>
            <a:xfrm>
              <a:off x="9664210" y="2799284"/>
              <a:ext cx="1170894" cy="784106"/>
            </a:xfrm>
            <a:prstGeom prst="rect">
              <a:avLst/>
            </a:prstGeom>
          </p:spPr>
        </p:pic>
        <p:sp>
          <p:nvSpPr>
            <p:cNvPr id="41" name="Right Arrow 40">
              <a:extLst>
                <a:ext uri="{FF2B5EF4-FFF2-40B4-BE49-F238E27FC236}">
                  <a16:creationId xmlns:a16="http://schemas.microsoft.com/office/drawing/2014/main" id="{EC213019-310C-AE28-28C1-A0FE672ABAD6}"/>
                </a:ext>
              </a:extLst>
            </p:cNvPr>
            <p:cNvSpPr/>
            <p:nvPr/>
          </p:nvSpPr>
          <p:spPr>
            <a:xfrm>
              <a:off x="8797587" y="3682168"/>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2" name="Right Arrow 41">
              <a:extLst>
                <a:ext uri="{FF2B5EF4-FFF2-40B4-BE49-F238E27FC236}">
                  <a16:creationId xmlns:a16="http://schemas.microsoft.com/office/drawing/2014/main" id="{6E74C82E-D270-98D8-06FD-C8BCCDD7D6D5}"/>
                </a:ext>
              </a:extLst>
            </p:cNvPr>
            <p:cNvSpPr/>
            <p:nvPr/>
          </p:nvSpPr>
          <p:spPr>
            <a:xfrm>
              <a:off x="5538860" y="3682168"/>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3" name="Right Arrow 42">
              <a:extLst>
                <a:ext uri="{FF2B5EF4-FFF2-40B4-BE49-F238E27FC236}">
                  <a16:creationId xmlns:a16="http://schemas.microsoft.com/office/drawing/2014/main" id="{D7CC7418-1C4D-0F1D-5230-2A78AA30204C}"/>
                </a:ext>
              </a:extLst>
            </p:cNvPr>
            <p:cNvSpPr/>
            <p:nvPr/>
          </p:nvSpPr>
          <p:spPr>
            <a:xfrm>
              <a:off x="2740682" y="3685223"/>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4" name="TextBox 43">
              <a:extLst>
                <a:ext uri="{FF2B5EF4-FFF2-40B4-BE49-F238E27FC236}">
                  <a16:creationId xmlns:a16="http://schemas.microsoft.com/office/drawing/2014/main" id="{4292DE21-5A0E-2A87-BAA0-5FFC09BA6FB0}"/>
                </a:ext>
              </a:extLst>
            </p:cNvPr>
            <p:cNvSpPr txBox="1"/>
            <p:nvPr/>
          </p:nvSpPr>
          <p:spPr>
            <a:xfrm rot="16200000">
              <a:off x="-1892426" y="3812063"/>
              <a:ext cx="4640245" cy="307777"/>
            </a:xfrm>
            <a:prstGeom prst="rect">
              <a:avLst/>
            </a:prstGeom>
            <a:noFill/>
          </p:spPr>
          <p:txBody>
            <a:bodyPr wrap="square">
              <a:spAutoFit/>
            </a:bodyPr>
            <a:lstStyle/>
            <a:p>
              <a:pPr algn="ctr" fontAlgn="base"/>
              <a:r>
                <a:rPr lang="en-US" sz="1400" dirty="0">
                  <a:latin typeface="Arial" panose="020B0604020202020204" pitchFamily="34" charset="0"/>
                  <a:cs typeface="Arial" panose="020B0604020202020204" pitchFamily="34" charset="0"/>
                </a:rPr>
                <a:t>Panel dataset: 78 municipalities × 2010–2024</a:t>
              </a:r>
              <a:endParaRPr lang="en-US" sz="1400" dirty="0">
                <a:solidFill>
                  <a:srgbClr val="000000"/>
                </a:solidFill>
                <a:latin typeface="Arial" panose="020B0604020202020204" pitchFamily="34" charset="0"/>
                <a:ea typeface="Arial"/>
                <a:cs typeface="Arial" panose="020B0604020202020204" pitchFamily="34" charset="0"/>
                <a:sym typeface="Arial"/>
              </a:endParaRPr>
            </a:p>
          </p:txBody>
        </p:sp>
        <p:sp>
          <p:nvSpPr>
            <p:cNvPr id="46" name="Rounded Rectangle 45">
              <a:extLst>
                <a:ext uri="{FF2B5EF4-FFF2-40B4-BE49-F238E27FC236}">
                  <a16:creationId xmlns:a16="http://schemas.microsoft.com/office/drawing/2014/main" id="{2755122A-0A05-D626-C80D-8A18BF9D76EC}"/>
                </a:ext>
              </a:extLst>
            </p:cNvPr>
            <p:cNvSpPr/>
            <p:nvPr/>
          </p:nvSpPr>
          <p:spPr>
            <a:xfrm>
              <a:off x="3351727" y="4844686"/>
              <a:ext cx="2132833" cy="1178034"/>
            </a:xfrm>
            <a:prstGeom prst="roundRect">
              <a:avLst>
                <a:gd name="adj" fmla="val 229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AF74AB43-5A66-8BB9-F90C-6DBD8CD04D84}"/>
                </a:ext>
              </a:extLst>
            </p:cNvPr>
            <p:cNvSpPr txBox="1"/>
            <p:nvPr/>
          </p:nvSpPr>
          <p:spPr>
            <a:xfrm>
              <a:off x="3752813" y="4937544"/>
              <a:ext cx="1946804" cy="907941"/>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Structural Analysis (Post-Modeling): </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K-Means / Hierarchical</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Clustering for typology profiling</a:t>
              </a:r>
            </a:p>
          </p:txBody>
        </p:sp>
        <p:pic>
          <p:nvPicPr>
            <p:cNvPr id="48" name="Picture 47" descr="A group of dots in a circle&#10;&#10;AI-generated content may be incorrect.">
              <a:extLst>
                <a:ext uri="{FF2B5EF4-FFF2-40B4-BE49-F238E27FC236}">
                  <a16:creationId xmlns:a16="http://schemas.microsoft.com/office/drawing/2014/main" id="{100E48F0-36BF-3579-8797-7936BF8B8A84}"/>
                </a:ext>
              </a:extLst>
            </p:cNvPr>
            <p:cNvPicPr>
              <a:picLocks noChangeAspect="1"/>
            </p:cNvPicPr>
            <p:nvPr/>
          </p:nvPicPr>
          <p:blipFill>
            <a:blip r:embed="rId13"/>
            <a:stretch>
              <a:fillRect/>
            </a:stretch>
          </p:blipFill>
          <p:spPr>
            <a:xfrm>
              <a:off x="3418014" y="4962317"/>
              <a:ext cx="316395" cy="388615"/>
            </a:xfrm>
            <a:prstGeom prst="rect">
              <a:avLst/>
            </a:prstGeom>
          </p:spPr>
        </p:pic>
      </p:grpSp>
    </p:spTree>
    <p:extLst>
      <p:ext uri="{BB962C8B-B14F-4D97-AF65-F5344CB8AC3E}">
        <p14:creationId xmlns:p14="http://schemas.microsoft.com/office/powerpoint/2010/main" val="2137289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E5CE5-78AD-490D-C7F0-BCFD03DE4B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6D5BCF9-5264-A0FA-7345-80535708E5F4}"/>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F3D5AD4-765C-F5F1-BF2E-88B3C1075A2F}"/>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600" b="1" dirty="0">
                <a:solidFill>
                  <a:schemeClr val="bg1"/>
                </a:solidFill>
              </a:rPr>
              <a:t>Model Selection</a:t>
            </a:r>
          </a:p>
        </p:txBody>
      </p:sp>
      <p:sp>
        <p:nvSpPr>
          <p:cNvPr id="11" name="TextBox 10">
            <a:extLst>
              <a:ext uri="{FF2B5EF4-FFF2-40B4-BE49-F238E27FC236}">
                <a16:creationId xmlns:a16="http://schemas.microsoft.com/office/drawing/2014/main" id="{B14DAF72-DF65-27AC-ED63-07FB535EECB3}"/>
              </a:ext>
            </a:extLst>
          </p:cNvPr>
          <p:cNvSpPr txBox="1"/>
          <p:nvPr/>
        </p:nvSpPr>
        <p:spPr>
          <a:xfrm>
            <a:off x="139613" y="1368962"/>
            <a:ext cx="8603554" cy="4801314"/>
          </a:xfrm>
          <a:prstGeom prst="rect">
            <a:avLst/>
          </a:prstGeom>
          <a:noFill/>
        </p:spPr>
        <p:txBody>
          <a:bodyPr wrap="square">
            <a:spAutoFit/>
          </a:bodyPr>
          <a:lstStyle/>
          <a:p>
            <a:pPr marL="285750" indent="-285750">
              <a:buFont typeface="Arial" panose="020B0604020202020204" pitchFamily="34" charset="0"/>
              <a:buChar char="•"/>
            </a:pPr>
            <a:r>
              <a:rPr lang="en-US" b="1" dirty="0"/>
              <a:t>Model selection approach:</a:t>
            </a:r>
            <a:endParaRPr lang="en-US" dirty="0"/>
          </a:p>
          <a:p>
            <a:pPr marL="742950" lvl="1" indent="-285750">
              <a:buFont typeface="Arial" panose="020B0604020202020204" pitchFamily="34" charset="0"/>
              <a:buChar char="•"/>
            </a:pPr>
            <a:r>
              <a:rPr lang="en-US" dirty="0"/>
              <a:t>Compared OLS, Ridge, Random Forest, HGB, and Extra Trees</a:t>
            </a:r>
          </a:p>
          <a:p>
            <a:pPr marL="742950" lvl="1" indent="-285750">
              <a:buFont typeface="Arial" panose="020B0604020202020204" pitchFamily="34" charset="0"/>
              <a:buChar char="•"/>
            </a:pPr>
            <a:r>
              <a:rPr lang="en-US" dirty="0"/>
              <a:t>Selected </a:t>
            </a:r>
            <a:r>
              <a:rPr lang="en-US" b="1" dirty="0"/>
              <a:t>Extra Trees</a:t>
            </a:r>
            <a:r>
              <a:rPr lang="en-US" dirty="0"/>
              <a:t> for interpretability and stability </a:t>
            </a:r>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lvl="1"/>
            <a:endParaRPr lang="en-US" b="1" dirty="0"/>
          </a:p>
          <a:p>
            <a:pPr lvl="1"/>
            <a:endParaRPr lang="en-US" b="1" dirty="0"/>
          </a:p>
          <a:p>
            <a:pPr lvl="1"/>
            <a:endParaRPr lang="en-US" b="1" dirty="0"/>
          </a:p>
          <a:p>
            <a:pPr lvl="1"/>
            <a:endParaRPr lang="en-US" b="1" dirty="0"/>
          </a:p>
          <a:p>
            <a:pPr lvl="1"/>
            <a:endParaRPr lang="en-US" b="1" dirty="0"/>
          </a:p>
          <a:p>
            <a:endParaRPr lang="en-US" b="1" dirty="0"/>
          </a:p>
          <a:p>
            <a:pPr marL="285750" indent="-285750">
              <a:buFont typeface="Arial" panose="020B0604020202020204" pitchFamily="34" charset="0"/>
              <a:buChar char="•"/>
            </a:pPr>
            <a:r>
              <a:rPr lang="en-US" b="1" dirty="0"/>
              <a:t>Selected: </a:t>
            </a:r>
            <a:r>
              <a:rPr lang="en-US" dirty="0"/>
              <a:t>Extra Trees</a:t>
            </a:r>
          </a:p>
          <a:p>
            <a:endParaRPr lang="en-US" dirty="0"/>
          </a:p>
          <a:p>
            <a:pPr marL="285750" indent="-285750">
              <a:buFont typeface="Arial" panose="020B0604020202020204" pitchFamily="34" charset="0"/>
              <a:buChar char="•"/>
            </a:pPr>
            <a:r>
              <a:rPr lang="en-US" b="1" dirty="0"/>
              <a:t>Key Result:  </a:t>
            </a:r>
            <a:r>
              <a:rPr lang="en-US" dirty="0"/>
              <a:t>Test R² ≈ 0.23</a:t>
            </a:r>
          </a:p>
        </p:txBody>
      </p:sp>
      <p:pic>
        <p:nvPicPr>
          <p:cNvPr id="2" name="Picture 1">
            <a:extLst>
              <a:ext uri="{FF2B5EF4-FFF2-40B4-BE49-F238E27FC236}">
                <a16:creationId xmlns:a16="http://schemas.microsoft.com/office/drawing/2014/main" id="{6EB52DF2-EA38-43F1-211A-5C2C6307FD58}"/>
              </a:ext>
            </a:extLst>
          </p:cNvPr>
          <p:cNvPicPr>
            <a:picLocks noChangeAspect="1"/>
          </p:cNvPicPr>
          <p:nvPr/>
        </p:nvPicPr>
        <p:blipFill>
          <a:blip r:embed="rId3">
            <a:extLst>
              <a:ext uri="{28A0092B-C50C-407E-A947-70E740481C1C}">
                <a14:useLocalDpi xmlns:a14="http://schemas.microsoft.com/office/drawing/2010/main" val="0"/>
              </a:ext>
            </a:extLst>
          </a:blip>
          <a:srcRect t="8824"/>
          <a:stretch>
            <a:fillRect/>
          </a:stretch>
        </p:blipFill>
        <p:spPr>
          <a:xfrm>
            <a:off x="741252" y="2588519"/>
            <a:ext cx="5354748" cy="2362200"/>
          </a:xfrm>
          <a:prstGeom prst="rect">
            <a:avLst/>
          </a:prstGeom>
        </p:spPr>
      </p:pic>
    </p:spTree>
    <p:extLst>
      <p:ext uri="{BB962C8B-B14F-4D97-AF65-F5344CB8AC3E}">
        <p14:creationId xmlns:p14="http://schemas.microsoft.com/office/powerpoint/2010/main" val="4261835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63F91-10B1-8FD8-8D23-A624D7AAB1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911A7F-04CC-CF59-0C7D-646AE714B4DD}"/>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B38BEA08-D38A-6D1A-E0E3-767A67E01454}"/>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SHAP Analysis</a:t>
            </a:r>
          </a:p>
        </p:txBody>
      </p:sp>
      <p:sp>
        <p:nvSpPr>
          <p:cNvPr id="11" name="TextBox 10">
            <a:extLst>
              <a:ext uri="{FF2B5EF4-FFF2-40B4-BE49-F238E27FC236}">
                <a16:creationId xmlns:a16="http://schemas.microsoft.com/office/drawing/2014/main" id="{21E6B10A-5B31-3B5F-A809-FE0960DB5449}"/>
              </a:ext>
            </a:extLst>
          </p:cNvPr>
          <p:cNvSpPr txBox="1"/>
          <p:nvPr/>
        </p:nvSpPr>
        <p:spPr>
          <a:xfrm>
            <a:off x="139613" y="1368962"/>
            <a:ext cx="9560053" cy="4924425"/>
          </a:xfrm>
          <a:prstGeom prst="rect">
            <a:avLst/>
          </a:prstGeom>
          <a:noFill/>
        </p:spPr>
        <p:txBody>
          <a:bodyPr wrap="square">
            <a:spAutoFit/>
          </a:bodyPr>
          <a:lstStyle/>
          <a:p>
            <a:r>
              <a:rPr lang="en-US" sz="1600" b="1" dirty="0"/>
              <a:t>Why SHAP?</a:t>
            </a:r>
          </a:p>
          <a:p>
            <a:pPr marL="285750" indent="-285750">
              <a:buFont typeface="Arial" panose="020B0604020202020204" pitchFamily="34" charset="0"/>
              <a:buChar char="•"/>
            </a:pPr>
            <a:r>
              <a:rPr lang="en-US" sz="1600" dirty="0"/>
              <a:t>Models don’t explain </a:t>
            </a:r>
            <a:r>
              <a:rPr lang="en-US" sz="1600" i="1" dirty="0"/>
              <a:t>why</a:t>
            </a:r>
            <a:r>
              <a:rPr lang="en-US" sz="1600" dirty="0"/>
              <a:t> predictions are made </a:t>
            </a:r>
          </a:p>
          <a:p>
            <a:pPr marL="285750" indent="-285750">
              <a:buFont typeface="Arial" panose="020B0604020202020204" pitchFamily="34" charset="0"/>
              <a:buChar char="•"/>
            </a:pPr>
            <a:r>
              <a:rPr lang="en-US" sz="1600" dirty="0"/>
              <a:t>SHAP reveals feature-level contributions </a:t>
            </a:r>
          </a:p>
          <a:p>
            <a:pPr marL="285750" indent="-285750">
              <a:buFont typeface="Arial" panose="020B0604020202020204" pitchFamily="34" charset="0"/>
              <a:buChar char="•"/>
            </a:pPr>
            <a:r>
              <a:rPr lang="en-US" sz="1600" dirty="0"/>
              <a:t>Helps diagnose what the model is actually learning </a:t>
            </a:r>
          </a:p>
          <a:p>
            <a:br>
              <a:rPr lang="en-US" sz="1600" dirty="0"/>
            </a:br>
            <a:endParaRPr lang="en-US" sz="1600" dirty="0"/>
          </a:p>
          <a:p>
            <a:r>
              <a:rPr lang="en-US" sz="1600" b="1" dirty="0"/>
              <a:t>What SHAP Does</a:t>
            </a:r>
          </a:p>
          <a:p>
            <a:r>
              <a:rPr lang="en-US" sz="1600" dirty="0"/>
              <a:t>Breaks each prediction into </a:t>
            </a:r>
            <a:r>
              <a:rPr lang="en-US" sz="1600" b="1" dirty="0"/>
              <a:t>feature contributions</a:t>
            </a:r>
            <a:r>
              <a:rPr lang="en-US" sz="1600" dirty="0"/>
              <a:t> to show: </a:t>
            </a:r>
          </a:p>
          <a:p>
            <a:pPr marL="742950" lvl="1" indent="-285750">
              <a:buFont typeface="Arial" panose="020B0604020202020204" pitchFamily="34" charset="0"/>
              <a:buChar char="•"/>
            </a:pPr>
            <a:r>
              <a:rPr lang="en-US" sz="1600" dirty="0"/>
              <a:t>Which variables matter most </a:t>
            </a:r>
          </a:p>
          <a:p>
            <a:pPr marL="742950" lvl="1" indent="-285750">
              <a:buFont typeface="Arial" panose="020B0604020202020204" pitchFamily="34" charset="0"/>
              <a:buChar char="•"/>
            </a:pPr>
            <a:r>
              <a:rPr lang="en-US" sz="1600" dirty="0"/>
              <a:t>Direction of impact (increase vs decrease) </a:t>
            </a:r>
          </a:p>
          <a:p>
            <a:pPr marL="742950" lvl="1" indent="-285750">
              <a:buFont typeface="Arial" panose="020B0604020202020204" pitchFamily="34" charset="0"/>
              <a:buChar char="•"/>
            </a:pPr>
            <a:r>
              <a:rPr lang="en-US" sz="1600" dirty="0"/>
              <a:t>Consistency across municipalities </a:t>
            </a:r>
          </a:p>
          <a:p>
            <a:br>
              <a:rPr lang="en-US" sz="1600" dirty="0"/>
            </a:br>
            <a:endParaRPr lang="en-US" sz="1600" dirty="0"/>
          </a:p>
          <a:p>
            <a:r>
              <a:rPr lang="en-US" sz="1600" b="1" dirty="0"/>
              <a:t>What the Model is Learning (Extra Trees)</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Past population change remains a strong driver </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Regional structure matters, especially South and East </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Earthquake and hurricane exposure contribute to predicted decline </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Economic activity helps explain resilience differences </a:t>
            </a:r>
          </a:p>
          <a:p>
            <a:pPr marL="285750" lvl="0" indent="-28575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rPr>
              <a:t>SVI matters, but mainly through interaction with hazard exposure</a:t>
            </a:r>
          </a:p>
        </p:txBody>
      </p:sp>
      <p:pic>
        <p:nvPicPr>
          <p:cNvPr id="7" name="Picture 6">
            <a:extLst>
              <a:ext uri="{FF2B5EF4-FFF2-40B4-BE49-F238E27FC236}">
                <a16:creationId xmlns:a16="http://schemas.microsoft.com/office/drawing/2014/main" id="{1A14832B-2233-18AA-1FCD-52373EA7A3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52025" y="1005424"/>
            <a:ext cx="7213600" cy="5651500"/>
          </a:xfrm>
          <a:prstGeom prst="rect">
            <a:avLst/>
          </a:prstGeom>
        </p:spPr>
      </p:pic>
      <p:pic>
        <p:nvPicPr>
          <p:cNvPr id="9" name="Picture 8">
            <a:extLst>
              <a:ext uri="{FF2B5EF4-FFF2-40B4-BE49-F238E27FC236}">
                <a16:creationId xmlns:a16="http://schemas.microsoft.com/office/drawing/2014/main" id="{17DE12DD-53ED-F2B3-D547-41083C59B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2348" y="1433809"/>
            <a:ext cx="5259321" cy="4184836"/>
          </a:xfrm>
          <a:prstGeom prst="rect">
            <a:avLst/>
          </a:prstGeom>
        </p:spPr>
      </p:pic>
      <p:pic>
        <p:nvPicPr>
          <p:cNvPr id="3" name="Picture 2">
            <a:extLst>
              <a:ext uri="{FF2B5EF4-FFF2-40B4-BE49-F238E27FC236}">
                <a16:creationId xmlns:a16="http://schemas.microsoft.com/office/drawing/2014/main" id="{B4FEE57B-D290-3316-4108-E243EE354A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70666" y="1368962"/>
            <a:ext cx="5259321" cy="3192266"/>
          </a:xfrm>
          <a:prstGeom prst="rect">
            <a:avLst/>
          </a:prstGeom>
        </p:spPr>
      </p:pic>
    </p:spTree>
    <p:extLst>
      <p:ext uri="{BB962C8B-B14F-4D97-AF65-F5344CB8AC3E}">
        <p14:creationId xmlns:p14="http://schemas.microsoft.com/office/powerpoint/2010/main" val="236380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8286B-27FC-B142-24DF-3360A23C1D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A85A02-485F-6DB0-7576-9AB1804B11B7}"/>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A41ABC40-ED9C-119F-A258-0124DEB857C6}"/>
              </a:ext>
            </a:extLst>
          </p:cNvPr>
          <p:cNvSpPr txBox="1">
            <a:spLocks/>
          </p:cNvSpPr>
          <p:nvPr/>
        </p:nvSpPr>
        <p:spPr>
          <a:xfrm>
            <a:off x="0" y="361539"/>
            <a:ext cx="7199289"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Lead–Lag Analysis: </a:t>
            </a:r>
          </a:p>
          <a:p>
            <a:pPr lvl="0"/>
            <a:r>
              <a:rPr lang="en-US" sz="3200" b="1" dirty="0">
                <a:solidFill>
                  <a:schemeClr val="bg1"/>
                </a:solidFill>
              </a:rPr>
              <a:t>When Do Drivers Matter</a:t>
            </a:r>
          </a:p>
        </p:txBody>
      </p:sp>
      <p:sp>
        <p:nvSpPr>
          <p:cNvPr id="11" name="TextBox 10">
            <a:extLst>
              <a:ext uri="{FF2B5EF4-FFF2-40B4-BE49-F238E27FC236}">
                <a16:creationId xmlns:a16="http://schemas.microsoft.com/office/drawing/2014/main" id="{41355400-6FEF-AD30-128B-DC3422E8C2B4}"/>
              </a:ext>
            </a:extLst>
          </p:cNvPr>
          <p:cNvSpPr txBox="1"/>
          <p:nvPr/>
        </p:nvSpPr>
        <p:spPr>
          <a:xfrm>
            <a:off x="139613" y="1368962"/>
            <a:ext cx="6706030" cy="4524315"/>
          </a:xfrm>
          <a:prstGeom prst="rect">
            <a:avLst/>
          </a:prstGeom>
          <a:noFill/>
        </p:spPr>
        <p:txBody>
          <a:bodyPr wrap="square">
            <a:spAutoFit/>
          </a:bodyPr>
          <a:lstStyle/>
          <a:p>
            <a:r>
              <a:rPr lang="en-US" sz="1600" b="1" dirty="0"/>
              <a:t>Key Findings:</a:t>
            </a:r>
          </a:p>
          <a:p>
            <a:pPr marL="342900" indent="-342900">
              <a:buFont typeface="Arial" panose="020B0604020202020204" pitchFamily="34" charset="0"/>
              <a:buChar char="•"/>
            </a:pPr>
            <a:r>
              <a:rPr lang="en-US" sz="1600" dirty="0"/>
              <a:t>Hurricanes (wind exposure) have the strongest impact at lag 1 </a:t>
            </a:r>
          </a:p>
          <a:p>
            <a:pPr marL="342900" indent="-342900">
              <a:buFont typeface="Arial" panose="020B0604020202020204" pitchFamily="34" charset="0"/>
              <a:buChar char="•"/>
            </a:pPr>
            <a:r>
              <a:rPr lang="en-US" sz="1600" dirty="0"/>
              <a:t>Earthquake effects are both immediate and short-term persistent </a:t>
            </a:r>
          </a:p>
          <a:p>
            <a:pPr marL="342900" indent="-342900">
              <a:buFont typeface="Arial" panose="020B0604020202020204" pitchFamily="34" charset="0"/>
              <a:buChar char="•"/>
            </a:pPr>
            <a:r>
              <a:rPr lang="en-US" sz="1600" dirty="0"/>
              <a:t>Vulnerability (SVI) influences population change consistently over time </a:t>
            </a:r>
          </a:p>
          <a:p>
            <a:pPr marL="342900" indent="-342900">
              <a:buFont typeface="Arial" panose="020B0604020202020204" pitchFamily="34" charset="0"/>
              <a:buChar char="•"/>
            </a:pPr>
            <a:r>
              <a:rPr lang="en-US" sz="1600" dirty="0"/>
              <a:t>Economic variables contribute modest but stable effects </a:t>
            </a:r>
          </a:p>
          <a:p>
            <a:br>
              <a:rPr lang="en-US" sz="1600" dirty="0"/>
            </a:br>
            <a:endParaRPr lang="en-US" sz="1600" dirty="0"/>
          </a:p>
          <a:p>
            <a:endParaRPr lang="en-US" sz="1600" dirty="0"/>
          </a:p>
          <a:p>
            <a:r>
              <a:rPr lang="en-US" sz="1600" b="1" dirty="0"/>
              <a:t>Interpretation:</a:t>
            </a:r>
          </a:p>
          <a:p>
            <a:pPr marL="342900" indent="-342900">
              <a:buFont typeface="Arial" panose="020B0604020202020204" pitchFamily="34" charset="0"/>
              <a:buChar char="•"/>
            </a:pPr>
            <a:r>
              <a:rPr lang="en-US" sz="1600" dirty="0"/>
              <a:t>Population responses to disasters are delayed, not immediate </a:t>
            </a:r>
          </a:p>
          <a:p>
            <a:pPr marL="342900" indent="-342900">
              <a:buFont typeface="Arial" panose="020B0604020202020204" pitchFamily="34" charset="0"/>
              <a:buChar char="•"/>
            </a:pPr>
            <a:r>
              <a:rPr lang="en-US" sz="1600" dirty="0"/>
              <a:t>Migration and recovery processes likely drive lagged effects </a:t>
            </a:r>
          </a:p>
          <a:p>
            <a:pPr marL="342900" indent="-342900">
              <a:buFont typeface="Arial" panose="020B0604020202020204" pitchFamily="34" charset="0"/>
              <a:buChar char="•"/>
            </a:pPr>
            <a:r>
              <a:rPr lang="en-US" sz="1600" dirty="0"/>
              <a:t>Structural factors shape baseline vulnerability across time </a:t>
            </a:r>
          </a:p>
          <a:p>
            <a:br>
              <a:rPr lang="en-US" sz="1600" dirty="0"/>
            </a:br>
            <a:endParaRPr lang="en-US" sz="1600" dirty="0"/>
          </a:p>
          <a:p>
            <a:endParaRPr lang="en-US" sz="1600" dirty="0"/>
          </a:p>
          <a:p>
            <a:r>
              <a:rPr lang="en-US" sz="1600" b="1" dirty="0"/>
              <a:t>Key Insight: </a:t>
            </a:r>
            <a:r>
              <a:rPr lang="en-US" sz="1600" dirty="0"/>
              <a:t>Timing matters — not just magnitude</a:t>
            </a:r>
            <a:br>
              <a:rPr lang="en-US" sz="1600" dirty="0"/>
            </a:br>
            <a:r>
              <a:rPr lang="en-US" sz="1600" dirty="0"/>
              <a:t>Population change is driven by </a:t>
            </a:r>
            <a:r>
              <a:rPr lang="en-US" sz="1600" b="1" dirty="0"/>
              <a:t>delayed responses to shocks and persistent structural conditions</a:t>
            </a:r>
            <a:endParaRPr lang="en-US" sz="1600" dirty="0"/>
          </a:p>
        </p:txBody>
      </p:sp>
      <p:pic>
        <p:nvPicPr>
          <p:cNvPr id="3" name="Picture 2">
            <a:extLst>
              <a:ext uri="{FF2B5EF4-FFF2-40B4-BE49-F238E27FC236}">
                <a16:creationId xmlns:a16="http://schemas.microsoft.com/office/drawing/2014/main" id="{C1FD42D7-76D3-259B-08F9-14DCC8C56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7304" y="2444000"/>
            <a:ext cx="5415083" cy="3757094"/>
          </a:xfrm>
          <a:prstGeom prst="rect">
            <a:avLst/>
          </a:prstGeom>
        </p:spPr>
      </p:pic>
    </p:spTree>
    <p:extLst>
      <p:ext uri="{BB962C8B-B14F-4D97-AF65-F5344CB8AC3E}">
        <p14:creationId xmlns:p14="http://schemas.microsoft.com/office/powerpoint/2010/main" val="3456856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2ACF3-8AD5-5B55-CC0F-B560A9E972E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8C4B2DE-21C6-40E1-5826-14B7605F579B}"/>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2D30331D-2D8A-23B1-45BA-E48486797D1C}"/>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600" b="1" dirty="0">
                <a:solidFill>
                  <a:schemeClr val="bg1"/>
                </a:solidFill>
              </a:rPr>
              <a:t>What the Model is Learning?</a:t>
            </a:r>
          </a:p>
        </p:txBody>
      </p:sp>
      <p:sp>
        <p:nvSpPr>
          <p:cNvPr id="11" name="TextBox 10">
            <a:extLst>
              <a:ext uri="{FF2B5EF4-FFF2-40B4-BE49-F238E27FC236}">
                <a16:creationId xmlns:a16="http://schemas.microsoft.com/office/drawing/2014/main" id="{19C36B04-5B3F-72DC-833A-DC190E5AD9A4}"/>
              </a:ext>
            </a:extLst>
          </p:cNvPr>
          <p:cNvSpPr txBox="1"/>
          <p:nvPr/>
        </p:nvSpPr>
        <p:spPr>
          <a:xfrm>
            <a:off x="139613" y="1368962"/>
            <a:ext cx="9560053" cy="4801314"/>
          </a:xfrm>
          <a:prstGeom prst="rect">
            <a:avLst/>
          </a:prstGeom>
          <a:noFill/>
        </p:spPr>
        <p:txBody>
          <a:bodyPr wrap="square">
            <a:spAutoFit/>
          </a:bodyPr>
          <a:lstStyle/>
          <a:p>
            <a:r>
              <a:rPr lang="en-US" b="1" dirty="0"/>
              <a:t>Short-Run Target (Annual Change)</a:t>
            </a:r>
          </a:p>
          <a:p>
            <a:pPr marL="285750" indent="-285750">
              <a:buFont typeface="Arial" panose="020B0604020202020204" pitchFamily="34" charset="0"/>
              <a:buChar char="•"/>
            </a:pPr>
            <a:r>
              <a:rPr lang="en-US" dirty="0"/>
              <a:t>Dominated by past population change (momentum) </a:t>
            </a:r>
          </a:p>
          <a:p>
            <a:pPr marL="285750" indent="-285750">
              <a:buFont typeface="Arial" panose="020B0604020202020204" pitchFamily="34" charset="0"/>
              <a:buChar char="•"/>
            </a:pPr>
            <a:r>
              <a:rPr lang="en-US" dirty="0"/>
              <a:t>Predictions rely heavily on autoregressive dynamics </a:t>
            </a:r>
          </a:p>
          <a:p>
            <a:pPr marL="285750" indent="-285750">
              <a:buFont typeface="Arial" panose="020B0604020202020204" pitchFamily="34" charset="0"/>
              <a:buChar char="•"/>
            </a:pPr>
            <a:r>
              <a:rPr lang="en-US" dirty="0"/>
              <a:t>Structural and disaster variables have limited short-term signal </a:t>
            </a:r>
          </a:p>
          <a:p>
            <a:pPr marL="285750" indent="-285750">
              <a:buFont typeface="Arial" panose="020B0604020202020204" pitchFamily="34" charset="0"/>
              <a:buChar char="•"/>
            </a:pPr>
            <a:r>
              <a:rPr lang="en-US" dirty="0"/>
              <a:t>Result: Short-run population change is high-noise and difficult to predict</a:t>
            </a:r>
          </a:p>
          <a:p>
            <a:br>
              <a:rPr lang="en-US" dirty="0"/>
            </a:br>
            <a:endParaRPr lang="en-US" dirty="0"/>
          </a:p>
          <a:p>
            <a:r>
              <a:rPr lang="en-US" b="1" dirty="0"/>
              <a:t>3-Year Target (Smoothed Change)</a:t>
            </a:r>
          </a:p>
          <a:p>
            <a:r>
              <a:rPr lang="en-US" dirty="0"/>
              <a:t>Captures broader structural drivers:</a:t>
            </a:r>
          </a:p>
          <a:p>
            <a:pPr marL="742950" lvl="1" indent="-285750">
              <a:buFont typeface="Arial" panose="020B0604020202020204" pitchFamily="34" charset="0"/>
              <a:buChar char="•"/>
            </a:pPr>
            <a:r>
              <a:rPr lang="en-US" b="1" dirty="0"/>
              <a:t>Regional differences</a:t>
            </a:r>
            <a:r>
              <a:rPr lang="en-US" dirty="0"/>
              <a:t> (South, East) </a:t>
            </a:r>
          </a:p>
          <a:p>
            <a:pPr marL="742950" lvl="1" indent="-285750">
              <a:buFont typeface="Arial" panose="020B0604020202020204" pitchFamily="34" charset="0"/>
              <a:buChar char="•"/>
            </a:pPr>
            <a:r>
              <a:rPr lang="en-US" b="1" dirty="0"/>
              <a:t>Disaster exposure</a:t>
            </a:r>
            <a:r>
              <a:rPr lang="en-US" dirty="0"/>
              <a:t> (earthquakes, hurricanes) </a:t>
            </a:r>
          </a:p>
          <a:p>
            <a:pPr marL="742950" lvl="1" indent="-285750">
              <a:buFont typeface="Arial" panose="020B0604020202020204" pitchFamily="34" charset="0"/>
              <a:buChar char="•"/>
            </a:pPr>
            <a:r>
              <a:rPr lang="en-US" b="1" dirty="0"/>
              <a:t>Economic activity</a:t>
            </a:r>
            <a:r>
              <a:rPr lang="en-US" dirty="0"/>
              <a:t> (establishments, income) </a:t>
            </a:r>
          </a:p>
          <a:p>
            <a:pPr marL="742950" lvl="1" indent="-285750">
              <a:buFont typeface="Arial" panose="020B0604020202020204" pitchFamily="34" charset="0"/>
              <a:buChar char="•"/>
            </a:pPr>
            <a:r>
              <a:rPr lang="en-US" b="1" dirty="0"/>
              <a:t>Vulnerability (SVI)</a:t>
            </a:r>
            <a:r>
              <a:rPr lang="en-US" dirty="0"/>
              <a:t> — especially through interaction with hazards </a:t>
            </a:r>
          </a:p>
          <a:p>
            <a:pPr marL="742950" lvl="1" indent="-285750">
              <a:buFont typeface="Arial" panose="020B0604020202020204" pitchFamily="34" charset="0"/>
              <a:buChar char="•"/>
            </a:pPr>
            <a:r>
              <a:rPr lang="en-US" b="1" dirty="0"/>
              <a:t>Result: </a:t>
            </a:r>
            <a:r>
              <a:rPr lang="en-US" dirty="0"/>
              <a:t>Model reflects </a:t>
            </a:r>
            <a:r>
              <a:rPr lang="en-US" b="1" dirty="0"/>
              <a:t>underlying structural and environmental conditions</a:t>
            </a:r>
            <a:endParaRPr lang="en-US" dirty="0"/>
          </a:p>
          <a:p>
            <a:endParaRPr lang="en-US" dirty="0"/>
          </a:p>
          <a:p>
            <a:r>
              <a:rPr lang="en-US" b="1" dirty="0"/>
              <a:t>Key Insight: </a:t>
            </a:r>
            <a:r>
              <a:rPr lang="en-US" dirty="0"/>
              <a:t>Population change is driven by momentum in the short run, but by structural and disaster-related factors over longer horizons</a:t>
            </a:r>
          </a:p>
        </p:txBody>
      </p:sp>
    </p:spTree>
    <p:extLst>
      <p:ext uri="{BB962C8B-B14F-4D97-AF65-F5344CB8AC3E}">
        <p14:creationId xmlns:p14="http://schemas.microsoft.com/office/powerpoint/2010/main" val="2829419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18DEC-A29D-0EF7-39B7-5D840E6E8D5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96B6C1F-CF7E-21EA-E139-BD9C08871792}"/>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9E468F0-34DE-8849-4B81-553DC807551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Key Learning</a:t>
            </a:r>
          </a:p>
        </p:txBody>
      </p:sp>
      <p:sp>
        <p:nvSpPr>
          <p:cNvPr id="11" name="TextBox 10">
            <a:extLst>
              <a:ext uri="{FF2B5EF4-FFF2-40B4-BE49-F238E27FC236}">
                <a16:creationId xmlns:a16="http://schemas.microsoft.com/office/drawing/2014/main" id="{BCDD44F8-ED1E-744F-388B-CF81663B7177}"/>
              </a:ext>
            </a:extLst>
          </p:cNvPr>
          <p:cNvSpPr txBox="1"/>
          <p:nvPr/>
        </p:nvSpPr>
        <p:spPr>
          <a:xfrm>
            <a:off x="139613" y="1368962"/>
            <a:ext cx="11805460" cy="5078313"/>
          </a:xfrm>
          <a:prstGeom prst="rect">
            <a:avLst/>
          </a:prstGeom>
          <a:noFill/>
        </p:spPr>
        <p:txBody>
          <a:bodyPr wrap="square">
            <a:spAutoFit/>
          </a:bodyPr>
          <a:lstStyle/>
          <a:p>
            <a:r>
              <a:rPr lang="en-US" b="1" dirty="0"/>
              <a:t>What I learned</a:t>
            </a:r>
          </a:p>
          <a:p>
            <a:pPr marL="285750" indent="-285750">
              <a:buFont typeface="Arial" panose="020B0604020202020204" pitchFamily="34" charset="0"/>
              <a:buChar char="•"/>
            </a:pPr>
            <a:r>
              <a:rPr lang="en-US" dirty="0"/>
              <a:t>Short-run population change is highly volatile and difficult to predict </a:t>
            </a:r>
          </a:p>
          <a:p>
            <a:pPr marL="285750" indent="-285750">
              <a:buFont typeface="Arial" panose="020B0604020202020204" pitchFamily="34" charset="0"/>
              <a:buChar char="•"/>
            </a:pPr>
            <a:r>
              <a:rPr lang="en-US" dirty="0"/>
              <a:t>Models rely heavily on momentum (past population trends) in the short run </a:t>
            </a:r>
          </a:p>
          <a:p>
            <a:pPr marL="285750" indent="-285750">
              <a:buFont typeface="Arial" panose="020B0604020202020204" pitchFamily="34" charset="0"/>
              <a:buChar char="•"/>
            </a:pPr>
            <a:r>
              <a:rPr lang="en-US" dirty="0"/>
              <a:t>Structural patterns only emerge when the target is smoothed over time </a:t>
            </a:r>
          </a:p>
          <a:p>
            <a:pPr marL="285750" indent="-285750">
              <a:buFont typeface="Arial" panose="020B0604020202020204" pitchFamily="34" charset="0"/>
              <a:buChar char="•"/>
            </a:pPr>
            <a:r>
              <a:rPr lang="en-US" dirty="0"/>
              <a:t>Disaster and vulnerability effects become visible at longer horizons </a:t>
            </a:r>
          </a:p>
          <a:p>
            <a:br>
              <a:rPr lang="en-US" dirty="0"/>
            </a:br>
            <a:endParaRPr lang="en-US" dirty="0"/>
          </a:p>
          <a:p>
            <a:r>
              <a:rPr lang="en-US" b="1" dirty="0"/>
              <a:t>Implication</a:t>
            </a:r>
          </a:p>
          <a:p>
            <a:r>
              <a:rPr lang="en-US" dirty="0"/>
              <a:t>Long-term modeling captures </a:t>
            </a:r>
            <a:r>
              <a:rPr lang="en-US" b="1" dirty="0"/>
              <a:t>meaningful structural drivers</a:t>
            </a:r>
            <a:r>
              <a:rPr lang="en-US" dirty="0"/>
              <a:t> </a:t>
            </a:r>
          </a:p>
          <a:p>
            <a:r>
              <a:rPr lang="en-US" dirty="0"/>
              <a:t>Population change is shaped by: </a:t>
            </a:r>
          </a:p>
          <a:p>
            <a:pPr marL="742950" lvl="1" indent="-285750">
              <a:buFont typeface="Arial" panose="020B0604020202020204" pitchFamily="34" charset="0"/>
              <a:buChar char="•"/>
            </a:pPr>
            <a:r>
              <a:rPr lang="en-US" dirty="0"/>
              <a:t>Regional differences </a:t>
            </a:r>
          </a:p>
          <a:p>
            <a:pPr marL="742950" lvl="1" indent="-285750">
              <a:buFont typeface="Arial" panose="020B0604020202020204" pitchFamily="34" charset="0"/>
              <a:buChar char="•"/>
            </a:pPr>
            <a:r>
              <a:rPr lang="en-US" dirty="0"/>
              <a:t>Disaster exposure </a:t>
            </a:r>
          </a:p>
          <a:p>
            <a:pPr marL="742950" lvl="1" indent="-285750">
              <a:buFont typeface="Arial" panose="020B0604020202020204" pitchFamily="34" charset="0"/>
              <a:buChar char="•"/>
            </a:pPr>
            <a:r>
              <a:rPr lang="en-US" dirty="0"/>
              <a:t>Economic resilience </a:t>
            </a:r>
          </a:p>
          <a:p>
            <a:pPr marL="742950" lvl="1" indent="-285750">
              <a:buFont typeface="Arial" panose="020B0604020202020204" pitchFamily="34" charset="0"/>
              <a:buChar char="•"/>
            </a:pPr>
            <a:r>
              <a:rPr lang="en-US" dirty="0"/>
              <a:t>Vulnerability interactions </a:t>
            </a:r>
          </a:p>
          <a:p>
            <a:br>
              <a:rPr lang="en-US" dirty="0"/>
            </a:br>
            <a:endParaRPr lang="en-US" dirty="0"/>
          </a:p>
          <a:p>
            <a:r>
              <a:rPr lang="en-US" b="1" dirty="0"/>
              <a:t>Key Takeaway: </a:t>
            </a:r>
            <a:r>
              <a:rPr lang="en-US" dirty="0"/>
              <a:t>Population dynamics are easier to explain than to predict — but structural drivers can still guide long-term decision-making</a:t>
            </a:r>
          </a:p>
        </p:txBody>
      </p:sp>
    </p:spTree>
    <p:extLst>
      <p:ext uri="{BB962C8B-B14F-4D97-AF65-F5344CB8AC3E}">
        <p14:creationId xmlns:p14="http://schemas.microsoft.com/office/powerpoint/2010/main" val="2050642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CB461-06C7-B3FE-2FD3-A6EAA2C2C6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AFF467-EA34-A1E1-7D27-49257098751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C9245BE-7F46-5541-F240-56BA0A3CBFE3}"/>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Structural Patterns </a:t>
            </a:r>
          </a:p>
          <a:p>
            <a:pPr lvl="0"/>
            <a:r>
              <a:rPr lang="en-US" sz="3200" b="1" dirty="0">
                <a:solidFill>
                  <a:schemeClr val="bg1"/>
                </a:solidFill>
              </a:rPr>
              <a:t>(Beyond Prediction)</a:t>
            </a:r>
          </a:p>
        </p:txBody>
      </p:sp>
      <p:sp>
        <p:nvSpPr>
          <p:cNvPr id="11" name="TextBox 10">
            <a:extLst>
              <a:ext uri="{FF2B5EF4-FFF2-40B4-BE49-F238E27FC236}">
                <a16:creationId xmlns:a16="http://schemas.microsoft.com/office/drawing/2014/main" id="{5F60B027-7280-1B08-F112-1AB1AFF3FADD}"/>
              </a:ext>
            </a:extLst>
          </p:cNvPr>
          <p:cNvSpPr txBox="1"/>
          <p:nvPr/>
        </p:nvSpPr>
        <p:spPr>
          <a:xfrm>
            <a:off x="139613" y="1368962"/>
            <a:ext cx="9560053" cy="4708981"/>
          </a:xfrm>
          <a:prstGeom prst="rect">
            <a:avLst/>
          </a:prstGeom>
          <a:noFill/>
        </p:spPr>
        <p:txBody>
          <a:bodyPr wrap="square">
            <a:spAutoFit/>
          </a:bodyPr>
          <a:lstStyle/>
          <a:p>
            <a:r>
              <a:rPr lang="en-US" sz="2000" b="1" dirty="0"/>
              <a:t>What emerges</a:t>
            </a:r>
          </a:p>
          <a:p>
            <a:pPr marL="285750" indent="-285750">
              <a:buFont typeface="Arial" panose="020B0604020202020204" pitchFamily="34" charset="0"/>
              <a:buChar char="•"/>
            </a:pPr>
            <a:r>
              <a:rPr lang="en-US" sz="2000" dirty="0"/>
              <a:t>Distinct municipal typologies</a:t>
            </a:r>
          </a:p>
          <a:p>
            <a:pPr marL="285750" indent="-285750">
              <a:buFont typeface="Arial" panose="020B0604020202020204" pitchFamily="34" charset="0"/>
              <a:buChar char="•"/>
            </a:pPr>
            <a:r>
              <a:rPr lang="en-US" sz="2000" dirty="0"/>
              <a:t>Clear regional clustering</a:t>
            </a:r>
            <a:br>
              <a:rPr lang="en-US" sz="2000" dirty="0"/>
            </a:br>
            <a:endParaRPr lang="en-US" sz="2000" dirty="0"/>
          </a:p>
          <a:p>
            <a:r>
              <a:rPr lang="en-US" sz="2000" b="1" dirty="0"/>
              <a:t>Key result</a:t>
            </a:r>
          </a:p>
          <a:p>
            <a:pPr marL="285750" indent="-285750">
              <a:buFont typeface="Arial" panose="020B0604020202020204" pitchFamily="34" charset="0"/>
              <a:buChar char="•"/>
            </a:pPr>
            <a:r>
              <a:rPr lang="en-US" sz="2000" dirty="0"/>
              <a:t>Patterns are stable and spatially coherent</a:t>
            </a:r>
          </a:p>
          <a:p>
            <a:pPr marL="285750" indent="-285750">
              <a:buFont typeface="Arial" panose="020B0604020202020204" pitchFamily="34" charset="0"/>
              <a:buChar char="•"/>
            </a:pPr>
            <a:r>
              <a:rPr lang="en-US" sz="2000" dirty="0"/>
              <a:t>Similar municipalities cluster together </a:t>
            </a:r>
          </a:p>
          <a:p>
            <a:pPr marL="285750" indent="-285750">
              <a:buFont typeface="Arial" panose="020B0604020202020204" pitchFamily="34" charset="0"/>
              <a:buChar char="•"/>
            </a:pPr>
            <a:r>
              <a:rPr lang="en-US" sz="2000" dirty="0"/>
              <a:t>Neighboring regions share structural characteristics </a:t>
            </a:r>
          </a:p>
          <a:p>
            <a:pPr marL="285750" indent="-285750">
              <a:buFont typeface="Arial" panose="020B0604020202020204" pitchFamily="34" charset="0"/>
              <a:buChar char="•"/>
            </a:pPr>
            <a:r>
              <a:rPr lang="en-US" sz="2000" dirty="0"/>
              <a:t>Results are consistent across specifications </a:t>
            </a:r>
          </a:p>
          <a:p>
            <a:br>
              <a:rPr lang="en-US" sz="2000" dirty="0"/>
            </a:br>
            <a:endParaRPr lang="en-US" sz="2000" dirty="0"/>
          </a:p>
          <a:p>
            <a:r>
              <a:rPr lang="en-US" sz="2000" b="1" dirty="0"/>
              <a:t>Interpretation</a:t>
            </a:r>
          </a:p>
          <a:p>
            <a:pPr marL="285750" indent="-285750">
              <a:buFont typeface="Arial" panose="020B0604020202020204" pitchFamily="34" charset="0"/>
              <a:buChar char="•"/>
            </a:pPr>
            <a:r>
              <a:rPr lang="en-US" sz="2000" dirty="0"/>
              <a:t>Population dynamics are spatially structured, not random</a:t>
            </a:r>
          </a:p>
          <a:p>
            <a:pPr marL="285750" indent="-285750">
              <a:buFont typeface="Arial" panose="020B0604020202020204" pitchFamily="34" charset="0"/>
              <a:buChar char="•"/>
            </a:pPr>
            <a:r>
              <a:rPr lang="en-US" sz="2000" dirty="0"/>
              <a:t>Decline is concentrated in specific regions </a:t>
            </a:r>
          </a:p>
          <a:p>
            <a:pPr marL="285750" indent="-285750">
              <a:buFont typeface="Arial" panose="020B0604020202020204" pitchFamily="34" charset="0"/>
              <a:buChar char="•"/>
            </a:pPr>
            <a:r>
              <a:rPr lang="en-US" sz="2000" dirty="0"/>
              <a:t>Vulnerability and economic conditions align geographically</a:t>
            </a:r>
          </a:p>
        </p:txBody>
      </p:sp>
    </p:spTree>
    <p:extLst>
      <p:ext uri="{BB962C8B-B14F-4D97-AF65-F5344CB8AC3E}">
        <p14:creationId xmlns:p14="http://schemas.microsoft.com/office/powerpoint/2010/main" val="628415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01E96-4FBA-2C53-EB6D-71A73082909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7CC9B3-CFF7-3236-0435-5AAC114F3BB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CCB344E-0505-7DC9-9B4B-918C6753D07A}"/>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
        <p:nvSpPr>
          <p:cNvPr id="11" name="TextBox 10">
            <a:extLst>
              <a:ext uri="{FF2B5EF4-FFF2-40B4-BE49-F238E27FC236}">
                <a16:creationId xmlns:a16="http://schemas.microsoft.com/office/drawing/2014/main" id="{780EBFB1-42F0-193F-093F-6D0414F8B9A6}"/>
              </a:ext>
            </a:extLst>
          </p:cNvPr>
          <p:cNvSpPr txBox="1"/>
          <p:nvPr/>
        </p:nvSpPr>
        <p:spPr>
          <a:xfrm>
            <a:off x="139613" y="1368962"/>
            <a:ext cx="12052387" cy="4247317"/>
          </a:xfrm>
          <a:prstGeom prst="rect">
            <a:avLst/>
          </a:prstGeom>
          <a:noFill/>
        </p:spPr>
        <p:txBody>
          <a:bodyPr wrap="square">
            <a:spAutoFit/>
          </a:bodyPr>
          <a:lstStyle/>
          <a:p>
            <a:r>
              <a:rPr lang="en-US" b="1" dirty="0"/>
              <a:t>Key Findings: </a:t>
            </a:r>
          </a:p>
          <a:p>
            <a:pPr marL="285750" indent="-285750">
              <a:buFont typeface="Arial" panose="020B0604020202020204" pitchFamily="34" charset="0"/>
              <a:buChar char="•"/>
            </a:pPr>
            <a:r>
              <a:rPr lang="en-US" dirty="0"/>
              <a:t>Puerto Rico shows a </a:t>
            </a:r>
            <a:r>
              <a:rPr lang="en-US" b="1" dirty="0"/>
              <a:t>persistent population decline (~0.6% per year)</a:t>
            </a:r>
            <a:r>
              <a:rPr lang="en-US" dirty="0"/>
              <a:t> </a:t>
            </a:r>
          </a:p>
          <a:p>
            <a:pPr marL="742950" lvl="1" indent="-285750">
              <a:buFont typeface="Arial" panose="020B0604020202020204" pitchFamily="34" charset="0"/>
              <a:buChar char="•"/>
            </a:pPr>
            <a:r>
              <a:rPr lang="en-US" dirty="0"/>
              <a:t>≈ </a:t>
            </a:r>
            <a:r>
              <a:rPr lang="en-US" b="1" dirty="0"/>
              <a:t>20,000 people lost annually</a:t>
            </a:r>
            <a:r>
              <a:rPr lang="en-US" dirty="0"/>
              <a:t> </a:t>
            </a:r>
          </a:p>
          <a:p>
            <a:pPr marL="285750" indent="-285750">
              <a:buFont typeface="Arial" panose="020B0604020202020204" pitchFamily="34" charset="0"/>
              <a:buChar char="•"/>
            </a:pPr>
            <a:r>
              <a:rPr lang="en-US" dirty="0"/>
              <a:t>Decline is </a:t>
            </a:r>
            <a:r>
              <a:rPr lang="en-US" b="1" dirty="0"/>
              <a:t>not uniform across the island</a:t>
            </a:r>
            <a:r>
              <a:rPr lang="en-US" dirty="0"/>
              <a:t> </a:t>
            </a:r>
          </a:p>
          <a:p>
            <a:pPr marL="742950" lvl="1" indent="-285750">
              <a:buFont typeface="Arial" panose="020B0604020202020204" pitchFamily="34" charset="0"/>
              <a:buChar char="•"/>
            </a:pPr>
            <a:r>
              <a:rPr lang="en-US" b="1" dirty="0"/>
              <a:t>Largest losses in South and West regions</a:t>
            </a:r>
            <a:r>
              <a:rPr lang="en-US" dirty="0"/>
              <a:t> </a:t>
            </a:r>
          </a:p>
          <a:p>
            <a:pPr marL="285750" indent="-285750">
              <a:buFont typeface="Arial" panose="020B0604020202020204" pitchFamily="34" charset="0"/>
              <a:buChar char="•"/>
            </a:pPr>
            <a:r>
              <a:rPr lang="en-US" dirty="0"/>
              <a:t>Regional differences are </a:t>
            </a:r>
            <a:r>
              <a:rPr lang="en-US" b="1" dirty="0"/>
              <a:t>stable over time</a:t>
            </a:r>
            <a:r>
              <a:rPr lang="en-US" dirty="0"/>
              <a:t> </a:t>
            </a:r>
          </a:p>
          <a:p>
            <a:br>
              <a:rPr lang="en-US" dirty="0"/>
            </a:br>
            <a:endParaRPr lang="en-US" dirty="0"/>
          </a:p>
          <a:p>
            <a:r>
              <a:rPr lang="en-US" b="1" dirty="0"/>
              <a:t>Model Insight</a:t>
            </a:r>
          </a:p>
          <a:p>
            <a:r>
              <a:rPr lang="en-US" dirty="0"/>
              <a:t>Population decline is </a:t>
            </a:r>
            <a:r>
              <a:rPr lang="en-US" b="1" dirty="0"/>
              <a:t>systematic and predictable</a:t>
            </a:r>
            <a:endParaRPr lang="en-US" dirty="0"/>
          </a:p>
          <a:p>
            <a:r>
              <a:rPr lang="en-US" dirty="0"/>
              <a:t>Models confirm that: </a:t>
            </a:r>
          </a:p>
          <a:p>
            <a:pPr marL="742950" lvl="1" indent="-285750">
              <a:buFont typeface="Arial" panose="020B0604020202020204" pitchFamily="34" charset="0"/>
              <a:buChar char="•"/>
            </a:pPr>
            <a:r>
              <a:rPr lang="en-US" b="1" dirty="0"/>
              <a:t>Regional location strongly influences outcomes</a:t>
            </a:r>
            <a:r>
              <a:rPr lang="en-US" dirty="0"/>
              <a:t> </a:t>
            </a:r>
          </a:p>
          <a:p>
            <a:pPr marL="742950" lvl="1" indent="-285750">
              <a:buFont typeface="Arial" panose="020B0604020202020204" pitchFamily="34" charset="0"/>
              <a:buChar char="•"/>
            </a:pPr>
            <a:r>
              <a:rPr lang="en-US" b="1" dirty="0"/>
              <a:t>Decline is spatially concentrated, not random</a:t>
            </a:r>
            <a:r>
              <a:rPr lang="en-US" dirty="0"/>
              <a:t> </a:t>
            </a:r>
            <a:br>
              <a:rPr lang="en-US" dirty="0"/>
            </a:br>
            <a:endParaRPr lang="en-US" dirty="0"/>
          </a:p>
          <a:p>
            <a:r>
              <a:rPr lang="en-US" b="1" dirty="0"/>
              <a:t>Key Insight: </a:t>
            </a:r>
            <a:r>
              <a:rPr lang="en-US" dirty="0"/>
              <a:t>Population decline in Puerto Rico is spatially structured and persistent — not random.</a:t>
            </a:r>
          </a:p>
        </p:txBody>
      </p:sp>
      <p:pic>
        <p:nvPicPr>
          <p:cNvPr id="3" name="Picture 2">
            <a:extLst>
              <a:ext uri="{FF2B5EF4-FFF2-40B4-BE49-F238E27FC236}">
                <a16:creationId xmlns:a16="http://schemas.microsoft.com/office/drawing/2014/main" id="{70D89DA9-88FD-CDC0-7AF2-B610BD1F81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7943" y="2288638"/>
            <a:ext cx="4504444" cy="3200400"/>
          </a:xfrm>
          <a:prstGeom prst="rect">
            <a:avLst/>
          </a:prstGeom>
        </p:spPr>
      </p:pic>
    </p:spTree>
    <p:extLst>
      <p:ext uri="{BB962C8B-B14F-4D97-AF65-F5344CB8AC3E}">
        <p14:creationId xmlns:p14="http://schemas.microsoft.com/office/powerpoint/2010/main" val="95035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AACEB-1722-88D8-B95E-8240E932C597}"/>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D9C240C1-8B7C-EFE6-C57D-1C984D998A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4107" y="1409974"/>
            <a:ext cx="4776590" cy="2273945"/>
          </a:xfrm>
          <a:prstGeom prst="rect">
            <a:avLst/>
          </a:prstGeom>
          <a:ln>
            <a:solidFill>
              <a:schemeClr val="tx1"/>
            </a:solidFill>
          </a:ln>
        </p:spPr>
      </p:pic>
      <p:sp>
        <p:nvSpPr>
          <p:cNvPr id="4" name="Rectangle 3">
            <a:extLst>
              <a:ext uri="{FF2B5EF4-FFF2-40B4-BE49-F238E27FC236}">
                <a16:creationId xmlns:a16="http://schemas.microsoft.com/office/drawing/2014/main" id="{5A414B29-6E64-67DF-0F80-8F8B88C89F4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4CDF8FC6-9195-2AC0-E464-BF6773D0F89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12" name="Picture 11">
            <a:extLst>
              <a:ext uri="{FF2B5EF4-FFF2-40B4-BE49-F238E27FC236}">
                <a16:creationId xmlns:a16="http://schemas.microsoft.com/office/drawing/2014/main" id="{1D3817AB-466F-049D-758C-C60F5F8C40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672" y="1409975"/>
            <a:ext cx="4751041" cy="2273946"/>
          </a:xfrm>
          <a:prstGeom prst="rect">
            <a:avLst/>
          </a:prstGeom>
          <a:ln>
            <a:solidFill>
              <a:schemeClr val="tx1"/>
            </a:solidFill>
          </a:ln>
        </p:spPr>
      </p:pic>
      <p:pic>
        <p:nvPicPr>
          <p:cNvPr id="14" name="Picture 13">
            <a:extLst>
              <a:ext uri="{FF2B5EF4-FFF2-40B4-BE49-F238E27FC236}">
                <a16:creationId xmlns:a16="http://schemas.microsoft.com/office/drawing/2014/main" id="{63231341-C314-0A6A-88BB-65A218E9F3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14107" y="3939002"/>
            <a:ext cx="4751041" cy="2273946"/>
          </a:xfrm>
          <a:prstGeom prst="rect">
            <a:avLst/>
          </a:prstGeom>
          <a:ln>
            <a:solidFill>
              <a:schemeClr val="tx1"/>
            </a:solidFill>
          </a:ln>
        </p:spPr>
      </p:pic>
      <p:pic>
        <p:nvPicPr>
          <p:cNvPr id="16" name="Picture 15">
            <a:extLst>
              <a:ext uri="{FF2B5EF4-FFF2-40B4-BE49-F238E27FC236}">
                <a16:creationId xmlns:a16="http://schemas.microsoft.com/office/drawing/2014/main" id="{60E86192-2C18-C268-6E8D-A15AAD3B2C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1671" y="3939002"/>
            <a:ext cx="4751041" cy="2273946"/>
          </a:xfrm>
          <a:prstGeom prst="rect">
            <a:avLst/>
          </a:prstGeom>
          <a:ln>
            <a:solidFill>
              <a:schemeClr val="tx1"/>
            </a:solidFill>
          </a:ln>
        </p:spPr>
      </p:pic>
    </p:spTree>
    <p:extLst>
      <p:ext uri="{BB962C8B-B14F-4D97-AF65-F5344CB8AC3E}">
        <p14:creationId xmlns:p14="http://schemas.microsoft.com/office/powerpoint/2010/main" val="2007246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B4858-528D-1E9D-D076-E07737746C2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BA028DC-9279-DF11-ED49-C45DBEF359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355" y="1368961"/>
            <a:ext cx="8779875" cy="4780154"/>
          </a:xfrm>
          <a:prstGeom prst="rect">
            <a:avLst/>
          </a:prstGeom>
        </p:spPr>
      </p:pic>
      <p:sp>
        <p:nvSpPr>
          <p:cNvPr id="4" name="Rectangle 3">
            <a:extLst>
              <a:ext uri="{FF2B5EF4-FFF2-40B4-BE49-F238E27FC236}">
                <a16:creationId xmlns:a16="http://schemas.microsoft.com/office/drawing/2014/main" id="{ECEA9AAD-CB49-B525-910C-44F3EE7A266C}"/>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9DFE2C1-2757-4F13-1168-9FCEC98D3970}"/>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Tree>
    <p:extLst>
      <p:ext uri="{BB962C8B-B14F-4D97-AF65-F5344CB8AC3E}">
        <p14:creationId xmlns:p14="http://schemas.microsoft.com/office/powerpoint/2010/main" val="2328801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2D8DA-71F8-5252-E92B-F07096EA89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B4C24D0-FE60-EE0C-AD18-F6F6AF226A30}"/>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28CDDF6D-0977-8F9C-1E29-8906F64C30CC}"/>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3" name="Picture 2">
            <a:extLst>
              <a:ext uri="{FF2B5EF4-FFF2-40B4-BE49-F238E27FC236}">
                <a16:creationId xmlns:a16="http://schemas.microsoft.com/office/drawing/2014/main" id="{6C4B06B7-F8D9-8D2C-373C-6F4D7EAA72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356" y="1368961"/>
            <a:ext cx="8779875" cy="4780154"/>
          </a:xfrm>
          <a:prstGeom prst="rect">
            <a:avLst/>
          </a:prstGeom>
        </p:spPr>
      </p:pic>
    </p:spTree>
    <p:extLst>
      <p:ext uri="{BB962C8B-B14F-4D97-AF65-F5344CB8AC3E}">
        <p14:creationId xmlns:p14="http://schemas.microsoft.com/office/powerpoint/2010/main" val="3688445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A46C-81FA-EF2D-ECDC-ED78E87586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FD32BC7-A2BB-C164-01AC-587FF4AA602E}"/>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E488373D-3528-DAF7-BDD5-5115A6B1E52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6" name="Picture 5">
            <a:extLst>
              <a:ext uri="{FF2B5EF4-FFF2-40B4-BE49-F238E27FC236}">
                <a16:creationId xmlns:a16="http://schemas.microsoft.com/office/drawing/2014/main" id="{BEBD7BF7-F30C-6FB3-5692-2EF5799693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070" y="1368961"/>
            <a:ext cx="9161293" cy="4614959"/>
          </a:xfrm>
          <a:prstGeom prst="rect">
            <a:avLst/>
          </a:prstGeom>
        </p:spPr>
      </p:pic>
    </p:spTree>
    <p:extLst>
      <p:ext uri="{BB962C8B-B14F-4D97-AF65-F5344CB8AC3E}">
        <p14:creationId xmlns:p14="http://schemas.microsoft.com/office/powerpoint/2010/main" val="369827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D9378-4901-CC95-4DF0-C7E71B5E62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CAD6A5-BA72-AEE1-9FDB-8E3BFC1F195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30B379C-AF02-DC4D-8D44-957433DF2A64}"/>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Next Steps</a:t>
            </a:r>
          </a:p>
        </p:txBody>
      </p:sp>
      <p:sp>
        <p:nvSpPr>
          <p:cNvPr id="11" name="TextBox 10">
            <a:extLst>
              <a:ext uri="{FF2B5EF4-FFF2-40B4-BE49-F238E27FC236}">
                <a16:creationId xmlns:a16="http://schemas.microsoft.com/office/drawing/2014/main" id="{CD8A33B1-F324-0543-80BE-283BFC0306AF}"/>
              </a:ext>
            </a:extLst>
          </p:cNvPr>
          <p:cNvSpPr txBox="1"/>
          <p:nvPr/>
        </p:nvSpPr>
        <p:spPr>
          <a:xfrm>
            <a:off x="132408" y="1612030"/>
            <a:ext cx="11673769" cy="1384995"/>
          </a:xfrm>
          <a:prstGeom prst="rect">
            <a:avLst/>
          </a:prstGeom>
          <a:noFill/>
        </p:spPr>
        <p:txBody>
          <a:bodyPr wrap="square">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800" dirty="0">
                <a:latin typeface="Arial" panose="020B0604020202020204" pitchFamily="34" charset="0"/>
              </a:rPr>
              <a:t>Refine disaster scenarios </a:t>
            </a:r>
          </a:p>
          <a:p>
            <a:pPr marL="342900" indent="-342900" eaLnBrk="0" fontAlgn="base" hangingPunct="0">
              <a:spcBef>
                <a:spcPct val="0"/>
              </a:spcBef>
              <a:spcAft>
                <a:spcPct val="0"/>
              </a:spcAft>
              <a:buFont typeface="Arial" panose="020B0604020202020204" pitchFamily="34" charset="0"/>
              <a:buChar char="•"/>
            </a:pPr>
            <a:r>
              <a:rPr lang="en-US" altLang="en-US" sz="2800" dirty="0">
                <a:latin typeface="Arial" panose="020B0604020202020204" pitchFamily="34" charset="0"/>
              </a:rPr>
              <a:t>Incorporate results to my website</a:t>
            </a:r>
          </a:p>
          <a:p>
            <a:pPr marL="342900" lvl="0" indent="-342900" eaLnBrk="0" fontAlgn="base" hangingPunct="0">
              <a:spcBef>
                <a:spcPct val="0"/>
              </a:spcBef>
              <a:spcAft>
                <a:spcPct val="0"/>
              </a:spcAft>
              <a:buFont typeface="Arial" panose="020B0604020202020204" pitchFamily="34" charset="0"/>
              <a:buChar char="•"/>
            </a:pPr>
            <a:r>
              <a:rPr lang="en-US" altLang="en-US" sz="2800" dirty="0">
                <a:latin typeface="Arial" panose="020B0604020202020204" pitchFamily="34" charset="0"/>
              </a:rPr>
              <a:t>Refine Final Poster</a:t>
            </a:r>
          </a:p>
        </p:txBody>
      </p:sp>
    </p:spTree>
    <p:extLst>
      <p:ext uri="{BB962C8B-B14F-4D97-AF65-F5344CB8AC3E}">
        <p14:creationId xmlns:p14="http://schemas.microsoft.com/office/powerpoint/2010/main" val="884264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4F16-EDCC-8571-609B-B4E36ECD95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2357FC-F0D5-14AF-6B21-AD635116F0A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F1A8BAC-04CD-0771-C6C6-B5D27E3ECAD1}"/>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Final Takeaway</a:t>
            </a:r>
          </a:p>
        </p:txBody>
      </p:sp>
      <p:sp>
        <p:nvSpPr>
          <p:cNvPr id="11" name="TextBox 10">
            <a:extLst>
              <a:ext uri="{FF2B5EF4-FFF2-40B4-BE49-F238E27FC236}">
                <a16:creationId xmlns:a16="http://schemas.microsoft.com/office/drawing/2014/main" id="{5B3334E0-39F4-9C77-293B-86A671B72ACD}"/>
              </a:ext>
            </a:extLst>
          </p:cNvPr>
          <p:cNvSpPr txBox="1"/>
          <p:nvPr/>
        </p:nvSpPr>
        <p:spPr>
          <a:xfrm>
            <a:off x="139613" y="1368962"/>
            <a:ext cx="11527668" cy="4401205"/>
          </a:xfrm>
          <a:prstGeom prst="rect">
            <a:avLst/>
          </a:prstGeom>
          <a:noFill/>
        </p:spPr>
        <p:txBody>
          <a:bodyPr wrap="square">
            <a:spAutoFit/>
          </a:bodyPr>
          <a:lstStyle/>
          <a:p>
            <a:r>
              <a:rPr lang="en-US" sz="2000" dirty="0"/>
              <a:t>Population decline in Puerto Rico is not random:</a:t>
            </a:r>
          </a:p>
          <a:p>
            <a:pPr marL="285750" indent="-285750">
              <a:buFont typeface="Arial" panose="020B0604020202020204" pitchFamily="34" charset="0"/>
              <a:buChar char="•"/>
            </a:pPr>
            <a:r>
              <a:rPr lang="en-US" sz="2000" b="1" dirty="0"/>
              <a:t>Structured</a:t>
            </a:r>
            <a:r>
              <a:rPr lang="en-US" sz="2000" dirty="0"/>
              <a:t> (driven by economic and social conditions) </a:t>
            </a:r>
          </a:p>
          <a:p>
            <a:pPr marL="285750" indent="-285750">
              <a:buFont typeface="Arial" panose="020B0604020202020204" pitchFamily="34" charset="0"/>
              <a:buChar char="•"/>
            </a:pPr>
            <a:r>
              <a:rPr lang="en-US" sz="2000" b="1" dirty="0"/>
              <a:t>Spatial</a:t>
            </a:r>
            <a:r>
              <a:rPr lang="en-US" sz="2000" dirty="0"/>
              <a:t> (concentrated in specific regions) </a:t>
            </a:r>
          </a:p>
          <a:p>
            <a:pPr marL="285750" indent="-285750">
              <a:buFont typeface="Arial" panose="020B0604020202020204" pitchFamily="34" charset="0"/>
              <a:buChar char="•"/>
            </a:pPr>
            <a:r>
              <a:rPr lang="en-US" sz="2000" b="1" dirty="0"/>
              <a:t>Persistent</a:t>
            </a:r>
            <a:r>
              <a:rPr lang="en-US" sz="2000" dirty="0"/>
              <a:t> (consistent over time) </a:t>
            </a:r>
          </a:p>
          <a:p>
            <a:br>
              <a:rPr lang="en-US" sz="2000" dirty="0"/>
            </a:br>
            <a:endParaRPr lang="en-US" sz="2000" dirty="0"/>
          </a:p>
          <a:p>
            <a:r>
              <a:rPr lang="en-US" sz="2000" b="1" dirty="0"/>
              <a:t>What the Model Revealed</a:t>
            </a:r>
          </a:p>
          <a:p>
            <a:pPr marL="285750" indent="-285750">
              <a:buFont typeface="Arial" panose="020B0604020202020204" pitchFamily="34" charset="0"/>
              <a:buChar char="•"/>
            </a:pPr>
            <a:r>
              <a:rPr lang="en-US" sz="2000" dirty="0"/>
              <a:t>Short-term population change is highly unpredictable </a:t>
            </a:r>
          </a:p>
          <a:p>
            <a:pPr marL="285750" indent="-285750">
              <a:buFont typeface="Arial" panose="020B0604020202020204" pitchFamily="34" charset="0"/>
              <a:buChar char="•"/>
            </a:pPr>
            <a:r>
              <a:rPr lang="en-US" sz="2000" dirty="0"/>
              <a:t>But underlying structural patterns are stable and detectable </a:t>
            </a:r>
          </a:p>
          <a:p>
            <a:pPr marL="285750" indent="-285750">
              <a:buFont typeface="Arial" panose="020B0604020202020204" pitchFamily="34" charset="0"/>
              <a:buChar char="•"/>
            </a:pPr>
            <a:r>
              <a:rPr lang="en-US" sz="2000" dirty="0"/>
              <a:t>Model performance improves when focusing on long-term dynamics (3-year target) </a:t>
            </a:r>
          </a:p>
          <a:p>
            <a:br>
              <a:rPr lang="en-US" sz="2000" dirty="0"/>
            </a:br>
            <a:endParaRPr lang="en-US" sz="2000" dirty="0"/>
          </a:p>
          <a:p>
            <a:r>
              <a:rPr lang="en-US" sz="2000" b="1" dirty="0"/>
              <a:t>Conclusion: </a:t>
            </a:r>
            <a:r>
              <a:rPr lang="en-US" sz="2000" dirty="0"/>
              <a:t>Even when prediction is difficult, the data reveals strong, stable, and spatially coherent patterns across Puerto Rico.</a:t>
            </a:r>
          </a:p>
        </p:txBody>
      </p:sp>
    </p:spTree>
    <p:extLst>
      <p:ext uri="{BB962C8B-B14F-4D97-AF65-F5344CB8AC3E}">
        <p14:creationId xmlns:p14="http://schemas.microsoft.com/office/powerpoint/2010/main" val="3664533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BA8F4-EFC2-6B2F-1BCA-765B8B772E4B}"/>
            </a:ext>
          </a:extLst>
        </p:cNvPr>
        <p:cNvGrpSpPr/>
        <p:nvPr/>
      </p:nvGrpSpPr>
      <p:grpSpPr>
        <a:xfrm>
          <a:off x="0" y="0"/>
          <a:ext cx="0" cy="0"/>
          <a:chOff x="0" y="0"/>
          <a:chExt cx="0" cy="0"/>
        </a:xfrm>
      </p:grpSpPr>
      <p:pic>
        <p:nvPicPr>
          <p:cNvPr id="5" name="Picture Placeholder 4" descr="A black and white logo&#10;&#10;AI-generated content may be incorrect.">
            <a:extLst>
              <a:ext uri="{FF2B5EF4-FFF2-40B4-BE49-F238E27FC236}">
                <a16:creationId xmlns:a16="http://schemas.microsoft.com/office/drawing/2014/main" id="{C4EBD854-F9C7-43C9-52C4-3035C20D0A5C}"/>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l="3" r="3"/>
          <a:stretch>
            <a:fillRect/>
          </a:stretch>
        </p:blipFill>
        <p:spPr/>
      </p:pic>
      <p:sp>
        <p:nvSpPr>
          <p:cNvPr id="3" name="Text Placeholder 2">
            <a:extLst>
              <a:ext uri="{FF2B5EF4-FFF2-40B4-BE49-F238E27FC236}">
                <a16:creationId xmlns:a16="http://schemas.microsoft.com/office/drawing/2014/main" id="{82EBA07C-4421-9897-AB9C-8069A832F1F6}"/>
              </a:ext>
            </a:extLst>
          </p:cNvPr>
          <p:cNvSpPr>
            <a:spLocks noGrp="1"/>
          </p:cNvSpPr>
          <p:nvPr>
            <p:ph type="body" sz="quarter" idx="11"/>
          </p:nvPr>
        </p:nvSpPr>
        <p:spPr/>
        <p:txBody>
          <a:bodyPr/>
          <a:lstStyle/>
          <a:p>
            <a:pPr>
              <a:spcBef>
                <a:spcPts val="0"/>
              </a:spcBef>
              <a:spcAft>
                <a:spcPts val="200"/>
              </a:spcAft>
              <a:buClr>
                <a:srgbClr val="D82042"/>
              </a:buClr>
            </a:pPr>
            <a:r>
              <a:rPr lang="en-US" dirty="0"/>
              <a:t>Revised January 2026</a:t>
            </a:r>
          </a:p>
          <a:p>
            <a:pPr>
              <a:spcBef>
                <a:spcPts val="0"/>
              </a:spcBef>
              <a:spcAft>
                <a:spcPts val="200"/>
              </a:spcAft>
              <a:buClr>
                <a:srgbClr val="D82042"/>
              </a:buClr>
            </a:pPr>
            <a:r>
              <a:rPr lang="en-US" dirty="0"/>
              <a:t>Department of University Communications and Marketing</a:t>
            </a:r>
          </a:p>
          <a:p>
            <a:pPr>
              <a:spcBef>
                <a:spcPts val="0"/>
              </a:spcBef>
              <a:spcAft>
                <a:spcPts val="200"/>
              </a:spcAft>
              <a:buClr>
                <a:srgbClr val="D82042"/>
              </a:buClr>
            </a:pPr>
            <a:r>
              <a:rPr lang="en-US" dirty="0"/>
              <a:t>© 2026, Rutgers, The State University of New Jersey</a:t>
            </a:r>
          </a:p>
        </p:txBody>
      </p:sp>
    </p:spTree>
    <p:extLst>
      <p:ext uri="{BB962C8B-B14F-4D97-AF65-F5344CB8AC3E}">
        <p14:creationId xmlns:p14="http://schemas.microsoft.com/office/powerpoint/2010/main" val="2791339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AD5AB897-1974-2EFF-538D-4903935420B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0413897F-0458-EB29-B12F-B1F119CC2D2E}"/>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r>
              <a:rPr lang="en-US" sz="3600" b="1" dirty="0">
                <a:latin typeface="Merriweather"/>
              </a:rPr>
              <a:t>How Extra Trees Work</a:t>
            </a:r>
            <a:endParaRPr sz="3600" b="1" dirty="0">
              <a:latin typeface="Merriweather"/>
            </a:endParaRPr>
          </a:p>
        </p:txBody>
      </p:sp>
      <p:sp>
        <p:nvSpPr>
          <p:cNvPr id="122" name="Google Shape;122;p15">
            <a:extLst>
              <a:ext uri="{FF2B5EF4-FFF2-40B4-BE49-F238E27FC236}">
                <a16:creationId xmlns:a16="http://schemas.microsoft.com/office/drawing/2014/main" id="{991B08BF-AC67-B480-D6CC-4F6BE253D6C5}"/>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388D4477-5AA5-0731-D8FE-47D12D442B93}"/>
              </a:ext>
            </a:extLst>
          </p:cNvPr>
          <p:cNvSpPr txBox="1"/>
          <p:nvPr/>
        </p:nvSpPr>
        <p:spPr>
          <a:xfrm>
            <a:off x="472643" y="1519363"/>
            <a:ext cx="9336375" cy="4524315"/>
          </a:xfrm>
          <a:prstGeom prst="rect">
            <a:avLst/>
          </a:prstGeom>
          <a:noFill/>
        </p:spPr>
        <p:txBody>
          <a:bodyPr wrap="square">
            <a:spAutoFit/>
          </a:bodyPr>
          <a:lstStyle/>
          <a:p>
            <a:r>
              <a:rPr lang="en-US" b="1" dirty="0"/>
              <a:t>Key Concept: </a:t>
            </a:r>
          </a:p>
          <a:p>
            <a:r>
              <a:rPr lang="en-US" b="1" dirty="0"/>
              <a:t>Extra Trees = Extremely Randomized Trees</a:t>
            </a:r>
            <a:r>
              <a:rPr lang="en-US" dirty="0"/>
              <a:t> </a:t>
            </a:r>
          </a:p>
          <a:p>
            <a:r>
              <a:rPr lang="en-US" dirty="0"/>
              <a:t>Ensemble of many decision trees that vote for the final prediction </a:t>
            </a:r>
          </a:p>
          <a:p>
            <a:r>
              <a:rPr lang="en-US" dirty="0"/>
              <a:t>Comparable to Random Forests, but: </a:t>
            </a:r>
          </a:p>
          <a:p>
            <a:pPr lvl="1"/>
            <a:r>
              <a:rPr lang="en-US" b="1" dirty="0"/>
              <a:t>More randomness</a:t>
            </a:r>
            <a:r>
              <a:rPr lang="en-US" dirty="0"/>
              <a:t> </a:t>
            </a:r>
          </a:p>
          <a:p>
            <a:pPr lvl="1"/>
            <a:r>
              <a:rPr lang="en-US" dirty="0"/>
              <a:t>Splits on </a:t>
            </a:r>
            <a:r>
              <a:rPr lang="en-US" b="1" dirty="0"/>
              <a:t>random cut-points within random subsets of features</a:t>
            </a:r>
            <a:r>
              <a:rPr lang="en-US" dirty="0"/>
              <a:t> </a:t>
            </a:r>
          </a:p>
          <a:p>
            <a:pPr lvl="1"/>
            <a:r>
              <a:rPr lang="en-US" dirty="0"/>
              <a:t>Final prediction = </a:t>
            </a:r>
            <a:r>
              <a:rPr lang="en-US" b="1" dirty="0"/>
              <a:t>average of all tree outputs</a:t>
            </a:r>
            <a:r>
              <a:rPr lang="en-US" dirty="0"/>
              <a:t> </a:t>
            </a:r>
          </a:p>
          <a:p>
            <a:br>
              <a:rPr lang="en-US" dirty="0"/>
            </a:br>
            <a:endParaRPr lang="en-US" dirty="0"/>
          </a:p>
          <a:p>
            <a:r>
              <a:rPr lang="en-US" b="1" dirty="0"/>
              <a:t>Key Learn: </a:t>
            </a:r>
          </a:p>
          <a:p>
            <a:r>
              <a:rPr lang="en-US" dirty="0"/>
              <a:t>Each tree is built using: </a:t>
            </a:r>
          </a:p>
          <a:p>
            <a:pPr lvl="1"/>
            <a:r>
              <a:rPr lang="en-US" dirty="0"/>
              <a:t>A </a:t>
            </a:r>
            <a:r>
              <a:rPr lang="en-US" b="1" dirty="0"/>
              <a:t>random subset of data (samples)</a:t>
            </a:r>
            <a:r>
              <a:rPr lang="en-US" dirty="0"/>
              <a:t> </a:t>
            </a:r>
          </a:p>
          <a:p>
            <a:pPr lvl="1"/>
            <a:r>
              <a:rPr lang="en-US" dirty="0"/>
              <a:t>A </a:t>
            </a:r>
            <a:r>
              <a:rPr lang="en-US" b="1" dirty="0"/>
              <a:t>random subset of features</a:t>
            </a:r>
            <a:r>
              <a:rPr lang="en-US" dirty="0"/>
              <a:t> </a:t>
            </a:r>
          </a:p>
          <a:p>
            <a:r>
              <a:rPr lang="en-US" dirty="0"/>
              <a:t>Instead of finding the best split: </a:t>
            </a:r>
          </a:p>
          <a:p>
            <a:pPr lvl="1"/>
            <a:r>
              <a:rPr lang="en-US" dirty="0"/>
              <a:t>The model chooses </a:t>
            </a:r>
            <a:r>
              <a:rPr lang="en-US" b="1" dirty="0"/>
              <a:t>random split points</a:t>
            </a:r>
            <a:r>
              <a:rPr lang="en-US" dirty="0"/>
              <a:t> </a:t>
            </a:r>
          </a:p>
          <a:p>
            <a:pPr lvl="1"/>
            <a:r>
              <a:rPr lang="en-US" dirty="0"/>
              <a:t>This reduces overfitting and improves generalization</a:t>
            </a:r>
          </a:p>
        </p:txBody>
      </p:sp>
      <p:sp>
        <p:nvSpPr>
          <p:cNvPr id="4" name="TextBox 3">
            <a:extLst>
              <a:ext uri="{FF2B5EF4-FFF2-40B4-BE49-F238E27FC236}">
                <a16:creationId xmlns:a16="http://schemas.microsoft.com/office/drawing/2014/main" id="{F413A940-8C88-0C24-7E74-1BC55F6200A4}"/>
              </a:ext>
            </a:extLst>
          </p:cNvPr>
          <p:cNvSpPr txBox="1"/>
          <p:nvPr/>
        </p:nvSpPr>
        <p:spPr>
          <a:xfrm>
            <a:off x="7079456" y="4035425"/>
            <a:ext cx="5093494" cy="1200329"/>
          </a:xfrm>
          <a:prstGeom prst="rect">
            <a:avLst/>
          </a:prstGeom>
          <a:noFill/>
        </p:spPr>
        <p:txBody>
          <a:bodyPr wrap="square">
            <a:spAutoFit/>
          </a:bodyPr>
          <a:lstStyle/>
          <a:p>
            <a:pPr>
              <a:buNone/>
            </a:pPr>
            <a:r>
              <a:rPr lang="en-US" b="1" dirty="0"/>
              <a:t>Key Takeaway</a:t>
            </a:r>
          </a:p>
          <a:p>
            <a:pPr>
              <a:buFont typeface="Arial" panose="020B0604020202020204" pitchFamily="34" charset="0"/>
              <a:buChar char="•"/>
            </a:pPr>
            <a:r>
              <a:rPr lang="en-US" dirty="0"/>
              <a:t>More randomness → </a:t>
            </a:r>
            <a:r>
              <a:rPr lang="en-US" b="1" dirty="0"/>
              <a:t>less overfitting</a:t>
            </a:r>
            <a:r>
              <a:rPr lang="en-US" dirty="0"/>
              <a:t> </a:t>
            </a:r>
          </a:p>
          <a:p>
            <a:pPr>
              <a:buFont typeface="Arial" panose="020B0604020202020204" pitchFamily="34" charset="0"/>
              <a:buChar char="•"/>
            </a:pPr>
            <a:r>
              <a:rPr lang="en-US" dirty="0"/>
              <a:t>Ensemble averaging → </a:t>
            </a:r>
            <a:r>
              <a:rPr lang="en-US" b="1" dirty="0"/>
              <a:t>more stable predictions</a:t>
            </a:r>
            <a:r>
              <a:rPr lang="en-US" dirty="0"/>
              <a:t> </a:t>
            </a:r>
          </a:p>
          <a:p>
            <a:pPr>
              <a:buFont typeface="Arial" panose="020B0604020202020204" pitchFamily="34" charset="0"/>
              <a:buChar char="•"/>
            </a:pPr>
            <a:r>
              <a:rPr lang="en-US" dirty="0"/>
              <a:t>Captures </a:t>
            </a:r>
            <a:r>
              <a:rPr lang="en-US" b="1" dirty="0"/>
              <a:t>nonlinear relationships</a:t>
            </a:r>
            <a:r>
              <a:rPr lang="en-US" dirty="0"/>
              <a:t> in the data</a:t>
            </a:r>
          </a:p>
        </p:txBody>
      </p:sp>
      <p:pic>
        <p:nvPicPr>
          <p:cNvPr id="3074" name="Picture 2" descr="The structure of ExtraTree.">
            <a:extLst>
              <a:ext uri="{FF2B5EF4-FFF2-40B4-BE49-F238E27FC236}">
                <a16:creationId xmlns:a16="http://schemas.microsoft.com/office/drawing/2014/main" id="{EFA67590-6826-0A9C-BDC3-428B1EFA30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1873" y="1849437"/>
            <a:ext cx="4034289" cy="1579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912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80B5812-1CA9-1409-56B3-E9FEA3A9DFF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BFC6FD08-35E7-CA4E-1876-B2106DBCFEBB}"/>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51D17C8F-DC77-48C5-3A63-316932EBD3A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343163-A07B-B9A6-0209-1885C4B92D73}"/>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predictors:</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388D4477-5AA5-0731-D8FE-47D12D442B93}"/>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3069011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FFEEB00-8F6E-F48B-9F4C-DD64AFAE21D2}"/>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3ED45A06-FA0A-E2E0-182E-DDB1DFB558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ACAB45-0C6E-B5C3-02F1-829E465F3DE6}"/>
                  </a:ext>
                </a:extLst>
              </p:cNvPr>
              <p:cNvSpPr txBox="1"/>
              <p:nvPr/>
            </p:nvSpPr>
            <p:spPr>
              <a:xfrm>
                <a:off x="472643" y="1519363"/>
                <a:ext cx="9336375" cy="524816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Lasso Regression (L1 Regularization)</a:t>
                </a:r>
              </a:p>
              <a:p>
                <a:pPr marL="742950" lvl="1" indent="-285750">
                  <a:buFont typeface="Arial" panose="020B0604020202020204" pitchFamily="34" charset="0"/>
                  <a:buChar char="•"/>
                </a:pPr>
                <a:r>
                  <a:rPr lang="en-US" sz="1600" b="1" dirty="0">
                    <a:latin typeface="Merriweather" pitchFamily="2" charset="77"/>
                  </a:rPr>
                  <a:t>Why use it?</a:t>
                </a:r>
                <a:r>
                  <a:rPr lang="en-US" sz="1600" dirty="0">
                    <a:latin typeface="Merriweather" pitchFamily="2" charset="77"/>
                  </a:rPr>
                  <a:t> We have many correlated variables (Poverty Rate and Unemployment are often linked). Lasso forces the model to choose only the </a:t>
                </a:r>
                <a:r>
                  <a:rPr lang="en-US" sz="1600" i="1" dirty="0">
                    <a:latin typeface="Merriweather" pitchFamily="2" charset="77"/>
                  </a:rPr>
                  <a:t>most important</a:t>
                </a:r>
                <a:r>
                  <a:rPr lang="en-US" sz="1600" dirty="0">
                    <a:latin typeface="Merriweather" pitchFamily="2" charset="77"/>
                  </a:rPr>
                  <a:t> ones and sets the others to zero. This solves the "noise" problem.</a:t>
                </a: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The Equation:</a:t>
                </a:r>
                <a:r>
                  <a:rPr lang="en-US" sz="1600" dirty="0">
                    <a:latin typeface="Merriweather" pitchFamily="2" charset="77"/>
                  </a:rPr>
                  <a:t> The model tries to minimize the error (difference between predicted </a:t>
                </a:r>
                <a14:m>
                  <m:oMath xmlns:m="http://schemas.openxmlformats.org/officeDocument/2006/math">
                    <m:acc>
                      <m:accPr>
                        <m:chr m:val="̂"/>
                        <m:ctrlPr>
                          <a:rPr lang="en-US" sz="1600" b="1" i="1">
                            <a:solidFill>
                              <a:schemeClr val="tx1">
                                <a:lumMod val="75000"/>
                                <a:lumOff val="25000"/>
                              </a:schemeClr>
                            </a:solidFill>
                            <a:latin typeface="Cambria Math" panose="02040503050406030204" pitchFamily="18" charset="0"/>
                          </a:rPr>
                        </m:ctrlPr>
                      </m:accPr>
                      <m:e>
                        <m:r>
                          <a:rPr lang="en-US" sz="1600" b="1" i="0" smtClean="0">
                            <a:solidFill>
                              <a:schemeClr val="tx1">
                                <a:lumMod val="75000"/>
                                <a:lumOff val="25000"/>
                              </a:schemeClr>
                            </a:solidFill>
                            <a:latin typeface="Cambria Math" panose="02040503050406030204" pitchFamily="18" charset="0"/>
                          </a:rPr>
                          <m:t>𝐲</m:t>
                        </m:r>
                      </m:e>
                    </m:acc>
                  </m:oMath>
                </a14:m>
                <a:r>
                  <a:rPr lang="en-US" sz="1600" b="1" dirty="0">
                    <a:latin typeface="Merriweather" pitchFamily="2" charset="77"/>
                  </a:rPr>
                  <a:t> </a:t>
                </a:r>
                <a:r>
                  <a:rPr lang="en-US" sz="1600" dirty="0">
                    <a:latin typeface="Merriweather" pitchFamily="2" charset="77"/>
                  </a:rPr>
                  <a:t>and actual </a:t>
                </a:r>
                <a14:m>
                  <m:oMath xmlns:m="http://schemas.openxmlformats.org/officeDocument/2006/math">
                    <m:r>
                      <a:rPr lang="en-US" sz="1600" b="1" i="1">
                        <a:solidFill>
                          <a:schemeClr val="tx1">
                            <a:lumMod val="75000"/>
                            <a:lumOff val="25000"/>
                          </a:schemeClr>
                        </a:solidFill>
                        <a:latin typeface="Cambria Math" panose="02040503050406030204" pitchFamily="18" charset="0"/>
                      </a:rPr>
                      <m:t>𝒚</m:t>
                    </m:r>
                  </m:oMath>
                </a14:m>
                <a:r>
                  <a:rPr lang="en-US" sz="1600" dirty="0">
                    <a:latin typeface="Merriweather" pitchFamily="2" charset="77"/>
                  </a:rPr>
                  <a:t>) plus a "penalty" for using too many variables.</a:t>
                </a:r>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Minimize</m:t>
                      </m:r>
                      <m:d>
                        <m:dPr>
                          <m:ctrlPr>
                            <a:rPr lang="en-US" sz="1600" b="1" i="1">
                              <a:solidFill>
                                <a:schemeClr val="tx1">
                                  <a:lumMod val="75000"/>
                                  <a:lumOff val="25000"/>
                                </a:schemeClr>
                              </a:solidFill>
                              <a:latin typeface="Cambria Math" panose="02040503050406030204" pitchFamily="18" charset="0"/>
                            </a:rPr>
                          </m:ctrlPr>
                        </m:dPr>
                        <m:e>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𝒏</m:t>
                              </m:r>
                            </m:sup>
                            <m:e>
                              <m:sSup>
                                <m:sSupPr>
                                  <m:ctrlPr>
                                    <a:rPr lang="en-US" sz="1600" b="1" i="1">
                                      <a:solidFill>
                                        <a:schemeClr val="tx1">
                                          <a:lumMod val="75000"/>
                                          <a:lumOff val="25000"/>
                                        </a:schemeClr>
                                      </a:solidFill>
                                      <a:latin typeface="Cambria Math" panose="02040503050406030204" pitchFamily="18" charset="0"/>
                                    </a:rPr>
                                  </m:ctrlPr>
                                </m:sSupPr>
                                <m:e>
                                  <m:d>
                                    <m:dPr>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acc>
                                        <m:accPr>
                                          <m:chr m:val="̂"/>
                                          <m:ctrlPr>
                                            <a:rPr lang="en-US" sz="1600" b="1" i="1">
                                              <a:solidFill>
                                                <a:schemeClr val="tx1">
                                                  <a:lumMod val="75000"/>
                                                  <a:lumOff val="25000"/>
                                                </a:schemeClr>
                                              </a:solidFill>
                                              <a:latin typeface="Cambria Math" panose="02040503050406030204" pitchFamily="18" charset="0"/>
                                            </a:rPr>
                                          </m:ctrlPr>
                                        </m:acc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e>
                                      </m:acc>
                                    </m:e>
                                  </m:d>
                                </m:e>
                                <m:sup>
                                  <m:r>
                                    <a:rPr lang="en-US" sz="1600" b="1" i="1">
                                      <a:solidFill>
                                        <a:schemeClr val="tx1">
                                          <a:lumMod val="75000"/>
                                          <a:lumOff val="25000"/>
                                        </a:schemeClr>
                                      </a:solidFill>
                                      <a:latin typeface="Cambria Math" panose="02040503050406030204" pitchFamily="18" charset="0"/>
                                    </a:rPr>
                                    <m:t>𝟐</m:t>
                                  </m:r>
                                </m:sup>
                              </m:sSup>
                            </m:e>
                          </m:nary>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𝝀</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𝒑</m:t>
                              </m:r>
                            </m:sup>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𝜷</m:t>
                                      </m:r>
                                    </m:e>
                                    <m:sub>
                                      <m:r>
                                        <a:rPr lang="en-US" sz="1600" b="1" i="1">
                                          <a:solidFill>
                                            <a:schemeClr val="tx1">
                                              <a:lumMod val="75000"/>
                                              <a:lumOff val="25000"/>
                                            </a:schemeClr>
                                          </a:solidFill>
                                          <a:latin typeface="Cambria Math" panose="02040503050406030204" pitchFamily="18" charset="0"/>
                                        </a:rPr>
                                        <m:t>𝒋</m:t>
                                      </m:r>
                                    </m:sub>
                                  </m:sSub>
                                </m:e>
                              </m:d>
                            </m:e>
                          </m:nary>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628650" lvl="1" indent="-171450">
                  <a:lnSpc>
                    <a:spcPct val="150000"/>
                  </a:lnSpc>
                  <a:buFont typeface="Arial" panose="020B0604020202020204" pitchFamily="34" charset="0"/>
                  <a:buChar char="•"/>
                </a:pPr>
                <a14:m>
                  <m:oMath xmlns:m="http://schemas.openxmlformats.org/officeDocument/2006/math">
                    <m:nary>
                      <m:naryPr>
                        <m:chr m:val="∑"/>
                        <m:ctrlPr>
                          <a:rPr lang="en-US" sz="1200" b="1" i="1">
                            <a:solidFill>
                              <a:schemeClr val="tx1">
                                <a:lumMod val="75000"/>
                                <a:lumOff val="25000"/>
                              </a:schemeClr>
                            </a:solidFill>
                            <a:latin typeface="Cambria Math" panose="02040503050406030204" pitchFamily="18" charset="0"/>
                          </a:rPr>
                        </m:ctrlPr>
                      </m:naryPr>
                      <m:sub>
                        <m:r>
                          <a:rPr lang="en-US" sz="1200" b="1" i="1">
                            <a:solidFill>
                              <a:schemeClr val="tx1">
                                <a:lumMod val="75000"/>
                                <a:lumOff val="25000"/>
                              </a:schemeClr>
                            </a:solidFill>
                            <a:latin typeface="Cambria Math" panose="02040503050406030204" pitchFamily="18" charset="0"/>
                          </a:rPr>
                          <m:t>𝒊</m:t>
                        </m:r>
                        <m:r>
                          <a:rPr lang="en-US" sz="1200" b="1" i="1">
                            <a:solidFill>
                              <a:schemeClr val="tx1">
                                <a:lumMod val="75000"/>
                                <a:lumOff val="25000"/>
                              </a:schemeClr>
                            </a:solidFill>
                            <a:latin typeface="Cambria Math" panose="02040503050406030204" pitchFamily="18" charset="0"/>
                          </a:rPr>
                          <m:t>=</m:t>
                        </m:r>
                        <m:r>
                          <a:rPr lang="en-US" sz="1200" b="1" i="1">
                            <a:solidFill>
                              <a:schemeClr val="tx1">
                                <a:lumMod val="75000"/>
                                <a:lumOff val="25000"/>
                              </a:schemeClr>
                            </a:solidFill>
                            <a:latin typeface="Cambria Math" panose="02040503050406030204" pitchFamily="18" charset="0"/>
                          </a:rPr>
                          <m:t>𝟏</m:t>
                        </m:r>
                      </m:sub>
                      <m:sup>
                        <m:r>
                          <a:rPr lang="en-US" sz="1200" b="1" i="1">
                            <a:solidFill>
                              <a:schemeClr val="tx1">
                                <a:lumMod val="75000"/>
                                <a:lumOff val="25000"/>
                              </a:schemeClr>
                            </a:solidFill>
                            <a:latin typeface="Cambria Math" panose="02040503050406030204" pitchFamily="18" charset="0"/>
                          </a:rPr>
                          <m:t>𝒏</m:t>
                        </m:r>
                      </m:sup>
                      <m:e>
                        <m:sSup>
                          <m:sSupPr>
                            <m:ctrlPr>
                              <a:rPr lang="en-US" sz="1200" b="1" i="1">
                                <a:solidFill>
                                  <a:schemeClr val="tx1">
                                    <a:lumMod val="75000"/>
                                    <a:lumOff val="25000"/>
                                  </a:schemeClr>
                                </a:solidFill>
                                <a:latin typeface="Cambria Math" panose="02040503050406030204" pitchFamily="18" charset="0"/>
                              </a:rPr>
                            </m:ctrlPr>
                          </m:sSupPr>
                          <m:e>
                            <m:d>
                              <m:dPr>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r>
                                  <a:rPr lang="en-US" sz="1200" b="1" i="1">
                                    <a:solidFill>
                                      <a:schemeClr val="tx1">
                                        <a:lumMod val="75000"/>
                                        <a:lumOff val="25000"/>
                                      </a:schemeClr>
                                    </a:solidFill>
                                    <a:latin typeface="Cambria Math" panose="02040503050406030204" pitchFamily="18" charset="0"/>
                                  </a:rPr>
                                  <m:t>−</m:t>
                                </m:r>
                                <m:acc>
                                  <m:accPr>
                                    <m:chr m:val="̂"/>
                                    <m:ctrlPr>
                                      <a:rPr lang="en-US" sz="1200" b="1" i="1">
                                        <a:solidFill>
                                          <a:schemeClr val="tx1">
                                            <a:lumMod val="75000"/>
                                            <a:lumOff val="25000"/>
                                          </a:schemeClr>
                                        </a:solidFill>
                                        <a:latin typeface="Cambria Math" panose="02040503050406030204" pitchFamily="18" charset="0"/>
                                      </a:rPr>
                                    </m:ctrlPr>
                                  </m:acc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e>
                                </m:acc>
                              </m:e>
                            </m:d>
                          </m:e>
                          <m:sup>
                            <m:r>
                              <a:rPr lang="en-US" sz="1200" b="1" i="1">
                                <a:solidFill>
                                  <a:schemeClr val="tx1">
                                    <a:lumMod val="75000"/>
                                    <a:lumOff val="25000"/>
                                  </a:schemeClr>
                                </a:solidFill>
                                <a:latin typeface="Cambria Math" panose="02040503050406030204" pitchFamily="18" charset="0"/>
                              </a:rPr>
                              <m:t>𝟐</m:t>
                            </m:r>
                          </m:sup>
                        </m:sSup>
                      </m:e>
                    </m:nary>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 The standard error (Residual Sum of Squares)</a:t>
                </a:r>
              </a:p>
              <a:p>
                <a:pPr marL="628650" lvl="1" indent="-171450">
                  <a:lnSpc>
                    <a:spcPct val="150000"/>
                  </a:lnSpc>
                  <a:buFont typeface="Arial" panose="020B0604020202020204" pitchFamily="34" charset="0"/>
                  <a:buChar char="•"/>
                </a:pPr>
                <a14:m>
                  <m:oMath xmlns:m="http://schemas.openxmlformats.org/officeDocument/2006/math">
                    <m:r>
                      <a:rPr lang="en-US" sz="1200" b="1" i="1" smtClean="0">
                        <a:solidFill>
                          <a:schemeClr val="tx1">
                            <a:lumMod val="75000"/>
                            <a:lumOff val="25000"/>
                          </a:schemeClr>
                        </a:solidFill>
                        <a:latin typeface="Cambria Math" panose="02040503050406030204" pitchFamily="18" charset="0"/>
                      </a:rPr>
                      <m:t>𝝀</m:t>
                    </m:r>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tuning parameter,  if set high, the model is forced to simplify</a:t>
                </a:r>
              </a:p>
              <a:p>
                <a:pPr marL="628650" lvl="1" indent="-171450">
                  <a:lnSpc>
                    <a:spcPct val="150000"/>
                  </a:lnSpc>
                  <a:buFont typeface="Arial" panose="020B0604020202020204" pitchFamily="34" charset="0"/>
                  <a:buChar char="•"/>
                </a:pPr>
                <a14:m>
                  <m:oMath xmlns:m="http://schemas.openxmlformats.org/officeDocument/2006/math">
                    <m:d>
                      <m:dPr>
                        <m:begChr m:val="|"/>
                        <m:endChr m:val="|"/>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a:rPr lang="en-US" sz="1200" b="1" i="1">
                                <a:solidFill>
                                  <a:schemeClr val="tx1">
                                    <a:lumMod val="75000"/>
                                    <a:lumOff val="25000"/>
                                  </a:schemeClr>
                                </a:solidFill>
                                <a:latin typeface="Cambria Math" panose="02040503050406030204" pitchFamily="18" charset="0"/>
                              </a:rPr>
                              <m:t>𝒋</m:t>
                            </m:r>
                          </m:sub>
                        </m:sSub>
                      </m:e>
                    </m:d>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absolute size of the coefficient for variable j</a:t>
                </a:r>
              </a:p>
              <a:p>
                <a:pPr marL="628650" lvl="1" indent="-171450">
                  <a:lnSpc>
                    <a:spcPct val="150000"/>
                  </a:lnSpc>
                  <a:buFont typeface="Arial" panose="020B0604020202020204" pitchFamily="34" charset="0"/>
                  <a:buChar char="•"/>
                </a:pPr>
                <a:r>
                  <a:rPr lang="en-US" sz="1200" b="1" dirty="0">
                    <a:latin typeface="Merriweather" pitchFamily="2" charset="77"/>
                  </a:rPr>
                  <a:t>How the variables fit:</a:t>
                </a:r>
                <a:r>
                  <a:rPr lang="en-US" sz="1200" dirty="0">
                    <a:latin typeface="Merriweather" pitchFamily="2" charset="77"/>
                  </a:rPr>
                  <a:t> If the coefficient </a:t>
                </a:r>
                <a14:m>
                  <m:oMath xmlns:m="http://schemas.openxmlformats.org/officeDocument/2006/math">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SVI</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for "No Vehicle Access" is high, but </a:t>
                </a:r>
                <a14:m>
                  <m:oMath xmlns:m="http://schemas.openxmlformats.org/officeDocument/2006/math">
                    <m:sSub>
                      <m:sSubPr>
                        <m:ctrlPr>
                          <a:rPr lang="en-US" sz="1200" b="1" i="1" smtClean="0">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Unemp</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shrinks to zero, the equation proves that </a:t>
                </a:r>
                <a:r>
                  <a:rPr lang="en-US" sz="1200" b="1" dirty="0">
                    <a:latin typeface="Merriweather" pitchFamily="2" charset="77"/>
                  </a:rPr>
                  <a:t>transportation vulnerability</a:t>
                </a:r>
                <a:r>
                  <a:rPr lang="en-US" sz="1200" dirty="0">
                    <a:latin typeface="Merriweather" pitchFamily="2" charset="77"/>
                  </a:rPr>
                  <a:t> is a stronger driver of migration than </a:t>
                </a:r>
                <a:r>
                  <a:rPr lang="en-US" sz="1200" b="1" dirty="0">
                    <a:latin typeface="Merriweather" pitchFamily="2" charset="77"/>
                  </a:rPr>
                  <a:t>unemployment</a:t>
                </a:r>
                <a:r>
                  <a:rPr lang="en-US" sz="1200" dirty="0">
                    <a:latin typeface="Merriweather" pitchFamily="2" charset="77"/>
                  </a:rPr>
                  <a:t> in our specific dataset</a:t>
                </a:r>
              </a:p>
            </p:txBody>
          </p:sp>
        </mc:Choice>
        <mc:Fallback xmlns="">
          <p:sp>
            <p:nvSpPr>
              <p:cNvPr id="2" name="TextBox 1">
                <a:extLst>
                  <a:ext uri="{FF2B5EF4-FFF2-40B4-BE49-F238E27FC236}">
                    <a16:creationId xmlns:a16="http://schemas.microsoft.com/office/drawing/2014/main" id="{4AACAB45-0C6E-B5C3-02F1-829E465F3DE6}"/>
                  </a:ext>
                </a:extLst>
              </p:cNvPr>
              <p:cNvSpPr txBox="1">
                <a:spLocks noRot="1" noChangeAspect="1" noMove="1" noResize="1" noEditPoints="1" noAdjustHandles="1" noChangeArrowheads="1" noChangeShapeType="1" noTextEdit="1"/>
              </p:cNvSpPr>
              <p:nvPr/>
            </p:nvSpPr>
            <p:spPr>
              <a:xfrm>
                <a:off x="472643" y="1519363"/>
                <a:ext cx="9336375" cy="5248168"/>
              </a:xfrm>
              <a:prstGeom prst="rect">
                <a:avLst/>
              </a:prstGeom>
              <a:blipFill>
                <a:blip r:embed="rId3"/>
                <a:stretch>
                  <a:fillRect l="-543" t="-483" r="-679"/>
                </a:stretch>
              </a:blipFill>
            </p:spPr>
            <p:txBody>
              <a:bodyPr/>
              <a:lstStyle/>
              <a:p>
                <a:r>
                  <a:rPr lang="en-US">
                    <a:noFill/>
                  </a:rPr>
                  <a:t> </a:t>
                </a:r>
              </a:p>
            </p:txBody>
          </p:sp>
        </mc:Fallback>
      </mc:AlternateContent>
      <p:sp>
        <p:nvSpPr>
          <p:cNvPr id="7" name="Google Shape;121;p15">
            <a:extLst>
              <a:ext uri="{FF2B5EF4-FFF2-40B4-BE49-F238E27FC236}">
                <a16:creationId xmlns:a16="http://schemas.microsoft.com/office/drawing/2014/main" id="{C0910809-4DFB-18ED-54C4-2580D01E1D6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a:t>
            </a:r>
            <a:endParaRPr sz="2800" b="1" dirty="0">
              <a:latin typeface="Merriweather" pitchFamily="2" charset="77"/>
            </a:endParaRPr>
          </a:p>
        </p:txBody>
      </p:sp>
    </p:spTree>
    <p:extLst>
      <p:ext uri="{BB962C8B-B14F-4D97-AF65-F5344CB8AC3E}">
        <p14:creationId xmlns:p14="http://schemas.microsoft.com/office/powerpoint/2010/main" val="1407121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0EB2950-2428-5E7D-FF80-C33D232E427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9BD82C1E-F47E-0BA1-D5BC-73146FA9B191}"/>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62E4B516-81D4-83EC-FF89-CCE629FE8358}"/>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2D67AD-0F58-6B2F-24E6-FF34E893A269}"/>
                  </a:ext>
                </a:extLst>
              </p:cNvPr>
              <p:cNvSpPr txBox="1"/>
              <p:nvPr/>
            </p:nvSpPr>
            <p:spPr>
              <a:xfrm>
                <a:off x="472643" y="1519363"/>
                <a:ext cx="9336375" cy="5171609"/>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Random Forest (Regression Trees)</a:t>
                </a: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Linear models assume smooth trends. Natural disasters (hurricanes/earthquakes) are not smooth; they are "cliffs." Trees handle this by splitting data into "Normal Years" and "Shock Years.”</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Logic (Split Criterion):</a:t>
                </a:r>
                <a:r>
                  <a:rPr lang="en-US" dirty="0">
                    <a:latin typeface="Merriweather" pitchFamily="2" charset="77"/>
                  </a:rPr>
                  <a:t> The algorithm splits municipalities into groups to minimize the Variance </a:t>
                </a:r>
                <a:r>
                  <a:rPr lang="en-US" b="1" dirty="0">
                    <a:latin typeface="Merriweather" pitchFamily="2" charset="77"/>
                  </a:rPr>
                  <a:t>(Var) </a:t>
                </a:r>
                <a:r>
                  <a:rPr lang="en-US" dirty="0">
                    <a:latin typeface="Merriweather" pitchFamily="2" charset="77"/>
                  </a:rPr>
                  <a:t>of population loss within each group.</a:t>
                </a:r>
                <a:endParaRPr lang="en-US" dirty="0"/>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Gain</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𝒑𝒂𝒓𝒆𝒏𝒕</m:t>
                          </m:r>
                        </m:sub>
                      </m:sSub>
                      <m:r>
                        <a:rPr lang="en-US" sz="1600" b="1" i="1">
                          <a:solidFill>
                            <a:schemeClr val="tx1">
                              <a:lumMod val="75000"/>
                              <a:lumOff val="25000"/>
                            </a:schemeClr>
                          </a:solidFill>
                          <a:latin typeface="Cambria Math" panose="02040503050406030204" pitchFamily="18" charset="0"/>
                        </a:rPr>
                        <m:t>−</m:t>
                      </m:r>
                      <m:d>
                        <m:dPr>
                          <m:ctrlPr>
                            <a:rPr lang="en-US" sz="1600" b="1" i="1">
                              <a:solidFill>
                                <a:schemeClr val="tx1">
                                  <a:lumMod val="75000"/>
                                  <a:lumOff val="25000"/>
                                </a:schemeClr>
                              </a:solidFill>
                              <a:latin typeface="Cambria Math" panose="02040503050406030204" pitchFamily="18" charset="0"/>
                            </a:rPr>
                          </m:ctrlPr>
                        </m:dPr>
                        <m:e>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𝒍𝒆𝒇𝒕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𝒍𝒆𝒇𝒕</m:t>
                              </m:r>
                            </m:sub>
                          </m:sSub>
                          <m:r>
                            <a:rPr lang="en-US" sz="1600" b="1" i="1">
                              <a:solidFill>
                                <a:schemeClr val="tx1">
                                  <a:lumMod val="75000"/>
                                  <a:lumOff val="25000"/>
                                </a:schemeClr>
                              </a:solidFill>
                              <a:latin typeface="Cambria Math" panose="02040503050406030204" pitchFamily="18" charset="0"/>
                            </a:rPr>
                            <m:t>+</m:t>
                          </m:r>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𝒓𝒊𝒈𝒉𝒕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𝒓𝒊𝒈𝒉𝒕</m:t>
                              </m:r>
                            </m:sub>
                          </m:sSub>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r>
                  <a:rPr lang="en-US" sz="1400" dirty="0">
                    <a:latin typeface="Merriweather" pitchFamily="2" charset="77"/>
                  </a:rPr>
                  <a:t>The model might make its </a:t>
                </a:r>
                <a:r>
                  <a:rPr lang="en-US" sz="1400" b="1" dirty="0">
                    <a:latin typeface="Merriweather" pitchFamily="2" charset="77"/>
                  </a:rPr>
                  <a:t>root split</a:t>
                </a:r>
                <a:r>
                  <a:rPr lang="en-US" sz="1400" dirty="0">
                    <a:latin typeface="Merriweather" pitchFamily="2" charset="77"/>
                  </a:rPr>
                  <a:t> based on the Hazard Variable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oMath>
                </a14:m>
                <a:r>
                  <a:rPr lang="en-US" sz="1400" dirty="0">
                    <a:latin typeface="Merriweather" pitchFamily="2" charset="77"/>
                  </a:rPr>
                  <a:t>:</a:t>
                </a:r>
              </a:p>
              <a:p>
                <a:pPr lvl="1"/>
                <a:endParaRPr lang="en-US" sz="1400" dirty="0">
                  <a:latin typeface="Merriweather" pitchFamily="2" charset="77"/>
                </a:endParaRP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1 (Hurricane Year): Go Left </a:t>
                </a:r>
                <a:r>
                  <a:rPr lang="en-US" sz="1400" dirty="0">
                    <a:latin typeface="Merriweather" pitchFamily="2" charset="77"/>
                    <a:sym typeface="Wingdings" pitchFamily="2" charset="2"/>
                  </a:rPr>
                  <a:t> </a:t>
                </a:r>
                <a:r>
                  <a:rPr lang="en-US" sz="1400" dirty="0">
                    <a:latin typeface="Merriweather" pitchFamily="2" charset="77"/>
                  </a:rPr>
                  <a:t>Predict high population loss.</a:t>
                </a: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0 (Normal Year): Go Right </a:t>
                </a:r>
                <a:r>
                  <a:rPr lang="en-US" sz="1400" dirty="0">
                    <a:latin typeface="Merriweather" pitchFamily="2" charset="77"/>
                    <a:sym typeface="Wingdings" pitchFamily="2" charset="2"/>
                  </a:rPr>
                  <a:t> </a:t>
                </a:r>
                <a:r>
                  <a:rPr lang="en-US" sz="1400" dirty="0">
                    <a:latin typeface="Merriweather" pitchFamily="2" charset="77"/>
                  </a:rPr>
                  <a:t>Check Economic Variables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𝐸</m:t>
                        </m:r>
                      </m:e>
                      <m:sub>
                        <m:r>
                          <a:rPr lang="en-US" sz="1400" i="1">
                            <a:latin typeface="Cambria Math" panose="02040503050406030204" pitchFamily="18" charset="0"/>
                          </a:rPr>
                          <m:t>𝑢𝑛𝑒𝑚𝑝</m:t>
                        </m:r>
                      </m:sub>
                    </m:sSub>
                    <m:r>
                      <a:rPr lang="en-US" sz="1400" i="1">
                        <a:latin typeface="Cambria Math" panose="02040503050406030204" pitchFamily="18" charset="0"/>
                      </a:rPr>
                      <m:t> </m:t>
                    </m:r>
                  </m:oMath>
                </a14:m>
                <a:r>
                  <a:rPr lang="en-US" sz="1400" dirty="0">
                    <a:latin typeface="Merriweather" pitchFamily="2" charset="77"/>
                  </a:rPr>
                  <a:t>to refine the prediction.</a:t>
                </a:r>
              </a:p>
              <a:p>
                <a:pPr lvl="1"/>
                <a:endParaRPr lang="en-US" sz="1400" dirty="0">
                  <a:latin typeface="Merriweather" pitchFamily="2" charset="77"/>
                </a:endParaRPr>
              </a:p>
              <a:p>
                <a:pPr lvl="1"/>
                <a:r>
                  <a:rPr lang="en-US" sz="1400" dirty="0">
                    <a:latin typeface="Merriweather" pitchFamily="2" charset="77"/>
                  </a:rPr>
                  <a:t>This effectively captures the "Shock vs. Structural" dynamic.</a:t>
                </a:r>
              </a:p>
            </p:txBody>
          </p:sp>
        </mc:Choice>
        <mc:Fallback xmlns="">
          <p:sp>
            <p:nvSpPr>
              <p:cNvPr id="2" name="TextBox 1">
                <a:extLst>
                  <a:ext uri="{FF2B5EF4-FFF2-40B4-BE49-F238E27FC236}">
                    <a16:creationId xmlns:a16="http://schemas.microsoft.com/office/drawing/2014/main" id="{032D67AD-0F58-6B2F-24E6-FF34E893A269}"/>
                  </a:ext>
                </a:extLst>
              </p:cNvPr>
              <p:cNvSpPr txBox="1">
                <a:spLocks noRot="1" noChangeAspect="1" noMove="1" noResize="1" noEditPoints="1" noAdjustHandles="1" noChangeArrowheads="1" noChangeShapeType="1" noTextEdit="1"/>
              </p:cNvSpPr>
              <p:nvPr/>
            </p:nvSpPr>
            <p:spPr>
              <a:xfrm>
                <a:off x="472643" y="1519363"/>
                <a:ext cx="9336375" cy="5171609"/>
              </a:xfrm>
              <a:prstGeom prst="rect">
                <a:avLst/>
              </a:prstGeom>
              <a:blipFill>
                <a:blip r:embed="rId3"/>
                <a:stretch>
                  <a:fillRect l="-408" t="-489"/>
                </a:stretch>
              </a:blipFill>
            </p:spPr>
            <p:txBody>
              <a:bodyPr/>
              <a:lstStyle/>
              <a:p>
                <a:r>
                  <a:rPr lang="en-US">
                    <a:noFill/>
                  </a:rPr>
                  <a:t> </a:t>
                </a:r>
              </a:p>
            </p:txBody>
          </p:sp>
        </mc:Fallback>
      </mc:AlternateContent>
    </p:spTree>
    <p:extLst>
      <p:ext uri="{BB962C8B-B14F-4D97-AF65-F5344CB8AC3E}">
        <p14:creationId xmlns:p14="http://schemas.microsoft.com/office/powerpoint/2010/main" val="3144798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980A3D1-0808-729F-75B9-ABE74F775B4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DFA7EF6-54CE-5621-6B13-544B705E7AA7}"/>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a:t>
            </a:r>
            <a:endParaRPr sz="2800" b="1" dirty="0">
              <a:latin typeface="Merriweather" pitchFamily="2" charset="77"/>
            </a:endParaRPr>
          </a:p>
        </p:txBody>
      </p:sp>
      <p:sp>
        <p:nvSpPr>
          <p:cNvPr id="122" name="Google Shape;122;p15">
            <a:extLst>
              <a:ext uri="{FF2B5EF4-FFF2-40B4-BE49-F238E27FC236}">
                <a16:creationId xmlns:a16="http://schemas.microsoft.com/office/drawing/2014/main" id="{04128C63-1862-D3F5-6B90-99832508806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CDA93AE-6B20-F095-78C6-B7F50DF2A9C9}"/>
                  </a:ext>
                </a:extLst>
              </p:cNvPr>
              <p:cNvSpPr txBox="1"/>
              <p:nvPr/>
            </p:nvSpPr>
            <p:spPr>
              <a:xfrm>
                <a:off x="472643" y="1519363"/>
                <a:ext cx="9336375" cy="474854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To group 78 municipalities into 3-4 "Risk Profiles" without being told the answer beforehand.</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Equation:</a:t>
                </a:r>
                <a:r>
                  <a:rPr lang="en-US" dirty="0">
                    <a:latin typeface="Merriweather" pitchFamily="2" charset="77"/>
                  </a:rPr>
                  <a:t> The algorithm finds k centroids (centers of clusters) and assigns every municipality to the nearest one by minimizing the "Within-Cluster Sum of Squares" (WCSS).</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14:m>
                  <m:oMath xmlns:m="http://schemas.openxmlformats.org/officeDocument/2006/math">
                    <m:sSub>
                      <m:sSubPr>
                        <m:ctrlPr>
                          <a:rPr lang="en-US" sz="1400" b="1" i="1" smtClean="0">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vector of attributes for municipality </a:t>
                </a:r>
                <a:r>
                  <a:rPr lang="en-US" sz="1400" dirty="0" err="1">
                    <a:latin typeface="Merriweather" pitchFamily="2" charset="77"/>
                  </a:rPr>
                  <a:t>i</a:t>
                </a:r>
                <a:r>
                  <a:rPr lang="en-US" sz="1400" dirty="0">
                    <a:latin typeface="Merriweather" pitchFamily="2" charset="77"/>
                  </a:rPr>
                  <a:t> (Age, Poverty, Hurricane Risk)</a:t>
                </a:r>
              </a:p>
              <a:p>
                <a:pPr marL="742950" lvl="1" indent="-285750">
                  <a:buFont typeface="Arial" panose="020B0604020202020204" pitchFamily="34" charset="0"/>
                  <a:buChar char="•"/>
                </a:pPr>
                <a14:m>
                  <m:oMath xmlns:m="http://schemas.openxmlformats.org/officeDocument/2006/math">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"center" of Cluster j (e.g., the average "High Risk" town)</a:t>
                </a:r>
              </a:p>
              <a:p>
                <a:pPr marL="742950" lvl="1" indent="-285750">
                  <a:buFont typeface="Arial" panose="020B0604020202020204" pitchFamily="34" charset="0"/>
                  <a:buChar char="•"/>
                </a:pPr>
                <a14:m>
                  <m:oMath xmlns:m="http://schemas.openxmlformats.org/officeDocument/2006/math">
                    <m:sSup>
                      <m:sSupPr>
                        <m:ctrlPr>
                          <a:rPr lang="en-US" sz="1400" b="1" i="1">
                            <a:solidFill>
                              <a:schemeClr val="tx1">
                                <a:lumMod val="75000"/>
                                <a:lumOff val="25000"/>
                              </a:schemeClr>
                            </a:solidFill>
                            <a:latin typeface="Cambria Math" panose="02040503050406030204" pitchFamily="18" charset="0"/>
                          </a:rPr>
                        </m:ctrlPr>
                      </m:sSupPr>
                      <m:e>
                        <m:d>
                          <m:dPr>
                            <m:begChr m:val="|"/>
                            <m:endChr m:val="|"/>
                            <m:ctrlPr>
                              <a:rPr lang="en-US" sz="1400" b="1" i="1">
                                <a:solidFill>
                                  <a:schemeClr val="tx1">
                                    <a:lumMod val="75000"/>
                                    <a:lumOff val="25000"/>
                                  </a:schemeClr>
                                </a:solidFill>
                                <a:latin typeface="Cambria Math" panose="02040503050406030204" pitchFamily="18" charset="0"/>
                              </a:rPr>
                            </m:ctrlPr>
                          </m:dPr>
                          <m:e>
                            <m:d>
                              <m:dPr>
                                <m:begChr m:val="|"/>
                                <m:endChr m:val="|"/>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e>
                            </m:d>
                          </m:e>
                        </m:d>
                      </m:e>
                      <m:sup>
                        <m:r>
                          <a:rPr lang="en-US" sz="1400" b="1" i="1">
                            <a:solidFill>
                              <a:schemeClr val="tx1">
                                <a:lumMod val="75000"/>
                                <a:lumOff val="25000"/>
                              </a:schemeClr>
                            </a:solidFill>
                            <a:latin typeface="Cambria Math" panose="02040503050406030204" pitchFamily="18" charset="0"/>
                          </a:rPr>
                          <m:t>𝟐</m:t>
                        </m:r>
                      </m:sup>
                    </m:sSup>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Euclidean distance</a:t>
                </a:r>
              </a:p>
              <a:p>
                <a:r>
                  <a:rPr lang="en-US" dirty="0">
                    <a:latin typeface="Merriweather" pitchFamily="2" charset="77"/>
                  </a:rPr>
                  <a:t> </a:t>
                </a: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2CDA93AE-6B20-F095-78C6-B7F50DF2A9C9}"/>
                  </a:ext>
                </a:extLst>
              </p:cNvPr>
              <p:cNvSpPr txBox="1">
                <a:spLocks noRot="1" noChangeAspect="1" noMove="1" noResize="1" noEditPoints="1" noAdjustHandles="1" noChangeArrowheads="1" noChangeShapeType="1" noTextEdit="1"/>
              </p:cNvSpPr>
              <p:nvPr/>
            </p:nvSpPr>
            <p:spPr>
              <a:xfrm>
                <a:off x="472643" y="1519363"/>
                <a:ext cx="9336375" cy="4748544"/>
              </a:xfrm>
              <a:prstGeom prst="rect">
                <a:avLst/>
              </a:prstGeom>
              <a:blipFill>
                <a:blip r:embed="rId3"/>
                <a:stretch>
                  <a:fillRect l="-408" t="-533"/>
                </a:stretch>
              </a:blipFill>
            </p:spPr>
            <p:txBody>
              <a:bodyPr/>
              <a:lstStyle/>
              <a:p>
                <a:r>
                  <a:rPr lang="en-US">
                    <a:noFill/>
                  </a:rPr>
                  <a:t> </a:t>
                </a:r>
              </a:p>
            </p:txBody>
          </p:sp>
        </mc:Fallback>
      </mc:AlternateContent>
    </p:spTree>
    <p:extLst>
      <p:ext uri="{BB962C8B-B14F-4D97-AF65-F5344CB8AC3E}">
        <p14:creationId xmlns:p14="http://schemas.microsoft.com/office/powerpoint/2010/main" val="794569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6EF50BF-94BC-B937-4417-B83DF5AB0B1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A8C4DC3-B6EA-348C-A077-492FABC2F2F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B550ABC-7669-F226-207D-FAA4232C8F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020E62-57B3-D132-562C-99AD62E7F5DA}"/>
                  </a:ext>
                </a:extLst>
              </p:cNvPr>
              <p:cNvSpPr txBox="1"/>
              <p:nvPr/>
            </p:nvSpPr>
            <p:spPr>
              <a:xfrm>
                <a:off x="472643" y="1519363"/>
                <a:ext cx="9336375" cy="562115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a:lnSpc>
                    <a:spcPct val="150000"/>
                  </a:lnSpc>
                </a:pPr>
                <a:r>
                  <a:rPr lang="en-US" dirty="0">
                    <a:latin typeface="Merriweather" pitchFamily="2" charset="77"/>
                  </a:rPr>
                  <a:t> </a:t>
                </a:r>
                <a:r>
                  <a:rPr lang="en-US" b="1" dirty="0">
                    <a:latin typeface="Merriweather" pitchFamily="2" charset="77"/>
                    <a:ea typeface="Times New Roman" panose="02020603050405020304" pitchFamily="18" charset="0"/>
                  </a:rPr>
                  <a:t>How the variables fit:</a:t>
                </a:r>
                <a:r>
                  <a:rPr lang="en-US" dirty="0">
                    <a:latin typeface="Merriweather" pitchFamily="2" charset="77"/>
                    <a:ea typeface="Times New Roman" panose="02020603050405020304" pitchFamily="18" charset="0"/>
                  </a:rPr>
                  <a:t> The "Distance" tells us how similar two towns are.</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A (Old population, High Poverty, Coastal)</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B (Young population, Low Poverty, Mountain)</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C (Old population, High Poverty, Coastal)</a:t>
                </a:r>
              </a:p>
              <a:p>
                <a:pPr marL="342900" marR="0" lvl="0" indent="-342900">
                  <a:buSzPts val="1000"/>
                  <a:buFont typeface="Symbol" pitchFamily="2" charset="2"/>
                  <a:buChar char=""/>
                  <a:tabLst>
                    <a:tab pos="457200" algn="l"/>
                  </a:tabLst>
                </a:pPr>
                <a:endParaRPr lang="en-US" dirty="0">
                  <a:latin typeface="Merriweather" pitchFamily="2" charset="77"/>
                  <a:ea typeface="Times New Roman" panose="02020603050405020304" pitchFamily="18" charset="0"/>
                </a:endParaRPr>
              </a:p>
              <a:p>
                <a:pPr marR="0" lvl="0">
                  <a:buSzPts val="1000"/>
                  <a:tabLst>
                    <a:tab pos="457200" algn="l"/>
                  </a:tabLst>
                </a:pPr>
                <a:endParaRPr lang="en-US" dirty="0">
                  <a:latin typeface="Merriweather" pitchFamily="2" charset="77"/>
                  <a:ea typeface="Times New Roman" panose="02020603050405020304" pitchFamily="18" charset="0"/>
                </a:endParaRPr>
              </a:p>
              <a:p>
                <a:r>
                  <a:rPr lang="en-US" dirty="0">
                    <a:latin typeface="Merriweather" pitchFamily="2" charset="77"/>
                    <a:ea typeface="Times New Roman" panose="02020603050405020304" pitchFamily="18" charset="0"/>
                  </a:rPr>
                  <a:t>The equation calculates that the mathematical distance between </a:t>
                </a:r>
                <a:r>
                  <a:rPr lang="en-US" b="1" dirty="0">
                    <a:latin typeface="Merriweather" pitchFamily="2" charset="77"/>
                    <a:ea typeface="Times New Roman" panose="02020603050405020304" pitchFamily="18" charset="0"/>
                  </a:rPr>
                  <a:t>Town A</a:t>
                </a:r>
                <a:r>
                  <a:rPr lang="en-US" dirty="0">
                    <a:latin typeface="Merriweather" pitchFamily="2" charset="77"/>
                    <a:ea typeface="Times New Roman" panose="02020603050405020304" pitchFamily="18" charset="0"/>
                  </a:rPr>
                  <a:t> and </a:t>
                </a:r>
                <a:r>
                  <a:rPr lang="en-US" b="1" dirty="0">
                    <a:latin typeface="Merriweather" pitchFamily="2" charset="77"/>
                    <a:ea typeface="Times New Roman" panose="02020603050405020304" pitchFamily="18" charset="0"/>
                  </a:rPr>
                  <a:t>Town C</a:t>
                </a:r>
                <a:r>
                  <a:rPr lang="en-US" dirty="0">
                    <a:latin typeface="Merriweather" pitchFamily="2" charset="77"/>
                    <a:ea typeface="Times New Roman" panose="02020603050405020304" pitchFamily="18" charset="0"/>
                  </a:rPr>
                  <a:t> is very small, so it groups them together into the same "Vulnerability Cluster."</a:t>
                </a:r>
              </a:p>
              <a:p>
                <a:endParaRPr lang="en-US" dirty="0">
                  <a:latin typeface="Merriweather" pitchFamily="2" charset="77"/>
                </a:endParaRP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43020E62-57B3-D132-562C-99AD62E7F5DA}"/>
                  </a:ext>
                </a:extLst>
              </p:cNvPr>
              <p:cNvSpPr txBox="1">
                <a:spLocks noRot="1" noChangeAspect="1" noMove="1" noResize="1" noEditPoints="1" noAdjustHandles="1" noChangeArrowheads="1" noChangeShapeType="1" noTextEdit="1"/>
              </p:cNvSpPr>
              <p:nvPr/>
            </p:nvSpPr>
            <p:spPr>
              <a:xfrm>
                <a:off x="472643" y="1519363"/>
                <a:ext cx="9336375" cy="5621154"/>
              </a:xfrm>
              <a:prstGeom prst="rect">
                <a:avLst/>
              </a:prstGeom>
              <a:blipFill>
                <a:blip r:embed="rId3"/>
                <a:stretch>
                  <a:fillRect l="-543" t="-4279"/>
                </a:stretch>
              </a:blipFill>
            </p:spPr>
            <p:txBody>
              <a:bodyPr/>
              <a:lstStyle/>
              <a:p>
                <a:r>
                  <a:rPr lang="en-US">
                    <a:noFill/>
                  </a:rPr>
                  <a:t> </a:t>
                </a:r>
              </a:p>
            </p:txBody>
          </p:sp>
        </mc:Fallback>
      </mc:AlternateContent>
    </p:spTree>
    <p:extLst>
      <p:ext uri="{BB962C8B-B14F-4D97-AF65-F5344CB8AC3E}">
        <p14:creationId xmlns:p14="http://schemas.microsoft.com/office/powerpoint/2010/main" val="1207826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FD24D36-A192-8DD1-E97D-FAF95975069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D4E32FA-91EE-1C76-2726-C556DD27EE49}"/>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95C9027-A1ED-B2F1-E68D-AB033BD59F6C}"/>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8C55C5-5517-9766-E34B-469866D9E598}"/>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3659799541"/>
      </p:ext>
    </p:extLst>
  </p:cSld>
  <p:clrMapOvr>
    <a:masterClrMapping/>
  </p:clrMapOvr>
</p:sld>
</file>

<file path=ppt/theme/theme1.xml><?xml version="1.0" encoding="utf-8"?>
<a:theme xmlns:a="http://schemas.openxmlformats.org/drawingml/2006/main" name="Rutgers Theme">
  <a:themeElements>
    <a:clrScheme name="Rutgers">
      <a:dk1>
        <a:srgbClr val="000000"/>
      </a:dk1>
      <a:lt1>
        <a:srgbClr val="FFFFFF"/>
      </a:lt1>
      <a:dk2>
        <a:srgbClr val="62666A"/>
      </a:dk2>
      <a:lt2>
        <a:srgbClr val="BBBCBC"/>
      </a:lt2>
      <a:accent1>
        <a:srgbClr val="CC0033"/>
      </a:accent1>
      <a:accent2>
        <a:srgbClr val="212121"/>
      </a:accent2>
      <a:accent3>
        <a:srgbClr val="8E0D18"/>
      </a:accent3>
      <a:accent4>
        <a:srgbClr val="666666"/>
      </a:accent4>
      <a:accent5>
        <a:srgbClr val="D7D7D7"/>
      </a:accent5>
      <a:accent6>
        <a:srgbClr val="EFEFEF"/>
      </a:accent6>
      <a:hlink>
        <a:srgbClr val="027EAB"/>
      </a:hlink>
      <a:folHlink>
        <a:srgbClr val="027EAB"/>
      </a:folHlink>
    </a:clrScheme>
    <a:fontScheme name="ppt">
      <a:majorFont>
        <a:latin typeface="PT serif"/>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utgers Theme" id="{9C799BE5-DC3B-C543-8DB1-997FB77415E5}" vid="{EE68E9E8-FE1E-FA4C-9487-082FBBF8EA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1e45801-bee2-4eee-abb6-7fc01a89663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5021A5DC4BEF54E90B3A7E0D30B82FD" ma:contentTypeVersion="5" ma:contentTypeDescription="Create a new document." ma:contentTypeScope="" ma:versionID="0b09cb170d6a15113edb6f479f6ecd10">
  <xsd:schema xmlns:xsd="http://www.w3.org/2001/XMLSchema" xmlns:xs="http://www.w3.org/2001/XMLSchema" xmlns:p="http://schemas.microsoft.com/office/2006/metadata/properties" xmlns:ns3="11e45801-bee2-4eee-abb6-7fc01a896634" targetNamespace="http://schemas.microsoft.com/office/2006/metadata/properties" ma:root="true" ma:fieldsID="c9b1b393770a16940206f9bb69539431" ns3:_="">
    <xsd:import namespace="11e45801-bee2-4eee-abb6-7fc01a89663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e45801-bee2-4eee-abb6-7fc01a89663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4EBF72-05B3-4092-B058-100DE54983B2}">
  <ds:schemaRefs>
    <ds:schemaRef ds:uri="http://schemas.microsoft.com/sharepoint/v3/contenttype/forms"/>
  </ds:schemaRefs>
</ds:datastoreItem>
</file>

<file path=customXml/itemProps2.xml><?xml version="1.0" encoding="utf-8"?>
<ds:datastoreItem xmlns:ds="http://schemas.openxmlformats.org/officeDocument/2006/customXml" ds:itemID="{1EFFF01E-6DF4-4530-B663-FF4BD91444A6}">
  <ds:schemaRefs>
    <ds:schemaRef ds:uri="11e45801-bee2-4eee-abb6-7fc01a896634"/>
    <ds:schemaRef ds:uri="http://schemas.microsoft.com/office/2006/documentManagement/types"/>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CB7AAD6B-2CD1-4FD9-A228-72630DF2E7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e45801-bee2-4eee-abb6-7fc01a8966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Rutgers Theme</Template>
  <TotalTime>27695</TotalTime>
  <Words>4029</Words>
  <Application>Microsoft Macintosh PowerPoint</Application>
  <PresentationFormat>Widescreen</PresentationFormat>
  <Paragraphs>540</Paragraphs>
  <Slides>24</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Symbol</vt:lpstr>
      <vt:lpstr>Cambria Math</vt:lpstr>
      <vt:lpstr>Calibri</vt:lpstr>
      <vt:lpstr>PT serif</vt:lpstr>
      <vt:lpstr>Wingdings</vt:lpstr>
      <vt:lpstr>Merriweather</vt:lpstr>
      <vt:lpstr>Source sans 3</vt:lpstr>
      <vt:lpstr>Roboto</vt:lpstr>
      <vt:lpstr>Rutgers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Jose Riveraruiz</cp:lastModifiedBy>
  <cp:revision>348</cp:revision>
  <cp:lastPrinted>2025-12-23T15:43:13Z</cp:lastPrinted>
  <dcterms:created xsi:type="dcterms:W3CDTF">2018-07-12T14:29:14Z</dcterms:created>
  <dcterms:modified xsi:type="dcterms:W3CDTF">2026-04-10T22:04:48Z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0x01010015021A5DC4BEF54E90B3A7E0D30B82FD</vt:lpwstr>
  </property>
</Properties>
</file>