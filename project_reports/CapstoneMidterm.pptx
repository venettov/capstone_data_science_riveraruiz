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7"/>
  </p:notesMasterIdLst>
  <p:handoutMasterIdLst>
    <p:handoutMasterId r:id="rId28"/>
  </p:handoutMasterIdLst>
  <p:sldIdLst>
    <p:sldId id="408" r:id="rId5"/>
    <p:sldId id="407" r:id="rId6"/>
    <p:sldId id="409" r:id="rId7"/>
    <p:sldId id="411" r:id="rId8"/>
    <p:sldId id="419" r:id="rId9"/>
    <p:sldId id="412" r:id="rId10"/>
    <p:sldId id="420" r:id="rId11"/>
    <p:sldId id="421" r:id="rId12"/>
    <p:sldId id="426" r:id="rId13"/>
    <p:sldId id="427" r:id="rId14"/>
    <p:sldId id="422" r:id="rId15"/>
    <p:sldId id="423" r:id="rId16"/>
    <p:sldId id="424" r:id="rId17"/>
    <p:sldId id="425" r:id="rId18"/>
    <p:sldId id="428" r:id="rId19"/>
    <p:sldId id="392" r:id="rId20"/>
    <p:sldId id="273" r:id="rId21"/>
    <p:sldId id="275" r:id="rId22"/>
    <p:sldId id="276" r:id="rId23"/>
    <p:sldId id="277" r:id="rId24"/>
    <p:sldId id="279" r:id="rId25"/>
    <p:sldId id="281" r:id="rId26"/>
  </p:sldIdLst>
  <p:sldSz cx="12192000" cy="6858000"/>
  <p:notesSz cx="9296400" cy="7010400"/>
  <p:embeddedFontLst>
    <p:embeddedFont>
      <p:font typeface="Cambria Math" panose="02040503050406030204" pitchFamily="18" charset="0"/>
      <p:regular r:id="rId29"/>
    </p:embeddedFont>
    <p:embeddedFont>
      <p:font typeface="Merriweather" pitchFamily="2" charset="77"/>
      <p:regular r:id="rId30"/>
      <p:bold r:id="rId31"/>
      <p:italic r:id="rId32"/>
      <p:boldItalic r:id="rId33"/>
    </p:embeddedFont>
    <p:embeddedFont>
      <p:font typeface="PT serif" panose="020A0603040505020204" pitchFamily="18" charset="77"/>
      <p:regular r:id="rId34"/>
      <p:bold r:id="rId35"/>
      <p:italic r:id="rId36"/>
      <p:boldItalic r:id="rId37"/>
    </p:embeddedFont>
    <p:embeddedFont>
      <p:font typeface="Roboto" panose="02000000000000000000" pitchFamily="2" charset="0"/>
      <p:regular r:id="rId38"/>
      <p:bold r:id="rId39"/>
      <p:italic r:id="rId40"/>
      <p:boldItalic r:id="rId41"/>
    </p:embeddedFont>
    <p:embeddedFont>
      <p:font typeface="Source sans 3" panose="020B0303030403020204" pitchFamily="34" charset="0"/>
      <p:regular r:id="rId42"/>
      <p:bold r:id="rId43"/>
      <p:italic r:id="rId44"/>
      <p:boldItalic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732"/>
    <p:restoredTop sz="83700"/>
  </p:normalViewPr>
  <p:slideViewPr>
    <p:cSldViewPr snapToGrid="0">
      <p:cViewPr>
        <p:scale>
          <a:sx n="130" d="100"/>
          <a:sy n="130" d="100"/>
        </p:scale>
        <p:origin x="1128" y="248"/>
      </p:cViewPr>
      <p:guideLst>
        <p:guide pos="3040"/>
        <p:guide orient="horz" pos="2160"/>
      </p:guideLst>
    </p:cSldViewPr>
  </p:slideViewPr>
  <p:notesTextViewPr>
    <p:cViewPr>
      <p:scale>
        <a:sx n="90" d="100"/>
        <a:sy n="9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1.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font" Target="fonts/font17.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36" Type="http://schemas.openxmlformats.org/officeDocument/2006/relationships/font" Target="fonts/font8.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3/13/26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3/13/26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a:t>
            </a:r>
            <a:r>
              <a:rPr lang="en-US" b="1" dirty="0"/>
              <a:t>Ordinary Least Squares (</a:t>
            </a:r>
            <a:r>
              <a:rPr lang="en-US" dirty="0"/>
              <a:t>OLS) regression provides a first look at which factors are associated with municipal population change. The results show that the strongest predictor is lagged population change, indicating strong migration momentum. Economic conditions, particularly median income, are also highly influential. Social vulnerability shows a strong positive relationship with demographic change, suggesting that structurally vulnerable municipalities experience greater migration pressure. Crime and disaster variables contribute additional but smaller effects.</a:t>
            </a:r>
          </a:p>
          <a:p>
            <a:endParaRPr lang="en-US" dirty="0"/>
          </a:p>
          <a:p>
            <a:r>
              <a:rPr lang="en-US" dirty="0"/>
              <a:t>It is the </a:t>
            </a:r>
            <a:r>
              <a:rPr lang="en-US" b="1" dirty="0"/>
              <a:t>standard linear regression method</a:t>
            </a:r>
            <a:r>
              <a:rPr lang="en-US" dirty="0"/>
              <a:t> used to estimate relationships between variables. OLS is used as a </a:t>
            </a:r>
            <a:r>
              <a:rPr lang="en-US" b="1" dirty="0"/>
              <a:t>baseline model</a:t>
            </a:r>
            <a:r>
              <a:rPr lang="en-US" dirty="0"/>
              <a:t> to understand how different factors relate to </a:t>
            </a:r>
            <a:r>
              <a:rPr lang="en-US" b="1" dirty="0"/>
              <a:t>population change</a:t>
            </a:r>
            <a:r>
              <a:rPr lang="en-US" dirty="0"/>
              <a:t>.</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1908446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uses both supervised and unsupervised methods. Supervised models such as Random </a:t>
            </a:r>
            <a:r>
              <a:rPr lang="en-US" dirty="0" err="1"/>
              <a:t>Forestand</a:t>
            </a:r>
            <a:r>
              <a:rPr lang="en-US" dirty="0"/>
              <a:t> Lasso  are used to predict population change. Unsupervised methods, including K-Means and hierarchical clustering, are then used to identify structural municipal typologies based on socioeconomic and environmental characteristics.</a:t>
            </a:r>
          </a:p>
          <a:p>
            <a:endParaRPr lang="en-US" dirty="0"/>
          </a:p>
          <a:p>
            <a:endParaRPr lang="en-US" dirty="0"/>
          </a:p>
          <a:p>
            <a:r>
              <a:rPr lang="en-US" b="1" dirty="0"/>
              <a:t>Why Clustering Comes After Prediction</a:t>
            </a:r>
          </a:p>
          <a:p>
            <a:r>
              <a:rPr lang="en-US" dirty="0"/>
              <a:t>Clustering works best </a:t>
            </a:r>
            <a:r>
              <a:rPr lang="en-US" b="1" dirty="0"/>
              <a:t>after you understand the data</a:t>
            </a:r>
            <a:r>
              <a:rPr lang="en-US" dirty="0"/>
              <a:t>.</a:t>
            </a:r>
          </a:p>
          <a:p>
            <a:r>
              <a:rPr lang="en-US" dirty="0"/>
              <a:t>By Phase 5 you already have:</a:t>
            </a:r>
          </a:p>
          <a:p>
            <a:r>
              <a:rPr lang="en-US" dirty="0"/>
              <a:t>engineered features</a:t>
            </a:r>
          </a:p>
          <a:p>
            <a:r>
              <a:rPr lang="en-US" dirty="0"/>
              <a:t>vulnerability index</a:t>
            </a:r>
          </a:p>
          <a:p>
            <a:r>
              <a:rPr lang="en-US" dirty="0"/>
              <a:t>population change</a:t>
            </a:r>
          </a:p>
          <a:p>
            <a:r>
              <a:rPr lang="en-US" dirty="0"/>
              <a:t>economic indicators</a:t>
            </a:r>
          </a:p>
          <a:p>
            <a:r>
              <a:rPr lang="en-US" dirty="0"/>
              <a:t>disaster exposure</a:t>
            </a:r>
          </a:p>
          <a:p>
            <a:r>
              <a:rPr lang="en-US" dirty="0"/>
              <a:t>Now clustering can identify </a:t>
            </a:r>
            <a:r>
              <a:rPr lang="en-US" b="1" dirty="0"/>
              <a:t>municipal typologies</a:t>
            </a:r>
            <a:r>
              <a:rPr lang="en-US" dirty="0"/>
              <a:t>.</a:t>
            </a:r>
          </a:p>
          <a:p>
            <a:r>
              <a:rPr lang="en-US" dirty="0"/>
              <a:t>Example clusters might represent:</a:t>
            </a:r>
          </a:p>
          <a:p>
            <a:r>
              <a:rPr lang="en-US" dirty="0" err="1"/>
              <a:t>ClusterInterpretationCluster</a:t>
            </a:r>
            <a:r>
              <a:rPr lang="en-US" dirty="0"/>
              <a:t> 1high-income stable </a:t>
            </a:r>
            <a:r>
              <a:rPr lang="en-US" dirty="0" err="1"/>
              <a:t>municipalitiesCluster</a:t>
            </a:r>
            <a:r>
              <a:rPr lang="en-US" dirty="0"/>
              <a:t> 2economically vulnerable </a:t>
            </a:r>
            <a:r>
              <a:rPr lang="en-US" dirty="0" err="1"/>
              <a:t>areasCluster</a:t>
            </a:r>
            <a:r>
              <a:rPr lang="en-US" dirty="0"/>
              <a:t> 3disaster-exposed municipalities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5999773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3954245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7687660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several models using R² as the main performance metric. While all models produced negative R² scores—indicating the prediction task is highly challenging—the Lasso regression performed best among the tested methods. This suggests that feature selection improves predictive performance and that the relationship between socioeconomic variables and municipal population change is complex and noisy.</a:t>
            </a:r>
          </a:p>
          <a:p>
            <a:endParaRPr lang="en-US" dirty="0"/>
          </a:p>
          <a:p>
            <a:r>
              <a:rPr lang="en-US" dirty="0"/>
              <a:t>Initial models show negative R² values, indicating that predicting annual municipal population change is challenging given the available features and high variability in migration dynamics. However, model comparison still provides useful insights. Regularized models such as Lasso perform better than the baseline OLS model, suggesting that feature selection improves generalization.</a:t>
            </a:r>
          </a:p>
          <a:p>
            <a:endParaRPr lang="en-US" dirty="0"/>
          </a:p>
          <a:p>
            <a:endParaRPr lang="en-US" dirty="0"/>
          </a:p>
          <a:p>
            <a:r>
              <a:rPr lang="en-US" dirty="0"/>
              <a:t>Lasso performs best</a:t>
            </a:r>
          </a:p>
          <a:p>
            <a:r>
              <a:rPr lang="en-US" dirty="0"/>
              <a:t>Tree model performs second</a:t>
            </a:r>
          </a:p>
          <a:p>
            <a:r>
              <a:rPr lang="en-US" dirty="0"/>
              <a:t>Ridge and OLS perform worse</a:t>
            </a:r>
          </a:p>
          <a:p>
            <a:r>
              <a:rPr lang="en-US" dirty="0"/>
              <a:t>So </a:t>
            </a:r>
            <a:r>
              <a:rPr lang="en-US" b="1" dirty="0"/>
              <a:t>the ranking is consistent</a:t>
            </a:r>
            <a:r>
              <a:rPr lang="en-US" dirty="0"/>
              <a:t>, which is a good sign.</a:t>
            </a:r>
          </a:p>
          <a:p>
            <a:endParaRPr lang="en-US" dirty="0"/>
          </a:p>
          <a:p>
            <a:endParaRPr lang="en-US" dirty="0"/>
          </a:p>
          <a:p>
            <a:pPr rtl="0"/>
            <a:r>
              <a:rPr lang="en-US" sz="1200" kern="1200" dirty="0">
                <a:solidFill>
                  <a:schemeClr val="tx1"/>
                </a:solidFill>
                <a:latin typeface="+mn-lt"/>
                <a:ea typeface="+mn-ea"/>
                <a:cs typeface="+mn-cs"/>
              </a:rPr>
              <a:t>We are predicting annual population change w</a:t>
            </a:r>
            <a:r>
              <a:rPr lang="en-US" dirty="0"/>
              <a:t>hich tends to be:</a:t>
            </a:r>
          </a:p>
          <a:p>
            <a:r>
              <a:rPr lang="en-US" dirty="0"/>
              <a:t>volatile</a:t>
            </a:r>
          </a:p>
          <a:p>
            <a:r>
              <a:rPr lang="en-US" dirty="0"/>
              <a:t>hard to predict</a:t>
            </a:r>
          </a:p>
          <a:p>
            <a:r>
              <a:rPr lang="en-US" dirty="0"/>
              <a:t>noisy</a:t>
            </a:r>
          </a:p>
          <a:p>
            <a:endParaRPr lang="en-US" dirty="0"/>
          </a:p>
          <a:p>
            <a:endParaRPr lang="en-US" dirty="0"/>
          </a:p>
          <a:p>
            <a:endParaRPr lang="en-US" dirty="0"/>
          </a:p>
          <a:p>
            <a:r>
              <a:rPr lang="en-US" b="1" dirty="0"/>
              <a:t>Why Are All R² Values Negative?</a:t>
            </a:r>
          </a:p>
          <a:p>
            <a:r>
              <a:rPr lang="en-US" dirty="0"/>
              <a:t>This is </a:t>
            </a:r>
            <a:r>
              <a:rPr lang="en-US" b="1" dirty="0"/>
              <a:t>very important to understand</a:t>
            </a:r>
            <a:r>
              <a:rPr lang="en-US" dirty="0"/>
              <a:t>.</a:t>
            </a:r>
          </a:p>
          <a:p>
            <a:r>
              <a:rPr lang="en-US" dirty="0"/>
              <a:t>The R² formula is:</a:t>
            </a:r>
          </a:p>
          <a:p>
            <a:r>
              <a:rPr lang="en-US" dirty="0"/>
              <a:t>R² = 1 − (Model Error / Baseline Error)</a:t>
            </a:r>
          </a:p>
          <a:p>
            <a:r>
              <a:rPr lang="en-US" dirty="0"/>
              <a:t>If the model performs </a:t>
            </a:r>
            <a:r>
              <a:rPr lang="en-US" b="1" dirty="0"/>
              <a:t>worse than predicting the mean</a:t>
            </a:r>
            <a:r>
              <a:rPr lang="en-US" dirty="0"/>
              <a:t>, R² becomes </a:t>
            </a:r>
            <a:r>
              <a:rPr lang="en-US" b="1" dirty="0"/>
              <a:t>negative</a:t>
            </a:r>
            <a:r>
              <a:rPr lang="en-US" dirty="0"/>
              <a:t>.</a:t>
            </a:r>
          </a:p>
          <a:p>
            <a:r>
              <a:rPr lang="en-US" dirty="0"/>
              <a:t>So negative R² means:</a:t>
            </a:r>
          </a:p>
          <a:p>
            <a:r>
              <a:rPr lang="en-US" dirty="0"/>
              <a:t>The model predictions are worse than simply predicting the average population change.</a:t>
            </a:r>
          </a:p>
          <a:p>
            <a:endParaRPr lang="en-US" dirty="0"/>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6892609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19105971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0.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hyperlink" Target="https://www.census.gov/programs-surveys/popest.html" TargetMode="External"/><Relationship Id="rId2" Type="http://schemas.openxmlformats.org/officeDocument/2006/relationships/hyperlink" Target="https://data.census.gov/" TargetMode="External"/><Relationship Id="rId1" Type="http://schemas.openxmlformats.org/officeDocument/2006/relationships/slideLayout" Target="../slideLayouts/slideLayout10.xml"/><Relationship Id="rId6" Type="http://schemas.openxmlformats.org/officeDocument/2006/relationships/hyperlink" Target="https://earthquake.usgs.gov/earthquakes/search/" TargetMode="External"/><Relationship Id="rId5" Type="http://schemas.openxmlformats.org/officeDocument/2006/relationships/hyperlink" Target="https://www.nhc.noaa.gov/data/" TargetMode="External"/><Relationship Id="rId4" Type="http://schemas.openxmlformats.org/officeDocument/2006/relationships/hyperlink" Target="https://www.census.gov/programs-surveys/cbp.ht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lgn="l"/>
            <a:r>
              <a:rPr lang="en-US" sz="2800"/>
              <a:t>Population </a:t>
            </a:r>
            <a:r>
              <a:rPr lang="en-US" sz="2800" dirty="0"/>
              <a:t>&amp;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Midterm Progress: 13MAR2026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139869"/>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600" b="1" dirty="0">
                <a:latin typeface="Merriweather" pitchFamily="2" charset="77"/>
              </a:rPr>
              <a:t>Research Problem: </a:t>
            </a:r>
            <a:r>
              <a:rPr lang="en-US" sz="1600" dirty="0">
                <a:latin typeface="Merriweather" pitchFamily="2" charset="77"/>
              </a:rPr>
              <a:t>Puerto Rico has experienced </a:t>
            </a:r>
            <a:r>
              <a:rPr lang="en-US" sz="1600" i="1" dirty="0">
                <a:latin typeface="Merriweather" pitchFamily="2" charset="77"/>
              </a:rPr>
              <a:t>significant population decline and regional vulnerability </a:t>
            </a:r>
            <a:r>
              <a:rPr lang="en-US" sz="16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600" dirty="0">
              <a:latin typeface="Merriweather" pitchFamily="2" charset="77"/>
            </a:endParaRPr>
          </a:p>
          <a:p>
            <a:pPr marL="285750" indent="-285750" fontAlgn="base">
              <a:lnSpc>
                <a:spcPct val="150000"/>
              </a:lnSpc>
              <a:buFont typeface="Arial" panose="020B0604020202020204" pitchFamily="34" charset="0"/>
              <a:buChar char="•"/>
            </a:pPr>
            <a:r>
              <a:rPr lang="en-US" sz="1600" b="1" dirty="0">
                <a:latin typeface="Merriweather" pitchFamily="2" charset="77"/>
              </a:rPr>
              <a:t>Objective: </a:t>
            </a:r>
            <a:r>
              <a:rPr lang="en-US" sz="1600" dirty="0">
                <a:latin typeface="Merriweather" pitchFamily="2" charset="77"/>
              </a:rPr>
              <a:t>Develop a </a:t>
            </a:r>
            <a:r>
              <a:rPr lang="en-US" sz="1600" b="1" i="1" dirty="0">
                <a:latin typeface="Merriweather" pitchFamily="2" charset="77"/>
              </a:rPr>
              <a:t>data-driven framework</a:t>
            </a:r>
            <a:r>
              <a:rPr lang="en-US" sz="1600" i="1" dirty="0">
                <a:latin typeface="Merriweather" pitchFamily="2" charset="77"/>
              </a:rPr>
              <a:t> </a:t>
            </a:r>
            <a:r>
              <a:rPr lang="en-US" sz="1600" dirty="0">
                <a:latin typeface="Merriweather" pitchFamily="2" charset="77"/>
              </a:rPr>
              <a:t>to:</a:t>
            </a:r>
          </a:p>
          <a:p>
            <a:pPr marL="742950" lvl="1" indent="-285750" fontAlgn="base">
              <a:lnSpc>
                <a:spcPct val="150000"/>
              </a:lnSpc>
              <a:buFont typeface="Arial" panose="020B0604020202020204" pitchFamily="34" charset="0"/>
              <a:buChar char="•"/>
            </a:pPr>
            <a:r>
              <a:rPr lang="en-US" sz="16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6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6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6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600" dirty="0">
              <a:latin typeface="Merriweather" pitchFamily="2" charset="77"/>
            </a:endParaRPr>
          </a:p>
          <a:p>
            <a:pPr marL="285750" indent="-285750" fontAlgn="base">
              <a:lnSpc>
                <a:spcPct val="150000"/>
              </a:lnSpc>
              <a:buFont typeface="Arial" panose="020B0604020202020204" pitchFamily="34" charset="0"/>
              <a:buChar char="•"/>
            </a:pPr>
            <a:r>
              <a:rPr lang="en-US" sz="16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6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6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600" dirty="0">
                <a:latin typeface="Merriweather" pitchFamily="2" charset="77"/>
              </a:rPr>
              <a:t>Detect clusters/regions with similar vulnerability profiles</a:t>
            </a:r>
          </a:p>
          <a:p>
            <a:pPr marL="285750" indent="-285750" fontAlgn="base">
              <a:buFont typeface="Arial" panose="020B0604020202020204" pitchFamily="34" charset="0"/>
              <a:buChar char="•"/>
            </a:pPr>
            <a:endParaRPr lang="en-US" sz="16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24416" y="2792361"/>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5447645"/>
          </a:xfrm>
          <a:prstGeom prst="rect">
            <a:avLst/>
          </a:prstGeom>
          <a:noFill/>
        </p:spPr>
        <p:txBody>
          <a:bodyPr wrap="square">
            <a:spAutoFit/>
          </a:bodyPr>
          <a:lstStyle/>
          <a:p>
            <a:r>
              <a:rPr lang="en-US" sz="2800" b="1" dirty="0"/>
              <a:t>Integrated Municipal Dataset</a:t>
            </a:r>
          </a:p>
          <a:p>
            <a:endParaRPr lang="en-US" sz="2000" dirty="0"/>
          </a:p>
          <a:p>
            <a:r>
              <a:rPr lang="en-US" sz="2000" b="1" dirty="0"/>
              <a:t>Sources used:</a:t>
            </a:r>
          </a:p>
          <a:p>
            <a:pPr marL="800100" lvl="1" indent="-342900">
              <a:buFont typeface="Arial" panose="020B0604020202020204" pitchFamily="34" charset="0"/>
              <a:buChar char="•"/>
            </a:pPr>
            <a:r>
              <a:rPr lang="en-US" sz="2000" dirty="0"/>
              <a:t>U.S. Census / ACS</a:t>
            </a:r>
          </a:p>
          <a:p>
            <a:pPr marL="800100" lvl="1" indent="-342900">
              <a:buFont typeface="Arial" panose="020B0604020202020204" pitchFamily="34" charset="0"/>
              <a:buChar char="•"/>
            </a:pPr>
            <a:r>
              <a:rPr lang="en-US" sz="2000" dirty="0"/>
              <a:t>NOAA Hurricane Data</a:t>
            </a:r>
          </a:p>
          <a:p>
            <a:pPr marL="800100" lvl="1" indent="-342900">
              <a:buFont typeface="Arial" panose="020B0604020202020204" pitchFamily="34" charset="0"/>
              <a:buChar char="•"/>
            </a:pPr>
            <a:r>
              <a:rPr lang="en-US" sz="2000" dirty="0"/>
              <a:t>USGS Earthquake Data</a:t>
            </a:r>
          </a:p>
          <a:p>
            <a:pPr marL="800100" lvl="1" indent="-342900">
              <a:buFont typeface="Arial" panose="020B0604020202020204" pitchFamily="34" charset="0"/>
              <a:buChar char="•"/>
            </a:pPr>
            <a:r>
              <a:rPr lang="en-US" sz="2000" dirty="0"/>
              <a:t>Police Dept. Puerto Rico-Crime Data</a:t>
            </a:r>
          </a:p>
          <a:p>
            <a:endParaRPr lang="en-US" sz="2000" dirty="0"/>
          </a:p>
          <a:p>
            <a:endParaRPr lang="en-US" sz="2000" dirty="0"/>
          </a:p>
          <a:p>
            <a:r>
              <a:rPr lang="en-US" sz="2000" b="1" dirty="0"/>
              <a:t>Example features:</a:t>
            </a:r>
          </a:p>
          <a:p>
            <a:pPr marL="800100" lvl="1" indent="-342900">
              <a:buFont typeface="Arial" panose="020B0604020202020204" pitchFamily="34" charset="0"/>
              <a:buChar char="•"/>
            </a:pPr>
            <a:r>
              <a:rPr lang="en-US" sz="2000" dirty="0"/>
              <a:t>population changes over years</a:t>
            </a:r>
          </a:p>
          <a:p>
            <a:pPr marL="800100" lvl="1" indent="-342900">
              <a:buFont typeface="Arial" panose="020B0604020202020204" pitchFamily="34" charset="0"/>
              <a:buChar char="•"/>
            </a:pPr>
            <a:r>
              <a:rPr lang="en-US" sz="2000" dirty="0"/>
              <a:t>Median income</a:t>
            </a:r>
          </a:p>
          <a:p>
            <a:pPr marL="800100" lvl="1" indent="-342900">
              <a:buFont typeface="Arial" panose="020B0604020202020204" pitchFamily="34" charset="0"/>
              <a:buChar char="•"/>
            </a:pPr>
            <a:r>
              <a:rPr lang="en-US" sz="2000" dirty="0"/>
              <a:t>Vulnerability index</a:t>
            </a:r>
          </a:p>
          <a:p>
            <a:pPr marL="800100" lvl="1" indent="-342900">
              <a:buFont typeface="Arial" panose="020B0604020202020204" pitchFamily="34" charset="0"/>
              <a:buChar char="•"/>
            </a:pPr>
            <a:r>
              <a:rPr lang="en-US" sz="2000" dirty="0"/>
              <a:t>Violent crime rates</a:t>
            </a:r>
          </a:p>
          <a:p>
            <a:pPr marL="800100" lvl="1" indent="-342900">
              <a:buFont typeface="Arial" panose="020B0604020202020204" pitchFamily="34" charset="0"/>
              <a:buChar char="•"/>
            </a:pPr>
            <a:r>
              <a:rPr lang="en-US" sz="2000" dirty="0"/>
              <a:t>disaster intensity metrics</a:t>
            </a:r>
          </a:p>
          <a:p>
            <a:endParaRPr lang="en-US" sz="2000" dirty="0"/>
          </a:p>
          <a:p>
            <a:pPr fontAlgn="base"/>
            <a:endParaRPr lang="en-US" sz="2000"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6314487" y="1477180"/>
            <a:ext cx="6005332" cy="4401205"/>
          </a:xfrm>
          <a:prstGeom prst="rect">
            <a:avLst/>
          </a:prstGeom>
          <a:noFill/>
        </p:spPr>
        <p:txBody>
          <a:bodyPr wrap="square">
            <a:spAutoFit/>
          </a:bodyPr>
          <a:lstStyle/>
          <a:p>
            <a:endParaRPr lang="en-US" sz="2000" dirty="0"/>
          </a:p>
          <a:p>
            <a:endParaRPr lang="en-US" sz="2000" dirty="0"/>
          </a:p>
          <a:p>
            <a:r>
              <a:rPr lang="en-US" sz="2000" b="1" dirty="0"/>
              <a:t>Dataset characteristics:</a:t>
            </a:r>
          </a:p>
          <a:p>
            <a:pPr marL="800100" lvl="1" indent="-342900">
              <a:buFont typeface="Arial" panose="020B0604020202020204" pitchFamily="34" charset="0"/>
              <a:buChar char="•"/>
            </a:pPr>
            <a:r>
              <a:rPr lang="en-US" sz="2000" dirty="0"/>
              <a:t>78 municipalities of Puerto Rico</a:t>
            </a:r>
          </a:p>
          <a:p>
            <a:pPr marL="800100" lvl="1" indent="-342900">
              <a:buFont typeface="Arial" panose="020B0604020202020204" pitchFamily="34" charset="0"/>
              <a:buChar char="•"/>
            </a:pPr>
            <a:r>
              <a:rPr lang="en-US" sz="2000" dirty="0"/>
              <a:t>2010–2024 time period</a:t>
            </a:r>
          </a:p>
          <a:p>
            <a:pPr marL="800100" lvl="1" indent="-342900">
              <a:buFont typeface="Arial" panose="020B0604020202020204" pitchFamily="34" charset="0"/>
              <a:buChar char="•"/>
            </a:pPr>
            <a:r>
              <a:rPr lang="en-US" sz="2000" dirty="0"/>
              <a:t>Socioeconomic and Vulnerability indicators</a:t>
            </a:r>
          </a:p>
          <a:p>
            <a:endParaRPr lang="en-US" sz="2000" dirty="0"/>
          </a:p>
          <a:p>
            <a:endParaRPr lang="en-US" sz="2000" dirty="0"/>
          </a:p>
          <a:p>
            <a:endParaRPr lang="en-US" sz="2000" dirty="0"/>
          </a:p>
          <a:p>
            <a:r>
              <a:rPr lang="en-US" sz="2000" b="1" dirty="0"/>
              <a:t>Target variable:</a:t>
            </a:r>
          </a:p>
          <a:p>
            <a:pPr marL="800100" lvl="1" indent="-342900">
              <a:buFont typeface="Arial" panose="020B0604020202020204" pitchFamily="34" charset="0"/>
              <a:buChar char="•"/>
            </a:pPr>
            <a:r>
              <a:rPr lang="en-US" sz="2000" dirty="0"/>
              <a:t>Overall Population Change </a:t>
            </a:r>
          </a:p>
          <a:p>
            <a:pPr marL="800100" lvl="1" indent="-342900">
              <a:buFont typeface="Arial" panose="020B0604020202020204" pitchFamily="34" charset="0"/>
              <a:buChar char="•"/>
            </a:pPr>
            <a:r>
              <a:rPr lang="en-US" sz="2000" dirty="0"/>
              <a:t>Regional population change</a:t>
            </a:r>
          </a:p>
          <a:p>
            <a:pPr marL="800100" lvl="1" indent="-342900">
              <a:buFont typeface="Arial" panose="020B0604020202020204" pitchFamily="34" charset="0"/>
              <a:buChar char="•"/>
            </a:pPr>
            <a:r>
              <a:rPr lang="en-US" sz="2000" dirty="0"/>
              <a:t>Municipal Population Chance </a:t>
            </a:r>
          </a:p>
          <a:p>
            <a:pPr marL="285750" indent="-285750" fontAlgn="base">
              <a:buFont typeface="Arial" panose="020B0604020202020204" pitchFamily="34" charset="0"/>
              <a:buChar char="•"/>
            </a:pPr>
            <a:endParaRPr lang="en-US" sz="2000" dirty="0">
              <a:solidFill>
                <a:srgbClr val="000000"/>
              </a:solidFill>
              <a:ea typeface="Arial"/>
              <a:cs typeface="Arial"/>
              <a:sym typeface="Arial"/>
            </a:endParaRPr>
          </a:p>
        </p:txBody>
      </p:sp>
    </p:spTree>
    <p:extLst>
      <p:ext uri="{BB962C8B-B14F-4D97-AF65-F5344CB8AC3E}">
        <p14:creationId xmlns:p14="http://schemas.microsoft.com/office/powerpoint/2010/main" val="448483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#3</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7714885" y="256763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672818" y="4722295"/>
            <a:ext cx="4422678" cy="163968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859CD-B2A9-EB5D-5DBC-D31876C3D3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AB0DA5-A6A8-2B84-AE83-36E1030BE9C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B58623E-D4F4-A2E6-047E-9C322D05A5A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DE6E144F-73E0-D3F2-9697-D6EF388D14C7}"/>
              </a:ext>
            </a:extLst>
          </p:cNvPr>
          <p:cNvSpPr txBox="1"/>
          <p:nvPr/>
        </p:nvSpPr>
        <p:spPr>
          <a:xfrm>
            <a:off x="139613" y="1368962"/>
            <a:ext cx="7059677" cy="4862870"/>
          </a:xfrm>
          <a:prstGeom prst="rect">
            <a:avLst/>
          </a:prstGeom>
          <a:noFill/>
        </p:spPr>
        <p:txBody>
          <a:bodyPr wrap="square">
            <a:spAutoFit/>
          </a:bodyPr>
          <a:lstStyle/>
          <a:p>
            <a:r>
              <a:rPr lang="en-US" sz="2000" b="1" dirty="0"/>
              <a:t>Economic conditions strongly correlate with population change</a:t>
            </a:r>
          </a:p>
          <a:p>
            <a:endParaRPr lang="en-US" sz="2000" dirty="0"/>
          </a:p>
          <a:p>
            <a:r>
              <a:rPr lang="en-US" sz="2000" b="1" dirty="0"/>
              <a:t>Observations:</a:t>
            </a:r>
          </a:p>
          <a:p>
            <a:pPr lvl="1">
              <a:lnSpc>
                <a:spcPct val="150000"/>
              </a:lnSpc>
            </a:pPr>
            <a:r>
              <a:rPr lang="en-US" sz="2000" dirty="0"/>
              <a:t>• Lower income municipalities show stronger population decline</a:t>
            </a:r>
            <a:br>
              <a:rPr lang="en-US" sz="2000" dirty="0"/>
            </a:br>
            <a:r>
              <a:rPr lang="en-US" sz="2000" dirty="0"/>
              <a:t>• Income growth appears associated with stability for some areas</a:t>
            </a:r>
            <a:br>
              <a:rPr lang="en-US" sz="2000" dirty="0"/>
            </a:br>
            <a:r>
              <a:rPr lang="en-US" sz="2000" dirty="0"/>
              <a:t>• Poverty indicators correlate with vulnerability</a:t>
            </a:r>
          </a:p>
          <a:p>
            <a:endParaRPr lang="en-US" sz="2000" dirty="0"/>
          </a:p>
          <a:p>
            <a:endParaRPr lang="en-US" sz="2000" dirty="0"/>
          </a:p>
          <a:p>
            <a:r>
              <a:rPr lang="en-US" sz="2000" b="1" dirty="0"/>
              <a:t>Conclusion:</a:t>
            </a:r>
          </a:p>
          <a:p>
            <a:r>
              <a:rPr lang="en-US" sz="2000" dirty="0"/>
              <a:t>Economic indicators should be </a:t>
            </a:r>
            <a:r>
              <a:rPr lang="en-US" sz="2000" b="1" dirty="0"/>
              <a:t>included as model features</a:t>
            </a:r>
            <a:r>
              <a:rPr lang="en-US" sz="2000" dirty="0"/>
              <a:t>.</a:t>
            </a:r>
          </a:p>
        </p:txBody>
      </p:sp>
      <p:pic>
        <p:nvPicPr>
          <p:cNvPr id="6" name="Picture 5">
            <a:extLst>
              <a:ext uri="{FF2B5EF4-FFF2-40B4-BE49-F238E27FC236}">
                <a16:creationId xmlns:a16="http://schemas.microsoft.com/office/drawing/2014/main" id="{39C8079C-74F7-9ACB-76F7-1570877196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99290" y="1368962"/>
            <a:ext cx="3568700" cy="2399796"/>
          </a:xfrm>
          <a:prstGeom prst="rect">
            <a:avLst/>
          </a:prstGeom>
        </p:spPr>
      </p:pic>
      <p:pic>
        <p:nvPicPr>
          <p:cNvPr id="8" name="Picture 7" descr="A graph with orange and blue lines&#10;&#10;AI-generated content may be incorrect.">
            <a:extLst>
              <a:ext uri="{FF2B5EF4-FFF2-40B4-BE49-F238E27FC236}">
                <a16:creationId xmlns:a16="http://schemas.microsoft.com/office/drawing/2014/main" id="{8E74EC63-5B77-5778-740A-C49BD069FF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99290" y="3831564"/>
            <a:ext cx="3568700" cy="2400268"/>
          </a:xfrm>
          <a:prstGeom prst="rect">
            <a:avLst/>
          </a:prstGeom>
        </p:spPr>
      </p:pic>
    </p:spTree>
    <p:extLst>
      <p:ext uri="{BB962C8B-B14F-4D97-AF65-F5344CB8AC3E}">
        <p14:creationId xmlns:p14="http://schemas.microsoft.com/office/powerpoint/2010/main" val="4131737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E521-AFA1-48BD-C670-0E265E92246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930819-2E3D-9704-C46D-A4CFD6587DF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B429A660-E0F3-E909-9BEF-159EAB3D4028}"/>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Feature Engineering</a:t>
            </a:r>
          </a:p>
        </p:txBody>
      </p:sp>
      <p:sp>
        <p:nvSpPr>
          <p:cNvPr id="11" name="TextBox 10">
            <a:extLst>
              <a:ext uri="{FF2B5EF4-FFF2-40B4-BE49-F238E27FC236}">
                <a16:creationId xmlns:a16="http://schemas.microsoft.com/office/drawing/2014/main" id="{DE377A1A-FE73-59AD-7956-27B550EA48B3}"/>
              </a:ext>
            </a:extLst>
          </p:cNvPr>
          <p:cNvSpPr txBox="1"/>
          <p:nvPr/>
        </p:nvSpPr>
        <p:spPr>
          <a:xfrm>
            <a:off x="139613" y="1368962"/>
            <a:ext cx="11502658" cy="4524315"/>
          </a:xfrm>
          <a:prstGeom prst="rect">
            <a:avLst/>
          </a:prstGeom>
          <a:noFill/>
        </p:spPr>
        <p:txBody>
          <a:bodyPr wrap="square">
            <a:spAutoFit/>
          </a:bodyPr>
          <a:lstStyle/>
          <a:p>
            <a:r>
              <a:rPr lang="en-US" sz="2400" b="1" dirty="0"/>
              <a:t>New features created to capture temporal and structural effects</a:t>
            </a:r>
          </a:p>
          <a:p>
            <a:endParaRPr lang="en-US" sz="2400" b="1" dirty="0"/>
          </a:p>
          <a:p>
            <a:r>
              <a:rPr lang="en-US" sz="2400" b="1" dirty="0"/>
              <a:t>Key engineered variables:</a:t>
            </a:r>
          </a:p>
          <a:p>
            <a:pPr marL="800100" lvl="1" indent="-342900">
              <a:buFont typeface="Arial" panose="020B0604020202020204" pitchFamily="34" charset="0"/>
              <a:buChar char="•"/>
            </a:pPr>
            <a:r>
              <a:rPr lang="en-US" sz="2400" dirty="0"/>
              <a:t>Population changes (hist from 2010)</a:t>
            </a:r>
          </a:p>
          <a:p>
            <a:pPr marL="800100" lvl="1" indent="-342900">
              <a:buFont typeface="Arial" panose="020B0604020202020204" pitchFamily="34" charset="0"/>
              <a:buChar char="•"/>
            </a:pPr>
            <a:r>
              <a:rPr lang="en-US" sz="2400" dirty="0"/>
              <a:t>SVI factors</a:t>
            </a:r>
          </a:p>
          <a:p>
            <a:pPr marL="800100" lvl="1" indent="-342900">
              <a:buFont typeface="Arial" panose="020B0604020202020204" pitchFamily="34" charset="0"/>
              <a:buChar char="•"/>
            </a:pPr>
            <a:r>
              <a:rPr lang="en-US" sz="2400" dirty="0"/>
              <a:t>Disaster intensity metrics</a:t>
            </a:r>
          </a:p>
          <a:p>
            <a:pPr marL="800100" lvl="1" indent="-342900">
              <a:buFont typeface="Arial" panose="020B0604020202020204" pitchFamily="34" charset="0"/>
              <a:buChar char="•"/>
            </a:pPr>
            <a:r>
              <a:rPr lang="en-US" sz="2400" dirty="0"/>
              <a:t>Crime Factors</a:t>
            </a:r>
          </a:p>
          <a:p>
            <a:endParaRPr lang="en-US" sz="2400" dirty="0"/>
          </a:p>
          <a:p>
            <a:r>
              <a:rPr lang="en-US" sz="2400" b="1" dirty="0"/>
              <a:t>Purpose:</a:t>
            </a:r>
          </a:p>
          <a:p>
            <a:pPr marL="800100" lvl="1" indent="-342900">
              <a:buFont typeface="Arial" panose="020B0604020202020204" pitchFamily="34" charset="0"/>
              <a:buChar char="•"/>
            </a:pPr>
            <a:r>
              <a:rPr lang="en-US" sz="2400" dirty="0"/>
              <a:t>Capture momentum in migration trends</a:t>
            </a:r>
          </a:p>
          <a:p>
            <a:pPr marL="800100" lvl="1" indent="-342900">
              <a:buFont typeface="Arial" panose="020B0604020202020204" pitchFamily="34" charset="0"/>
              <a:buChar char="•"/>
            </a:pPr>
            <a:r>
              <a:rPr lang="en-US" sz="2400" dirty="0"/>
              <a:t>Capture economic trajectory</a:t>
            </a:r>
          </a:p>
          <a:p>
            <a:pPr marL="800100" lvl="1" indent="-342900">
              <a:buFont typeface="Arial" panose="020B0604020202020204" pitchFamily="34" charset="0"/>
              <a:buChar char="•"/>
            </a:pPr>
            <a:r>
              <a:rPr lang="en-US" sz="2400" dirty="0"/>
              <a:t>Represent environmental shocks</a:t>
            </a:r>
          </a:p>
        </p:txBody>
      </p:sp>
      <p:sp>
        <p:nvSpPr>
          <p:cNvPr id="2" name="TextBox 1">
            <a:extLst>
              <a:ext uri="{FF2B5EF4-FFF2-40B4-BE49-F238E27FC236}">
                <a16:creationId xmlns:a16="http://schemas.microsoft.com/office/drawing/2014/main" id="{D9DF5DD2-21F9-202B-4DF6-980D0E5C9282}"/>
              </a:ext>
            </a:extLst>
          </p:cNvPr>
          <p:cNvSpPr txBox="1"/>
          <p:nvPr/>
        </p:nvSpPr>
        <p:spPr>
          <a:xfrm>
            <a:off x="13071748" y="1997839"/>
            <a:ext cx="5439033" cy="2862322"/>
          </a:xfrm>
          <a:prstGeom prst="rect">
            <a:avLst/>
          </a:prstGeom>
          <a:noFill/>
        </p:spPr>
        <p:txBody>
          <a:bodyPr wrap="square">
            <a:spAutoFit/>
          </a:bodyPr>
          <a:lstStyle/>
          <a:p>
            <a:r>
              <a:rPr lang="en-US" b="1" dirty="0">
                <a:solidFill>
                  <a:schemeClr val="bg1"/>
                </a:solidFill>
              </a:rPr>
              <a:t>Feature vector used in modeling:</a:t>
            </a:r>
          </a:p>
          <a:p>
            <a:pPr marL="742950" lvl="1" indent="-285750">
              <a:buFont typeface="Arial" panose="020B0604020202020204" pitchFamily="34" charset="0"/>
              <a:buChar char="•"/>
            </a:pPr>
            <a:r>
              <a:rPr lang="en-US" dirty="0" err="1">
                <a:solidFill>
                  <a:schemeClr val="bg1"/>
                </a:solidFill>
                <a:ea typeface="Arial"/>
                <a:cs typeface="Arial"/>
                <a:sym typeface="Arial"/>
              </a:rPr>
              <a:t>vulnerability_index</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median_income_real</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max_wind_knots</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max_seismic_mag</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lag_violent_crime_rate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lag_property_crime_rate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a:solidFill>
                  <a:schemeClr val="bg1"/>
                </a:solidFill>
                <a:ea typeface="Arial"/>
                <a:cs typeface="Arial"/>
                <a:sym typeface="Arial"/>
              </a:rPr>
              <a:t>lag_pop_change_1</a:t>
            </a:r>
          </a:p>
          <a:p>
            <a:pPr marL="742950" lvl="1" indent="-285750">
              <a:buFont typeface="Arial" panose="020B0604020202020204" pitchFamily="34" charset="0"/>
              <a:buChar char="•"/>
            </a:pPr>
            <a:r>
              <a:rPr lang="en-US" dirty="0">
                <a:solidFill>
                  <a:schemeClr val="bg1"/>
                </a:solidFill>
                <a:ea typeface="Arial"/>
                <a:cs typeface="Arial"/>
                <a:sym typeface="Arial"/>
              </a:rPr>
              <a:t>lag_pop_change_2</a:t>
            </a:r>
          </a:p>
          <a:p>
            <a:pPr marL="742950" lvl="1" indent="-285750">
              <a:buFont typeface="Arial" panose="020B0604020202020204" pitchFamily="34" charset="0"/>
              <a:buChar char="•"/>
            </a:pPr>
            <a:r>
              <a:rPr lang="en-US" dirty="0" err="1">
                <a:solidFill>
                  <a:schemeClr val="bg1"/>
                </a:solidFill>
                <a:ea typeface="Arial"/>
                <a:cs typeface="Arial"/>
                <a:sym typeface="Arial"/>
              </a:rPr>
              <a:t>income_growth</a:t>
            </a:r>
            <a:endParaRPr lang="en-US" dirty="0">
              <a:solidFill>
                <a:schemeClr val="bg1"/>
              </a:solidFill>
              <a:ea typeface="Arial"/>
              <a:cs typeface="Arial"/>
              <a:sym typeface="Arial"/>
            </a:endParaRPr>
          </a:p>
        </p:txBody>
      </p:sp>
      <p:sp>
        <p:nvSpPr>
          <p:cNvPr id="8" name="Text 8">
            <a:extLst>
              <a:ext uri="{FF2B5EF4-FFF2-40B4-BE49-F238E27FC236}">
                <a16:creationId xmlns:a16="http://schemas.microsoft.com/office/drawing/2014/main" id="{5C23EC70-E41B-3CE8-E02C-FEBA68A9A0AD}"/>
              </a:ext>
            </a:extLst>
          </p:cNvPr>
          <p:cNvSpPr/>
          <p:nvPr/>
        </p:nvSpPr>
        <p:spPr>
          <a:xfrm>
            <a:off x="10191388" y="7366237"/>
            <a:ext cx="5760720" cy="64008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The same core features carry through to Phase 4 explainability, which improves interpretability and consistency.</a:t>
            </a:r>
          </a:p>
        </p:txBody>
      </p:sp>
      <p:pic>
        <p:nvPicPr>
          <p:cNvPr id="3" name="Picture 2">
            <a:extLst>
              <a:ext uri="{FF2B5EF4-FFF2-40B4-BE49-F238E27FC236}">
                <a16:creationId xmlns:a16="http://schemas.microsoft.com/office/drawing/2014/main" id="{27CC5894-427C-0377-5E87-0D8E8AB7BA1A}"/>
              </a:ext>
            </a:extLst>
          </p:cNvPr>
          <p:cNvPicPr>
            <a:picLocks noChangeAspect="1"/>
          </p:cNvPicPr>
          <p:nvPr/>
        </p:nvPicPr>
        <p:blipFill>
          <a:blip r:embed="rId3"/>
          <a:stretch>
            <a:fillRect/>
          </a:stretch>
        </p:blipFill>
        <p:spPr>
          <a:xfrm>
            <a:off x="6419885" y="1997839"/>
            <a:ext cx="5222386" cy="4099535"/>
          </a:xfrm>
          <a:prstGeom prst="rect">
            <a:avLst/>
          </a:prstGeom>
        </p:spPr>
      </p:pic>
    </p:spTree>
    <p:extLst>
      <p:ext uri="{BB962C8B-B14F-4D97-AF65-F5344CB8AC3E}">
        <p14:creationId xmlns:p14="http://schemas.microsoft.com/office/powerpoint/2010/main" val="687822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1DFAB-331E-5F18-3110-6D4A2BAA7E9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2729FFC-217C-8866-A500-9D532979D9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822B8DA-357A-6241-16A2-68FDDC792CD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Modeling Pipeline</a:t>
            </a:r>
          </a:p>
        </p:txBody>
      </p:sp>
      <p:sp>
        <p:nvSpPr>
          <p:cNvPr id="3" name="Rounded Rectangle 2">
            <a:extLst>
              <a:ext uri="{FF2B5EF4-FFF2-40B4-BE49-F238E27FC236}">
                <a16:creationId xmlns:a16="http://schemas.microsoft.com/office/drawing/2014/main" id="{F3095C98-4C40-09C1-B726-66DA613CAC1E}"/>
              </a:ext>
            </a:extLst>
          </p:cNvPr>
          <p:cNvSpPr/>
          <p:nvPr/>
        </p:nvSpPr>
        <p:spPr>
          <a:xfrm>
            <a:off x="750276" y="1518759"/>
            <a:ext cx="2074986" cy="4773502"/>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FA3FA25D-851C-0525-FAB4-FF9ABF0D0F93}"/>
              </a:ext>
            </a:extLst>
          </p:cNvPr>
          <p:cNvSpPr/>
          <p:nvPr/>
        </p:nvSpPr>
        <p:spPr>
          <a:xfrm>
            <a:off x="3282460" y="2495015"/>
            <a:ext cx="2379785" cy="2883095"/>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135EB971-022E-F0E8-87B9-01EE5784FFB7}"/>
              </a:ext>
            </a:extLst>
          </p:cNvPr>
          <p:cNvSpPr/>
          <p:nvPr/>
        </p:nvSpPr>
        <p:spPr>
          <a:xfrm>
            <a:off x="6081655" y="2614889"/>
            <a:ext cx="2076839" cy="2763222"/>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2E47B808-BF79-9D94-052B-B5928E79D705}"/>
              </a:ext>
            </a:extLst>
          </p:cNvPr>
          <p:cNvSpPr/>
          <p:nvPr/>
        </p:nvSpPr>
        <p:spPr>
          <a:xfrm>
            <a:off x="8581292" y="2654965"/>
            <a:ext cx="1852246" cy="2512999"/>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F5A0F457-7E82-D8C3-381E-4F42B5291EB7}"/>
              </a:ext>
            </a:extLst>
          </p:cNvPr>
          <p:cNvSpPr/>
          <p:nvPr/>
        </p:nvSpPr>
        <p:spPr>
          <a:xfrm>
            <a:off x="838967" y="1591838"/>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3CB3F7E5-6533-5065-4AEF-8BC413ED4DB8}"/>
              </a:ext>
            </a:extLst>
          </p:cNvPr>
          <p:cNvSpPr/>
          <p:nvPr/>
        </p:nvSpPr>
        <p:spPr>
          <a:xfrm>
            <a:off x="847082" y="2743686"/>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F4EF8EA1-958F-01AE-FC05-13048A661A7F}"/>
              </a:ext>
            </a:extLst>
          </p:cNvPr>
          <p:cNvSpPr/>
          <p:nvPr/>
        </p:nvSpPr>
        <p:spPr>
          <a:xfrm>
            <a:off x="838967" y="3965952"/>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7ADA43CC-9AE4-478E-3DB3-716153EED9C2}"/>
              </a:ext>
            </a:extLst>
          </p:cNvPr>
          <p:cNvSpPr/>
          <p:nvPr/>
        </p:nvSpPr>
        <p:spPr>
          <a:xfrm>
            <a:off x="838966" y="5129106"/>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281A790A-94C2-331B-19BA-046C120749BC}"/>
              </a:ext>
            </a:extLst>
          </p:cNvPr>
          <p:cNvSpPr/>
          <p:nvPr/>
        </p:nvSpPr>
        <p:spPr>
          <a:xfrm>
            <a:off x="3391667" y="2567198"/>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CA0CD768-6504-33CE-F672-2EC0BF553E73}"/>
              </a:ext>
            </a:extLst>
          </p:cNvPr>
          <p:cNvSpPr/>
          <p:nvPr/>
        </p:nvSpPr>
        <p:spPr>
          <a:xfrm>
            <a:off x="3391667" y="4048544"/>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63D0B495-2758-A6E7-EE8B-8D33D7CBE516}"/>
              </a:ext>
            </a:extLst>
          </p:cNvPr>
          <p:cNvSpPr/>
          <p:nvPr/>
        </p:nvSpPr>
        <p:spPr>
          <a:xfrm>
            <a:off x="6187439" y="2692787"/>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FFB4D46B-1AA3-54FD-BA02-5D99C4AC6AE9}"/>
              </a:ext>
            </a:extLst>
          </p:cNvPr>
          <p:cNvSpPr/>
          <p:nvPr/>
        </p:nvSpPr>
        <p:spPr>
          <a:xfrm>
            <a:off x="6187439" y="3934857"/>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4FE6A73A-D280-884A-4897-3D876E38EECF}"/>
              </a:ext>
            </a:extLst>
          </p:cNvPr>
          <p:cNvSpPr/>
          <p:nvPr/>
        </p:nvSpPr>
        <p:spPr>
          <a:xfrm>
            <a:off x="8707721" y="2724328"/>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A59D83C-BF5F-32F9-E4F4-DE1312C9B5A6}"/>
                  </a:ext>
                </a:extLst>
              </p:cNvPr>
              <p:cNvSpPr txBox="1"/>
              <p:nvPr/>
            </p:nvSpPr>
            <p:spPr>
              <a:xfrm>
                <a:off x="683467" y="1203766"/>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6A59D83C-BF5F-32F9-E4F4-DE1312C9B5A6}"/>
                  </a:ext>
                </a:extLst>
              </p:cNvPr>
              <p:cNvSpPr txBox="1">
                <a:spLocks noRot="1" noChangeAspect="1" noMove="1" noResize="1" noEditPoints="1" noAdjustHandles="1" noChangeArrowheads="1" noChangeShapeType="1" noTextEdit="1"/>
              </p:cNvSpPr>
              <p:nvPr/>
            </p:nvSpPr>
            <p:spPr>
              <a:xfrm>
                <a:off x="683467" y="1203766"/>
                <a:ext cx="1437125" cy="349326"/>
              </a:xfrm>
              <a:prstGeom prst="rect">
                <a:avLst/>
              </a:prstGeom>
              <a:blipFill>
                <a:blip r:embed="rId3"/>
                <a:stretch>
                  <a:fillRect l="-1739" t="-6897" b="-1724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B42CD8BE-B9A1-2E20-1529-61A6EF471512}"/>
              </a:ext>
            </a:extLst>
          </p:cNvPr>
          <p:cNvSpPr txBox="1"/>
          <p:nvPr/>
        </p:nvSpPr>
        <p:spPr>
          <a:xfrm>
            <a:off x="3998761" y="2178425"/>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F725892-60D7-8FAC-C75F-524903F5B128}"/>
                  </a:ext>
                </a:extLst>
              </p:cNvPr>
              <p:cNvSpPr txBox="1"/>
              <p:nvPr/>
            </p:nvSpPr>
            <p:spPr>
              <a:xfrm>
                <a:off x="6378546" y="2265563"/>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7F725892-60D7-8FAC-C75F-524903F5B128}"/>
                  </a:ext>
                </a:extLst>
              </p:cNvPr>
              <p:cNvSpPr txBox="1">
                <a:spLocks noRot="1" noChangeAspect="1" noMove="1" noResize="1" noEditPoints="1" noAdjustHandles="1" noChangeArrowheads="1" noChangeShapeType="1" noTextEdit="1"/>
              </p:cNvSpPr>
              <p:nvPr/>
            </p:nvSpPr>
            <p:spPr>
              <a:xfrm>
                <a:off x="6378546" y="2265563"/>
                <a:ext cx="1567160" cy="349326"/>
              </a:xfrm>
              <a:prstGeom prst="rect">
                <a:avLst/>
              </a:prstGeom>
              <a:blipFill>
                <a:blip r:embed="rId4"/>
                <a:stretch>
                  <a:fillRect l="-2419" t="-7143"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79772FAC-5CE9-7771-4177-59E23EA9F613}"/>
              </a:ext>
            </a:extLst>
          </p:cNvPr>
          <p:cNvSpPr txBox="1"/>
          <p:nvPr/>
        </p:nvSpPr>
        <p:spPr>
          <a:xfrm>
            <a:off x="9197943" y="2330978"/>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77DC103E-90F9-234E-C9B0-4BA53D379B0A}"/>
              </a:ext>
            </a:extLst>
          </p:cNvPr>
          <p:cNvSpPr txBox="1"/>
          <p:nvPr/>
        </p:nvSpPr>
        <p:spPr>
          <a:xfrm>
            <a:off x="1481117" y="1664019"/>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602C3404-FD7A-B758-EF86-8C911F3F91FD}"/>
              </a:ext>
            </a:extLst>
          </p:cNvPr>
          <p:cNvSpPr txBox="1"/>
          <p:nvPr/>
        </p:nvSpPr>
        <p:spPr>
          <a:xfrm>
            <a:off x="1469828" y="2757753"/>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3BDEC59D-50EE-F49B-41AB-5AFFBA00760C}"/>
              </a:ext>
            </a:extLst>
          </p:cNvPr>
          <p:cNvSpPr txBox="1"/>
          <p:nvPr/>
        </p:nvSpPr>
        <p:spPr>
          <a:xfrm>
            <a:off x="1452781" y="5204000"/>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927565AF-2080-F0D1-6042-D59D55316EFE}"/>
              </a:ext>
            </a:extLst>
          </p:cNvPr>
          <p:cNvSpPr txBox="1"/>
          <p:nvPr/>
        </p:nvSpPr>
        <p:spPr>
          <a:xfrm>
            <a:off x="1474095" y="4000704"/>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B778AD8D-5942-038E-B79F-523FF43899D0}"/>
              </a:ext>
            </a:extLst>
          </p:cNvPr>
          <p:cNvSpPr txBox="1"/>
          <p:nvPr/>
        </p:nvSpPr>
        <p:spPr>
          <a:xfrm>
            <a:off x="3948823" y="2654965"/>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5FAC464B-868C-2D11-D031-84A882D0B669}"/>
              </a:ext>
            </a:extLst>
          </p:cNvPr>
          <p:cNvSpPr txBox="1"/>
          <p:nvPr/>
        </p:nvSpPr>
        <p:spPr>
          <a:xfrm>
            <a:off x="3976541" y="4168201"/>
            <a:ext cx="1611339"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 / 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B18B569E-FC9F-691F-CB7D-156B30D9600B}"/>
              </a:ext>
            </a:extLst>
          </p:cNvPr>
          <p:cNvSpPr txBox="1"/>
          <p:nvPr/>
        </p:nvSpPr>
        <p:spPr>
          <a:xfrm>
            <a:off x="6856946" y="2764830"/>
            <a:ext cx="1029449"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9A6FB9EF-DDA1-44C8-60B3-D8279734BB66}"/>
              </a:ext>
            </a:extLst>
          </p:cNvPr>
          <p:cNvSpPr txBox="1"/>
          <p:nvPr/>
        </p:nvSpPr>
        <p:spPr>
          <a:xfrm>
            <a:off x="6850534" y="3983539"/>
            <a:ext cx="1069524"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48C413CA-34F8-5C31-511B-40F5F8FFB910}"/>
              </a:ext>
            </a:extLst>
          </p:cNvPr>
          <p:cNvSpPr txBox="1"/>
          <p:nvPr/>
        </p:nvSpPr>
        <p:spPr>
          <a:xfrm>
            <a:off x="8707721" y="3475169"/>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2" name="Picture 31" descr="A group of people with a clock&#10;&#10;AI-generated content may be incorrect.">
            <a:extLst>
              <a:ext uri="{FF2B5EF4-FFF2-40B4-BE49-F238E27FC236}">
                <a16:creationId xmlns:a16="http://schemas.microsoft.com/office/drawing/2014/main" id="{428C4A64-F2DF-ECC3-2DB4-C2604F3A11CA}"/>
              </a:ext>
            </a:extLst>
          </p:cNvPr>
          <p:cNvPicPr>
            <a:picLocks noChangeAspect="1"/>
          </p:cNvPicPr>
          <p:nvPr/>
        </p:nvPicPr>
        <p:blipFill>
          <a:blip r:embed="rId5"/>
          <a:stretch>
            <a:fillRect/>
          </a:stretch>
        </p:blipFill>
        <p:spPr>
          <a:xfrm>
            <a:off x="888610" y="1746989"/>
            <a:ext cx="613898" cy="665056"/>
          </a:xfrm>
          <a:prstGeom prst="rect">
            <a:avLst/>
          </a:prstGeom>
        </p:spPr>
      </p:pic>
      <p:pic>
        <p:nvPicPr>
          <p:cNvPr id="33" name="Picture 32">
            <a:extLst>
              <a:ext uri="{FF2B5EF4-FFF2-40B4-BE49-F238E27FC236}">
                <a16:creationId xmlns:a16="http://schemas.microsoft.com/office/drawing/2014/main" id="{8C93BE0B-DA5B-EF3B-00D6-C553697D0414}"/>
              </a:ext>
            </a:extLst>
          </p:cNvPr>
          <p:cNvPicPr>
            <a:picLocks noChangeAspect="1"/>
          </p:cNvPicPr>
          <p:nvPr/>
        </p:nvPicPr>
        <p:blipFill>
          <a:blip r:embed="rId6"/>
          <a:stretch>
            <a:fillRect/>
          </a:stretch>
        </p:blipFill>
        <p:spPr>
          <a:xfrm>
            <a:off x="874727" y="2917513"/>
            <a:ext cx="627781" cy="671987"/>
          </a:xfrm>
          <a:prstGeom prst="rect">
            <a:avLst/>
          </a:prstGeom>
        </p:spPr>
      </p:pic>
      <p:pic>
        <p:nvPicPr>
          <p:cNvPr id="34" name="Picture 33" descr="A chain with a house and a broken chain&#10;&#10;AI-generated content may be incorrect.">
            <a:extLst>
              <a:ext uri="{FF2B5EF4-FFF2-40B4-BE49-F238E27FC236}">
                <a16:creationId xmlns:a16="http://schemas.microsoft.com/office/drawing/2014/main" id="{4102B568-913A-7AD1-76B6-2A38C9024DB9}"/>
              </a:ext>
            </a:extLst>
          </p:cNvPr>
          <p:cNvPicPr>
            <a:picLocks noChangeAspect="1"/>
          </p:cNvPicPr>
          <p:nvPr/>
        </p:nvPicPr>
        <p:blipFill>
          <a:blip r:embed="rId7"/>
          <a:stretch>
            <a:fillRect/>
          </a:stretch>
        </p:blipFill>
        <p:spPr>
          <a:xfrm>
            <a:off x="895583" y="4168201"/>
            <a:ext cx="606305" cy="651775"/>
          </a:xfrm>
          <a:prstGeom prst="rect">
            <a:avLst/>
          </a:prstGeom>
        </p:spPr>
      </p:pic>
      <p:pic>
        <p:nvPicPr>
          <p:cNvPr id="35" name="Picture 34">
            <a:extLst>
              <a:ext uri="{FF2B5EF4-FFF2-40B4-BE49-F238E27FC236}">
                <a16:creationId xmlns:a16="http://schemas.microsoft.com/office/drawing/2014/main" id="{04ED2048-0B06-1903-712D-1DB2CFDC605B}"/>
              </a:ext>
            </a:extLst>
          </p:cNvPr>
          <p:cNvPicPr>
            <a:picLocks noChangeAspect="1"/>
          </p:cNvPicPr>
          <p:nvPr/>
        </p:nvPicPr>
        <p:blipFill>
          <a:blip r:embed="rId8"/>
          <a:stretch>
            <a:fillRect/>
          </a:stretch>
        </p:blipFill>
        <p:spPr>
          <a:xfrm>
            <a:off x="908603" y="5263892"/>
            <a:ext cx="593285" cy="736600"/>
          </a:xfrm>
          <a:prstGeom prst="rect">
            <a:avLst/>
          </a:prstGeom>
        </p:spPr>
      </p:pic>
      <p:pic>
        <p:nvPicPr>
          <p:cNvPr id="36" name="Picture 35" descr="A close up of a diagram&#10;&#10;AI-generated content may be incorrect.">
            <a:extLst>
              <a:ext uri="{FF2B5EF4-FFF2-40B4-BE49-F238E27FC236}">
                <a16:creationId xmlns:a16="http://schemas.microsoft.com/office/drawing/2014/main" id="{6819EADF-4D1A-3C1F-3053-D121DE83A99F}"/>
              </a:ext>
            </a:extLst>
          </p:cNvPr>
          <p:cNvPicPr>
            <a:picLocks noChangeAspect="1"/>
          </p:cNvPicPr>
          <p:nvPr/>
        </p:nvPicPr>
        <p:blipFill>
          <a:blip r:embed="rId9"/>
          <a:stretch>
            <a:fillRect/>
          </a:stretch>
        </p:blipFill>
        <p:spPr>
          <a:xfrm>
            <a:off x="3462007" y="2743686"/>
            <a:ext cx="549748" cy="933202"/>
          </a:xfrm>
          <a:prstGeom prst="rect">
            <a:avLst/>
          </a:prstGeom>
        </p:spPr>
      </p:pic>
      <p:pic>
        <p:nvPicPr>
          <p:cNvPr id="37" name="Picture 36" descr="A group of dots in a circle&#10;&#10;AI-generated content may be incorrect.">
            <a:extLst>
              <a:ext uri="{FF2B5EF4-FFF2-40B4-BE49-F238E27FC236}">
                <a16:creationId xmlns:a16="http://schemas.microsoft.com/office/drawing/2014/main" id="{9559ABA8-43DC-4E8B-8D45-8E0AEFE00D07}"/>
              </a:ext>
            </a:extLst>
          </p:cNvPr>
          <p:cNvPicPr>
            <a:picLocks noChangeAspect="1"/>
          </p:cNvPicPr>
          <p:nvPr/>
        </p:nvPicPr>
        <p:blipFill>
          <a:blip r:embed="rId10"/>
          <a:stretch>
            <a:fillRect/>
          </a:stretch>
        </p:blipFill>
        <p:spPr>
          <a:xfrm>
            <a:off x="3454268" y="4310553"/>
            <a:ext cx="566476" cy="695780"/>
          </a:xfrm>
          <a:prstGeom prst="rect">
            <a:avLst/>
          </a:prstGeom>
        </p:spPr>
      </p:pic>
      <p:pic>
        <p:nvPicPr>
          <p:cNvPr id="38" name="Picture 37" descr="A graph with a red arrow down&#10;&#10;AI-generated content may be incorrect.">
            <a:extLst>
              <a:ext uri="{FF2B5EF4-FFF2-40B4-BE49-F238E27FC236}">
                <a16:creationId xmlns:a16="http://schemas.microsoft.com/office/drawing/2014/main" id="{EFF457F3-0186-6ECE-9D0D-084074EAC190}"/>
              </a:ext>
            </a:extLst>
          </p:cNvPr>
          <p:cNvPicPr>
            <a:picLocks noChangeAspect="1"/>
          </p:cNvPicPr>
          <p:nvPr/>
        </p:nvPicPr>
        <p:blipFill>
          <a:blip r:embed="rId11"/>
          <a:stretch>
            <a:fillRect/>
          </a:stretch>
        </p:blipFill>
        <p:spPr>
          <a:xfrm>
            <a:off x="6274553" y="2953114"/>
            <a:ext cx="561926" cy="657573"/>
          </a:xfrm>
          <a:prstGeom prst="rect">
            <a:avLst/>
          </a:prstGeom>
        </p:spPr>
      </p:pic>
      <p:pic>
        <p:nvPicPr>
          <p:cNvPr id="39" name="Picture 38" descr="A colorful gauge with a needle&#10;&#10;AI-generated content may be incorrect.">
            <a:extLst>
              <a:ext uri="{FF2B5EF4-FFF2-40B4-BE49-F238E27FC236}">
                <a16:creationId xmlns:a16="http://schemas.microsoft.com/office/drawing/2014/main" id="{72AF793E-AA99-ED08-5CB6-513F9D2127E3}"/>
              </a:ext>
            </a:extLst>
          </p:cNvPr>
          <p:cNvPicPr>
            <a:picLocks noChangeAspect="1"/>
          </p:cNvPicPr>
          <p:nvPr/>
        </p:nvPicPr>
        <p:blipFill>
          <a:blip r:embed="rId12"/>
          <a:stretch>
            <a:fillRect/>
          </a:stretch>
        </p:blipFill>
        <p:spPr>
          <a:xfrm>
            <a:off x="6254054" y="4073255"/>
            <a:ext cx="602892" cy="603993"/>
          </a:xfrm>
          <a:prstGeom prst="rect">
            <a:avLst/>
          </a:prstGeom>
        </p:spPr>
      </p:pic>
      <p:pic>
        <p:nvPicPr>
          <p:cNvPr id="40" name="Picture 39" descr="A map of the country with gears&#10;&#10;AI-generated content may be incorrect.">
            <a:extLst>
              <a:ext uri="{FF2B5EF4-FFF2-40B4-BE49-F238E27FC236}">
                <a16:creationId xmlns:a16="http://schemas.microsoft.com/office/drawing/2014/main" id="{60A5D264-E075-645D-F213-068BABCDBC8A}"/>
              </a:ext>
            </a:extLst>
          </p:cNvPr>
          <p:cNvPicPr>
            <a:picLocks noChangeAspect="1"/>
          </p:cNvPicPr>
          <p:nvPr/>
        </p:nvPicPr>
        <p:blipFill>
          <a:blip r:embed="rId13"/>
          <a:stretch>
            <a:fillRect/>
          </a:stretch>
        </p:blipFill>
        <p:spPr>
          <a:xfrm>
            <a:off x="8965723" y="2727210"/>
            <a:ext cx="1170894" cy="784106"/>
          </a:xfrm>
          <a:prstGeom prst="rect">
            <a:avLst/>
          </a:prstGeom>
        </p:spPr>
      </p:pic>
      <p:sp>
        <p:nvSpPr>
          <p:cNvPr id="41" name="Right Arrow 40">
            <a:extLst>
              <a:ext uri="{FF2B5EF4-FFF2-40B4-BE49-F238E27FC236}">
                <a16:creationId xmlns:a16="http://schemas.microsoft.com/office/drawing/2014/main" id="{6FC0AD79-DF4A-E96D-DD2B-37C47F8D7CD9}"/>
              </a:ext>
            </a:extLst>
          </p:cNvPr>
          <p:cNvSpPr/>
          <p:nvPr/>
        </p:nvSpPr>
        <p:spPr>
          <a:xfrm>
            <a:off x="8099133" y="3642071"/>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2" name="Right Arrow 41">
            <a:extLst>
              <a:ext uri="{FF2B5EF4-FFF2-40B4-BE49-F238E27FC236}">
                <a16:creationId xmlns:a16="http://schemas.microsoft.com/office/drawing/2014/main" id="{29BE568C-EA57-7DD5-C5DD-D013E7D35A33}"/>
              </a:ext>
            </a:extLst>
          </p:cNvPr>
          <p:cNvSpPr/>
          <p:nvPr/>
        </p:nvSpPr>
        <p:spPr>
          <a:xfrm>
            <a:off x="5589351"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3" name="Right Arrow 42">
            <a:extLst>
              <a:ext uri="{FF2B5EF4-FFF2-40B4-BE49-F238E27FC236}">
                <a16:creationId xmlns:a16="http://schemas.microsoft.com/office/drawing/2014/main" id="{24344F76-7562-8BE0-9454-9EA5A97AD636}"/>
              </a:ext>
            </a:extLst>
          </p:cNvPr>
          <p:cNvSpPr/>
          <p:nvPr/>
        </p:nvSpPr>
        <p:spPr>
          <a:xfrm>
            <a:off x="2791173" y="3685223"/>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60950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spTree>
    <p:extLst>
      <p:ext uri="{BB962C8B-B14F-4D97-AF65-F5344CB8AC3E}">
        <p14:creationId xmlns:p14="http://schemas.microsoft.com/office/powerpoint/2010/main" val="272702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20439-F071-1C8D-D9DA-160EDBA987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8130F13-0405-CF21-A3BA-C15D473003F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26339E7-BD15-53B8-78BC-6D16F6D1A3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 (cont.) </a:t>
            </a:r>
          </a:p>
        </p:txBody>
      </p:sp>
      <p:sp>
        <p:nvSpPr>
          <p:cNvPr id="6" name="Text 8">
            <a:extLst>
              <a:ext uri="{FF2B5EF4-FFF2-40B4-BE49-F238E27FC236}">
                <a16:creationId xmlns:a16="http://schemas.microsoft.com/office/drawing/2014/main" id="{B786DA1D-448E-9DEE-ED14-75AB691C33B3}"/>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7" name="Picture 6" descr="A screenshot of a computer&#10;&#10;AI-generated content may be incorrect.">
            <a:extLst>
              <a:ext uri="{FF2B5EF4-FFF2-40B4-BE49-F238E27FC236}">
                <a16:creationId xmlns:a16="http://schemas.microsoft.com/office/drawing/2014/main" id="{C644736C-2493-F967-B0CB-53C838045339}"/>
              </a:ext>
            </a:extLst>
          </p:cNvPr>
          <p:cNvPicPr>
            <a:picLocks noChangeAspect="1"/>
          </p:cNvPicPr>
          <p:nvPr/>
        </p:nvPicPr>
        <p:blipFill>
          <a:blip r:embed="rId3">
            <a:extLst>
              <a:ext uri="{28A0092B-C50C-407E-A947-70E740481C1C}">
                <a14:useLocalDpi xmlns:a14="http://schemas.microsoft.com/office/drawing/2010/main" val="0"/>
              </a:ext>
            </a:extLst>
          </a:blip>
          <a:srcRect b="18873"/>
          <a:stretch>
            <a:fillRect/>
          </a:stretch>
        </p:blipFill>
        <p:spPr>
          <a:xfrm>
            <a:off x="115228" y="1513246"/>
            <a:ext cx="10204154" cy="3127582"/>
          </a:xfrm>
          <a:prstGeom prst="rect">
            <a:avLst/>
          </a:prstGeom>
        </p:spPr>
      </p:pic>
    </p:spTree>
    <p:extLst>
      <p:ext uri="{BB962C8B-B14F-4D97-AF65-F5344CB8AC3E}">
        <p14:creationId xmlns:p14="http://schemas.microsoft.com/office/powerpoint/2010/main" val="3931947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140B8-5FE0-F481-63FB-ED5F1B20A5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E044A0C-F8BC-97A8-72B5-10567F8ED64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8B087586-FCC7-14A9-770E-B64D1330EA6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Initial Results</a:t>
            </a:r>
          </a:p>
        </p:txBody>
      </p:sp>
      <p:sp>
        <p:nvSpPr>
          <p:cNvPr id="11" name="TextBox 10">
            <a:extLst>
              <a:ext uri="{FF2B5EF4-FFF2-40B4-BE49-F238E27FC236}">
                <a16:creationId xmlns:a16="http://schemas.microsoft.com/office/drawing/2014/main" id="{8D32F2B1-063D-28A0-A7EE-6F4E0C4ABDDD}"/>
              </a:ext>
            </a:extLst>
          </p:cNvPr>
          <p:cNvSpPr txBox="1"/>
          <p:nvPr/>
        </p:nvSpPr>
        <p:spPr>
          <a:xfrm>
            <a:off x="139613" y="1309970"/>
            <a:ext cx="11729764" cy="5078313"/>
          </a:xfrm>
          <a:prstGeom prst="rect">
            <a:avLst/>
          </a:prstGeom>
          <a:noFill/>
        </p:spPr>
        <p:txBody>
          <a:bodyPr wrap="square">
            <a:spAutoFit/>
          </a:bodyPr>
          <a:lstStyle/>
          <a:p>
            <a:r>
              <a:rPr lang="en-US" sz="2000" b="1" dirty="0"/>
              <a:t>Preliminary model evaluation:</a:t>
            </a:r>
          </a:p>
          <a:p>
            <a:endParaRPr lang="en-US" dirty="0"/>
          </a:p>
          <a:p>
            <a:r>
              <a:rPr lang="en-US" b="1" dirty="0"/>
              <a:t>Headline metrics:</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b="1" dirty="0"/>
              <a:t>Observations:</a:t>
            </a:r>
          </a:p>
          <a:p>
            <a:pPr lvl="1"/>
            <a:r>
              <a:rPr lang="en-US" dirty="0"/>
              <a:t>• While all models produced negative R² score, indicating the prediction task is highly challenging</a:t>
            </a:r>
            <a:br>
              <a:rPr lang="en-US" dirty="0"/>
            </a:br>
            <a:r>
              <a:rPr lang="en-US" dirty="0"/>
              <a:t>• Features selection significantly improve predictive performance</a:t>
            </a:r>
            <a:br>
              <a:rPr lang="en-US" dirty="0"/>
            </a:br>
            <a:r>
              <a:rPr lang="en-US" dirty="0"/>
              <a:t>• </a:t>
            </a:r>
            <a:r>
              <a:rPr lang="en-US" dirty="0">
                <a:solidFill>
                  <a:srgbClr val="1F2430"/>
                </a:solidFill>
              </a:rPr>
              <a:t>The pipeline clearly produces forecasts, plots, and exported summaries</a:t>
            </a:r>
            <a:endParaRPr lang="en-US" dirty="0"/>
          </a:p>
          <a:p>
            <a:pPr lvl="1"/>
            <a:endParaRPr lang="en-US" dirty="0"/>
          </a:p>
          <a:p>
            <a:r>
              <a:rPr lang="en-US" b="1" dirty="0"/>
              <a:t>Interpretation:</a:t>
            </a:r>
          </a:p>
          <a:p>
            <a:r>
              <a:rPr lang="en-US" dirty="0"/>
              <a:t>Population migration dynamics appear to contain </a:t>
            </a:r>
            <a:r>
              <a:rPr lang="en-US" b="1" dirty="0"/>
              <a:t>predictable structure</a:t>
            </a:r>
            <a:r>
              <a:rPr lang="en-US" dirty="0"/>
              <a:t>.</a:t>
            </a:r>
          </a:p>
        </p:txBody>
      </p:sp>
      <p:sp>
        <p:nvSpPr>
          <p:cNvPr id="6" name="Text 8">
            <a:extLst>
              <a:ext uri="{FF2B5EF4-FFF2-40B4-BE49-F238E27FC236}">
                <a16:creationId xmlns:a16="http://schemas.microsoft.com/office/drawing/2014/main" id="{DAA29EF8-F080-E711-71E9-69BAA3DF82E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10" name="Picture 9" descr="A white background with black lines&#10;&#10;AI-generated content may be incorrect.">
            <a:extLst>
              <a:ext uri="{FF2B5EF4-FFF2-40B4-BE49-F238E27FC236}">
                <a16:creationId xmlns:a16="http://schemas.microsoft.com/office/drawing/2014/main" id="{0D62C9CE-881E-C43F-BD5F-E098CCFC9E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324" y="2231510"/>
            <a:ext cx="4680030" cy="1839170"/>
          </a:xfrm>
          <a:prstGeom prst="rect">
            <a:avLst/>
          </a:prstGeom>
        </p:spPr>
      </p:pic>
      <p:sp>
        <p:nvSpPr>
          <p:cNvPr id="8" name="TextBox 7">
            <a:extLst>
              <a:ext uri="{FF2B5EF4-FFF2-40B4-BE49-F238E27FC236}">
                <a16:creationId xmlns:a16="http://schemas.microsoft.com/office/drawing/2014/main" id="{1D7D5FF6-720D-178E-6160-6CD260F89087}"/>
              </a:ext>
            </a:extLst>
          </p:cNvPr>
          <p:cNvSpPr txBox="1"/>
          <p:nvPr/>
        </p:nvSpPr>
        <p:spPr>
          <a:xfrm>
            <a:off x="7393131" y="2398318"/>
            <a:ext cx="4218038" cy="1169551"/>
          </a:xfrm>
          <a:prstGeom prst="rect">
            <a:avLst/>
          </a:prstGeom>
          <a:noFill/>
        </p:spPr>
        <p:txBody>
          <a:bodyPr wrap="square">
            <a:spAutoFit/>
          </a:bodyPr>
          <a:lstStyle/>
          <a:p>
            <a:pPr>
              <a:buNone/>
            </a:pPr>
            <a:r>
              <a:rPr lang="en-US" sz="1400" dirty="0"/>
              <a:t>Important migration drivers may not be in the dataset:</a:t>
            </a:r>
          </a:p>
          <a:p>
            <a:pPr marL="285750" indent="-285750">
              <a:buFont typeface="Arial" panose="020B0604020202020204" pitchFamily="34" charset="0"/>
              <a:buChar char="•"/>
            </a:pPr>
            <a:r>
              <a:rPr lang="en-US" sz="1400" dirty="0"/>
              <a:t>Housing prices</a:t>
            </a:r>
          </a:p>
          <a:p>
            <a:pPr marL="285750" indent="-285750">
              <a:buFont typeface="Arial" panose="020B0604020202020204" pitchFamily="34" charset="0"/>
              <a:buChar char="•"/>
            </a:pPr>
            <a:r>
              <a:rPr lang="en-US" sz="1400" dirty="0"/>
              <a:t>School quality</a:t>
            </a:r>
          </a:p>
          <a:p>
            <a:pPr marL="285750" indent="-285750">
              <a:buFont typeface="Arial" panose="020B0604020202020204" pitchFamily="34" charset="0"/>
              <a:buChar char="•"/>
            </a:pPr>
            <a:r>
              <a:rPr lang="en-US" sz="1400" dirty="0"/>
              <a:t>Local  &amp; Federal policy</a:t>
            </a:r>
          </a:p>
          <a:p>
            <a:pPr marL="285750" indent="-285750">
              <a:buFont typeface="Arial" panose="020B0604020202020204" pitchFamily="34" charset="0"/>
              <a:buChar char="•"/>
            </a:pPr>
            <a:r>
              <a:rPr lang="en-US" sz="1400" dirty="0"/>
              <a:t>Work trends</a:t>
            </a:r>
          </a:p>
        </p:txBody>
      </p:sp>
    </p:spTree>
    <p:extLst>
      <p:ext uri="{BB962C8B-B14F-4D97-AF65-F5344CB8AC3E}">
        <p14:creationId xmlns:p14="http://schemas.microsoft.com/office/powerpoint/2010/main" val="4058476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B875-6014-6E22-8CA7-C81DA813149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4F55E00-348A-BC23-9D73-3AFC84DF8D9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83CF0C1E-7C82-2640-CE6D-BC32BF033D8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latin typeface="Aptos Display" pitchFamily="34" charset="0"/>
                <a:ea typeface="Aptos Display" pitchFamily="34" charset="-122"/>
                <a:cs typeface="Aptos Display" pitchFamily="34" charset="-120"/>
              </a:rPr>
              <a:t>Forecasting</a:t>
            </a:r>
            <a:endParaRPr lang="en-US" sz="3200" dirty="0">
              <a:solidFill>
                <a:schemeClr val="bg1"/>
              </a:solidFill>
            </a:endParaRPr>
          </a:p>
        </p:txBody>
      </p:sp>
      <p:pic>
        <p:nvPicPr>
          <p:cNvPr id="7" name="Image 2" descr="/mnt/data/notebook_images/Phase3_cell17_3.png">
            <a:extLst>
              <a:ext uri="{FF2B5EF4-FFF2-40B4-BE49-F238E27FC236}">
                <a16:creationId xmlns:a16="http://schemas.microsoft.com/office/drawing/2014/main" id="{649755F0-469F-321D-7500-F1F490BB2E56}"/>
              </a:ext>
            </a:extLst>
          </p:cNvPr>
          <p:cNvPicPr>
            <a:picLocks noChangeAspect="1"/>
          </p:cNvPicPr>
          <p:nvPr/>
        </p:nvPicPr>
        <p:blipFill>
          <a:blip r:embed="rId2"/>
          <a:stretch>
            <a:fillRect/>
          </a:stretch>
        </p:blipFill>
        <p:spPr>
          <a:xfrm>
            <a:off x="7006107" y="2375331"/>
            <a:ext cx="4246819" cy="2107337"/>
          </a:xfrm>
          <a:prstGeom prst="rect">
            <a:avLst/>
          </a:prstGeom>
        </p:spPr>
      </p:pic>
      <p:sp>
        <p:nvSpPr>
          <p:cNvPr id="8" name="Text 3">
            <a:extLst>
              <a:ext uri="{FF2B5EF4-FFF2-40B4-BE49-F238E27FC236}">
                <a16:creationId xmlns:a16="http://schemas.microsoft.com/office/drawing/2014/main" id="{6919F0FC-DD5A-9BE8-6990-8783C19D27BB}"/>
              </a:ext>
            </a:extLst>
          </p:cNvPr>
          <p:cNvSpPr/>
          <p:nvPr/>
        </p:nvSpPr>
        <p:spPr>
          <a:xfrm>
            <a:off x="532332" y="5334605"/>
            <a:ext cx="6400800" cy="914400"/>
          </a:xfrm>
          <a:prstGeom prst="rect">
            <a:avLst/>
          </a:prstGeom>
          <a:noFill/>
          <a:ln/>
        </p:spPr>
        <p:txBody>
          <a:bodyPr wrap="square" lIns="254" tIns="254" rIns="254" bIns="254" rtlCol="0" anchor="ctr"/>
          <a:lstStyle/>
          <a:p>
            <a:pPr marL="177800" indent="-177800">
              <a:buSzPct val="100000"/>
              <a:buChar char="•"/>
            </a:pPr>
            <a:r>
              <a:rPr lang="en-US" sz="1600" dirty="0">
                <a:solidFill>
                  <a:srgbClr val="1F2430"/>
                </a:solidFill>
              </a:rPr>
              <a:t>Forecast exports translate the model into decision-support outputs</a:t>
            </a:r>
            <a:endParaRPr lang="en-US" sz="1600" dirty="0"/>
          </a:p>
        </p:txBody>
      </p:sp>
      <p:sp>
        <p:nvSpPr>
          <p:cNvPr id="9" name="Shape 4">
            <a:extLst>
              <a:ext uri="{FF2B5EF4-FFF2-40B4-BE49-F238E27FC236}">
                <a16:creationId xmlns:a16="http://schemas.microsoft.com/office/drawing/2014/main" id="{00A33FD4-7AB1-3C00-2B88-717BA7E20912}"/>
              </a:ext>
            </a:extLst>
          </p:cNvPr>
          <p:cNvSpPr/>
          <p:nvPr/>
        </p:nvSpPr>
        <p:spPr>
          <a:xfrm>
            <a:off x="8327977" y="5220305"/>
            <a:ext cx="3447288" cy="1028700"/>
          </a:xfrm>
          <a:prstGeom prst="roundRect">
            <a:avLst/>
          </a:prstGeom>
          <a:solidFill>
            <a:srgbClr val="FFF8E1"/>
          </a:solidFill>
          <a:ln w="12700">
            <a:solidFill>
              <a:srgbClr val="E9C46A"/>
            </a:solidFill>
            <a:prstDash val="solid"/>
          </a:ln>
        </p:spPr>
        <p:txBody>
          <a:bodyPr/>
          <a:lstStyle/>
          <a:p>
            <a:endParaRPr lang="en-US"/>
          </a:p>
        </p:txBody>
      </p:sp>
      <p:sp>
        <p:nvSpPr>
          <p:cNvPr id="10" name="Text 5">
            <a:extLst>
              <a:ext uri="{FF2B5EF4-FFF2-40B4-BE49-F238E27FC236}">
                <a16:creationId xmlns:a16="http://schemas.microsoft.com/office/drawing/2014/main" id="{97D96FA9-E7C6-2596-A0D5-E50A09FFDCF9}"/>
              </a:ext>
            </a:extLst>
          </p:cNvPr>
          <p:cNvSpPr/>
          <p:nvPr/>
        </p:nvSpPr>
        <p:spPr>
          <a:xfrm>
            <a:off x="8399605" y="5309420"/>
            <a:ext cx="3375660" cy="640080"/>
          </a:xfrm>
          <a:prstGeom prst="rect">
            <a:avLst/>
          </a:prstGeom>
          <a:noFill/>
          <a:ln/>
        </p:spPr>
        <p:txBody>
          <a:bodyPr wrap="square" lIns="254" tIns="254" rIns="254" bIns="254" rtlCol="0" anchor="ctr"/>
          <a:lstStyle/>
          <a:p>
            <a:pPr marL="177800" indent="-177800">
              <a:lnSpc>
                <a:spcPct val="150000"/>
              </a:lnSpc>
              <a:buSzPct val="100000"/>
              <a:buChar char="•"/>
            </a:pPr>
            <a:r>
              <a:rPr lang="en-US" sz="1600" dirty="0">
                <a:solidFill>
                  <a:srgbClr val="1F2430"/>
                </a:solidFill>
              </a:rPr>
              <a:t>2025 expected population: 3,192,439</a:t>
            </a:r>
            <a:endParaRPr lang="en-US" sz="1600" dirty="0"/>
          </a:p>
          <a:p>
            <a:pPr marL="177800" indent="-177800">
              <a:lnSpc>
                <a:spcPct val="150000"/>
              </a:lnSpc>
              <a:buSzPct val="100000"/>
              <a:buChar char="•"/>
            </a:pPr>
            <a:r>
              <a:rPr lang="en-US" sz="1600" dirty="0">
                <a:solidFill>
                  <a:srgbClr val="1F2430"/>
                </a:solidFill>
              </a:rPr>
              <a:t>2030 expected population: 2,991,079</a:t>
            </a:r>
            <a:endParaRPr lang="en-US" sz="1600" dirty="0"/>
          </a:p>
        </p:txBody>
      </p:sp>
      <p:pic>
        <p:nvPicPr>
          <p:cNvPr id="12" name="Picture 11">
            <a:extLst>
              <a:ext uri="{FF2B5EF4-FFF2-40B4-BE49-F238E27FC236}">
                <a16:creationId xmlns:a16="http://schemas.microsoft.com/office/drawing/2014/main" id="{6E21CD5A-5C6B-964F-DF4D-8DB071B8A892}"/>
              </a:ext>
            </a:extLst>
          </p:cNvPr>
          <p:cNvPicPr>
            <a:picLocks noChangeAspect="1"/>
          </p:cNvPicPr>
          <p:nvPr/>
        </p:nvPicPr>
        <p:blipFill>
          <a:blip r:embed="rId3"/>
          <a:srcRect t="25426" r="19188" b="34295"/>
          <a:stretch>
            <a:fillRect/>
          </a:stretch>
        </p:blipFill>
        <p:spPr>
          <a:xfrm>
            <a:off x="113671" y="1905058"/>
            <a:ext cx="5790600" cy="2107337"/>
          </a:xfrm>
          <a:prstGeom prst="rect">
            <a:avLst/>
          </a:prstGeom>
        </p:spPr>
      </p:pic>
    </p:spTree>
    <p:extLst>
      <p:ext uri="{BB962C8B-B14F-4D97-AF65-F5344CB8AC3E}">
        <p14:creationId xmlns:p14="http://schemas.microsoft.com/office/powerpoint/2010/main" val="27929246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FC11E-1336-0354-3E58-19BA540B4DA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6804072-8010-9ABD-0E35-C7F92F374D7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F8D213A5-38CE-7DAF-B772-1D5543BD2287}"/>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Challenges &amp; Limitations</a:t>
            </a:r>
          </a:p>
        </p:txBody>
      </p:sp>
      <p:sp>
        <p:nvSpPr>
          <p:cNvPr id="11" name="TextBox 10">
            <a:extLst>
              <a:ext uri="{FF2B5EF4-FFF2-40B4-BE49-F238E27FC236}">
                <a16:creationId xmlns:a16="http://schemas.microsoft.com/office/drawing/2014/main" id="{D6112FC3-CA3F-8B42-1283-BD9C05EB1BCE}"/>
              </a:ext>
            </a:extLst>
          </p:cNvPr>
          <p:cNvSpPr txBox="1"/>
          <p:nvPr/>
        </p:nvSpPr>
        <p:spPr>
          <a:xfrm>
            <a:off x="204927" y="1646548"/>
            <a:ext cx="9560053" cy="3046988"/>
          </a:xfrm>
          <a:prstGeom prst="rect">
            <a:avLst/>
          </a:prstGeom>
          <a:noFill/>
        </p:spPr>
        <p:txBody>
          <a:bodyPr wrap="square">
            <a:spAutoFit/>
          </a:bodyPr>
          <a:lstStyle/>
          <a:p>
            <a:r>
              <a:rPr lang="en-US" sz="2400" b="1" dirty="0"/>
              <a:t>Main challenges so far:</a:t>
            </a:r>
          </a:p>
          <a:p>
            <a:r>
              <a:rPr lang="en-US" sz="2400" dirty="0"/>
              <a:t>• Limited time-series depth for some variables</a:t>
            </a:r>
            <a:br>
              <a:rPr lang="en-US" sz="2400" dirty="0"/>
            </a:br>
            <a:r>
              <a:rPr lang="en-US" sz="2400" dirty="0"/>
              <a:t>• Disaster data integration complexity</a:t>
            </a:r>
            <a:br>
              <a:rPr lang="en-US" sz="2400" dirty="0"/>
            </a:br>
            <a:r>
              <a:rPr lang="en-US" sz="2400" dirty="0"/>
              <a:t>• Small sample size (78 municipalities)</a:t>
            </a:r>
          </a:p>
          <a:p>
            <a:endParaRPr lang="en-US" sz="2400" dirty="0"/>
          </a:p>
          <a:p>
            <a:endParaRPr lang="en-US" sz="2400" dirty="0"/>
          </a:p>
          <a:p>
            <a:r>
              <a:rPr lang="en-US" sz="2400" b="1" dirty="0"/>
              <a:t>Interpretability challenge:</a:t>
            </a:r>
          </a:p>
          <a:p>
            <a:r>
              <a:rPr lang="en-US" sz="2400" dirty="0"/>
              <a:t>Distinguishing </a:t>
            </a:r>
            <a:r>
              <a:rPr lang="en-US" sz="2400" b="1" dirty="0"/>
              <a:t>causal drivers vs correlations</a:t>
            </a:r>
            <a:r>
              <a:rPr lang="en-US" sz="2400" dirty="0"/>
              <a:t>.</a:t>
            </a:r>
          </a:p>
        </p:txBody>
      </p:sp>
    </p:spTree>
    <p:extLst>
      <p:ext uri="{BB962C8B-B14F-4D97-AF65-F5344CB8AC3E}">
        <p14:creationId xmlns:p14="http://schemas.microsoft.com/office/powerpoint/2010/main" val="2036889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BC5C0-87DE-B22B-4D3B-ECD79F36BCE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0FEEC50-6F5A-487A-4F00-CEC71107AE4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0A05510-2FC0-CCDE-B20A-5A4325C20256}"/>
              </a:ext>
            </a:extLst>
          </p:cNvPr>
          <p:cNvSpPr txBox="1">
            <a:spLocks/>
          </p:cNvSpPr>
          <p:nvPr/>
        </p:nvSpPr>
        <p:spPr>
          <a:xfrm>
            <a:off x="139613" y="361539"/>
            <a:ext cx="6866494"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Plan for the Rest of the Semester</a:t>
            </a:r>
          </a:p>
        </p:txBody>
      </p:sp>
      <p:sp>
        <p:nvSpPr>
          <p:cNvPr id="11" name="TextBox 10">
            <a:extLst>
              <a:ext uri="{FF2B5EF4-FFF2-40B4-BE49-F238E27FC236}">
                <a16:creationId xmlns:a16="http://schemas.microsoft.com/office/drawing/2014/main" id="{1725AA8E-323A-03D8-AC1F-31721CEFA178}"/>
              </a:ext>
            </a:extLst>
          </p:cNvPr>
          <p:cNvSpPr txBox="1"/>
          <p:nvPr/>
        </p:nvSpPr>
        <p:spPr>
          <a:xfrm>
            <a:off x="139613" y="1368962"/>
            <a:ext cx="11840577" cy="4832092"/>
          </a:xfrm>
          <a:prstGeom prst="rect">
            <a:avLst/>
          </a:prstGeom>
          <a:noFill/>
        </p:spPr>
        <p:txBody>
          <a:bodyPr wrap="square">
            <a:spAutoFit/>
          </a:bodyPr>
          <a:lstStyle/>
          <a:p>
            <a:r>
              <a:rPr lang="en-US" sz="2400" b="1" dirty="0"/>
              <a:t>Next steps:</a:t>
            </a:r>
          </a:p>
          <a:p>
            <a:endParaRPr lang="en-US" sz="2400" dirty="0"/>
          </a:p>
          <a:p>
            <a:pPr marL="457200" indent="-457200">
              <a:lnSpc>
                <a:spcPct val="150000"/>
              </a:lnSpc>
              <a:buFont typeface="+mj-lt"/>
              <a:buAutoNum type="arabicPeriod"/>
            </a:pPr>
            <a:r>
              <a:rPr lang="en-US" sz="2400" dirty="0"/>
              <a:t>Improve forecasting models</a:t>
            </a:r>
            <a:br>
              <a:rPr lang="en-US" sz="2400" dirty="0"/>
            </a:br>
            <a:r>
              <a:rPr lang="en-US" sz="2400" dirty="0"/>
              <a:t>	Experiment with additional ML algorithms</a:t>
            </a:r>
          </a:p>
          <a:p>
            <a:pPr marL="457200" indent="-457200">
              <a:lnSpc>
                <a:spcPct val="150000"/>
              </a:lnSpc>
              <a:buFont typeface="+mj-lt"/>
              <a:buAutoNum type="arabicPeriod"/>
            </a:pPr>
            <a:r>
              <a:rPr lang="en-US" sz="2400" dirty="0"/>
              <a:t>Refine vulnerability index</a:t>
            </a:r>
          </a:p>
          <a:p>
            <a:pPr marL="457200" indent="-457200">
              <a:lnSpc>
                <a:spcPct val="150000"/>
              </a:lnSpc>
              <a:buFont typeface="+mj-lt"/>
              <a:buAutoNum type="arabicPeriod"/>
            </a:pPr>
            <a:r>
              <a:rPr lang="en-US" sz="2400" dirty="0"/>
              <a:t>Expand regional analysis</a:t>
            </a:r>
            <a:br>
              <a:rPr lang="en-US" sz="2400" dirty="0"/>
            </a:br>
            <a:r>
              <a:rPr lang="en-US" sz="2400" dirty="0"/>
              <a:t>	Cluster distribution by Puerto Rico regions</a:t>
            </a:r>
          </a:p>
          <a:p>
            <a:pPr marL="457200" indent="-457200">
              <a:lnSpc>
                <a:spcPct val="150000"/>
              </a:lnSpc>
              <a:buFont typeface="+mj-lt"/>
              <a:buAutoNum type="arabicPeriod"/>
            </a:pPr>
            <a:r>
              <a:rPr lang="en-US" sz="2400" dirty="0"/>
              <a:t>Develop interactive dashboard</a:t>
            </a:r>
          </a:p>
          <a:p>
            <a:endParaRPr lang="en-US" sz="2400" dirty="0"/>
          </a:p>
          <a:p>
            <a:r>
              <a:rPr lang="en-US" sz="2000" b="1" dirty="0"/>
              <a:t>Final goal: </a:t>
            </a:r>
            <a:r>
              <a:rPr lang="en-US" sz="2000" dirty="0"/>
              <a:t>Create a </a:t>
            </a:r>
            <a:r>
              <a:rPr lang="en-US" sz="2000" b="1" dirty="0"/>
              <a:t>decision-support framework</a:t>
            </a:r>
            <a:r>
              <a:rPr lang="en-US" sz="2000" dirty="0"/>
              <a:t> to analyze demographic vulnerability in Puerto Rico.</a:t>
            </a:r>
          </a:p>
        </p:txBody>
      </p:sp>
    </p:spTree>
    <p:extLst>
      <p:ext uri="{BB962C8B-B14F-4D97-AF65-F5344CB8AC3E}">
        <p14:creationId xmlns:p14="http://schemas.microsoft.com/office/powerpoint/2010/main" val="1710224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28A39-60F6-70F2-61C3-5BA212588A0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D1391-0C85-D1C0-0841-A60E44AF2A7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7A4151-8A84-D82C-6961-496D390781C0}"/>
              </a:ext>
            </a:extLst>
          </p:cNvPr>
          <p:cNvSpPr txBox="1">
            <a:spLocks/>
          </p:cNvSpPr>
          <p:nvPr/>
        </p:nvSpPr>
        <p:spPr>
          <a:xfrm>
            <a:off x="139613" y="361539"/>
            <a:ext cx="6866494"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lgn="l">
              <a:spcBef>
                <a:spcPts val="0"/>
              </a:spcBef>
            </a:pPr>
            <a:r>
              <a:rPr lang="en-US" sz="3200" b="1" dirty="0">
                <a:solidFill>
                  <a:schemeClr val="bg1"/>
                </a:solidFill>
                <a:ea typeface="Merriweather"/>
                <a:cs typeface="Merriweather"/>
                <a:sym typeface="Merriweather"/>
              </a:rPr>
              <a:t>Resources</a:t>
            </a:r>
            <a:endParaRPr lang="en-US" sz="3200" dirty="0">
              <a:solidFill>
                <a:schemeClr val="bg1"/>
              </a:solidFill>
            </a:endParaRPr>
          </a:p>
        </p:txBody>
      </p:sp>
      <p:sp>
        <p:nvSpPr>
          <p:cNvPr id="2" name="TextBox 1">
            <a:extLst>
              <a:ext uri="{FF2B5EF4-FFF2-40B4-BE49-F238E27FC236}">
                <a16:creationId xmlns:a16="http://schemas.microsoft.com/office/drawing/2014/main" id="{BC02426B-96E3-507C-EE41-243AE6843640}"/>
              </a:ext>
            </a:extLst>
          </p:cNvPr>
          <p:cNvSpPr txBox="1"/>
          <p:nvPr/>
        </p:nvSpPr>
        <p:spPr>
          <a:xfrm>
            <a:off x="0" y="1474827"/>
            <a:ext cx="9793357" cy="4278094"/>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2"/>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3"/>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5"/>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6"/>
              </a:rPr>
              <a:t>https://earthquake.usgs.gov/earthquakes/search/</a:t>
            </a:r>
            <a:endParaRPr lang="en-US" sz="1600" dirty="0">
              <a:effectLst/>
              <a:latin typeface="Merriweather" pitchFamily="2" charset="77"/>
              <a:ea typeface="Times New Roman" panose="02020603050405020304" pitchFamily="18" charset="0"/>
            </a:endParaRPr>
          </a:p>
        </p:txBody>
      </p:sp>
    </p:spTree>
    <p:extLst>
      <p:ext uri="{BB962C8B-B14F-4D97-AF65-F5344CB8AC3E}">
        <p14:creationId xmlns:p14="http://schemas.microsoft.com/office/powerpoint/2010/main" val="3413744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78F1ECCD-EAE1-7FF6-C044-34E5AACFC5D5}"/>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ACF3D97D-0981-77D4-F5E5-96BF1B32B8CF}"/>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7722689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26890</TotalTime>
  <Words>2422</Words>
  <Application>Microsoft Macintosh PowerPoint</Application>
  <PresentationFormat>Widescreen</PresentationFormat>
  <Paragraphs>361</Paragraphs>
  <Slides>22</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22</vt:i4>
      </vt:variant>
    </vt:vector>
  </HeadingPairs>
  <TitlesOfParts>
    <vt:vector size="33" baseType="lpstr">
      <vt:lpstr>Merriweather</vt:lpstr>
      <vt:lpstr>Wingdings</vt:lpstr>
      <vt:lpstr>PT serif</vt:lpstr>
      <vt:lpstr>Arial</vt:lpstr>
      <vt:lpstr>Roboto</vt:lpstr>
      <vt:lpstr>Symbol</vt:lpstr>
      <vt:lpstr>Aptos Display</vt:lpstr>
      <vt:lpstr>Cambria Math</vt:lpstr>
      <vt:lpstr>Source sans 3</vt:lpstr>
      <vt:lpstr>Calibri</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296</cp:revision>
  <cp:lastPrinted>2025-12-23T15:43:13Z</cp:lastPrinted>
  <dcterms:created xsi:type="dcterms:W3CDTF">2018-07-12T14:29:14Z</dcterms:created>
  <dcterms:modified xsi:type="dcterms:W3CDTF">2026-03-13T20:45:54Z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