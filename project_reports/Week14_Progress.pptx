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saveSubsetFonts="1">
  <p:sldMasterIdLst>
    <p:sldMasterId id="2147483661" r:id="rId4"/>
  </p:sldMasterIdLst>
  <p:notesMasterIdLst>
    <p:notesMasterId r:id="rId32"/>
  </p:notesMasterIdLst>
  <p:handoutMasterIdLst>
    <p:handoutMasterId r:id="rId33"/>
  </p:handoutMasterIdLst>
  <p:sldIdLst>
    <p:sldId id="408" r:id="rId5"/>
    <p:sldId id="407" r:id="rId6"/>
    <p:sldId id="448" r:id="rId7"/>
    <p:sldId id="431" r:id="rId8"/>
    <p:sldId id="449" r:id="rId9"/>
    <p:sldId id="454" r:id="rId10"/>
    <p:sldId id="435" r:id="rId11"/>
    <p:sldId id="436" r:id="rId12"/>
    <p:sldId id="437" r:id="rId13"/>
    <p:sldId id="457" r:id="rId14"/>
    <p:sldId id="444" r:id="rId15"/>
    <p:sldId id="445" r:id="rId16"/>
    <p:sldId id="450" r:id="rId17"/>
    <p:sldId id="452" r:id="rId18"/>
    <p:sldId id="451" r:id="rId19"/>
    <p:sldId id="453" r:id="rId20"/>
    <p:sldId id="455" r:id="rId21"/>
    <p:sldId id="456" r:id="rId22"/>
    <p:sldId id="438" r:id="rId23"/>
    <p:sldId id="439" r:id="rId24"/>
    <p:sldId id="430" r:id="rId25"/>
    <p:sldId id="442" r:id="rId26"/>
    <p:sldId id="275" r:id="rId27"/>
    <p:sldId id="276" r:id="rId28"/>
    <p:sldId id="277" r:id="rId29"/>
    <p:sldId id="279" r:id="rId30"/>
    <p:sldId id="281" r:id="rId31"/>
  </p:sldIdLst>
  <p:sldSz cx="12192000" cy="6858000"/>
  <p:notesSz cx="9296400" cy="7010400"/>
  <p:embeddedFontLst>
    <p:embeddedFont>
      <p:font typeface="Cambria Math" panose="02040503050406030204" pitchFamily="18" charset="0"/>
      <p:regular r:id="rId34"/>
    </p:embeddedFont>
    <p:embeddedFont>
      <p:font typeface="Merriweather" pitchFamily="2" charset="77"/>
      <p:regular r:id="rId35"/>
      <p:bold r:id="rId36"/>
      <p:italic r:id="rId37"/>
      <p:boldItalic r:id="rId38"/>
    </p:embeddedFont>
    <p:embeddedFont>
      <p:font typeface="PT serif" panose="020A0603040505020204" pitchFamily="18" charset="77"/>
      <p:regular r:id="rId39"/>
      <p:bold r:id="rId40"/>
      <p:italic r:id="rId41"/>
      <p:boldItalic r:id="rId42"/>
    </p:embeddedFont>
    <p:embeddedFont>
      <p:font typeface="Roboto" panose="02000000000000000000" pitchFamily="2" charset="0"/>
      <p:regular r:id="rId43"/>
      <p:bold r:id="rId44"/>
      <p:italic r:id="rId45"/>
      <p:boldItalic r:id="rId46"/>
    </p:embeddedFont>
    <p:embeddedFont>
      <p:font typeface="Source sans 3" panose="020B0303030403020204" pitchFamily="34" charset="0"/>
      <p:regular r:id="rId47"/>
      <p:bold r:id="rId48"/>
      <p:italic r:id="rId49"/>
      <p:boldItalic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040" userDrawn="1">
          <p15:clr>
            <a:srgbClr val="A4A3A4"/>
          </p15:clr>
        </p15:guide>
        <p15:guide id="3" orient="horz" pos="216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2D9A515-A0C6-4C39-B80A-0C748B322470}" name="Guest User" initials="GU" userId="S::urn:spo:anon#478b1eeea21ed088306c92a0690f2574a00c4f9d76636cfc48aafd1929b89e8d::" providerId="AD"/>
  <p188:author id="{B554E72E-7BE9-4954-8657-B40E48A6468B}" name="Aimee Eng" initials="" userId="S::aeng@ucm.rutgers.edu::f54c9e5d-d2be-4fa6-b8aa-32e0dd0b0c4e" providerId="AD"/>
  <p188:author id="{A304F87C-87A2-4AF4-D2F8-2488045FDB69}" name="Lisa Elwood" initials="LE" userId="S::lmelwood@ucm.rutgers.edu::03804305-3005-4b93-b69a-8f24f540b0c5" providerId="AD"/>
  <p188:author id="{0CBAB0E6-7E79-6A3E-78D3-3B9AF4DE16A5}" name="Cindy Paul" initials="CP" userId="S::cpaul@ucm.rutgers.edu::12ab90d8-01fd-4713-a936-11af35f1ffe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Lisa Elwood" initials="LE [3]" lastIdx="1" clrIdx="3">
    <p:extLst>
      <p:ext uri="{19B8F6BF-5375-455C-9EA6-DF929625EA0E}">
        <p15:presenceInfo xmlns:p15="http://schemas.microsoft.com/office/powerpoint/2012/main" userId="Lisa Elwood" providerId="None"/>
      </p:ext>
    </p:extLst>
  </p:cmAuthor>
  <p:cmAuthor id="2" name="Lisa Elwood" initials="LE [2]" lastIdx="19" clrIdx="1">
    <p:extLst>
      <p:ext uri="{19B8F6BF-5375-455C-9EA6-DF929625EA0E}">
        <p15:presenceInfo xmlns:p15="http://schemas.microsoft.com/office/powerpoint/2012/main" userId="S::lmelwood@ucm.rutgers.edu::03804305-3005-4b93-b69a-8f24f540b0c5" providerId="AD"/>
      </p:ext>
    </p:extLst>
  </p:cmAuthor>
  <p:cmAuthor id="3" name="Jeanne Weber" initials="JW" lastIdx="8" clrIdx="2">
    <p:extLst>
      <p:ext uri="{19B8F6BF-5375-455C-9EA6-DF929625EA0E}">
        <p15:presenceInfo xmlns:p15="http://schemas.microsoft.com/office/powerpoint/2012/main" userId="S::raisin@ucm.rutgers.edu::68f6c61b-37f0-470c-950a-fb222073ffc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D59"/>
    <a:srgbClr val="71B2C4"/>
    <a:srgbClr val="649EC7"/>
    <a:srgbClr val="5576B9"/>
    <a:srgbClr val="405C84"/>
    <a:srgbClr val="00B050"/>
    <a:srgbClr val="00FACA"/>
    <a:srgbClr val="F9E289"/>
    <a:srgbClr val="F3D169"/>
    <a:srgbClr val="E8B51F"/>
  </p:clrMru>
  <p:extLst>
    <p:ext uri="{E76CE94A-603C-4142-B9EB-6D1370010A27}">
      <p14:discardImageEditData xmlns:p14="http://schemas.microsoft.com/office/powerpoint/2010/main" val="1"/>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02"/>
    <p:restoredTop sz="71650"/>
  </p:normalViewPr>
  <p:slideViewPr>
    <p:cSldViewPr snapToGrid="0">
      <p:cViewPr varScale="1">
        <p:scale>
          <a:sx n="107" d="100"/>
          <a:sy n="107" d="100"/>
        </p:scale>
        <p:origin x="1504" y="176"/>
      </p:cViewPr>
      <p:guideLst>
        <p:guide pos="3040"/>
        <p:guide orient="horz" pos="2160"/>
      </p:guideLst>
    </p:cSldViewPr>
  </p:slideViewPr>
  <p:notesTextViewPr>
    <p:cViewPr>
      <p:scale>
        <a:sx n="110" d="100"/>
        <a:sy n="11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6.fntdata"/><Relationship Id="rId21" Type="http://schemas.openxmlformats.org/officeDocument/2006/relationships/slide" Target="slides/slide17.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1.fntdata"/><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6.xml"/><Relationship Id="rId41" Type="http://schemas.openxmlformats.org/officeDocument/2006/relationships/font" Target="fonts/font8.fntdata"/><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49" Type="http://schemas.openxmlformats.org/officeDocument/2006/relationships/font" Target="fonts/font1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AB827CF-08EA-764E-8003-51B8F765B1CB}"/>
              </a:ext>
            </a:extLst>
          </p:cNvPr>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a:extLst>
              <a:ext uri="{FF2B5EF4-FFF2-40B4-BE49-F238E27FC236}">
                <a16:creationId xmlns:a16="http://schemas.microsoft.com/office/drawing/2014/main" id="{87686CA0-FF0C-C04F-B37E-5D98B3C30711}"/>
              </a:ext>
            </a:extLst>
          </p:cNvPr>
          <p:cNvSpPr>
            <a:spLocks noGrp="1"/>
          </p:cNvSpPr>
          <p:nvPr>
            <p:ph type="dt" sz="quarter" idx="1"/>
          </p:nvPr>
        </p:nvSpPr>
        <p:spPr>
          <a:xfrm>
            <a:off x="5265809" y="1"/>
            <a:ext cx="4028440" cy="351737"/>
          </a:xfrm>
          <a:prstGeom prst="rect">
            <a:avLst/>
          </a:prstGeom>
        </p:spPr>
        <p:txBody>
          <a:bodyPr vert="horz" lIns="93177" tIns="46589" rIns="93177" bIns="46589" rtlCol="0"/>
          <a:lstStyle>
            <a:lvl1pPr algn="r">
              <a:defRPr sz="1200"/>
            </a:lvl1pPr>
          </a:lstStyle>
          <a:p>
            <a:fld id="{81946028-ECFD-5C4B-8E7B-DD9207B52179}" type="datetimeFigureOut">
              <a:rPr lang="en-US" smtClean="0"/>
              <a:t>5/2/26</a:t>
            </a:fld>
            <a:endParaRPr lang="en-US" dirty="0"/>
          </a:p>
        </p:txBody>
      </p:sp>
      <p:sp>
        <p:nvSpPr>
          <p:cNvPr id="4" name="Footer Placeholder 3">
            <a:extLst>
              <a:ext uri="{FF2B5EF4-FFF2-40B4-BE49-F238E27FC236}">
                <a16:creationId xmlns:a16="http://schemas.microsoft.com/office/drawing/2014/main" id="{3C46A26B-F35F-B24F-B9EF-5C98A76D560D}"/>
              </a:ext>
            </a:extLst>
          </p:cNvPr>
          <p:cNvSpPr>
            <a:spLocks noGrp="1"/>
          </p:cNvSpPr>
          <p:nvPr>
            <p:ph type="ftr" sz="quarter" idx="2"/>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5" name="Slide Number Placeholder 4">
            <a:extLst>
              <a:ext uri="{FF2B5EF4-FFF2-40B4-BE49-F238E27FC236}">
                <a16:creationId xmlns:a16="http://schemas.microsoft.com/office/drawing/2014/main" id="{C9DEDE1E-24CC-3B4C-BDF2-C8DF6FAA3E8E}"/>
              </a:ext>
            </a:extLst>
          </p:cNvPr>
          <p:cNvSpPr>
            <a:spLocks noGrp="1"/>
          </p:cNvSpPr>
          <p:nvPr>
            <p:ph type="sldNum" sz="quarter" idx="3"/>
          </p:nvPr>
        </p:nvSpPr>
        <p:spPr>
          <a:xfrm>
            <a:off x="5265809" y="6658664"/>
            <a:ext cx="4028440" cy="351736"/>
          </a:xfrm>
          <a:prstGeom prst="rect">
            <a:avLst/>
          </a:prstGeom>
        </p:spPr>
        <p:txBody>
          <a:bodyPr vert="horz" lIns="93177" tIns="46589" rIns="93177" bIns="46589" rtlCol="0" anchor="b"/>
          <a:lstStyle>
            <a:lvl1pPr algn="r">
              <a:defRPr sz="1200"/>
            </a:lvl1pPr>
          </a:lstStyle>
          <a:p>
            <a:fld id="{7AED1D86-69B6-0643-B1D5-1FC7C9750E4C}" type="slidenum">
              <a:rPr lang="en-US" smtClean="0"/>
              <a:t>‹#›</a:t>
            </a:fld>
            <a:endParaRPr lang="en-US" dirty="0"/>
          </a:p>
        </p:txBody>
      </p:sp>
    </p:spTree>
    <p:extLst>
      <p:ext uri="{BB962C8B-B14F-4D97-AF65-F5344CB8AC3E}">
        <p14:creationId xmlns:p14="http://schemas.microsoft.com/office/powerpoint/2010/main" val="95454071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028440" cy="351737"/>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5265809" y="1"/>
            <a:ext cx="4028440" cy="351737"/>
          </a:xfrm>
          <a:prstGeom prst="rect">
            <a:avLst/>
          </a:prstGeom>
        </p:spPr>
        <p:txBody>
          <a:bodyPr vert="horz" lIns="93177" tIns="46589" rIns="93177" bIns="46589" rtlCol="0"/>
          <a:lstStyle>
            <a:lvl1pPr algn="r">
              <a:defRPr sz="1200"/>
            </a:lvl1pPr>
          </a:lstStyle>
          <a:p>
            <a:fld id="{1DDFAB82-E1E5-D84E-A45E-DAE72AA12B1D}" type="datetimeFigureOut">
              <a:rPr lang="en-US" smtClean="0"/>
              <a:t>5/2/26</a:t>
            </a:fld>
            <a:endParaRPr lang="en-US" dirty="0"/>
          </a:p>
        </p:txBody>
      </p:sp>
      <p:sp>
        <p:nvSpPr>
          <p:cNvPr id="4" name="Slide Image Placeholder 3"/>
          <p:cNvSpPr>
            <a:spLocks noGrp="1" noRot="1" noChangeAspect="1"/>
          </p:cNvSpPr>
          <p:nvPr>
            <p:ph type="sldImg" idx="2"/>
          </p:nvPr>
        </p:nvSpPr>
        <p:spPr>
          <a:xfrm>
            <a:off x="2546350" y="876300"/>
            <a:ext cx="4203700" cy="2365375"/>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929640" y="3373756"/>
            <a:ext cx="7437120" cy="2760345"/>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658664"/>
            <a:ext cx="4028440" cy="351736"/>
          </a:xfrm>
          <a:prstGeom prst="rect">
            <a:avLst/>
          </a:prstGeom>
        </p:spPr>
        <p:txBody>
          <a:bodyPr vert="horz" lIns="93177" tIns="46589" rIns="93177" bIns="46589" rtlCol="0" anchor="b"/>
          <a:lstStyle>
            <a:lvl1pPr algn="l">
              <a:defRPr sz="1200"/>
            </a:lvl1pPr>
          </a:lstStyle>
          <a:p>
            <a:r>
              <a:rPr lang="en-US" dirty="0"/>
              <a:t>Presentation revised November 2024</a:t>
            </a:r>
          </a:p>
        </p:txBody>
      </p:sp>
      <p:sp>
        <p:nvSpPr>
          <p:cNvPr id="7" name="Slide Number Placeholder 6"/>
          <p:cNvSpPr>
            <a:spLocks noGrp="1"/>
          </p:cNvSpPr>
          <p:nvPr>
            <p:ph type="sldNum" sz="quarter" idx="5"/>
          </p:nvPr>
        </p:nvSpPr>
        <p:spPr>
          <a:xfrm>
            <a:off x="5265809" y="6658664"/>
            <a:ext cx="4028440" cy="351736"/>
          </a:xfrm>
          <a:prstGeom prst="rect">
            <a:avLst/>
          </a:prstGeom>
        </p:spPr>
        <p:txBody>
          <a:bodyPr vert="horz" lIns="93177" tIns="46589" rIns="93177" bIns="46589" rtlCol="0" anchor="b"/>
          <a:lstStyle>
            <a:lvl1pPr algn="r">
              <a:defRPr sz="1200"/>
            </a:lvl1pPr>
          </a:lstStyle>
          <a:p>
            <a:fld id="{5068C1A6-6C9C-C342-8E0F-AE9AC9AFD13B}" type="slidenum">
              <a:rPr lang="en-US" smtClean="0"/>
              <a:t>‹#›</a:t>
            </a:fld>
            <a:endParaRPr lang="en-US" dirty="0"/>
          </a:p>
        </p:txBody>
      </p:sp>
    </p:spTree>
    <p:extLst>
      <p:ext uri="{BB962C8B-B14F-4D97-AF65-F5344CB8AC3E}">
        <p14:creationId xmlns:p14="http://schemas.microsoft.com/office/powerpoint/2010/main" val="11671225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5EA4F-49BC-A7C5-B92B-3D818E91A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5CE3EE-CD7C-5619-02B5-32CAD737F4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EF4F28-EA78-3C57-C284-ABF8055DFA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3F245D2-D66B-E1FB-D52E-B2E07E0087B4}"/>
              </a:ext>
            </a:extLst>
          </p:cNvPr>
          <p:cNvSpPr>
            <a:spLocks noGrp="1"/>
          </p:cNvSpPr>
          <p:nvPr>
            <p:ph type="sldNum" sz="quarter" idx="5"/>
          </p:nvPr>
        </p:nvSpPr>
        <p:spPr/>
        <p:txBody>
          <a:bodyPr/>
          <a:lstStyle/>
          <a:p>
            <a:fld id="{5068C1A6-6C9C-C342-8E0F-AE9AC9AFD13B}" type="slidenum">
              <a:rPr lang="en-US" smtClean="0"/>
              <a:t>0</a:t>
            </a:fld>
            <a:endParaRPr lang="en-US" dirty="0"/>
          </a:p>
        </p:txBody>
      </p:sp>
    </p:spTree>
    <p:extLst>
      <p:ext uri="{BB962C8B-B14F-4D97-AF65-F5344CB8AC3E}">
        <p14:creationId xmlns:p14="http://schemas.microsoft.com/office/powerpoint/2010/main" val="18909899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71361-1CC0-2B63-9BF6-7E4F569887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FA4D96-1BB5-C6F3-CAAB-610887B5A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6BFE08-7911-0FB3-29C6-6DA31F1B057A}"/>
              </a:ext>
            </a:extLst>
          </p:cNvPr>
          <p:cNvSpPr>
            <a:spLocks noGrp="1"/>
          </p:cNvSpPr>
          <p:nvPr>
            <p:ph type="body" idx="1"/>
          </p:nvPr>
        </p:nvSpPr>
        <p:spPr/>
        <p:txBody>
          <a:bodyPr/>
          <a:lstStyle/>
          <a:p>
            <a:r>
              <a:rPr lang="en-US" dirty="0"/>
              <a:t>This slide shows the full pipeline. We start with municipal-level structural, economic, and shock data. In Phase 2, we build a predictive model and select Lasso with strong out-of-sample performance. We then interpret the model using SHAP and lead–lag analysis, which reveals that population dynamics are highly persistent. In Phase 3, we generate scenario forecasts, and in Phase 4 we translate those into policy simulations to identify strategies that can reduce population loss.</a:t>
            </a:r>
          </a:p>
        </p:txBody>
      </p:sp>
      <p:sp>
        <p:nvSpPr>
          <p:cNvPr id="4" name="Slide Number Placeholder 3">
            <a:extLst>
              <a:ext uri="{FF2B5EF4-FFF2-40B4-BE49-F238E27FC236}">
                <a16:creationId xmlns:a16="http://schemas.microsoft.com/office/drawing/2014/main" id="{D76D7624-92AE-3978-053F-F621021FE661}"/>
              </a:ext>
            </a:extLst>
          </p:cNvPr>
          <p:cNvSpPr>
            <a:spLocks noGrp="1"/>
          </p:cNvSpPr>
          <p:nvPr>
            <p:ph type="sldNum" sz="quarter" idx="5"/>
          </p:nvPr>
        </p:nvSpPr>
        <p:spPr/>
        <p:txBody>
          <a:bodyPr/>
          <a:lstStyle/>
          <a:p>
            <a:fld id="{5068C1A6-6C9C-C342-8E0F-AE9AC9AFD13B}" type="slidenum">
              <a:rPr lang="en-US" smtClean="0"/>
              <a:t>2</a:t>
            </a:fld>
            <a:endParaRPr lang="en-US" dirty="0"/>
          </a:p>
        </p:txBody>
      </p:sp>
    </p:spTree>
    <p:extLst>
      <p:ext uri="{BB962C8B-B14F-4D97-AF65-F5344CB8AC3E}">
        <p14:creationId xmlns:p14="http://schemas.microsoft.com/office/powerpoint/2010/main" val="26104773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3</a:t>
            </a:fld>
            <a:endParaRPr lang="en-US" dirty="0"/>
          </a:p>
        </p:txBody>
      </p:sp>
    </p:spTree>
    <p:extLst>
      <p:ext uri="{BB962C8B-B14F-4D97-AF65-F5344CB8AC3E}">
        <p14:creationId xmlns:p14="http://schemas.microsoft.com/office/powerpoint/2010/main" val="33120280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1DD09-BB55-281C-2B14-A8ACF16F8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D046E6-D34B-02FB-7487-746D08C627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71936-83C1-5ABC-0C85-37052FCCE2B5}"/>
              </a:ext>
            </a:extLst>
          </p:cNvPr>
          <p:cNvSpPr>
            <a:spLocks noGrp="1"/>
          </p:cNvSpPr>
          <p:nvPr>
            <p:ph type="body" idx="1"/>
          </p:nvPr>
        </p:nvSpPr>
        <p:spPr/>
        <p:txBody>
          <a:bodyPr/>
          <a:lstStyle/>
          <a:p>
            <a:r>
              <a:rPr lang="en-US" dirty="0"/>
              <a:t>This slide shows how we split the data for modeling using a </a:t>
            </a:r>
            <a:r>
              <a:rPr lang="en-US" b="1" dirty="0"/>
              <a:t>chronological 80/20 framework</a:t>
            </a:r>
            <a:r>
              <a:rPr lang="en-US" dirty="0"/>
              <a:t>.</a:t>
            </a:r>
          </a:p>
          <a:p>
            <a:r>
              <a:rPr lang="en-US" dirty="0"/>
              <a:t>Instead of randomly splitting the data, we preserve the time structure.</a:t>
            </a:r>
            <a:br>
              <a:rPr lang="en-US" dirty="0"/>
            </a:br>
            <a:r>
              <a:rPr lang="en-US" dirty="0"/>
              <a:t>We train the model only on </a:t>
            </a:r>
            <a:r>
              <a:rPr lang="en-US" b="1" dirty="0"/>
              <a:t>earlier years (2010–2018)</a:t>
            </a:r>
            <a:r>
              <a:rPr lang="en-US" dirty="0"/>
              <a:t>, reserve </a:t>
            </a:r>
            <a:r>
              <a:rPr lang="en-US" b="1" dirty="0"/>
              <a:t>2019 as a validation year</a:t>
            </a:r>
            <a:r>
              <a:rPr lang="en-US" dirty="0"/>
              <a:t>, and then evaluate performance on </a:t>
            </a:r>
            <a:r>
              <a:rPr lang="en-US" b="1" dirty="0"/>
              <a:t>completely unseen future years (2020–2021)</a:t>
            </a:r>
            <a:r>
              <a:rPr lang="en-US" dirty="0"/>
              <a:t>.</a:t>
            </a:r>
          </a:p>
          <a:p>
            <a:r>
              <a:rPr lang="en-US" dirty="0"/>
              <a:t>Each year contributes </a:t>
            </a:r>
            <a:r>
              <a:rPr lang="en-US" b="1" dirty="0"/>
              <a:t>78 municipality-level observations</a:t>
            </a:r>
            <a:r>
              <a:rPr lang="en-US" dirty="0"/>
              <a:t>, so the split is balanced across time.</a:t>
            </a:r>
          </a:p>
          <a:p>
            <a:r>
              <a:rPr lang="en-US" dirty="0"/>
              <a:t>The key idea here is that we are mimicking a </a:t>
            </a:r>
            <a:r>
              <a:rPr lang="en-US" b="1" dirty="0"/>
              <a:t>real forecasting setup</a:t>
            </a:r>
            <a:r>
              <a:rPr lang="en-US" dirty="0"/>
              <a:t>:</a:t>
            </a:r>
          </a:p>
          <a:p>
            <a:r>
              <a:rPr lang="en-US" dirty="0"/>
              <a:t>the model learns from the past </a:t>
            </a:r>
          </a:p>
          <a:p>
            <a:r>
              <a:rPr lang="en-US" dirty="0"/>
              <a:t>it is tuned on a later holdout year </a:t>
            </a:r>
          </a:p>
          <a:p>
            <a:r>
              <a:rPr lang="en-US" dirty="0"/>
              <a:t>and it is tested on future data it has never seen </a:t>
            </a:r>
          </a:p>
          <a:p>
            <a:r>
              <a:rPr lang="en-US"/>
              <a:t>This avoids </a:t>
            </a:r>
            <a:r>
              <a:rPr lang="en-US" b="1"/>
              <a:t>data leakage</a:t>
            </a:r>
            <a:r>
              <a:rPr lang="en-US"/>
              <a:t>, meaning we never use future information to predict the past.</a:t>
            </a:r>
          </a:p>
          <a:p>
            <a:endParaRPr lang="en-US" dirty="0"/>
          </a:p>
        </p:txBody>
      </p:sp>
      <p:sp>
        <p:nvSpPr>
          <p:cNvPr id="4" name="Slide Number Placeholder 3">
            <a:extLst>
              <a:ext uri="{FF2B5EF4-FFF2-40B4-BE49-F238E27FC236}">
                <a16:creationId xmlns:a16="http://schemas.microsoft.com/office/drawing/2014/main" id="{A9518824-9364-DB73-9829-09F87B1DC587}"/>
              </a:ext>
            </a:extLst>
          </p:cNvPr>
          <p:cNvSpPr>
            <a:spLocks noGrp="1"/>
          </p:cNvSpPr>
          <p:nvPr>
            <p:ph type="sldNum" sz="quarter" idx="5"/>
          </p:nvPr>
        </p:nvSpPr>
        <p:spPr/>
        <p:txBody>
          <a:bodyPr/>
          <a:lstStyle/>
          <a:p>
            <a:fld id="{5068C1A6-6C9C-C342-8E0F-AE9AC9AFD13B}" type="slidenum">
              <a:rPr lang="en-US" smtClean="0"/>
              <a:t>4</a:t>
            </a:fld>
            <a:endParaRPr lang="en-US" dirty="0"/>
          </a:p>
        </p:txBody>
      </p:sp>
    </p:spTree>
    <p:extLst>
      <p:ext uri="{BB962C8B-B14F-4D97-AF65-F5344CB8AC3E}">
        <p14:creationId xmlns:p14="http://schemas.microsoft.com/office/powerpoint/2010/main" val="43793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258BF-2752-B391-56A9-F664D95346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75FE71-47E3-4CB3-EEB6-583D6D4DE9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3D1F1-E2B5-70B3-B317-B979A4B294B0}"/>
              </a:ext>
            </a:extLst>
          </p:cNvPr>
          <p:cNvSpPr>
            <a:spLocks noGrp="1"/>
          </p:cNvSpPr>
          <p:nvPr>
            <p:ph type="body" idx="1"/>
          </p:nvPr>
        </p:nvSpPr>
        <p:spPr/>
        <p:txBody>
          <a:bodyPr/>
          <a:lstStyle/>
          <a:p>
            <a:r>
              <a:rPr lang="en-US" dirty="0"/>
              <a:t>This slide shows a lead–lag analysis, which helps us understand not just what matters, but when it matters.</a:t>
            </a:r>
          </a:p>
          <a:p>
            <a:r>
              <a:rPr lang="en-US" dirty="0"/>
              <a:t>The key result is that hurricane exposure has its strongest effect at a one-year lag, not immediately. This suggests that population responses—such as migration or displacement—occur after some delay.</a:t>
            </a:r>
          </a:p>
          <a:p>
            <a:r>
              <a:rPr lang="en-US" dirty="0"/>
              <a:t>Earthquake effects appear both immediate and slightly persistent, while structural factors like vulnerability remain important across multiple time periods.</a:t>
            </a:r>
          </a:p>
          <a:p>
            <a:r>
              <a:rPr lang="en-US" dirty="0"/>
              <a:t>Overall, this tells us that population change is not driven by instant shocks, but by delayed and evolving responses over time.</a:t>
            </a:r>
          </a:p>
          <a:p>
            <a:endParaRPr lang="en-US" dirty="0"/>
          </a:p>
          <a:p>
            <a:endParaRPr lang="en-US" dirty="0"/>
          </a:p>
          <a:p>
            <a:r>
              <a:rPr lang="en-US" dirty="0"/>
              <a:t>These two plots work together to explain both </a:t>
            </a:r>
            <a:r>
              <a:rPr lang="en-US" b="1" dirty="0"/>
              <a:t>what drives population change</a:t>
            </a:r>
            <a:r>
              <a:rPr lang="en-US" dirty="0"/>
              <a:t> and </a:t>
            </a:r>
            <a:r>
              <a:rPr lang="en-US" b="1" dirty="0"/>
              <a:t>when those drivers matter</a:t>
            </a:r>
            <a:r>
              <a:rPr lang="en-US" dirty="0"/>
              <a:t>.</a:t>
            </a:r>
          </a:p>
          <a:p>
            <a:r>
              <a:rPr lang="en-US" dirty="0"/>
              <a:t>On the right, the SHAP plot identifies the most important variables overall. We see that seismic activity, regional differences, and lagged population change are key drivers, which tells us that population dynamics are strongly influenced by structural conditions and persistence over time.</a:t>
            </a:r>
          </a:p>
          <a:p>
            <a:r>
              <a:rPr lang="en-US" dirty="0"/>
              <a:t>However, SHAP alone doesn’t tell us </a:t>
            </a:r>
            <a:r>
              <a:rPr lang="en-US" i="1" dirty="0"/>
              <a:t>when</a:t>
            </a:r>
            <a:r>
              <a:rPr lang="en-US" dirty="0"/>
              <a:t> these effects occur. That’s where the lead–lag analysis on the left comes in.</a:t>
            </a:r>
          </a:p>
          <a:p>
            <a:r>
              <a:rPr lang="en-US" dirty="0"/>
              <a:t>This plot shows that hurricane exposure is actually the most influential variable — but only at a one-year lag. In other words, the impact of hurricanes on population change is delayed, likely reflecting migration and recovery processes rather than immediate responses.</a:t>
            </a:r>
          </a:p>
          <a:p>
            <a:r>
              <a:rPr lang="en-US" dirty="0"/>
              <a:t>Seismic activity, by contrast, shows both immediate and short-term effects, while structural variables like vulnerability and income remain consistently important across time.</a:t>
            </a:r>
          </a:p>
          <a:p>
            <a:r>
              <a:rPr lang="en-US" dirty="0"/>
              <a:t>So together, these plots show that population change in Puerto Rico is not just driven by structural factors, but also by </a:t>
            </a:r>
            <a:r>
              <a:rPr lang="en-US" b="1" dirty="0"/>
              <a:t>delayed responses to shocks</a:t>
            </a:r>
            <a:r>
              <a:rPr lang="en-US" dirty="0"/>
              <a:t>, highlighting that timing plays a critical role in understanding demographic change.</a:t>
            </a:r>
          </a:p>
          <a:p>
            <a:endParaRPr lang="en-US" dirty="0"/>
          </a:p>
          <a:p>
            <a:endParaRPr lang="en-US" dirty="0"/>
          </a:p>
        </p:txBody>
      </p:sp>
      <p:sp>
        <p:nvSpPr>
          <p:cNvPr id="4" name="Slide Number Placeholder 3">
            <a:extLst>
              <a:ext uri="{FF2B5EF4-FFF2-40B4-BE49-F238E27FC236}">
                <a16:creationId xmlns:a16="http://schemas.microsoft.com/office/drawing/2014/main" id="{685C73E6-5BEC-A8F8-A1AF-781212921898}"/>
              </a:ext>
            </a:extLst>
          </p:cNvPr>
          <p:cNvSpPr>
            <a:spLocks noGrp="1"/>
          </p:cNvSpPr>
          <p:nvPr>
            <p:ph type="sldNum" sz="quarter" idx="5"/>
          </p:nvPr>
        </p:nvSpPr>
        <p:spPr/>
        <p:txBody>
          <a:bodyPr/>
          <a:lstStyle/>
          <a:p>
            <a:fld id="{5068C1A6-6C9C-C342-8E0F-AE9AC9AFD13B}" type="slidenum">
              <a:rPr lang="en-US" smtClean="0"/>
              <a:t>5</a:t>
            </a:fld>
            <a:endParaRPr lang="en-US" dirty="0"/>
          </a:p>
        </p:txBody>
      </p:sp>
    </p:spTree>
    <p:extLst>
      <p:ext uri="{BB962C8B-B14F-4D97-AF65-F5344CB8AC3E}">
        <p14:creationId xmlns:p14="http://schemas.microsoft.com/office/powerpoint/2010/main" val="2308053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takeaway from this analysis is that population dynamics in Puerto Rico are highly persistent and path-dependent.</a:t>
            </a:r>
            <a:br>
              <a:rPr lang="en-US" dirty="0"/>
            </a:br>
            <a:r>
              <a:rPr lang="en-US" dirty="0"/>
              <a:t>What happens in one period strongly influences what happens next.</a:t>
            </a:r>
            <a:br>
              <a:rPr lang="en-US" dirty="0"/>
            </a:br>
            <a:r>
              <a:rPr lang="en-US" dirty="0"/>
              <a:t>While shocks like hurricanes and earthquakes do matter, their effects are not immediate, they accumulate over time and are reflected through longer-term trends.</a:t>
            </a:r>
            <a:br>
              <a:rPr lang="en-US" dirty="0"/>
            </a:br>
            <a:r>
              <a:rPr lang="en-US" dirty="0"/>
              <a:t>So ultimately, population change is less about single events and more about the gradual buildup of structural conditions.</a:t>
            </a:r>
          </a:p>
        </p:txBody>
      </p:sp>
      <p:sp>
        <p:nvSpPr>
          <p:cNvPr id="4" name="Slide Number Placeholder 3"/>
          <p:cNvSpPr>
            <a:spLocks noGrp="1"/>
          </p:cNvSpPr>
          <p:nvPr>
            <p:ph type="sldNum" sz="quarter" idx="5"/>
          </p:nvPr>
        </p:nvSpPr>
        <p:spPr/>
        <p:txBody>
          <a:bodyPr/>
          <a:lstStyle/>
          <a:p>
            <a:fld id="{5068C1A6-6C9C-C342-8E0F-AE9AC9AFD13B}" type="slidenum">
              <a:rPr lang="en-US" smtClean="0"/>
              <a:t>6</a:t>
            </a:fld>
            <a:endParaRPr lang="en-US" dirty="0"/>
          </a:p>
        </p:txBody>
      </p:sp>
    </p:spTree>
    <p:extLst>
      <p:ext uri="{BB962C8B-B14F-4D97-AF65-F5344CB8AC3E}">
        <p14:creationId xmlns:p14="http://schemas.microsoft.com/office/powerpoint/2010/main" val="2059832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prediction, what we see is that population dynamics are not random, they’re spatially structured.</a:t>
            </a:r>
            <a:br>
              <a:rPr lang="en-US" dirty="0"/>
            </a:br>
            <a:r>
              <a:rPr lang="en-US" dirty="0"/>
              <a:t>Municipalities cluster into distinct typologies, and these clusters align strongly with geographic regions.</a:t>
            </a:r>
            <a:br>
              <a:rPr lang="en-US" dirty="0"/>
            </a:br>
            <a:r>
              <a:rPr lang="en-US" dirty="0"/>
              <a:t>This means similar places behave similarly over time.</a:t>
            </a:r>
            <a:br>
              <a:rPr lang="en-US" dirty="0"/>
            </a:br>
            <a:r>
              <a:rPr lang="en-US" dirty="0"/>
              <a:t>The key insight is that decline is not evenly distributed, it’s concentrated in specific regions and tied to underlying structural conditions like economic activity and vulnerability.</a:t>
            </a:r>
            <a:br>
              <a:rPr lang="en-US" dirty="0"/>
            </a:br>
            <a:r>
              <a:rPr lang="en-US" dirty="0"/>
              <a:t>So overall, population change reflects persistent regional structures rather than isolated local variation.</a:t>
            </a:r>
          </a:p>
        </p:txBody>
      </p:sp>
      <p:sp>
        <p:nvSpPr>
          <p:cNvPr id="4" name="Slide Number Placeholder 3"/>
          <p:cNvSpPr>
            <a:spLocks noGrp="1"/>
          </p:cNvSpPr>
          <p:nvPr>
            <p:ph type="sldNum" sz="quarter" idx="5"/>
          </p:nvPr>
        </p:nvSpPr>
        <p:spPr/>
        <p:txBody>
          <a:bodyPr/>
          <a:lstStyle/>
          <a:p>
            <a:fld id="{5068C1A6-6C9C-C342-8E0F-AE9AC9AFD13B}" type="slidenum">
              <a:rPr lang="en-US" smtClean="0"/>
              <a:t>7</a:t>
            </a:fld>
            <a:endParaRPr lang="en-US" dirty="0"/>
          </a:p>
        </p:txBody>
      </p:sp>
    </p:spTree>
    <p:extLst>
      <p:ext uri="{BB962C8B-B14F-4D97-AF65-F5344CB8AC3E}">
        <p14:creationId xmlns:p14="http://schemas.microsoft.com/office/powerpoint/2010/main" val="7895981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island level, Puerto Rico shows a persistent population decline of about 0.6% per year, or roughly 20,000 people annually.</a:t>
            </a:r>
            <a:br>
              <a:rPr lang="en-US" dirty="0"/>
            </a:br>
            <a:r>
              <a:rPr lang="en-US" dirty="0"/>
              <a:t>Importantly, this decline is not uniform, it’s concentrated in specific regions, particularly the South and West.</a:t>
            </a:r>
            <a:br>
              <a:rPr lang="en-US" dirty="0"/>
            </a:br>
            <a:r>
              <a:rPr lang="en-US" dirty="0"/>
              <a:t>What the model confirms is that this pattern is systematic and predictable, not random. Regional location plays a major role, and these differences remain stable over time. So the key takeaway is that population decline is spatially structured and persistent, driven by long-term regional dynamics rather than short-term fluctuations.</a:t>
            </a:r>
          </a:p>
        </p:txBody>
      </p:sp>
      <p:sp>
        <p:nvSpPr>
          <p:cNvPr id="4" name="Slide Number Placeholder 3"/>
          <p:cNvSpPr>
            <a:spLocks noGrp="1"/>
          </p:cNvSpPr>
          <p:nvPr>
            <p:ph type="sldNum" sz="quarter" idx="5"/>
          </p:nvPr>
        </p:nvSpPr>
        <p:spPr/>
        <p:txBody>
          <a:bodyPr/>
          <a:lstStyle/>
          <a:p>
            <a:fld id="{5068C1A6-6C9C-C342-8E0F-AE9AC9AFD13B}" type="slidenum">
              <a:rPr lang="en-US" smtClean="0"/>
              <a:t>8</a:t>
            </a:fld>
            <a:endParaRPr lang="en-US" dirty="0"/>
          </a:p>
        </p:txBody>
      </p:sp>
    </p:spTree>
    <p:extLst>
      <p:ext uri="{BB962C8B-B14F-4D97-AF65-F5344CB8AC3E}">
        <p14:creationId xmlns:p14="http://schemas.microsoft.com/office/powerpoint/2010/main" val="2989634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DD697-456F-1A75-D6E6-B1E6DD4187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1258D-FCB8-7B47-C3D3-1D083E425B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D9247-5E09-9840-E9B6-40A68D4762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F6117F-BD8B-2B82-05BB-D543D4F651C2}"/>
              </a:ext>
            </a:extLst>
          </p:cNvPr>
          <p:cNvSpPr>
            <a:spLocks noGrp="1"/>
          </p:cNvSpPr>
          <p:nvPr>
            <p:ph type="sldNum" sz="quarter" idx="5"/>
          </p:nvPr>
        </p:nvSpPr>
        <p:spPr/>
        <p:txBody>
          <a:bodyPr/>
          <a:lstStyle/>
          <a:p>
            <a:fld id="{5068C1A6-6C9C-C342-8E0F-AE9AC9AFD13B}" type="slidenum">
              <a:rPr lang="en-US" smtClean="0"/>
              <a:t>9</a:t>
            </a:fld>
            <a:endParaRPr lang="en-US" dirty="0"/>
          </a:p>
        </p:txBody>
      </p:sp>
    </p:spTree>
    <p:extLst>
      <p:ext uri="{BB962C8B-B14F-4D97-AF65-F5344CB8AC3E}">
        <p14:creationId xmlns:p14="http://schemas.microsoft.com/office/powerpoint/2010/main" val="951548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76FB7-E1E1-DF26-DD42-A6914910E8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697AD-0E16-C69C-3838-FDE2DCF9CA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9A24C-0EA7-83F2-3028-7B89A1FC2C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1F1F4F-300D-524D-88DA-F56D106F648B}"/>
              </a:ext>
            </a:extLst>
          </p:cNvPr>
          <p:cNvSpPr>
            <a:spLocks noGrp="1"/>
          </p:cNvSpPr>
          <p:nvPr>
            <p:ph type="sldNum" sz="quarter" idx="5"/>
          </p:nvPr>
        </p:nvSpPr>
        <p:spPr/>
        <p:txBody>
          <a:bodyPr/>
          <a:lstStyle/>
          <a:p>
            <a:fld id="{5068C1A6-6C9C-C342-8E0F-AE9AC9AFD13B}" type="slidenum">
              <a:rPr lang="en-US" smtClean="0"/>
              <a:t>10</a:t>
            </a:fld>
            <a:endParaRPr lang="en-US" dirty="0"/>
          </a:p>
        </p:txBody>
      </p:sp>
    </p:spTree>
    <p:extLst>
      <p:ext uri="{BB962C8B-B14F-4D97-AF65-F5344CB8AC3E}">
        <p14:creationId xmlns:p14="http://schemas.microsoft.com/office/powerpoint/2010/main" val="4055531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0C211-7FD4-82EB-FB58-FE463015F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66E33D-00B6-FB9C-1548-6554AB87B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EBB1E5-C0C5-D8C2-DE97-00FDF2B7D79A}"/>
              </a:ext>
            </a:extLst>
          </p:cNvPr>
          <p:cNvSpPr>
            <a:spLocks noGrp="1"/>
          </p:cNvSpPr>
          <p:nvPr>
            <p:ph type="body" idx="1"/>
          </p:nvPr>
        </p:nvSpPr>
        <p:spPr/>
        <p:txBody>
          <a:bodyPr/>
          <a:lstStyle/>
          <a:p>
            <a:r>
              <a:rPr lang="en-US" b="1" dirty="0"/>
              <a:t>1. The "Anchor" (Historical vs. Forecast)</a:t>
            </a:r>
          </a:p>
          <a:p>
            <a:r>
              <a:rPr lang="en-US" b="1" dirty="0"/>
              <a:t>The Black Line (2014–2023):</a:t>
            </a:r>
            <a:r>
              <a:rPr lang="en-US" dirty="0"/>
              <a:t> This represents </a:t>
            </a:r>
            <a:r>
              <a:rPr lang="en-US" b="1" dirty="0"/>
              <a:t>Observed Data</a:t>
            </a:r>
            <a:r>
              <a:rPr lang="en-US" dirty="0"/>
              <a:t>. It establishes the baseline trend of population decline that the models are "learning" from.</a:t>
            </a:r>
          </a:p>
          <a:p>
            <a:r>
              <a:rPr lang="en-US" b="1" dirty="0"/>
              <a:t>The Red Dashed Line (Current: 2023):</a:t>
            </a:r>
            <a:r>
              <a:rPr lang="en-US" dirty="0"/>
              <a:t> This is the </a:t>
            </a:r>
            <a:r>
              <a:rPr lang="en-US" b="1" dirty="0"/>
              <a:t>Pivot Point</a:t>
            </a:r>
            <a:r>
              <a:rPr lang="en-US" dirty="0"/>
              <a:t>. Everything to the left is fact; everything to the right is a probabilistic projection based on Phase 6 modeling.</a:t>
            </a:r>
          </a:p>
          <a:p>
            <a:endParaRPr lang="en-US" dirty="0"/>
          </a:p>
          <a:p>
            <a:r>
              <a:rPr lang="en-US" b="1" dirty="0"/>
              <a:t>2. The "Median" (The Expected Path)</a:t>
            </a:r>
          </a:p>
          <a:p>
            <a:r>
              <a:rPr lang="en-US" dirty="0"/>
              <a:t>The center line represents the </a:t>
            </a:r>
            <a:r>
              <a:rPr lang="en-US" b="1" dirty="0"/>
              <a:t>P50 (Median) Forecast</a:t>
            </a:r>
            <a:r>
              <a:rPr lang="en-US" dirty="0"/>
              <a:t>.</a:t>
            </a:r>
          </a:p>
          <a:p>
            <a:r>
              <a:rPr lang="en-US" b="1" dirty="0"/>
              <a:t>The Insight:</a:t>
            </a:r>
            <a:r>
              <a:rPr lang="en-US" dirty="0"/>
              <a:t> Our analysis suggests that the most likely outcome is a continued, linear decline, bringing the population toward the </a:t>
            </a:r>
            <a:r>
              <a:rPr lang="en-US" b="1" dirty="0"/>
              <a:t>3.0M mark by 2030</a:t>
            </a:r>
            <a:r>
              <a:rPr lang="en-US" dirty="0"/>
              <a:t>.</a:t>
            </a:r>
          </a:p>
          <a:p>
            <a:endParaRPr lang="en-US" dirty="0"/>
          </a:p>
          <a:p>
            <a:r>
              <a:rPr lang="en-US" b="1" dirty="0"/>
              <a:t>3. Understanding the "Fan" (The Probability Bands)</a:t>
            </a:r>
          </a:p>
          <a:p>
            <a:r>
              <a:rPr lang="en-US" dirty="0"/>
              <a:t>Instead of giving a single "guess," the fan shows a range of possible futures:</a:t>
            </a:r>
          </a:p>
          <a:p>
            <a:r>
              <a:rPr lang="en-US" b="1" dirty="0"/>
              <a:t>The Core (Central Bands):</a:t>
            </a:r>
            <a:r>
              <a:rPr lang="en-US" dirty="0"/>
              <a:t> The green and teal areas represent the </a:t>
            </a:r>
            <a:r>
              <a:rPr lang="en-US" b="1" dirty="0"/>
              <a:t>50% probability interval</a:t>
            </a:r>
            <a:r>
              <a:rPr lang="en-US" dirty="0"/>
              <a:t>. If current structural conditions remain stable, the population will almost certainly land within this range.</a:t>
            </a:r>
          </a:p>
          <a:p>
            <a:r>
              <a:rPr lang="en-US" b="1" dirty="0"/>
              <a:t>The Tails (Outer Bands):</a:t>
            </a:r>
            <a:r>
              <a:rPr lang="en-US" dirty="0"/>
              <a:t> The dark purple and light orange areas represent </a:t>
            </a:r>
            <a:r>
              <a:rPr lang="en-US" b="1" dirty="0"/>
              <a:t>extreme scenarios</a:t>
            </a:r>
            <a:r>
              <a:rPr lang="en-US" dirty="0"/>
              <a:t> (Tail Risks).</a:t>
            </a:r>
          </a:p>
          <a:p>
            <a:pPr lvl="1"/>
            <a:r>
              <a:rPr lang="en-US" b="1" dirty="0"/>
              <a:t>Upper Tail (Orange):</a:t>
            </a:r>
            <a:r>
              <a:rPr lang="en-US" dirty="0"/>
              <a:t> Represents a "Favorable" scenario where decline slows significantly (e.g., due to economic stabilization or migration shifts).</a:t>
            </a:r>
          </a:p>
          <a:p>
            <a:pPr lvl="1"/>
            <a:r>
              <a:rPr lang="en-US" b="1" dirty="0"/>
              <a:t>Lower Tail (Dark Purple):</a:t>
            </a:r>
            <a:r>
              <a:rPr lang="en-US" dirty="0"/>
              <a:t> Represents an "Adverse" scenario where decline accelerates (e.g., due to external shocks or deepening structural vulnerability).</a:t>
            </a:r>
          </a:p>
          <a:p>
            <a:pPr lvl="1"/>
            <a:endParaRPr lang="en-US" dirty="0"/>
          </a:p>
          <a:p>
            <a:r>
              <a:rPr lang="en-US" b="1" dirty="0"/>
              <a:t>4. Key Takeaway for Policy</a:t>
            </a:r>
          </a:p>
          <a:p>
            <a:r>
              <a:rPr lang="en-US" b="1" dirty="0"/>
              <a:t>Systemic Persistence:</a:t>
            </a:r>
            <a:r>
              <a:rPr lang="en-US" dirty="0"/>
              <a:t> Even in the most "optimistic" scenario (the top of the fan), the island does not return to growth by 2030.</a:t>
            </a:r>
          </a:p>
          <a:p>
            <a:r>
              <a:rPr lang="en-US" b="1" dirty="0"/>
              <a:t>Widening Uncertainty:</a:t>
            </a:r>
            <a:r>
              <a:rPr lang="en-US" dirty="0"/>
              <a:t> The "width" of the fan at 2030 illustrates that while we are certain about the </a:t>
            </a:r>
            <a:r>
              <a:rPr lang="en-US" i="1" dirty="0"/>
              <a:t>direction</a:t>
            </a:r>
            <a:r>
              <a:rPr lang="en-US" dirty="0"/>
              <a:t> of the trend, the </a:t>
            </a:r>
            <a:r>
              <a:rPr lang="en-US" i="1" dirty="0"/>
              <a:t>magnitude</a:t>
            </a:r>
            <a:r>
              <a:rPr lang="en-US" dirty="0"/>
              <a:t> of the loss is subject to high volatility, requiring flexible regional planning.</a:t>
            </a:r>
          </a:p>
          <a:p>
            <a:endParaRPr lang="en-US" dirty="0"/>
          </a:p>
        </p:txBody>
      </p:sp>
      <p:sp>
        <p:nvSpPr>
          <p:cNvPr id="4" name="Slide Number Placeholder 3">
            <a:extLst>
              <a:ext uri="{FF2B5EF4-FFF2-40B4-BE49-F238E27FC236}">
                <a16:creationId xmlns:a16="http://schemas.microsoft.com/office/drawing/2014/main" id="{C98D717C-2CE1-A6ED-31E3-1DF7106F5466}"/>
              </a:ext>
            </a:extLst>
          </p:cNvPr>
          <p:cNvSpPr>
            <a:spLocks noGrp="1"/>
          </p:cNvSpPr>
          <p:nvPr>
            <p:ph type="sldNum" sz="quarter" idx="5"/>
          </p:nvPr>
        </p:nvSpPr>
        <p:spPr/>
        <p:txBody>
          <a:bodyPr/>
          <a:lstStyle/>
          <a:p>
            <a:fld id="{5068C1A6-6C9C-C342-8E0F-AE9AC9AFD13B}" type="slidenum">
              <a:rPr lang="en-US" smtClean="0"/>
              <a:t>11</a:t>
            </a:fld>
            <a:endParaRPr lang="en-US" dirty="0"/>
          </a:p>
        </p:txBody>
      </p:sp>
    </p:spTree>
    <p:extLst>
      <p:ext uri="{BB962C8B-B14F-4D97-AF65-F5344CB8AC3E}">
        <p14:creationId xmlns:p14="http://schemas.microsoft.com/office/powerpoint/2010/main" val="34803800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F2AA8-ECEA-E732-FC01-1E089DD92F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1E15F4-1306-EB85-E903-41BF9837CA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675522-70CF-AD90-ABD8-B833DD828D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C5038E-CA49-0058-2D63-713C9A608039}"/>
              </a:ext>
            </a:extLst>
          </p:cNvPr>
          <p:cNvSpPr>
            <a:spLocks noGrp="1"/>
          </p:cNvSpPr>
          <p:nvPr>
            <p:ph type="sldNum" sz="quarter" idx="5"/>
          </p:nvPr>
        </p:nvSpPr>
        <p:spPr/>
        <p:txBody>
          <a:bodyPr/>
          <a:lstStyle/>
          <a:p>
            <a:fld id="{5068C1A6-6C9C-C342-8E0F-AE9AC9AFD13B}" type="slidenum">
              <a:rPr lang="en-US" smtClean="0"/>
              <a:t>12</a:t>
            </a:fld>
            <a:endParaRPr lang="en-US" dirty="0"/>
          </a:p>
        </p:txBody>
      </p:sp>
    </p:spTree>
    <p:extLst>
      <p:ext uri="{BB962C8B-B14F-4D97-AF65-F5344CB8AC3E}">
        <p14:creationId xmlns:p14="http://schemas.microsoft.com/office/powerpoint/2010/main" val="18998686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76C1F-3692-A97E-B268-AA59DA162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8DA91B-C2FF-3602-A806-D05CC653B7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B1EA65-77C7-68DF-4361-6D963E5E475C}"/>
              </a:ext>
            </a:extLst>
          </p:cNvPr>
          <p:cNvSpPr>
            <a:spLocks noGrp="1"/>
          </p:cNvSpPr>
          <p:nvPr>
            <p:ph type="body" idx="1"/>
          </p:nvPr>
        </p:nvSpPr>
        <p:spPr/>
        <p:txBody>
          <a:bodyPr/>
          <a:lstStyle/>
          <a:p>
            <a:r>
              <a:rPr lang="en-US" dirty="0"/>
              <a:t>Mechanically, the framework does:</a:t>
            </a:r>
          </a:p>
          <a:p>
            <a:r>
              <a:rPr lang="en-US" dirty="0"/>
              <a:t>Take latest municipal data </a:t>
            </a:r>
          </a:p>
          <a:p>
            <a:r>
              <a:rPr lang="en-US" dirty="0"/>
              <a:t>Apply </a:t>
            </a:r>
            <a:r>
              <a:rPr lang="en-US" b="1" dirty="0"/>
              <a:t>feature adjustments (policy shocks)</a:t>
            </a:r>
            <a:r>
              <a:rPr lang="en-US" dirty="0"/>
              <a:t> </a:t>
            </a:r>
          </a:p>
          <a:p>
            <a:r>
              <a:rPr lang="en-US" dirty="0"/>
              <a:t>Feed into </a:t>
            </a:r>
            <a:r>
              <a:rPr lang="en-US" b="1" dirty="0"/>
              <a:t>trained Lasso model</a:t>
            </a:r>
            <a:r>
              <a:rPr lang="en-US" dirty="0"/>
              <a:t> </a:t>
            </a:r>
          </a:p>
          <a:p>
            <a:r>
              <a:rPr lang="en-US" dirty="0"/>
              <a:t>Generate new predicted population paths </a:t>
            </a:r>
          </a:p>
          <a:p>
            <a:endParaRPr lang="en-US" dirty="0"/>
          </a:p>
          <a:p>
            <a:r>
              <a:rPr lang="en-US" dirty="0"/>
              <a:t>So:</a:t>
            </a:r>
          </a:p>
          <a:p>
            <a:r>
              <a:rPr lang="en-US" dirty="0"/>
              <a:t>policies → change features </a:t>
            </a:r>
          </a:p>
          <a:p>
            <a:r>
              <a:rPr lang="en-US" dirty="0"/>
              <a:t>features → change predictions </a:t>
            </a:r>
          </a:p>
          <a:p>
            <a:endParaRPr lang="en-US" dirty="0"/>
          </a:p>
          <a:p>
            <a:r>
              <a:rPr lang="en-US" dirty="0"/>
              <a:t>Important </a:t>
            </a:r>
          </a:p>
          <a:p>
            <a:r>
              <a:rPr lang="en-US" dirty="0"/>
              <a:t>These are </a:t>
            </a:r>
            <a:r>
              <a:rPr lang="en-US" b="1" dirty="0"/>
              <a:t>model-based counterfactuals, not causal estimates</a:t>
            </a:r>
            <a:endParaRPr lang="en-US" dirty="0"/>
          </a:p>
          <a:p>
            <a:endParaRPr lang="en-US" dirty="0"/>
          </a:p>
        </p:txBody>
      </p:sp>
      <p:sp>
        <p:nvSpPr>
          <p:cNvPr id="4" name="Slide Number Placeholder 3">
            <a:extLst>
              <a:ext uri="{FF2B5EF4-FFF2-40B4-BE49-F238E27FC236}">
                <a16:creationId xmlns:a16="http://schemas.microsoft.com/office/drawing/2014/main" id="{1158C983-D6E5-3C0B-780C-A94D0EC35CC9}"/>
              </a:ext>
            </a:extLst>
          </p:cNvPr>
          <p:cNvSpPr>
            <a:spLocks noGrp="1"/>
          </p:cNvSpPr>
          <p:nvPr>
            <p:ph type="sldNum" sz="quarter" idx="5"/>
          </p:nvPr>
        </p:nvSpPr>
        <p:spPr/>
        <p:txBody>
          <a:bodyPr/>
          <a:lstStyle/>
          <a:p>
            <a:fld id="{5068C1A6-6C9C-C342-8E0F-AE9AC9AFD13B}" type="slidenum">
              <a:rPr lang="en-US" smtClean="0"/>
              <a:t>13</a:t>
            </a:fld>
            <a:endParaRPr lang="en-US" dirty="0"/>
          </a:p>
        </p:txBody>
      </p:sp>
    </p:spTree>
    <p:extLst>
      <p:ext uri="{BB962C8B-B14F-4D97-AF65-F5344CB8AC3E}">
        <p14:creationId xmlns:p14="http://schemas.microsoft.com/office/powerpoint/2010/main" val="3107259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0283EE-BD4C-21F8-3DC9-67BBF823A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0831F-73CB-D30C-046A-15479FB4AE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D500A-05E9-F762-9470-E5DCFD7D1B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E37E72-4A92-E906-1EF7-1BD0A0C8FD98}"/>
              </a:ext>
            </a:extLst>
          </p:cNvPr>
          <p:cNvSpPr>
            <a:spLocks noGrp="1"/>
          </p:cNvSpPr>
          <p:nvPr>
            <p:ph type="sldNum" sz="quarter" idx="5"/>
          </p:nvPr>
        </p:nvSpPr>
        <p:spPr/>
        <p:txBody>
          <a:bodyPr/>
          <a:lstStyle/>
          <a:p>
            <a:fld id="{5068C1A6-6C9C-C342-8E0F-AE9AC9AFD13B}" type="slidenum">
              <a:rPr lang="en-US" smtClean="0"/>
              <a:t>14</a:t>
            </a:fld>
            <a:endParaRPr lang="en-US" dirty="0"/>
          </a:p>
        </p:txBody>
      </p:sp>
    </p:spTree>
    <p:extLst>
      <p:ext uri="{BB962C8B-B14F-4D97-AF65-F5344CB8AC3E}">
        <p14:creationId xmlns:p14="http://schemas.microsoft.com/office/powerpoint/2010/main" val="12689172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4B2A4-A14E-7D1F-D2C2-A7CA276233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93C8D-F028-8C77-00D9-43FFBFAB63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7F26B0-E18B-6A44-3338-F0166ED805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AD4051-2C92-6894-79BA-CCC4179E6DAD}"/>
              </a:ext>
            </a:extLst>
          </p:cNvPr>
          <p:cNvSpPr>
            <a:spLocks noGrp="1"/>
          </p:cNvSpPr>
          <p:nvPr>
            <p:ph type="sldNum" sz="quarter" idx="5"/>
          </p:nvPr>
        </p:nvSpPr>
        <p:spPr/>
        <p:txBody>
          <a:bodyPr/>
          <a:lstStyle/>
          <a:p>
            <a:fld id="{5068C1A6-6C9C-C342-8E0F-AE9AC9AFD13B}" type="slidenum">
              <a:rPr lang="en-US" smtClean="0"/>
              <a:t>15</a:t>
            </a:fld>
            <a:endParaRPr lang="en-US" dirty="0"/>
          </a:p>
        </p:txBody>
      </p:sp>
    </p:spTree>
    <p:extLst>
      <p:ext uri="{BB962C8B-B14F-4D97-AF65-F5344CB8AC3E}">
        <p14:creationId xmlns:p14="http://schemas.microsoft.com/office/powerpoint/2010/main" val="3142606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D3AE2-5385-ACB2-855D-B0020BA41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12215E-4FB2-0FD4-12F5-0D0DAAE82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91FC44-DC21-AFC2-009E-310E8C544716}"/>
              </a:ext>
            </a:extLst>
          </p:cNvPr>
          <p:cNvSpPr>
            <a:spLocks noGrp="1"/>
          </p:cNvSpPr>
          <p:nvPr>
            <p:ph type="body" idx="1"/>
          </p:nvPr>
        </p:nvSpPr>
        <p:spPr/>
        <p:txBody>
          <a:bodyPr/>
          <a:lstStyle/>
          <a:p>
            <a:r>
              <a:rPr lang="en-US" dirty="0"/>
              <a:t>This figure shows the </a:t>
            </a:r>
            <a:r>
              <a:rPr lang="en-US" b="1" dirty="0"/>
              <a:t>island-level population trajectory</a:t>
            </a:r>
            <a:r>
              <a:rPr lang="en-US" dirty="0"/>
              <a:t> under different scenarios.</a:t>
            </a:r>
          </a:p>
          <a:p>
            <a:r>
              <a:rPr lang="en-US" dirty="0"/>
              <a:t>We start with the observed trend, which shows a steady decline with a small temporary fluctuation around the post-Maria period.</a:t>
            </a:r>
          </a:p>
          <a:p>
            <a:r>
              <a:rPr lang="en-US" dirty="0"/>
              <a:t>From 2024 onward, the forecast begins.</a:t>
            </a:r>
          </a:p>
          <a:p>
            <a:r>
              <a:rPr lang="en-US" dirty="0"/>
              <a:t>The </a:t>
            </a:r>
            <a:r>
              <a:rPr lang="en-US" b="1" dirty="0"/>
              <a:t>baseline scenario</a:t>
            </a:r>
            <a:r>
              <a:rPr lang="en-US" dirty="0"/>
              <a:t> continues the downward trajectory, reflecting the model’s core finding that population change is highly persistent.</a:t>
            </a:r>
          </a:p>
          <a:p>
            <a:r>
              <a:rPr lang="en-US" dirty="0"/>
              <a:t>The </a:t>
            </a:r>
            <a:r>
              <a:rPr lang="en-US" b="1" dirty="0"/>
              <a:t>retention bundle</a:t>
            </a:r>
            <a:r>
              <a:rPr lang="en-US" dirty="0"/>
              <a:t> improves outcomes slightly, slowing the rate of decline, but it does not reverse the trend. This shows that standard policy improvements alone are not enough to overcome structural momentum.</a:t>
            </a:r>
          </a:p>
          <a:p>
            <a:r>
              <a:rPr lang="en-US" dirty="0"/>
              <a:t>The </a:t>
            </a:r>
            <a:r>
              <a:rPr lang="en-US" b="1" dirty="0"/>
              <a:t>recovery bundle</a:t>
            </a:r>
            <a:r>
              <a:rPr lang="en-US" dirty="0"/>
              <a:t>, which applies stronger feature improvements, produces a slightly better trajectory, but still remains below the current population level.</a:t>
            </a:r>
          </a:p>
          <a:p>
            <a:r>
              <a:rPr lang="en-US" dirty="0"/>
              <a:t>The most important line is the </a:t>
            </a:r>
            <a:r>
              <a:rPr lang="en-US" b="1" dirty="0"/>
              <a:t>recovery rebound sensitivity</a:t>
            </a:r>
            <a:r>
              <a:rPr lang="en-US" dirty="0"/>
              <a:t>.</a:t>
            </a:r>
          </a:p>
          <a:p>
            <a:r>
              <a:rPr lang="en-US" dirty="0"/>
              <a:t>This scenario adds a return-migration or recovery shock, similar to the temporary increase observed after Hurricane Maria. Under this assumption, population can </a:t>
            </a:r>
            <a:r>
              <a:rPr lang="en-US" b="1" dirty="0"/>
              <a:t>stabilize and even temporarily increase</a:t>
            </a:r>
            <a:r>
              <a:rPr lang="en-US" dirty="0"/>
              <a:t>, but only under strong and coordinated improvements.</a:t>
            </a:r>
          </a:p>
          <a:p>
            <a:endParaRPr lang="en-US" dirty="0"/>
          </a:p>
          <a:p>
            <a:r>
              <a:rPr lang="en-US" dirty="0"/>
              <a:t>***The recovery bundle shows what the model predicts from stronger policy-feature improvements. The rebound sensitivity shows what additional recovery momentum would be needed to reverse the decline.</a:t>
            </a:r>
          </a:p>
          <a:p>
            <a:endParaRPr lang="en-US" dirty="0"/>
          </a:p>
          <a:p>
            <a:endParaRPr lang="en-US" dirty="0"/>
          </a:p>
          <a:p>
            <a:endParaRPr lang="en-US" dirty="0"/>
          </a:p>
          <a:p>
            <a:r>
              <a:rPr lang="en-US" dirty="0"/>
              <a:t>The uncertainty band shows that even under optimistic assumptions, outcomes remain bounded and gradually converge.</a:t>
            </a:r>
          </a:p>
          <a:p>
            <a:endParaRPr lang="en-US" dirty="0"/>
          </a:p>
          <a:p>
            <a:r>
              <a:rPr lang="en-US" dirty="0"/>
              <a:t> The key takeaway is that:</a:t>
            </a:r>
            <a:br>
              <a:rPr lang="en-US" dirty="0"/>
            </a:br>
            <a:r>
              <a:rPr lang="en-US" dirty="0"/>
              <a:t>Population decline in Puerto Rico is driven by </a:t>
            </a:r>
            <a:r>
              <a:rPr lang="en-US" b="1" dirty="0"/>
              <a:t>persistent structural dynamics</a:t>
            </a:r>
            <a:r>
              <a:rPr lang="en-US" dirty="0"/>
              <a:t>, and reversing it would require not just policy improvements, but a </a:t>
            </a:r>
            <a:r>
              <a:rPr lang="en-US" b="1" dirty="0"/>
              <a:t>sustained recovery dynamic strong enough to overcome that momentum</a:t>
            </a:r>
            <a:r>
              <a:rPr lang="en-US" dirty="0"/>
              <a:t>.</a:t>
            </a:r>
          </a:p>
          <a:p>
            <a:endParaRPr lang="en-US" dirty="0"/>
          </a:p>
        </p:txBody>
      </p:sp>
      <p:sp>
        <p:nvSpPr>
          <p:cNvPr id="4" name="Slide Number Placeholder 3">
            <a:extLst>
              <a:ext uri="{FF2B5EF4-FFF2-40B4-BE49-F238E27FC236}">
                <a16:creationId xmlns:a16="http://schemas.microsoft.com/office/drawing/2014/main" id="{CE186F9E-A819-9DFC-96D9-6091E023F146}"/>
              </a:ext>
            </a:extLst>
          </p:cNvPr>
          <p:cNvSpPr>
            <a:spLocks noGrp="1"/>
          </p:cNvSpPr>
          <p:nvPr>
            <p:ph type="sldNum" sz="quarter" idx="5"/>
          </p:nvPr>
        </p:nvSpPr>
        <p:spPr/>
        <p:txBody>
          <a:bodyPr/>
          <a:lstStyle/>
          <a:p>
            <a:fld id="{5068C1A6-6C9C-C342-8E0F-AE9AC9AFD13B}" type="slidenum">
              <a:rPr lang="en-US" smtClean="0"/>
              <a:t>16</a:t>
            </a:fld>
            <a:endParaRPr lang="en-US" dirty="0"/>
          </a:p>
        </p:txBody>
      </p:sp>
    </p:spTree>
    <p:extLst>
      <p:ext uri="{BB962C8B-B14F-4D97-AF65-F5344CB8AC3E}">
        <p14:creationId xmlns:p14="http://schemas.microsoft.com/office/powerpoint/2010/main" val="16736366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9128C-29E3-C741-F35F-0B11A9887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7026FC-28B9-535A-538E-01D689E39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4C150-12A5-E967-3D8A-98A4534C52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FABF98-7D1C-BD1F-62D7-CF11BD1DB70D}"/>
              </a:ext>
            </a:extLst>
          </p:cNvPr>
          <p:cNvSpPr>
            <a:spLocks noGrp="1"/>
          </p:cNvSpPr>
          <p:nvPr>
            <p:ph type="sldNum" sz="quarter" idx="5"/>
          </p:nvPr>
        </p:nvSpPr>
        <p:spPr/>
        <p:txBody>
          <a:bodyPr/>
          <a:lstStyle/>
          <a:p>
            <a:fld id="{5068C1A6-6C9C-C342-8E0F-AE9AC9AFD13B}" type="slidenum">
              <a:rPr lang="en-US" smtClean="0"/>
              <a:t>17</a:t>
            </a:fld>
            <a:endParaRPr lang="en-US" dirty="0"/>
          </a:p>
        </p:txBody>
      </p:sp>
    </p:spTree>
    <p:extLst>
      <p:ext uri="{BB962C8B-B14F-4D97-AF65-F5344CB8AC3E}">
        <p14:creationId xmlns:p14="http://schemas.microsoft.com/office/powerpoint/2010/main" val="7562173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next step, I’m extending this work into a policy simulation framework.</a:t>
            </a:r>
            <a:br>
              <a:rPr lang="en-US" dirty="0"/>
            </a:br>
            <a:r>
              <a:rPr lang="en-US" dirty="0"/>
              <a:t>The goal is to move beyond forecasting and evaluate how different interventions, such as job growth or retention strategies, could influence population trends.</a:t>
            </a:r>
            <a:br>
              <a:rPr lang="en-US" dirty="0"/>
            </a:br>
            <a:br>
              <a:rPr lang="en-US" dirty="0"/>
            </a:br>
            <a:r>
              <a:rPr lang="en-US" dirty="0"/>
              <a:t>Ultimately, this allows to assess which strategies are most effective at slowing population decline and translate those insights into an interactive dashboard.</a:t>
            </a:r>
          </a:p>
        </p:txBody>
      </p:sp>
      <p:sp>
        <p:nvSpPr>
          <p:cNvPr id="4" name="Slide Number Placeholder 3"/>
          <p:cNvSpPr>
            <a:spLocks noGrp="1"/>
          </p:cNvSpPr>
          <p:nvPr>
            <p:ph type="sldNum" sz="quarter" idx="5"/>
          </p:nvPr>
        </p:nvSpPr>
        <p:spPr/>
        <p:txBody>
          <a:bodyPr/>
          <a:lstStyle/>
          <a:p>
            <a:fld id="{5068C1A6-6C9C-C342-8E0F-AE9AC9AFD13B}" type="slidenum">
              <a:rPr lang="en-US" smtClean="0"/>
              <a:t>18</a:t>
            </a:fld>
            <a:endParaRPr lang="en-US" dirty="0"/>
          </a:p>
        </p:txBody>
      </p:sp>
    </p:spTree>
    <p:extLst>
      <p:ext uri="{BB962C8B-B14F-4D97-AF65-F5344CB8AC3E}">
        <p14:creationId xmlns:p14="http://schemas.microsoft.com/office/powerpoint/2010/main" val="36580110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message is that Puerto Rico’s population decline is </a:t>
            </a:r>
            <a:r>
              <a:rPr lang="en-US" b="1" dirty="0"/>
              <a:t>not random</a:t>
            </a:r>
            <a:r>
              <a:rPr lang="en-US" dirty="0"/>
              <a:t>. It is structured, spatial, and persistent. The model shows that population change is strongly shaped by past population trends, meaning that municipalities already experiencing decline are more likely to continue declining unless stronger interventions occur.</a:t>
            </a:r>
          </a:p>
          <a:p>
            <a:r>
              <a:rPr lang="en-US" dirty="0"/>
              <a:t>A major finding is that disasters matter, but not as simple one-time predictors. Instead, hurricanes and earthquakes tend to </a:t>
            </a:r>
            <a:r>
              <a:rPr lang="en-US" b="1" dirty="0"/>
              <a:t>amplify existing demographic trends</a:t>
            </a:r>
            <a:r>
              <a:rPr lang="en-US" dirty="0"/>
              <a:t> and their effects appear through longer-term population momentum.</a:t>
            </a:r>
          </a:p>
          <a:p>
            <a:r>
              <a:rPr lang="en-US" dirty="0"/>
              <a:t>The project also moved beyond prediction. In the final phase, I extended the forecasting model into policy and recovery scenarios. These simulations tested strategies related to jobs, public safety, resilience, demographic support, and retention.</a:t>
            </a:r>
          </a:p>
          <a:p>
            <a:r>
              <a:rPr lang="en-US" dirty="0"/>
              <a:t>The results show that policy bundles can slow population loss, but reversing decline requires a stronger coordinated recovery dynamic, including conditions that support return migration and long-term population stabilization.</a:t>
            </a:r>
          </a:p>
          <a:p>
            <a:r>
              <a:rPr lang="en-US" dirty="0"/>
              <a:t>Overall, this project demonstrates how machine learning can be used not only to forecast population decline, but also to evaluate what kinds of interventions may be needed to change the trajectory. The main takeaway is that Puerto Rico’s population future depends on addressing persistent structural conditions, not only reacting to short-term shocks.</a:t>
            </a:r>
          </a:p>
          <a:p>
            <a:endParaRPr lang="en-US" dirty="0"/>
          </a:p>
        </p:txBody>
      </p:sp>
      <p:sp>
        <p:nvSpPr>
          <p:cNvPr id="4" name="Slide Number Placeholder 3"/>
          <p:cNvSpPr>
            <a:spLocks noGrp="1"/>
          </p:cNvSpPr>
          <p:nvPr>
            <p:ph type="sldNum" sz="quarter" idx="5"/>
          </p:nvPr>
        </p:nvSpPr>
        <p:spPr/>
        <p:txBody>
          <a:bodyPr/>
          <a:lstStyle/>
          <a:p>
            <a:fld id="{5068C1A6-6C9C-C342-8E0F-AE9AC9AFD13B}" type="slidenum">
              <a:rPr lang="en-US" smtClean="0"/>
              <a:t>19</a:t>
            </a:fld>
            <a:endParaRPr lang="en-US" dirty="0"/>
          </a:p>
        </p:txBody>
      </p:sp>
    </p:spTree>
    <p:extLst>
      <p:ext uri="{BB962C8B-B14F-4D97-AF65-F5344CB8AC3E}">
        <p14:creationId xmlns:p14="http://schemas.microsoft.com/office/powerpoint/2010/main" val="9703566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0AB45-ECFC-7929-641D-AC7B10694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B68FDB-3D4E-1F34-5B50-53EBDB67C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FBF334-9481-B967-6FDA-3E1D6772EF3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856073-BB5F-27B4-E844-C4B566405FF2}"/>
              </a:ext>
            </a:extLst>
          </p:cNvPr>
          <p:cNvSpPr>
            <a:spLocks noGrp="1"/>
          </p:cNvSpPr>
          <p:nvPr>
            <p:ph type="sldNum" sz="quarter" idx="5"/>
          </p:nvPr>
        </p:nvSpPr>
        <p:spPr/>
        <p:txBody>
          <a:bodyPr/>
          <a:lstStyle/>
          <a:p>
            <a:fld id="{5068C1A6-6C9C-C342-8E0F-AE9AC9AFD13B}" type="slidenum">
              <a:rPr lang="en-US" smtClean="0"/>
              <a:t>20</a:t>
            </a:fld>
            <a:endParaRPr lang="en-US" dirty="0"/>
          </a:p>
        </p:txBody>
      </p:sp>
    </p:spTree>
    <p:extLst>
      <p:ext uri="{BB962C8B-B14F-4D97-AF65-F5344CB8AC3E}">
        <p14:creationId xmlns:p14="http://schemas.microsoft.com/office/powerpoint/2010/main" val="30818261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88137BA3-3B38-2E50-ADE9-DB22B1B981E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72FD4A5C-40C3-7571-F15D-F43282F97A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9DB3AF1A-645B-DCD3-7D8B-A456C1EED0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107138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5084435-FB04-6CFD-9422-ACEB9D49CE15}"/>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9ADD672D-7C88-1DCE-9DF7-DAEA9F837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E21A681-4741-BEC1-5979-6E77A637E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5664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280E3E4-01AB-9257-C86F-2DC05B5114B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C9F7E034-6329-E7D3-5C50-BAD3C5C7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2D2794F7-686B-2998-1183-AB5AD1451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67279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BBC6D0-ED3F-6661-146F-21FF3E68AF7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AFE447EE-6A12-6956-4F80-6FB5C32442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C308905-ECFA-B802-62AF-32EBC8A38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2585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AB11D52-C68B-FE5E-425D-F7D5759FF066}"/>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A781364-F366-3EEB-9883-38D40334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380A8DFD-28AB-379A-8B0C-888140A21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7539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274DD90-9961-D207-A4E2-6FC07233BB0F}"/>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2AA0AA85-9557-D61C-B1B3-28FA88F81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0E1129C9-F9FF-DEF6-7CDE-AD1526986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05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p:bg>
      <p:bgPr>
        <a:solidFill>
          <a:schemeClr val="accent1"/>
        </a:solidFill>
        <a:effectLst/>
      </p:bgPr>
    </p:bg>
    <p:spTree>
      <p:nvGrpSpPr>
        <p:cNvPr id="1" name=""/>
        <p:cNvGrpSpPr/>
        <p:nvPr/>
      </p:nvGrpSpPr>
      <p:grpSpPr>
        <a:xfrm>
          <a:off x="0" y="0"/>
          <a:ext cx="0" cy="0"/>
          <a:chOff x="0" y="0"/>
          <a:chExt cx="0" cy="0"/>
        </a:xfrm>
      </p:grpSpPr>
      <p:sp>
        <p:nvSpPr>
          <p:cNvPr id="10" name="Picture Placeholder 8">
            <a:extLst>
              <a:ext uri="{FF2B5EF4-FFF2-40B4-BE49-F238E27FC236}">
                <a16:creationId xmlns:a16="http://schemas.microsoft.com/office/drawing/2014/main" id="{A05E2955-3CC6-3EA2-BE9C-EABB3CE2844C}"/>
              </a:ext>
            </a:extLst>
          </p:cNvPr>
          <p:cNvSpPr>
            <a:spLocks noGrp="1"/>
          </p:cNvSpPr>
          <p:nvPr>
            <p:ph type="pic" sz="quarter" idx="10"/>
          </p:nvPr>
        </p:nvSpPr>
        <p:spPr>
          <a:xfrm>
            <a:off x="741260" y="618654"/>
            <a:ext cx="2496312" cy="731520"/>
          </a:xfrm>
        </p:spPr>
        <p:txBody>
          <a:bodyPr/>
          <a:lstStyle/>
          <a:p>
            <a:endParaRPr lang="en-US"/>
          </a:p>
        </p:txBody>
      </p:sp>
      <p:sp>
        <p:nvSpPr>
          <p:cNvPr id="13" name="Text Placeholder 11">
            <a:extLst>
              <a:ext uri="{FF2B5EF4-FFF2-40B4-BE49-F238E27FC236}">
                <a16:creationId xmlns:a16="http://schemas.microsoft.com/office/drawing/2014/main" id="{85E8870C-EE10-582E-ABAB-3C62C758BCA9}"/>
              </a:ext>
            </a:extLst>
          </p:cNvPr>
          <p:cNvSpPr>
            <a:spLocks noGrp="1"/>
          </p:cNvSpPr>
          <p:nvPr>
            <p:ph type="body" sz="quarter" idx="11" hasCustomPrompt="1"/>
          </p:nvPr>
        </p:nvSpPr>
        <p:spPr>
          <a:xfrm>
            <a:off x="2347768" y="2862397"/>
            <a:ext cx="7464055" cy="1217654"/>
          </a:xfrm>
        </p:spPr>
        <p:txBody>
          <a:bodyPr/>
          <a:lstStyle>
            <a:lvl1pPr algn="ctr">
              <a:buNone/>
              <a:defRPr sz="6600" b="1">
                <a:solidFill>
                  <a:schemeClr val="bg1"/>
                </a:solidFill>
                <a:latin typeface="+mj-lt"/>
              </a:defRPr>
            </a:lvl1pPr>
          </a:lstStyle>
          <a:p>
            <a:pPr lvl="0"/>
            <a:r>
              <a:rPr lang="en-US" dirty="0"/>
              <a:t>Title Goes Here</a:t>
            </a:r>
          </a:p>
        </p:txBody>
      </p:sp>
      <p:sp>
        <p:nvSpPr>
          <p:cNvPr id="15" name="Text Placeholder 11">
            <a:extLst>
              <a:ext uri="{FF2B5EF4-FFF2-40B4-BE49-F238E27FC236}">
                <a16:creationId xmlns:a16="http://schemas.microsoft.com/office/drawing/2014/main" id="{05A9F16C-FAED-6858-99A5-5FF7D84E74A9}"/>
              </a:ext>
            </a:extLst>
          </p:cNvPr>
          <p:cNvSpPr>
            <a:spLocks noGrp="1"/>
          </p:cNvSpPr>
          <p:nvPr>
            <p:ph type="body" sz="quarter" idx="12" hasCustomPrompt="1"/>
          </p:nvPr>
        </p:nvSpPr>
        <p:spPr>
          <a:xfrm>
            <a:off x="2349043" y="4467816"/>
            <a:ext cx="7461504" cy="1312862"/>
          </a:xfrm>
        </p:spPr>
        <p:txBody>
          <a:bodyPr/>
          <a:lstStyle>
            <a:lvl1pPr algn="ctr">
              <a:buNone/>
              <a:defRPr sz="2000" b="0">
                <a:solidFill>
                  <a:schemeClr val="bg1"/>
                </a:solidFill>
                <a:latin typeface="+mn-lt"/>
              </a:defRPr>
            </a:lvl1pPr>
          </a:lstStyle>
          <a:p>
            <a:pPr algn="ctr"/>
            <a:r>
              <a:rPr lang="en-US" dirty="0"/>
              <a:t>Subhead Text To Go Here</a:t>
            </a:r>
          </a:p>
        </p:txBody>
      </p:sp>
    </p:spTree>
    <p:extLst>
      <p:ext uri="{BB962C8B-B14F-4D97-AF65-F5344CB8AC3E}">
        <p14:creationId xmlns:p14="http://schemas.microsoft.com/office/powerpoint/2010/main" val="27472046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lt Titles">
    <p:bg>
      <p:bgPr>
        <a:solidFill>
          <a:schemeClr val="accent1"/>
        </a:solidFill>
        <a:effectLst/>
      </p:bgPr>
    </p:bg>
    <p:spTree>
      <p:nvGrpSpPr>
        <p:cNvPr id="1" name=""/>
        <p:cNvGrpSpPr/>
        <p:nvPr/>
      </p:nvGrpSpPr>
      <p:grpSpPr>
        <a:xfrm>
          <a:off x="0" y="0"/>
          <a:ext cx="0" cy="0"/>
          <a:chOff x="0" y="0"/>
          <a:chExt cx="0" cy="0"/>
        </a:xfrm>
      </p:grpSpPr>
      <p:sp>
        <p:nvSpPr>
          <p:cNvPr id="8" name="Text Placeholder 11">
            <a:extLst>
              <a:ext uri="{FF2B5EF4-FFF2-40B4-BE49-F238E27FC236}">
                <a16:creationId xmlns:a16="http://schemas.microsoft.com/office/drawing/2014/main" id="{B5A3205A-2345-2AEE-3F62-D3176A688E7E}"/>
              </a:ext>
            </a:extLst>
          </p:cNvPr>
          <p:cNvSpPr>
            <a:spLocks noGrp="1"/>
          </p:cNvSpPr>
          <p:nvPr>
            <p:ph type="body" sz="quarter" idx="11" hasCustomPrompt="1"/>
          </p:nvPr>
        </p:nvSpPr>
        <p:spPr>
          <a:xfrm>
            <a:off x="741260" y="5071577"/>
            <a:ext cx="7452713" cy="731521"/>
          </a:xfrm>
          <a:solidFill>
            <a:schemeClr val="accent1"/>
          </a:solidFill>
        </p:spPr>
        <p:txBody>
          <a:bodyPr/>
          <a:lstStyle>
            <a:lvl1pPr algn="l">
              <a:buNone/>
              <a:defRPr sz="5400" b="1">
                <a:solidFill>
                  <a:schemeClr val="bg1"/>
                </a:solidFill>
                <a:latin typeface="+mj-lt"/>
              </a:defRPr>
            </a:lvl1pPr>
          </a:lstStyle>
          <a:p>
            <a:pPr lvl="0"/>
            <a:r>
              <a:rPr lang="en-US" dirty="0"/>
              <a:t>Title Goes Here</a:t>
            </a:r>
          </a:p>
        </p:txBody>
      </p:sp>
      <p:sp>
        <p:nvSpPr>
          <p:cNvPr id="9" name="Picture Placeholder 8">
            <a:extLst>
              <a:ext uri="{FF2B5EF4-FFF2-40B4-BE49-F238E27FC236}">
                <a16:creationId xmlns:a16="http://schemas.microsoft.com/office/drawing/2014/main" id="{14491410-5EF2-A3F1-9803-EEF09A604273}"/>
              </a:ext>
            </a:extLst>
          </p:cNvPr>
          <p:cNvSpPr>
            <a:spLocks noGrp="1"/>
          </p:cNvSpPr>
          <p:nvPr>
            <p:ph type="pic" sz="quarter" idx="10"/>
          </p:nvPr>
        </p:nvSpPr>
        <p:spPr>
          <a:xfrm>
            <a:off x="8954428" y="5311670"/>
            <a:ext cx="2496312" cy="731520"/>
          </a:xfrm>
        </p:spPr>
        <p:txBody>
          <a:bodyPr/>
          <a:lstStyle/>
          <a:p>
            <a:endParaRPr lang="en-US"/>
          </a:p>
        </p:txBody>
      </p:sp>
      <p:sp>
        <p:nvSpPr>
          <p:cNvPr id="11" name="Text Placeholder 11">
            <a:extLst>
              <a:ext uri="{FF2B5EF4-FFF2-40B4-BE49-F238E27FC236}">
                <a16:creationId xmlns:a16="http://schemas.microsoft.com/office/drawing/2014/main" id="{1C73EC6F-78EF-CF85-0C65-293E2A6826C1}"/>
              </a:ext>
            </a:extLst>
          </p:cNvPr>
          <p:cNvSpPr>
            <a:spLocks noGrp="1"/>
          </p:cNvSpPr>
          <p:nvPr>
            <p:ph type="body" sz="quarter" idx="12" hasCustomPrompt="1"/>
          </p:nvPr>
        </p:nvSpPr>
        <p:spPr>
          <a:xfrm>
            <a:off x="741260" y="6043190"/>
            <a:ext cx="7452714" cy="731520"/>
          </a:xfrm>
        </p:spPr>
        <p:txBody>
          <a:bodyPr/>
          <a:lstStyle>
            <a:lvl1pPr marL="0" algn="l">
              <a:buNone/>
              <a:defRPr sz="1400" b="0">
                <a:solidFill>
                  <a:schemeClr val="bg1"/>
                </a:solidFill>
                <a:latin typeface="+mn-lt"/>
              </a:defRPr>
            </a:lvl1pPr>
          </a:lstStyle>
          <a:p>
            <a:pPr lvl="0"/>
            <a:r>
              <a:rPr lang="en-US" dirty="0"/>
              <a:t>Subtitle Goes Here</a:t>
            </a:r>
          </a:p>
        </p:txBody>
      </p:sp>
      <p:sp>
        <p:nvSpPr>
          <p:cNvPr id="13" name="Picture Placeholder 13">
            <a:extLst>
              <a:ext uri="{FF2B5EF4-FFF2-40B4-BE49-F238E27FC236}">
                <a16:creationId xmlns:a16="http://schemas.microsoft.com/office/drawing/2014/main" id="{B1AE16CA-3447-1F67-F1E9-E2B698520310}"/>
              </a:ext>
            </a:extLst>
          </p:cNvPr>
          <p:cNvSpPr>
            <a:spLocks noGrp="1"/>
          </p:cNvSpPr>
          <p:nvPr>
            <p:ph type="pic" sz="quarter" idx="13"/>
          </p:nvPr>
        </p:nvSpPr>
        <p:spPr>
          <a:xfrm>
            <a:off x="0" y="0"/>
            <a:ext cx="12191216" cy="4796833"/>
          </a:xfrm>
        </p:spPr>
        <p:txBody>
          <a:bodyPr/>
          <a:lstStyle/>
          <a:p>
            <a:endParaRPr lang="en-US" dirty="0"/>
          </a:p>
        </p:txBody>
      </p:sp>
    </p:spTree>
    <p:extLst>
      <p:ext uri="{BB962C8B-B14F-4D97-AF65-F5344CB8AC3E}">
        <p14:creationId xmlns:p14="http://schemas.microsoft.com/office/powerpoint/2010/main" val="423008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593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Left Text Right">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7040880"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9" name="Text Placeholder 17">
            <a:extLst>
              <a:ext uri="{FF2B5EF4-FFF2-40B4-BE49-F238E27FC236}">
                <a16:creationId xmlns:a16="http://schemas.microsoft.com/office/drawing/2014/main" id="{A850F251-5C1C-21AB-883A-1098129F95E3}"/>
              </a:ext>
            </a:extLst>
          </p:cNvPr>
          <p:cNvSpPr>
            <a:spLocks noGrp="1"/>
          </p:cNvSpPr>
          <p:nvPr>
            <p:ph type="body" sz="quarter" idx="11"/>
          </p:nvPr>
        </p:nvSpPr>
        <p:spPr>
          <a:xfrm>
            <a:off x="7473501" y="1352811"/>
            <a:ext cx="4221543"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06477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hoto Left 2 Column Right">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63386AEB-868F-93D5-FE80-C2B8CD7CDB80}"/>
              </a:ext>
            </a:extLst>
          </p:cNvPr>
          <p:cNvSpPr>
            <a:spLocks noGrp="1"/>
          </p:cNvSpPr>
          <p:nvPr>
            <p:ph type="pic" sz="quarter" idx="10"/>
          </p:nvPr>
        </p:nvSpPr>
        <p:spPr>
          <a:xfrm>
            <a:off x="0" y="0"/>
            <a:ext cx="5120639" cy="6334125"/>
          </a:xfrm>
          <a:solidFill>
            <a:schemeClr val="bg2">
              <a:lumMod val="40000"/>
              <a:lumOff val="60000"/>
            </a:schemeClr>
          </a:solidFill>
        </p:spPr>
        <p:txBody>
          <a:bodyPr/>
          <a:lstStyle/>
          <a:p>
            <a:endParaRPr lang="en-US" dirty="0"/>
          </a:p>
        </p:txBody>
      </p:sp>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10" name="Text Placeholder 17">
            <a:extLst>
              <a:ext uri="{FF2B5EF4-FFF2-40B4-BE49-F238E27FC236}">
                <a16:creationId xmlns:a16="http://schemas.microsoft.com/office/drawing/2014/main" id="{CDF36E1A-2884-D15B-5F23-B66AA0D3699F}"/>
              </a:ext>
            </a:extLst>
          </p:cNvPr>
          <p:cNvSpPr>
            <a:spLocks noGrp="1"/>
          </p:cNvSpPr>
          <p:nvPr>
            <p:ph type="body" sz="quarter" idx="13"/>
          </p:nvPr>
        </p:nvSpPr>
        <p:spPr>
          <a:xfrm>
            <a:off x="8804077"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15" name="Text Placeholder 17">
            <a:extLst>
              <a:ext uri="{FF2B5EF4-FFF2-40B4-BE49-F238E27FC236}">
                <a16:creationId xmlns:a16="http://schemas.microsoft.com/office/drawing/2014/main" id="{906DBCFA-87EC-CFA4-3B36-76CC76236053}"/>
              </a:ext>
            </a:extLst>
          </p:cNvPr>
          <p:cNvSpPr>
            <a:spLocks noGrp="1"/>
          </p:cNvSpPr>
          <p:nvPr>
            <p:ph type="body" sz="quarter" idx="14"/>
          </p:nvPr>
        </p:nvSpPr>
        <p:spPr>
          <a:xfrm>
            <a:off x="5589430" y="1352811"/>
            <a:ext cx="2890967" cy="4797468"/>
          </a:xfrm>
        </p:spPr>
        <p:txBody>
          <a:bodyPr/>
          <a:lstStyle>
            <a:lvl1pPr>
              <a:spcAft>
                <a:spcPts val="1000"/>
              </a:spcAft>
              <a:buClr>
                <a:schemeClr val="accent1"/>
              </a:buClr>
              <a:buSzPct val="120000"/>
              <a:buFont typeface="Arial" panose="020B0604020202020204" pitchFamily="34" charset="0"/>
              <a:buChar char="•"/>
              <a:defRPr sz="1800">
                <a:solidFill>
                  <a:schemeClr val="bg1"/>
                </a:solidFill>
              </a:defRPr>
            </a:lvl1pPr>
            <a:lvl2pPr>
              <a:spcAft>
                <a:spcPts val="1000"/>
              </a:spcAft>
              <a:buClr>
                <a:schemeClr val="accent1"/>
              </a:buClr>
              <a:buSzPct val="120000"/>
              <a:buFont typeface="Arial" panose="020B0604020202020204" pitchFamily="34" charset="0"/>
              <a:buChar char="•"/>
              <a:defRPr sz="1800">
                <a:solidFill>
                  <a:schemeClr val="bg1"/>
                </a:solidFill>
              </a:defRPr>
            </a:lvl2pPr>
            <a:lvl3pPr>
              <a:spcAft>
                <a:spcPts val="10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6381189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Photo Left 2 Column Right">
    <p:bg>
      <p:bgPr>
        <a:solidFill>
          <a:schemeClr val="tx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E365C5-8A05-292D-3ABB-9175E87524AE}"/>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9" name="Picture 8" descr="A black and white logo&#10;&#10;AI-generated content may be incorrect.">
            <a:extLst>
              <a:ext uri="{FF2B5EF4-FFF2-40B4-BE49-F238E27FC236}">
                <a16:creationId xmlns:a16="http://schemas.microsoft.com/office/drawing/2014/main" id="{A355773B-4534-E4E6-2824-B553AD8CE66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1" name="Oval 10">
            <a:extLst>
              <a:ext uri="{FF2B5EF4-FFF2-40B4-BE49-F238E27FC236}">
                <a16:creationId xmlns:a16="http://schemas.microsoft.com/office/drawing/2014/main" id="{0D625C2C-2758-BA04-3ED7-A885EE16AD04}"/>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6AC3A22-92C3-2965-0988-2803F3764AFD}"/>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13">
            <a:extLst>
              <a:ext uri="{FF2B5EF4-FFF2-40B4-BE49-F238E27FC236}">
                <a16:creationId xmlns:a16="http://schemas.microsoft.com/office/drawing/2014/main" id="{51DA43C2-8913-1900-E4DA-7713E311CF90}"/>
              </a:ext>
            </a:extLst>
          </p:cNvPr>
          <p:cNvSpPr>
            <a:spLocks noGrp="1"/>
          </p:cNvSpPr>
          <p:nvPr>
            <p:ph type="pic" sz="quarter" idx="15"/>
          </p:nvPr>
        </p:nvSpPr>
        <p:spPr>
          <a:xfrm>
            <a:off x="5151120" y="-1"/>
            <a:ext cx="7040880" cy="6336792"/>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612309E-6E2A-730C-ED41-93FDF71CE874}"/>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bg1"/>
                </a:solidFill>
              </a:defRPr>
            </a:lvl1pPr>
            <a:lvl2pPr>
              <a:spcAft>
                <a:spcPts val="600"/>
              </a:spcAft>
              <a:buClr>
                <a:schemeClr val="accent1"/>
              </a:buClr>
              <a:buSzPct val="120000"/>
              <a:buFont typeface="Arial" panose="020B0604020202020204" pitchFamily="34" charset="0"/>
              <a:buChar char="•"/>
              <a:defRPr sz="1800">
                <a:solidFill>
                  <a:schemeClr val="bg1"/>
                </a:solidFill>
              </a:defRPr>
            </a:lvl2pPr>
            <a:lvl3pPr>
              <a:spcAft>
                <a:spcPts val="600"/>
              </a:spcAft>
              <a:buClr>
                <a:schemeClr val="accent1"/>
              </a:buClr>
              <a:buSzPct val="120000"/>
              <a:buFont typeface="Arial" panose="020B0604020202020204" pitchFamily="34" charset="0"/>
              <a:buChar char="•"/>
              <a:defRPr sz="18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8128884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ext Left 3 Photos">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2" name="Picture Placeholder 4">
            <a:extLst>
              <a:ext uri="{FF2B5EF4-FFF2-40B4-BE49-F238E27FC236}">
                <a16:creationId xmlns:a16="http://schemas.microsoft.com/office/drawing/2014/main" id="{79A139FF-777C-1F87-E22A-BE0FD1A7F716}"/>
              </a:ext>
            </a:extLst>
          </p:cNvPr>
          <p:cNvSpPr>
            <a:spLocks noGrp="1"/>
          </p:cNvSpPr>
          <p:nvPr>
            <p:ph type="pic" sz="quarter" idx="14"/>
          </p:nvPr>
        </p:nvSpPr>
        <p:spPr>
          <a:xfrm>
            <a:off x="5329617" y="3143058"/>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3" name="Picture Placeholder 4">
            <a:extLst>
              <a:ext uri="{FF2B5EF4-FFF2-40B4-BE49-F238E27FC236}">
                <a16:creationId xmlns:a16="http://schemas.microsoft.com/office/drawing/2014/main" id="{4632644C-A0B2-57F1-ABC9-C655C6683726}"/>
              </a:ext>
            </a:extLst>
          </p:cNvPr>
          <p:cNvSpPr>
            <a:spLocks noGrp="1"/>
          </p:cNvSpPr>
          <p:nvPr>
            <p:ph type="pic" sz="quarter" idx="15"/>
          </p:nvPr>
        </p:nvSpPr>
        <p:spPr>
          <a:xfrm>
            <a:off x="8798616" y="3143059"/>
            <a:ext cx="3393384" cy="3191425"/>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4" name="Picture Placeholder 4">
            <a:extLst>
              <a:ext uri="{FF2B5EF4-FFF2-40B4-BE49-F238E27FC236}">
                <a16:creationId xmlns:a16="http://schemas.microsoft.com/office/drawing/2014/main" id="{086D8FE7-C118-FF87-989E-A143922D83EC}"/>
              </a:ext>
            </a:extLst>
          </p:cNvPr>
          <p:cNvSpPr>
            <a:spLocks noGrp="1"/>
          </p:cNvSpPr>
          <p:nvPr>
            <p:ph type="pic" sz="quarter" idx="11"/>
          </p:nvPr>
        </p:nvSpPr>
        <p:spPr>
          <a:xfrm>
            <a:off x="5335930" y="0"/>
            <a:ext cx="6856070" cy="3072384"/>
          </a:xfrm>
          <a:prstGeom prst="rect">
            <a:avLst/>
          </a:prstGeom>
          <a:solidFill>
            <a:schemeClr val="bg2">
              <a:lumMod val="40000"/>
              <a:lumOff val="60000"/>
            </a:schemeClr>
          </a:solidFill>
        </p:spPr>
        <p:txBody>
          <a:bodyPr anchor="ctr" anchorCtr="0">
            <a:normAutofit/>
          </a:bodyPr>
          <a:lstStyle>
            <a:lvl1pPr marL="0" indent="0" algn="ctr">
              <a:buNone/>
              <a:defRPr sz="1800" b="0" i="0">
                <a:solidFill>
                  <a:schemeClr val="tx1"/>
                </a:solidFill>
                <a:latin typeface="+mn-lt"/>
                <a:cs typeface="Arial" panose="020B0604020202020204" pitchFamily="34" charset="0"/>
              </a:defRPr>
            </a:lvl1pPr>
          </a:lstStyle>
          <a:p>
            <a:endParaRPr lang="en-US" dirty="0"/>
          </a:p>
        </p:txBody>
      </p:sp>
      <p:sp>
        <p:nvSpPr>
          <p:cNvPr id="5" name="Text Placeholder 17">
            <a:extLst>
              <a:ext uri="{FF2B5EF4-FFF2-40B4-BE49-F238E27FC236}">
                <a16:creationId xmlns:a16="http://schemas.microsoft.com/office/drawing/2014/main" id="{6455BADC-08E0-B69E-9C32-77DE336A3032}"/>
              </a:ext>
            </a:extLst>
          </p:cNvPr>
          <p:cNvSpPr>
            <a:spLocks noGrp="1"/>
          </p:cNvSpPr>
          <p:nvPr>
            <p:ph type="body" sz="quarter" idx="16"/>
          </p:nvPr>
        </p:nvSpPr>
        <p:spPr>
          <a:xfrm>
            <a:off x="472931" y="1317813"/>
            <a:ext cx="4573631" cy="4846320"/>
          </a:xfrm>
        </p:spPr>
        <p:txBody>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217203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2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7" name="Picture Placeholder 6">
            <a:extLst>
              <a:ext uri="{FF2B5EF4-FFF2-40B4-BE49-F238E27FC236}">
                <a16:creationId xmlns:a16="http://schemas.microsoft.com/office/drawing/2014/main" id="{85E4E935-034C-4B50-67FA-1994E8493C28}"/>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19646"/>
            <a:ext cx="11231389" cy="2407212"/>
          </a:xfrm>
        </p:spPr>
        <p:txBody>
          <a:bodyPr numCol="2" spcCol="182880"/>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532269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op Photo Bottom Text 1 Colum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8" name="Text Placeholder 17">
            <a:extLst>
              <a:ext uri="{FF2B5EF4-FFF2-40B4-BE49-F238E27FC236}">
                <a16:creationId xmlns:a16="http://schemas.microsoft.com/office/drawing/2014/main" id="{F42D735A-74DF-5942-DFC3-E1F4A9892192}"/>
              </a:ext>
            </a:extLst>
          </p:cNvPr>
          <p:cNvSpPr>
            <a:spLocks noGrp="1"/>
          </p:cNvSpPr>
          <p:nvPr>
            <p:ph type="body" sz="quarter" idx="11"/>
          </p:nvPr>
        </p:nvSpPr>
        <p:spPr>
          <a:xfrm>
            <a:off x="472931" y="3831220"/>
            <a:ext cx="11229073" cy="2404872"/>
          </a:xfrm>
        </p:spPr>
        <p:txBody>
          <a:bodyPr numCol="1" spcCol="0">
            <a:noAutofit/>
          </a:bodyPr>
          <a:lstStyle>
            <a:lvl1pPr>
              <a:spcAft>
                <a:spcPts val="600"/>
              </a:spcAft>
              <a:buClr>
                <a:schemeClr val="accent1"/>
              </a:buClr>
              <a:buSzPct val="120000"/>
              <a:buFont typeface="Arial" panose="020B0604020202020204" pitchFamily="34" charset="0"/>
              <a:buChar char="•"/>
              <a:defRPr sz="1800"/>
            </a:lvl1pPr>
            <a:lvl2pPr>
              <a:spcAft>
                <a:spcPts val="600"/>
              </a:spcAft>
              <a:buClr>
                <a:schemeClr val="accent1"/>
              </a:buClr>
              <a:buSzPct val="120000"/>
              <a:buFont typeface="Arial" panose="020B0604020202020204" pitchFamily="34" charset="0"/>
              <a:buChar char="•"/>
              <a:defRPr sz="1800"/>
            </a:lvl2pPr>
            <a:lvl3pPr>
              <a:spcAft>
                <a:spcPts val="600"/>
              </a:spcAft>
              <a:buClr>
                <a:schemeClr val="accent1"/>
              </a:buClr>
              <a:buSzPct val="120000"/>
              <a:buFont typeface="Arial" panose="020B0604020202020204" pitchFamily="34" charset="0"/>
              <a:buChar char="•"/>
              <a:defRPr sz="1800"/>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
        <p:nvSpPr>
          <p:cNvPr id="3" name="Picture Placeholder 6">
            <a:extLst>
              <a:ext uri="{FF2B5EF4-FFF2-40B4-BE49-F238E27FC236}">
                <a16:creationId xmlns:a16="http://schemas.microsoft.com/office/drawing/2014/main" id="{A831A398-5196-CF47-F666-4A8AE953F42C}"/>
              </a:ext>
            </a:extLst>
          </p:cNvPr>
          <p:cNvSpPr>
            <a:spLocks noGrp="1"/>
          </p:cNvSpPr>
          <p:nvPr>
            <p:ph type="pic" sz="quarter" idx="10"/>
          </p:nvPr>
        </p:nvSpPr>
        <p:spPr>
          <a:xfrm>
            <a:off x="0" y="0"/>
            <a:ext cx="12192000" cy="3513696"/>
          </a:xfrm>
          <a:solidFill>
            <a:schemeClr val="bg2">
              <a:lumMod val="40000"/>
              <a:lumOff val="60000"/>
            </a:schemeClr>
          </a:solidFill>
        </p:spPr>
        <p:txBody>
          <a:bodyPr/>
          <a:lstStyle/>
          <a:p>
            <a:endParaRPr lang="en-US"/>
          </a:p>
        </p:txBody>
      </p:sp>
    </p:spTree>
    <p:extLst>
      <p:ext uri="{BB962C8B-B14F-4D97-AF65-F5344CB8AC3E}">
        <p14:creationId xmlns:p14="http://schemas.microsoft.com/office/powerpoint/2010/main" val="19243439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ext Left Photo Righ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E63C242-3E4F-C49B-9AFE-A7E0378F3FCB}"/>
              </a:ext>
            </a:extLst>
          </p:cNvPr>
          <p:cNvSpPr/>
          <p:nvPr userDrawn="1"/>
        </p:nvSpPr>
        <p:spPr>
          <a:xfrm>
            <a:off x="0" y="6334484"/>
            <a:ext cx="12192000" cy="523516"/>
          </a:xfrm>
          <a:prstGeom prst="rect">
            <a:avLst/>
          </a:prstGeom>
          <a:solidFill>
            <a:srgbClr val="CC00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pic>
        <p:nvPicPr>
          <p:cNvPr id="12" name="Picture 11" descr="A black and white logo&#10;&#10;AI-generated content may be incorrect.">
            <a:extLst>
              <a:ext uri="{FF2B5EF4-FFF2-40B4-BE49-F238E27FC236}">
                <a16:creationId xmlns:a16="http://schemas.microsoft.com/office/drawing/2014/main" id="{8A3D2A20-71AC-8C85-63C4-D65E3C8AC432}"/>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731520" y="6427078"/>
            <a:ext cx="1141293" cy="338328"/>
          </a:xfrm>
          <a:prstGeom prst="rect">
            <a:avLst/>
          </a:prstGeom>
        </p:spPr>
      </p:pic>
      <p:sp>
        <p:nvSpPr>
          <p:cNvPr id="13" name="Oval 12">
            <a:extLst>
              <a:ext uri="{FF2B5EF4-FFF2-40B4-BE49-F238E27FC236}">
                <a16:creationId xmlns:a16="http://schemas.microsoft.com/office/drawing/2014/main" id="{BF53FFF4-2564-AAAA-ED95-474D23DE9CC0}"/>
              </a:ext>
            </a:extLst>
          </p:cNvPr>
          <p:cNvSpPr/>
          <p:nvPr userDrawn="1"/>
        </p:nvSpPr>
        <p:spPr>
          <a:xfrm>
            <a:off x="11540912" y="6442110"/>
            <a:ext cx="308264" cy="3082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F6C2F79-9CE7-E0ED-999B-0424D9136083}"/>
              </a:ext>
            </a:extLst>
          </p:cNvPr>
          <p:cNvSpPr txBox="1"/>
          <p:nvPr userDrawn="1"/>
        </p:nvSpPr>
        <p:spPr>
          <a:xfrm>
            <a:off x="11430692" y="6483096"/>
            <a:ext cx="528705" cy="246221"/>
          </a:xfrm>
          <a:prstGeom prst="rect">
            <a:avLst/>
          </a:prstGeom>
          <a:noFill/>
        </p:spPr>
        <p:txBody>
          <a:bodyPr wrap="square" rtlCol="0" anchor="ctr" anchorCtr="0">
            <a:spAutoFit/>
          </a:bodyPr>
          <a:lstStyle/>
          <a:p>
            <a:pPr algn="ctr"/>
            <a:fld id="{EBC9AC92-EC09-C846-AF8D-0ACA08F55242}" type="slidenum">
              <a:rPr lang="en-US" sz="1000" smtClean="0">
                <a:solidFill>
                  <a:schemeClr val="bg1"/>
                </a:solidFill>
                <a:latin typeface="+mn-lt"/>
                <a:ea typeface="Tahoma" panose="020B0604030504040204" pitchFamily="34" charset="0"/>
                <a:cs typeface="Tahoma" panose="020B0604030504040204" pitchFamily="34" charset="0"/>
              </a:rPr>
              <a:pPr algn="ctr"/>
              <a:t>‹#›</a:t>
            </a:fld>
            <a:endParaRPr lang="en-US" sz="1000" dirty="0">
              <a:solidFill>
                <a:schemeClr val="bg1"/>
              </a:solidFill>
              <a:latin typeface="+mn-lt"/>
              <a:ea typeface="Tahoma" panose="020B0604030504040204" pitchFamily="34" charset="0"/>
              <a:cs typeface="Tahoma" panose="020B0604030504040204" pitchFamily="34" charset="0"/>
            </a:endParaRPr>
          </a:p>
        </p:txBody>
      </p:sp>
      <p:sp>
        <p:nvSpPr>
          <p:cNvPr id="6" name="Picture Placeholder 13">
            <a:extLst>
              <a:ext uri="{FF2B5EF4-FFF2-40B4-BE49-F238E27FC236}">
                <a16:creationId xmlns:a16="http://schemas.microsoft.com/office/drawing/2014/main" id="{BB660254-223C-1D2E-6173-16CC1ECCC445}"/>
              </a:ext>
            </a:extLst>
          </p:cNvPr>
          <p:cNvSpPr>
            <a:spLocks noGrp="1"/>
          </p:cNvSpPr>
          <p:nvPr>
            <p:ph type="pic" sz="quarter" idx="10"/>
          </p:nvPr>
        </p:nvSpPr>
        <p:spPr>
          <a:xfrm>
            <a:off x="5151120" y="0"/>
            <a:ext cx="7040880" cy="6334125"/>
          </a:xfrm>
          <a:solidFill>
            <a:schemeClr val="bg2">
              <a:lumMod val="40000"/>
              <a:lumOff val="60000"/>
            </a:schemeClr>
          </a:solidFill>
        </p:spPr>
        <p:txBody>
          <a:bodyPr/>
          <a:lstStyle/>
          <a:p>
            <a:endParaRPr lang="en-US" dirty="0"/>
          </a:p>
        </p:txBody>
      </p:sp>
      <p:sp>
        <p:nvSpPr>
          <p:cNvPr id="3" name="Text Placeholder 17">
            <a:extLst>
              <a:ext uri="{FF2B5EF4-FFF2-40B4-BE49-F238E27FC236}">
                <a16:creationId xmlns:a16="http://schemas.microsoft.com/office/drawing/2014/main" id="{D7FAE002-532E-4725-5033-25D4A01D77AA}"/>
              </a:ext>
            </a:extLst>
          </p:cNvPr>
          <p:cNvSpPr>
            <a:spLocks noGrp="1"/>
          </p:cNvSpPr>
          <p:nvPr>
            <p:ph type="body" sz="quarter" idx="16"/>
          </p:nvPr>
        </p:nvSpPr>
        <p:spPr>
          <a:xfrm>
            <a:off x="472930" y="1317813"/>
            <a:ext cx="4389120" cy="4846320"/>
          </a:xfrm>
        </p:spPr>
        <p:txBody>
          <a:bodyPr/>
          <a:lstStyle>
            <a:lvl1pPr>
              <a:spcAft>
                <a:spcPts val="600"/>
              </a:spcAft>
              <a:buClr>
                <a:schemeClr val="accent1"/>
              </a:buClr>
              <a:buSzPct val="120000"/>
              <a:buFont typeface="Arial" panose="020B0604020202020204" pitchFamily="34" charset="0"/>
              <a:buChar char="•"/>
              <a:defRPr sz="1800">
                <a:solidFill>
                  <a:schemeClr val="tx1"/>
                </a:solidFill>
              </a:defRPr>
            </a:lvl1pPr>
            <a:lvl2pPr>
              <a:spcAft>
                <a:spcPts val="600"/>
              </a:spcAft>
              <a:buClr>
                <a:schemeClr val="accent1"/>
              </a:buClr>
              <a:buSzPct val="120000"/>
              <a:buFont typeface="Arial" panose="020B0604020202020204" pitchFamily="34" charset="0"/>
              <a:buChar char="•"/>
              <a:defRPr sz="1800">
                <a:solidFill>
                  <a:schemeClr val="tx1"/>
                </a:solidFill>
              </a:defRPr>
            </a:lvl2pPr>
            <a:lvl3pPr>
              <a:spcAft>
                <a:spcPts val="600"/>
              </a:spcAft>
              <a:buClr>
                <a:schemeClr val="accent1"/>
              </a:buClr>
              <a:buSzPct val="120000"/>
              <a:buFont typeface="Arial" panose="020B0604020202020204" pitchFamily="34" charset="0"/>
              <a:buChar char="•"/>
              <a:defRPr sz="1800">
                <a:solidFill>
                  <a:schemeClr val="tx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954719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utgers Closing">
    <p:bg>
      <p:bgPr>
        <a:solidFill>
          <a:srgbClr val="CC0033"/>
        </a:solidFill>
        <a:effectLst/>
      </p:bgPr>
    </p:bg>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3A760144-371E-729D-1C97-258FD5692618}"/>
              </a:ext>
            </a:extLst>
          </p:cNvPr>
          <p:cNvSpPr>
            <a:spLocks noGrp="1"/>
          </p:cNvSpPr>
          <p:nvPr>
            <p:ph type="pic" sz="quarter" idx="10"/>
          </p:nvPr>
        </p:nvSpPr>
        <p:spPr>
          <a:xfrm>
            <a:off x="2909279" y="2484320"/>
            <a:ext cx="6373439" cy="1889359"/>
          </a:xfrm>
        </p:spPr>
        <p:txBody>
          <a:bodyPr/>
          <a:lstStyle/>
          <a:p>
            <a:endParaRPr lang="en-US"/>
          </a:p>
        </p:txBody>
      </p:sp>
      <p:sp>
        <p:nvSpPr>
          <p:cNvPr id="9" name="Text Placeholder 17">
            <a:extLst>
              <a:ext uri="{FF2B5EF4-FFF2-40B4-BE49-F238E27FC236}">
                <a16:creationId xmlns:a16="http://schemas.microsoft.com/office/drawing/2014/main" id="{6CE4981A-2A29-96CA-153A-2922DE3B1D43}"/>
              </a:ext>
            </a:extLst>
          </p:cNvPr>
          <p:cNvSpPr>
            <a:spLocks noGrp="1"/>
          </p:cNvSpPr>
          <p:nvPr>
            <p:ph type="body" sz="quarter" idx="11"/>
          </p:nvPr>
        </p:nvSpPr>
        <p:spPr>
          <a:xfrm>
            <a:off x="2909279" y="6030760"/>
            <a:ext cx="6373439" cy="640080"/>
          </a:xfrm>
        </p:spPr>
        <p:txBody>
          <a:bodyPr/>
          <a:lstStyle>
            <a:lvl1pPr algn="ctr">
              <a:spcAft>
                <a:spcPts val="1000"/>
              </a:spcAft>
              <a:buClr>
                <a:schemeClr val="accent1"/>
              </a:buClr>
              <a:buSzPct val="120000"/>
              <a:buFont typeface="Arial" panose="020B0604020202020204" pitchFamily="34" charset="0"/>
              <a:buNone/>
              <a:defRPr sz="1000">
                <a:solidFill>
                  <a:schemeClr val="bg1"/>
                </a:solidFill>
              </a:defRPr>
            </a:lvl1pPr>
            <a:lvl2pPr algn="ctr">
              <a:spcAft>
                <a:spcPts val="1000"/>
              </a:spcAft>
              <a:buClr>
                <a:schemeClr val="accent1"/>
              </a:buClr>
              <a:buSzPct val="120000"/>
              <a:buFont typeface="Arial" panose="020B0604020202020204" pitchFamily="34" charset="0"/>
              <a:buNone/>
              <a:defRPr sz="1000">
                <a:solidFill>
                  <a:schemeClr val="bg1"/>
                </a:solidFill>
              </a:defRPr>
            </a:lvl2pPr>
            <a:lvl3pPr algn="ctr">
              <a:spcAft>
                <a:spcPts val="1000"/>
              </a:spcAft>
              <a:buClr>
                <a:schemeClr val="accent1"/>
              </a:buClr>
              <a:buSzPct val="120000"/>
              <a:buFont typeface="Arial" panose="020B0604020202020204" pitchFamily="34" charset="0"/>
              <a:buNone/>
              <a:defRPr sz="1000">
                <a:solidFill>
                  <a:schemeClr val="bg1"/>
                </a:solidFill>
              </a:defRPr>
            </a:lvl3pPr>
            <a:lvl4pPr>
              <a:buClr>
                <a:schemeClr val="accent1"/>
              </a:buClr>
              <a:buFont typeface="Wingdings" pitchFamily="2" charset="2"/>
              <a:buChar char="§"/>
              <a:defRPr sz="1800"/>
            </a:lvl4pPr>
            <a:lvl5pPr>
              <a:buClr>
                <a:schemeClr val="accent1"/>
              </a:buClr>
              <a:buFont typeface="Wingdings" pitchFamily="2" charset="2"/>
              <a:buChar char="§"/>
              <a:defRPr sz="1800"/>
            </a:lvl5pPr>
          </a:lstStyle>
          <a:p>
            <a:pPr lvl="0"/>
            <a:r>
              <a:rPr lang="en-US" dirty="0"/>
              <a:t>Click to edit Master text styles</a:t>
            </a:r>
          </a:p>
        </p:txBody>
      </p:sp>
    </p:spTree>
    <p:extLst>
      <p:ext uri="{BB962C8B-B14F-4D97-AF65-F5344CB8AC3E}">
        <p14:creationId xmlns:p14="http://schemas.microsoft.com/office/powerpoint/2010/main" val="3306011067"/>
      </p:ext>
    </p:extLst>
  </p:cSld>
  <p:clrMapOvr>
    <a:masterClrMapping/>
  </p:clrMapOvr>
  <p:hf sldNum="0"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D47C82-65E8-6F4A-93F5-B60D5D90FAEC}"/>
              </a:ext>
            </a:extLst>
          </p:cNvPr>
          <p:cNvSpPr>
            <a:spLocks noGrp="1"/>
          </p:cNvSpPr>
          <p:nvPr>
            <p:ph type="title"/>
          </p:nvPr>
        </p:nvSpPr>
        <p:spPr>
          <a:xfrm>
            <a:off x="585627" y="365126"/>
            <a:ext cx="10768173" cy="896116"/>
          </a:xfrm>
          <a:prstGeom prst="rect">
            <a:avLst/>
          </a:prstGeom>
        </p:spPr>
        <p:txBody>
          <a:bodyPr vert="horz" lIns="0" tIns="0" rIns="0" bIns="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0D0A12C-E82E-3F40-8F2F-F914F24F0B62}"/>
              </a:ext>
            </a:extLst>
          </p:cNvPr>
          <p:cNvSpPr>
            <a:spLocks noGrp="1"/>
          </p:cNvSpPr>
          <p:nvPr>
            <p:ph type="body" idx="1"/>
          </p:nvPr>
        </p:nvSpPr>
        <p:spPr>
          <a:xfrm>
            <a:off x="585627" y="1825625"/>
            <a:ext cx="10768173" cy="435133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45B747C4-6C3D-7CB4-12B7-BFA60319A4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1862707679"/>
      </p:ext>
    </p:extLst>
  </p:cSld>
  <p:clrMap bg1="lt1" tx1="dk1" bg2="lt2" tx2="dk2" accent1="accent1" accent2="accent2" accent3="accent3" accent4="accent4" accent5="accent5" accent6="accent6" hlink="hlink" folHlink="folHlink"/>
  <p:sldLayoutIdLst>
    <p:sldLayoutId id="2147483695" r:id="rId1"/>
    <p:sldLayoutId id="2147483706" r:id="rId2"/>
    <p:sldLayoutId id="2147483705" r:id="rId3"/>
    <p:sldLayoutId id="2147483698" r:id="rId4"/>
    <p:sldLayoutId id="2147483704" r:id="rId5"/>
    <p:sldLayoutId id="2147483707" r:id="rId6"/>
    <p:sldLayoutId id="2147483703" r:id="rId7"/>
    <p:sldLayoutId id="2147483701" r:id="rId8"/>
    <p:sldLayoutId id="2147483702" r:id="rId9"/>
    <p:sldLayoutId id="2147483700" r:id="rId10"/>
    <p:sldLayoutId id="2147483694" r:id="rId11"/>
  </p:sldLayoutIdLst>
  <p:hf sldNum="0" hdr="0" ftr="0" dt="0"/>
  <p:txStyles>
    <p:titleStyle>
      <a:lvl1pPr algn="l" defTabSz="914400" rtl="0" eaLnBrk="1" latinLnBrk="0" hangingPunct="1">
        <a:lnSpc>
          <a:spcPct val="90000"/>
        </a:lnSpc>
        <a:spcBef>
          <a:spcPct val="0"/>
        </a:spcBef>
        <a:buNone/>
        <a:defRPr sz="3400" b="1" kern="1200">
          <a:solidFill>
            <a:schemeClr val="tx1"/>
          </a:solidFill>
          <a:latin typeface="+mj-lt"/>
          <a:ea typeface="Roboto" panose="02000000000000000000" pitchFamily="2" charset="0"/>
          <a:cs typeface="Arial" panose="020B0604020202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chemeClr val="tx1"/>
          </a:solidFill>
          <a:latin typeface="+mn-lt"/>
          <a:ea typeface="Roboto" panose="02000000000000000000" pitchFamily="2" charset="0"/>
          <a:cs typeface="Arial" panose="020B0604020202020204" pitchFamily="34" charset="0"/>
        </a:defRPr>
      </a:lvl1pPr>
      <a:lvl2pPr marL="685800" indent="-228600" algn="l" defTabSz="914400" rtl="0" eaLnBrk="1" latinLnBrk="0" hangingPunct="1">
        <a:lnSpc>
          <a:spcPct val="100000"/>
        </a:lnSpc>
        <a:spcBef>
          <a:spcPts val="500"/>
        </a:spcBef>
        <a:buFont typeface="Roboto" panose="02000000000000000000" pitchFamily="2" charset="0"/>
        <a:buChar char="–"/>
        <a:defRPr sz="2000" kern="1200">
          <a:solidFill>
            <a:schemeClr val="tx1"/>
          </a:solidFill>
          <a:latin typeface="+mn-lt"/>
          <a:ea typeface="Roboto" panose="02000000000000000000" pitchFamily="2" charset="0"/>
          <a:cs typeface="Arial" panose="020B0604020202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Roboto" panose="02000000000000000000" pitchFamily="2" charset="0"/>
          <a:cs typeface="Arial" panose="020B0604020202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Roboto" panose="02000000000000000000" pitchFamily="2" charset="0"/>
          <a:cs typeface="Arial" panose="020B0604020202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Roboto" panose="02000000000000000000" pitchFamily="2"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0.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FF1E-8490-9821-6039-8A60832A0D94}"/>
            </a:ext>
          </a:extLst>
        </p:cNvPr>
        <p:cNvGrpSpPr/>
        <p:nvPr/>
      </p:nvGrpSpPr>
      <p:grpSpPr>
        <a:xfrm>
          <a:off x="0" y="0"/>
          <a:ext cx="0" cy="0"/>
          <a:chOff x="0" y="0"/>
          <a:chExt cx="0" cy="0"/>
        </a:xfrm>
      </p:grpSpPr>
      <p:pic>
        <p:nvPicPr>
          <p:cNvPr id="8" name="Picture Placeholder 7" descr="A black square with white text&#10;&#10;AI-generated content may be incorrect.">
            <a:extLst>
              <a:ext uri="{FF2B5EF4-FFF2-40B4-BE49-F238E27FC236}">
                <a16:creationId xmlns:a16="http://schemas.microsoft.com/office/drawing/2014/main" id="{2AB7E9DF-DA96-4187-AE8F-CF45BEE69144}"/>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E0599098-B346-AB02-DADA-06FB7B91383A}"/>
              </a:ext>
            </a:extLst>
          </p:cNvPr>
          <p:cNvSpPr>
            <a:spLocks noGrp="1"/>
          </p:cNvSpPr>
          <p:nvPr>
            <p:ph type="body" sz="quarter" idx="11"/>
          </p:nvPr>
        </p:nvSpPr>
        <p:spPr>
          <a:xfrm>
            <a:off x="612924" y="2667357"/>
            <a:ext cx="11081771" cy="590932"/>
          </a:xfrm>
        </p:spPr>
        <p:txBody>
          <a:bodyPr>
            <a:normAutofit/>
          </a:bodyPr>
          <a:lstStyle/>
          <a:p>
            <a:pPr marL="14288" indent="-14288"/>
            <a:r>
              <a:rPr lang="en-US" sz="2800" dirty="0"/>
              <a:t>Population &amp; Migration Forecasting in Puerto Rico</a:t>
            </a:r>
          </a:p>
        </p:txBody>
      </p:sp>
      <p:cxnSp>
        <p:nvCxnSpPr>
          <p:cNvPr id="6" name="Straight Connector 5">
            <a:extLst>
              <a:ext uri="{FF2B5EF4-FFF2-40B4-BE49-F238E27FC236}">
                <a16:creationId xmlns:a16="http://schemas.microsoft.com/office/drawing/2014/main" id="{1FF35A4E-A51B-8BA0-C03D-F01BD1C9AAA6}"/>
              </a:ext>
            </a:extLst>
          </p:cNvPr>
          <p:cNvCxnSpPr>
            <a:cxnSpLocks/>
          </p:cNvCxnSpPr>
          <p:nvPr/>
        </p:nvCxnSpPr>
        <p:spPr>
          <a:xfrm>
            <a:off x="2438400" y="3266544"/>
            <a:ext cx="7315200" cy="0"/>
          </a:xfrm>
          <a:prstGeom prst="line">
            <a:avLst/>
          </a:prstGeom>
          <a:ln w="12700">
            <a:solidFill>
              <a:schemeClr val="bg1">
                <a:lumMod val="85000"/>
              </a:schemeClr>
            </a:solidFill>
          </a:ln>
          <a:effectLst/>
        </p:spPr>
        <p:style>
          <a:lnRef idx="2">
            <a:schemeClr val="dk1"/>
          </a:lnRef>
          <a:fillRef idx="0">
            <a:schemeClr val="dk1"/>
          </a:fillRef>
          <a:effectRef idx="1">
            <a:schemeClr val="dk1"/>
          </a:effectRef>
          <a:fontRef idx="minor">
            <a:schemeClr val="tx1"/>
          </a:fontRef>
        </p:style>
      </p:cxnSp>
      <p:sp>
        <p:nvSpPr>
          <p:cNvPr id="7" name="Google Shape;88;p13">
            <a:extLst>
              <a:ext uri="{FF2B5EF4-FFF2-40B4-BE49-F238E27FC236}">
                <a16:creationId xmlns:a16="http://schemas.microsoft.com/office/drawing/2014/main" id="{4D2A67CD-7517-7D45-DD36-E4BA9F4D4926}"/>
              </a:ext>
            </a:extLst>
          </p:cNvPr>
          <p:cNvSpPr txBox="1"/>
          <p:nvPr/>
        </p:nvSpPr>
        <p:spPr>
          <a:xfrm>
            <a:off x="741260" y="4200029"/>
            <a:ext cx="3438525" cy="59093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400" b="1" i="0" u="none" strike="noStrike" cap="none" dirty="0">
                <a:latin typeface="+mj-lt"/>
                <a:ea typeface="DM Sans"/>
                <a:cs typeface="Arial" panose="020B0604020202020204" pitchFamily="34" charset="0"/>
                <a:sym typeface="DM Sans"/>
              </a:rPr>
              <a:t>Jose Andres RiveraRuiz</a:t>
            </a:r>
            <a:endParaRPr sz="3200" dirty="0">
              <a:latin typeface="+mj-lt"/>
            </a:endParaRPr>
          </a:p>
        </p:txBody>
      </p:sp>
      <p:sp>
        <p:nvSpPr>
          <p:cNvPr id="9" name="Google Shape;89;p13">
            <a:extLst>
              <a:ext uri="{FF2B5EF4-FFF2-40B4-BE49-F238E27FC236}">
                <a16:creationId xmlns:a16="http://schemas.microsoft.com/office/drawing/2014/main" id="{21E89DB3-FE9C-185E-78C9-981857D4CFE9}"/>
              </a:ext>
            </a:extLst>
          </p:cNvPr>
          <p:cNvSpPr txBox="1"/>
          <p:nvPr/>
        </p:nvSpPr>
        <p:spPr>
          <a:xfrm>
            <a:off x="741260" y="4755207"/>
            <a:ext cx="3745923" cy="1034129"/>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400" b="1" i="0" u="none" strike="noStrike" cap="none" dirty="0">
                <a:latin typeface="+mj-lt"/>
                <a:ea typeface="DM Sans"/>
                <a:cs typeface="Arial" panose="020B0604020202020204" pitchFamily="34" charset="0"/>
                <a:sym typeface="DM Sans"/>
              </a:rPr>
              <a:t>Rutgers, The State University of New Jersey</a:t>
            </a:r>
          </a:p>
          <a:p>
            <a:pPr>
              <a:lnSpc>
                <a:spcPct val="160000"/>
              </a:lnSpc>
            </a:pPr>
            <a:r>
              <a:rPr lang="en-US" sz="1400" b="1" dirty="0">
                <a:latin typeface="+mj-lt"/>
                <a:cs typeface="Arial" panose="020B0604020202020204" pitchFamily="34" charset="0"/>
                <a:sym typeface="DM Sans"/>
              </a:rPr>
              <a:t>Master’s Project- Spring 2026</a:t>
            </a:r>
          </a:p>
          <a:p>
            <a:pPr>
              <a:lnSpc>
                <a:spcPct val="160000"/>
              </a:lnSpc>
            </a:pPr>
            <a:r>
              <a:rPr lang="en-US" sz="1400" b="1" dirty="0">
                <a:latin typeface="+mj-lt"/>
                <a:cs typeface="Arial" panose="020B0604020202020204" pitchFamily="34" charset="0"/>
                <a:sym typeface="DM Sans"/>
              </a:rPr>
              <a:t>Week 14 Progress: 1 May 2026</a:t>
            </a:r>
            <a:endParaRPr lang="en-US" sz="1400" b="1" dirty="0">
              <a:latin typeface="+mj-lt"/>
              <a:cs typeface="Arial" panose="020B0604020202020204" pitchFamily="34" charset="0"/>
            </a:endParaRPr>
          </a:p>
        </p:txBody>
      </p:sp>
    </p:spTree>
    <p:extLst>
      <p:ext uri="{BB962C8B-B14F-4D97-AF65-F5344CB8AC3E}">
        <p14:creationId xmlns:p14="http://schemas.microsoft.com/office/powerpoint/2010/main" val="3928769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ECE9DE-5569-FB3D-9F3D-4B7D21E06AB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782AEBD-D968-67B5-44E1-E37D027F75E9}"/>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Problem &amp; Objective </a:t>
            </a:r>
          </a:p>
        </p:txBody>
      </p:sp>
      <p:sp>
        <p:nvSpPr>
          <p:cNvPr id="11" name="TextBox 10">
            <a:extLst>
              <a:ext uri="{FF2B5EF4-FFF2-40B4-BE49-F238E27FC236}">
                <a16:creationId xmlns:a16="http://schemas.microsoft.com/office/drawing/2014/main" id="{39E0F022-DCC0-E84E-EDEB-7B39259B385C}"/>
              </a:ext>
            </a:extLst>
          </p:cNvPr>
          <p:cNvSpPr txBox="1"/>
          <p:nvPr/>
        </p:nvSpPr>
        <p:spPr>
          <a:xfrm>
            <a:off x="139613" y="1368962"/>
            <a:ext cx="11484828" cy="5247590"/>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1400" b="1" dirty="0">
                <a:latin typeface="Merriweather" pitchFamily="2" charset="77"/>
              </a:rPr>
              <a:t>Research Problem: </a:t>
            </a:r>
            <a:r>
              <a:rPr lang="en-US" sz="1400" dirty="0">
                <a:latin typeface="Merriweather" pitchFamily="2" charset="77"/>
              </a:rPr>
              <a:t>Puerto Rico has experienced </a:t>
            </a:r>
            <a:r>
              <a:rPr lang="en-US" sz="1400" i="1" dirty="0">
                <a:latin typeface="Merriweather" pitchFamily="2" charset="77"/>
              </a:rPr>
              <a:t>significant population decline and regional vulnerability </a:t>
            </a:r>
            <a:r>
              <a:rPr lang="en-US" sz="1400" dirty="0">
                <a:latin typeface="Merriweather" pitchFamily="2" charset="77"/>
              </a:rPr>
              <a:t>driven by economic conditions, natural disasters, and social factors</a:t>
            </a:r>
          </a:p>
          <a:p>
            <a:pPr marL="285750"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Objective: </a:t>
            </a:r>
            <a:r>
              <a:rPr lang="en-US" sz="1400" dirty="0">
                <a:latin typeface="Merriweather" pitchFamily="2" charset="77"/>
              </a:rPr>
              <a:t>Develop a </a:t>
            </a:r>
            <a:r>
              <a:rPr lang="en-US" sz="1400" b="1" i="1" dirty="0">
                <a:latin typeface="Merriweather" pitchFamily="2" charset="77"/>
              </a:rPr>
              <a:t>data-driven framework</a:t>
            </a:r>
            <a:r>
              <a:rPr lang="en-US" sz="1400" i="1" dirty="0">
                <a:latin typeface="Merriweather" pitchFamily="2" charset="77"/>
              </a:rPr>
              <a:t> </a:t>
            </a:r>
            <a:r>
              <a:rPr lang="en-US" sz="1400" dirty="0">
                <a:latin typeface="Merriweather" pitchFamily="2" charset="77"/>
              </a:rPr>
              <a:t>to:</a:t>
            </a:r>
          </a:p>
          <a:p>
            <a:pPr marL="742950" lvl="1" indent="-285750" fontAlgn="base">
              <a:lnSpc>
                <a:spcPct val="150000"/>
              </a:lnSpc>
              <a:buFont typeface="Arial" panose="020B0604020202020204" pitchFamily="34" charset="0"/>
              <a:buChar char="•"/>
            </a:pPr>
            <a:r>
              <a:rPr lang="en-US" sz="1400" dirty="0">
                <a:latin typeface="Merriweather" pitchFamily="2" charset="77"/>
              </a:rPr>
              <a:t>Model municipal and regional population change</a:t>
            </a:r>
          </a:p>
          <a:p>
            <a:pPr marL="742950" lvl="1" indent="-285750" fontAlgn="base">
              <a:lnSpc>
                <a:spcPct val="150000"/>
              </a:lnSpc>
              <a:buFont typeface="Arial" panose="020B0604020202020204" pitchFamily="34" charset="0"/>
              <a:buChar char="•"/>
            </a:pPr>
            <a:r>
              <a:rPr lang="en-US" sz="1400" dirty="0">
                <a:latin typeface="Merriweather" pitchFamily="2" charset="77"/>
              </a:rPr>
              <a:t>Identify drivers of demographic decline</a:t>
            </a:r>
          </a:p>
          <a:p>
            <a:pPr marL="742950" lvl="1" indent="-285750" fontAlgn="base">
              <a:lnSpc>
                <a:spcPct val="150000"/>
              </a:lnSpc>
              <a:buFont typeface="Arial" panose="020B0604020202020204" pitchFamily="34" charset="0"/>
              <a:buChar char="•"/>
            </a:pPr>
            <a:r>
              <a:rPr lang="en-US" sz="1400" dirty="0">
                <a:latin typeface="Merriweather" pitchFamily="2" charset="77"/>
              </a:rPr>
              <a:t>Detect structural municipal vulnerability patterns</a:t>
            </a:r>
          </a:p>
          <a:p>
            <a:pPr marL="742950" lvl="1" indent="-285750" fontAlgn="base">
              <a:lnSpc>
                <a:spcPct val="150000"/>
              </a:lnSpc>
              <a:buFont typeface="Arial" panose="020B0604020202020204" pitchFamily="34" charset="0"/>
              <a:buChar char="•"/>
            </a:pPr>
            <a:r>
              <a:rPr lang="en-US" sz="1400" dirty="0">
                <a:latin typeface="Merriweather" pitchFamily="2" charset="77"/>
              </a:rPr>
              <a:t>Produce population forecasts and typologies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Success Criteria</a:t>
            </a:r>
          </a:p>
          <a:p>
            <a:pPr marL="742950" lvl="1" indent="-285750" fontAlgn="base">
              <a:lnSpc>
                <a:spcPct val="150000"/>
              </a:lnSpc>
              <a:buFont typeface="Arial" panose="020B0604020202020204" pitchFamily="34" charset="0"/>
              <a:buChar char="•"/>
            </a:pPr>
            <a:r>
              <a:rPr lang="en-US" sz="1400" dirty="0">
                <a:latin typeface="Merriweather" pitchFamily="2" charset="77"/>
              </a:rPr>
              <a:t>Predict population change with reasonable accuracy</a:t>
            </a:r>
          </a:p>
          <a:p>
            <a:pPr marL="742950" lvl="1" indent="-285750" fontAlgn="base">
              <a:lnSpc>
                <a:spcPct val="150000"/>
              </a:lnSpc>
              <a:buFont typeface="Arial" panose="020B0604020202020204" pitchFamily="34" charset="0"/>
              <a:buChar char="•"/>
            </a:pPr>
            <a:r>
              <a:rPr lang="en-US" sz="1400" dirty="0">
                <a:latin typeface="Merriweather" pitchFamily="2" charset="77"/>
              </a:rPr>
              <a:t>Identify key drivers </a:t>
            </a:r>
          </a:p>
          <a:p>
            <a:pPr marL="742950" lvl="1" indent="-285750" fontAlgn="base">
              <a:lnSpc>
                <a:spcPct val="150000"/>
              </a:lnSpc>
              <a:buFont typeface="Arial" panose="020B0604020202020204" pitchFamily="34" charset="0"/>
              <a:buChar char="•"/>
            </a:pPr>
            <a:r>
              <a:rPr lang="en-US" sz="1400" dirty="0">
                <a:latin typeface="Merriweather" pitchFamily="2" charset="77"/>
              </a:rPr>
              <a:t>Detect clusters/regions with similar vulnerability profiles</a:t>
            </a:r>
          </a:p>
          <a:p>
            <a:pPr marL="742950" lvl="1" indent="-285750" fontAlgn="base">
              <a:lnSpc>
                <a:spcPct val="150000"/>
              </a:lnSpc>
              <a:buFont typeface="Arial" panose="020B0604020202020204" pitchFamily="34" charset="0"/>
              <a:buChar char="•"/>
            </a:pPr>
            <a:endParaRPr lang="en-US" sz="1400" dirty="0">
              <a:latin typeface="Merriweather" pitchFamily="2" charset="77"/>
            </a:endParaRPr>
          </a:p>
          <a:p>
            <a:pPr marL="285750" indent="-285750" fontAlgn="base">
              <a:lnSpc>
                <a:spcPct val="150000"/>
              </a:lnSpc>
              <a:buFont typeface="Arial" panose="020B0604020202020204" pitchFamily="34" charset="0"/>
              <a:buChar char="•"/>
            </a:pPr>
            <a:r>
              <a:rPr lang="en-US" sz="1400" b="1" dirty="0">
                <a:latin typeface="Merriweather" pitchFamily="2" charset="77"/>
              </a:rPr>
              <a:t>This week, I worked on extend modeling to scenario-based forecasting under disasters</a:t>
            </a:r>
          </a:p>
          <a:p>
            <a:pPr marL="285750" indent="-285750" fontAlgn="base">
              <a:buFont typeface="Arial" panose="020B0604020202020204" pitchFamily="34" charset="0"/>
              <a:buChar char="•"/>
            </a:pPr>
            <a:endParaRPr lang="en-US" sz="1400" dirty="0">
              <a:solidFill>
                <a:srgbClr val="000000"/>
              </a:solidFill>
              <a:latin typeface="Merriweather" pitchFamily="2" charset="77"/>
              <a:ea typeface="Arial"/>
              <a:cs typeface="Arial"/>
              <a:sym typeface="Arial"/>
            </a:endParaRPr>
          </a:p>
        </p:txBody>
      </p:sp>
      <p:pic>
        <p:nvPicPr>
          <p:cNvPr id="9" name="Picture 8" descr="A map of puerto rico with a graph and a chart&#10;&#10;AI-generated content may be incorrect.">
            <a:extLst>
              <a:ext uri="{FF2B5EF4-FFF2-40B4-BE49-F238E27FC236}">
                <a16:creationId xmlns:a16="http://schemas.microsoft.com/office/drawing/2014/main" id="{127A0D1B-B23D-7AB3-2172-9CE8952C18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8987" y="2052133"/>
            <a:ext cx="4517551" cy="3316132"/>
          </a:xfrm>
          <a:prstGeom prst="rect">
            <a:avLst/>
          </a:prstGeom>
        </p:spPr>
      </p:pic>
    </p:spTree>
    <p:extLst>
      <p:ext uri="{BB962C8B-B14F-4D97-AF65-F5344CB8AC3E}">
        <p14:creationId xmlns:p14="http://schemas.microsoft.com/office/powerpoint/2010/main" val="356348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240323-1844-7C93-9703-4C215B003E0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9E6EEC-5C00-9AAB-71E1-B82D418B3429}"/>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514C5B44-61A0-1E95-DD47-EC743B64F4D3}"/>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End-to-End Modeling Pipeline</a:t>
            </a:r>
          </a:p>
        </p:txBody>
      </p:sp>
      <p:pic>
        <p:nvPicPr>
          <p:cNvPr id="6" name="Picture 5">
            <a:extLst>
              <a:ext uri="{FF2B5EF4-FFF2-40B4-BE49-F238E27FC236}">
                <a16:creationId xmlns:a16="http://schemas.microsoft.com/office/drawing/2014/main" id="{7D048859-A022-27ED-A44B-061CED15932A}"/>
              </a:ext>
            </a:extLst>
          </p:cNvPr>
          <p:cNvPicPr>
            <a:picLocks noChangeAspect="1"/>
          </p:cNvPicPr>
          <p:nvPr/>
        </p:nvPicPr>
        <p:blipFill>
          <a:blip r:embed="rId3">
            <a:extLst>
              <a:ext uri="{28A0092B-C50C-407E-A947-70E740481C1C}">
                <a14:useLocalDpi xmlns:a14="http://schemas.microsoft.com/office/drawing/2010/main" val="0"/>
              </a:ext>
            </a:extLst>
          </a:blip>
          <a:srcRect l="1851" t="9543" r="1842" b="2875"/>
          <a:stretch>
            <a:fillRect/>
          </a:stretch>
        </p:blipFill>
        <p:spPr>
          <a:xfrm>
            <a:off x="127590" y="1368962"/>
            <a:ext cx="10339372" cy="4851085"/>
          </a:xfrm>
          <a:prstGeom prst="rect">
            <a:avLst/>
          </a:prstGeom>
        </p:spPr>
      </p:pic>
      <p:sp>
        <p:nvSpPr>
          <p:cNvPr id="8" name="TextBox 7">
            <a:extLst>
              <a:ext uri="{FF2B5EF4-FFF2-40B4-BE49-F238E27FC236}">
                <a16:creationId xmlns:a16="http://schemas.microsoft.com/office/drawing/2014/main" id="{2A9A73D0-F7D2-F587-EDF7-8E63A684CAEA}"/>
              </a:ext>
            </a:extLst>
          </p:cNvPr>
          <p:cNvSpPr txBox="1"/>
          <p:nvPr/>
        </p:nvSpPr>
        <p:spPr>
          <a:xfrm>
            <a:off x="358216" y="1954222"/>
            <a:ext cx="1364476" cy="307777"/>
          </a:xfrm>
          <a:prstGeom prst="rect">
            <a:avLst/>
          </a:prstGeom>
          <a:noFill/>
        </p:spPr>
        <p:txBody>
          <a:bodyPr wrap="none" rtlCol="0">
            <a:spAutoFit/>
          </a:bodyPr>
          <a:lstStyle/>
          <a:p>
            <a:pPr algn="ctr"/>
            <a:r>
              <a:rPr lang="en-US" sz="1400" b="1" dirty="0">
                <a:solidFill>
                  <a:schemeClr val="bg1"/>
                </a:solidFill>
              </a:rPr>
              <a:t>Municipal Data</a:t>
            </a:r>
          </a:p>
        </p:txBody>
      </p:sp>
      <p:sp>
        <p:nvSpPr>
          <p:cNvPr id="10" name="TextBox 9">
            <a:extLst>
              <a:ext uri="{FF2B5EF4-FFF2-40B4-BE49-F238E27FC236}">
                <a16:creationId xmlns:a16="http://schemas.microsoft.com/office/drawing/2014/main" id="{DDD52949-EDDD-1CA1-204E-60B7C50EF47B}"/>
              </a:ext>
            </a:extLst>
          </p:cNvPr>
          <p:cNvSpPr txBox="1"/>
          <p:nvPr/>
        </p:nvSpPr>
        <p:spPr>
          <a:xfrm>
            <a:off x="2623083" y="1831705"/>
            <a:ext cx="1034257" cy="523220"/>
          </a:xfrm>
          <a:prstGeom prst="rect">
            <a:avLst/>
          </a:prstGeom>
          <a:noFill/>
        </p:spPr>
        <p:txBody>
          <a:bodyPr wrap="none" rtlCol="0">
            <a:spAutoFit/>
          </a:bodyPr>
          <a:lstStyle/>
          <a:p>
            <a:pPr algn="ctr"/>
            <a:r>
              <a:rPr lang="en-US" sz="1400" b="1" dirty="0">
                <a:solidFill>
                  <a:schemeClr val="bg1"/>
                </a:solidFill>
              </a:rPr>
              <a:t>Predictive </a:t>
            </a:r>
          </a:p>
          <a:p>
            <a:pPr algn="ctr"/>
            <a:r>
              <a:rPr lang="en-US" sz="1400" b="1" dirty="0">
                <a:solidFill>
                  <a:schemeClr val="bg1"/>
                </a:solidFill>
              </a:rPr>
              <a:t>Modeling</a:t>
            </a:r>
          </a:p>
        </p:txBody>
      </p:sp>
      <p:sp>
        <p:nvSpPr>
          <p:cNvPr id="12" name="TextBox 11">
            <a:extLst>
              <a:ext uri="{FF2B5EF4-FFF2-40B4-BE49-F238E27FC236}">
                <a16:creationId xmlns:a16="http://schemas.microsoft.com/office/drawing/2014/main" id="{92C0E1C7-8D70-41A0-26B0-A2C2732FB6DF}"/>
              </a:ext>
            </a:extLst>
          </p:cNvPr>
          <p:cNvSpPr txBox="1"/>
          <p:nvPr/>
        </p:nvSpPr>
        <p:spPr>
          <a:xfrm>
            <a:off x="4417174" y="1839759"/>
            <a:ext cx="1119217" cy="523220"/>
          </a:xfrm>
          <a:prstGeom prst="rect">
            <a:avLst/>
          </a:prstGeom>
          <a:noFill/>
        </p:spPr>
        <p:txBody>
          <a:bodyPr wrap="none" rtlCol="0">
            <a:spAutoFit/>
          </a:bodyPr>
          <a:lstStyle/>
          <a:p>
            <a:pPr algn="ctr"/>
            <a:r>
              <a:rPr lang="en-US" sz="1400" b="1" dirty="0">
                <a:solidFill>
                  <a:schemeClr val="bg1"/>
                </a:solidFill>
              </a:rPr>
              <a:t>Scenario </a:t>
            </a:r>
          </a:p>
          <a:p>
            <a:pPr algn="ctr"/>
            <a:r>
              <a:rPr lang="en-US" sz="1400" b="1" dirty="0">
                <a:solidFill>
                  <a:schemeClr val="bg1"/>
                </a:solidFill>
              </a:rPr>
              <a:t>Forecasting</a:t>
            </a:r>
          </a:p>
        </p:txBody>
      </p:sp>
      <p:sp>
        <p:nvSpPr>
          <p:cNvPr id="14" name="TextBox 13">
            <a:extLst>
              <a:ext uri="{FF2B5EF4-FFF2-40B4-BE49-F238E27FC236}">
                <a16:creationId xmlns:a16="http://schemas.microsoft.com/office/drawing/2014/main" id="{472D061B-39D6-C605-E409-26E4F74032C2}"/>
              </a:ext>
            </a:extLst>
          </p:cNvPr>
          <p:cNvSpPr txBox="1"/>
          <p:nvPr/>
        </p:nvSpPr>
        <p:spPr>
          <a:xfrm>
            <a:off x="6406491" y="1843439"/>
            <a:ext cx="914032" cy="523220"/>
          </a:xfrm>
          <a:prstGeom prst="rect">
            <a:avLst/>
          </a:prstGeom>
          <a:noFill/>
        </p:spPr>
        <p:txBody>
          <a:bodyPr wrap="none" rtlCol="0">
            <a:spAutoFit/>
          </a:bodyPr>
          <a:lstStyle/>
          <a:p>
            <a:pPr algn="ctr"/>
            <a:r>
              <a:rPr lang="en-US" sz="1400" b="1" dirty="0">
                <a:solidFill>
                  <a:schemeClr val="bg1"/>
                </a:solidFill>
              </a:rPr>
              <a:t>Scenario </a:t>
            </a:r>
          </a:p>
          <a:p>
            <a:pPr algn="ctr"/>
            <a:r>
              <a:rPr lang="en-US" sz="1400" b="1" dirty="0">
                <a:solidFill>
                  <a:schemeClr val="bg1"/>
                </a:solidFill>
              </a:rPr>
              <a:t>Analysis</a:t>
            </a:r>
          </a:p>
        </p:txBody>
      </p:sp>
      <p:sp>
        <p:nvSpPr>
          <p:cNvPr id="15" name="TextBox 14">
            <a:extLst>
              <a:ext uri="{FF2B5EF4-FFF2-40B4-BE49-F238E27FC236}">
                <a16:creationId xmlns:a16="http://schemas.microsoft.com/office/drawing/2014/main" id="{62816890-A548-402D-CFF6-486DF77FDEFB}"/>
              </a:ext>
            </a:extLst>
          </p:cNvPr>
          <p:cNvSpPr txBox="1"/>
          <p:nvPr/>
        </p:nvSpPr>
        <p:spPr>
          <a:xfrm>
            <a:off x="8399056" y="1836772"/>
            <a:ext cx="1091966" cy="523220"/>
          </a:xfrm>
          <a:prstGeom prst="rect">
            <a:avLst/>
          </a:prstGeom>
          <a:noFill/>
        </p:spPr>
        <p:txBody>
          <a:bodyPr wrap="none" rtlCol="0">
            <a:spAutoFit/>
          </a:bodyPr>
          <a:lstStyle/>
          <a:p>
            <a:pPr algn="ctr"/>
            <a:r>
              <a:rPr lang="en-US" sz="1400" b="1" dirty="0">
                <a:solidFill>
                  <a:schemeClr val="bg1"/>
                </a:solidFill>
              </a:rPr>
              <a:t>Policy</a:t>
            </a:r>
          </a:p>
          <a:p>
            <a:pPr algn="ctr"/>
            <a:r>
              <a:rPr lang="en-US" sz="1400" b="1" dirty="0">
                <a:solidFill>
                  <a:schemeClr val="bg1"/>
                </a:solidFill>
              </a:rPr>
              <a:t>Simulation </a:t>
            </a:r>
          </a:p>
        </p:txBody>
      </p:sp>
      <p:sp>
        <p:nvSpPr>
          <p:cNvPr id="16" name="TextBox 15">
            <a:extLst>
              <a:ext uri="{FF2B5EF4-FFF2-40B4-BE49-F238E27FC236}">
                <a16:creationId xmlns:a16="http://schemas.microsoft.com/office/drawing/2014/main" id="{1549B984-1CA9-1F36-24B5-5D11AEF34BFB}"/>
              </a:ext>
            </a:extLst>
          </p:cNvPr>
          <p:cNvSpPr txBox="1"/>
          <p:nvPr/>
        </p:nvSpPr>
        <p:spPr>
          <a:xfrm>
            <a:off x="234344" y="2482066"/>
            <a:ext cx="1757869" cy="646331"/>
          </a:xfrm>
          <a:prstGeom prst="rect">
            <a:avLst/>
          </a:prstGeom>
          <a:noFill/>
        </p:spPr>
        <p:txBody>
          <a:bodyPr wrap="square" rtlCol="0">
            <a:spAutoFit/>
          </a:bodyPr>
          <a:lstStyle/>
          <a:p>
            <a:pPr marL="115888" indent="-115888">
              <a:buFont typeface="Arial" panose="020B0604020202020204" pitchFamily="34" charset="0"/>
              <a:buChar char="•"/>
            </a:pPr>
            <a:r>
              <a:rPr lang="en-US" sz="1200" b="1" dirty="0"/>
              <a:t>Structural</a:t>
            </a:r>
            <a:r>
              <a:rPr lang="en-US" sz="1200" dirty="0"/>
              <a:t>:</a:t>
            </a:r>
          </a:p>
          <a:p>
            <a:pPr lvl="1"/>
            <a:r>
              <a:rPr lang="en-US" sz="1200" dirty="0"/>
              <a:t>Births,</a:t>
            </a:r>
          </a:p>
          <a:p>
            <a:pPr lvl="1"/>
            <a:r>
              <a:rPr lang="en-US" sz="1200" dirty="0"/>
              <a:t>Age Structure</a:t>
            </a:r>
          </a:p>
        </p:txBody>
      </p:sp>
      <p:sp>
        <p:nvSpPr>
          <p:cNvPr id="17" name="TextBox 16">
            <a:extLst>
              <a:ext uri="{FF2B5EF4-FFF2-40B4-BE49-F238E27FC236}">
                <a16:creationId xmlns:a16="http://schemas.microsoft.com/office/drawing/2014/main" id="{D473B47D-6B03-C410-5065-C9550C932214}"/>
              </a:ext>
            </a:extLst>
          </p:cNvPr>
          <p:cNvSpPr txBox="1"/>
          <p:nvPr/>
        </p:nvSpPr>
        <p:spPr>
          <a:xfrm>
            <a:off x="234344" y="3293593"/>
            <a:ext cx="1757869" cy="830997"/>
          </a:xfrm>
          <a:prstGeom prst="rect">
            <a:avLst/>
          </a:prstGeom>
          <a:noFill/>
        </p:spPr>
        <p:txBody>
          <a:bodyPr wrap="square" rtlCol="0">
            <a:spAutoFit/>
          </a:bodyPr>
          <a:lstStyle/>
          <a:p>
            <a:pPr marL="115888" indent="-115888">
              <a:buFont typeface="Arial" panose="020B0604020202020204" pitchFamily="34" charset="0"/>
              <a:buChar char="•"/>
            </a:pPr>
            <a:r>
              <a:rPr lang="en-US" sz="1200" b="1" dirty="0"/>
              <a:t>Economic</a:t>
            </a:r>
            <a:r>
              <a:rPr lang="en-US" sz="1200" dirty="0"/>
              <a:t>:</a:t>
            </a:r>
          </a:p>
          <a:p>
            <a:pPr lvl="1"/>
            <a:r>
              <a:rPr lang="en-US" sz="1200" dirty="0"/>
              <a:t>Employment,</a:t>
            </a:r>
          </a:p>
          <a:p>
            <a:pPr lvl="1"/>
            <a:r>
              <a:rPr lang="en-US" sz="1200" dirty="0"/>
              <a:t>Payroll,</a:t>
            </a:r>
          </a:p>
          <a:p>
            <a:pPr lvl="1"/>
            <a:r>
              <a:rPr lang="en-US" sz="1200" dirty="0"/>
              <a:t>Establishments</a:t>
            </a:r>
          </a:p>
        </p:txBody>
      </p:sp>
      <p:sp>
        <p:nvSpPr>
          <p:cNvPr id="18" name="TextBox 17">
            <a:extLst>
              <a:ext uri="{FF2B5EF4-FFF2-40B4-BE49-F238E27FC236}">
                <a16:creationId xmlns:a16="http://schemas.microsoft.com/office/drawing/2014/main" id="{513CB562-80C7-AFEE-0B69-C8DC8EAC2DD3}"/>
              </a:ext>
            </a:extLst>
          </p:cNvPr>
          <p:cNvSpPr txBox="1"/>
          <p:nvPr/>
        </p:nvSpPr>
        <p:spPr>
          <a:xfrm>
            <a:off x="234344" y="4254350"/>
            <a:ext cx="1757869" cy="1015663"/>
          </a:xfrm>
          <a:prstGeom prst="rect">
            <a:avLst/>
          </a:prstGeom>
          <a:noFill/>
        </p:spPr>
        <p:txBody>
          <a:bodyPr wrap="square" rtlCol="0">
            <a:spAutoFit/>
          </a:bodyPr>
          <a:lstStyle/>
          <a:p>
            <a:pPr marL="115888" indent="-115888">
              <a:buFont typeface="Arial" panose="020B0604020202020204" pitchFamily="34" charset="0"/>
              <a:buChar char="•"/>
            </a:pPr>
            <a:r>
              <a:rPr lang="en-US" sz="1200" b="1" dirty="0"/>
              <a:t>Vulnerability</a:t>
            </a:r>
            <a:r>
              <a:rPr lang="en-US" sz="1200" dirty="0"/>
              <a:t>:</a:t>
            </a:r>
          </a:p>
          <a:p>
            <a:pPr lvl="1"/>
            <a:r>
              <a:rPr lang="en-US" sz="1200" dirty="0"/>
              <a:t>CDC SVIs</a:t>
            </a:r>
          </a:p>
          <a:p>
            <a:pPr lvl="1"/>
            <a:r>
              <a:rPr lang="en-US" sz="1200" dirty="0"/>
              <a:t>(Property,</a:t>
            </a:r>
          </a:p>
          <a:p>
            <a:pPr lvl="1"/>
            <a:r>
              <a:rPr lang="en-US" sz="1200" dirty="0"/>
              <a:t>Housing, </a:t>
            </a:r>
          </a:p>
          <a:p>
            <a:pPr lvl="1"/>
            <a:r>
              <a:rPr lang="en-US" sz="1200" dirty="0"/>
              <a:t>Transport) </a:t>
            </a:r>
          </a:p>
        </p:txBody>
      </p:sp>
      <p:sp>
        <p:nvSpPr>
          <p:cNvPr id="19" name="TextBox 18">
            <a:extLst>
              <a:ext uri="{FF2B5EF4-FFF2-40B4-BE49-F238E27FC236}">
                <a16:creationId xmlns:a16="http://schemas.microsoft.com/office/drawing/2014/main" id="{85BC329A-FF45-F333-6CF0-281438926B30}"/>
              </a:ext>
            </a:extLst>
          </p:cNvPr>
          <p:cNvSpPr txBox="1"/>
          <p:nvPr/>
        </p:nvSpPr>
        <p:spPr>
          <a:xfrm>
            <a:off x="234344" y="5326139"/>
            <a:ext cx="1757869" cy="830997"/>
          </a:xfrm>
          <a:prstGeom prst="rect">
            <a:avLst/>
          </a:prstGeom>
          <a:noFill/>
        </p:spPr>
        <p:txBody>
          <a:bodyPr wrap="square" rtlCol="0">
            <a:spAutoFit/>
          </a:bodyPr>
          <a:lstStyle/>
          <a:p>
            <a:pPr marL="115888" indent="-115888">
              <a:buFont typeface="Arial" panose="020B0604020202020204" pitchFamily="34" charset="0"/>
              <a:buChar char="•"/>
            </a:pPr>
            <a:r>
              <a:rPr lang="en-US" sz="1200" b="1" dirty="0"/>
              <a:t>Shocks</a:t>
            </a:r>
            <a:r>
              <a:rPr lang="en-US" sz="1200" dirty="0"/>
              <a:t>:</a:t>
            </a:r>
          </a:p>
          <a:p>
            <a:pPr lvl="1"/>
            <a:r>
              <a:rPr lang="en-US" sz="1200" dirty="0"/>
              <a:t>Hurricane &amp;</a:t>
            </a:r>
          </a:p>
          <a:p>
            <a:pPr lvl="1"/>
            <a:r>
              <a:rPr lang="en-US" sz="1200" dirty="0"/>
              <a:t>Earthquake exposure</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AD2BA4E-43D6-4E42-C894-54135CC0220E}"/>
                  </a:ext>
                </a:extLst>
              </p:cNvPr>
              <p:cNvSpPr txBox="1"/>
              <p:nvPr/>
            </p:nvSpPr>
            <p:spPr>
              <a:xfrm>
                <a:off x="2250634" y="2417052"/>
                <a:ext cx="1757869" cy="830997"/>
              </a:xfrm>
              <a:prstGeom prst="rect">
                <a:avLst/>
              </a:prstGeom>
              <a:noFill/>
            </p:spPr>
            <p:txBody>
              <a:bodyPr wrap="square" rtlCol="0">
                <a:spAutoFit/>
              </a:bodyPr>
              <a:lstStyle/>
              <a:p>
                <a:pPr marL="115888" indent="-115888">
                  <a:buFont typeface="Arial" panose="020B0604020202020204" pitchFamily="34" charset="0"/>
                  <a:buChar char="•"/>
                </a:pPr>
                <a:r>
                  <a:rPr lang="en-US" sz="1200" dirty="0"/>
                  <a:t>Chronological Split</a:t>
                </a:r>
              </a:p>
              <a:p>
                <a:pPr marL="115888" indent="-115888">
                  <a:buFont typeface="Arial" panose="020B0604020202020204" pitchFamily="34" charset="0"/>
                  <a:buChar char="•"/>
                </a:pPr>
                <a:r>
                  <a:rPr lang="en-US" sz="1200" dirty="0"/>
                  <a:t>80/20 train-test</a:t>
                </a:r>
              </a:p>
              <a:p>
                <a:pPr marL="115888" indent="-115888">
                  <a:buFont typeface="Arial" panose="020B0604020202020204" pitchFamily="34" charset="0"/>
                  <a:buChar char="•"/>
                </a:pPr>
                <a:r>
                  <a:rPr lang="en-US" sz="1200" dirty="0"/>
                  <a:t>Final Model: Lasso</a:t>
                </a:r>
              </a:p>
              <a:p>
                <a:r>
                  <a:rPr lang="en-US" sz="1200" dirty="0"/>
                  <a:t>     </a:t>
                </a:r>
                <a14:m>
                  <m:oMath xmlns:m="http://schemas.openxmlformats.org/officeDocument/2006/math">
                    <m:sSup>
                      <m:sSupPr>
                        <m:ctrlPr>
                          <a:rPr lang="en-US" sz="1200" i="1" smtClean="0">
                            <a:latin typeface="Cambria Math" panose="02040503050406030204" pitchFamily="18" charset="0"/>
                          </a:rPr>
                        </m:ctrlPr>
                      </m:sSupPr>
                      <m:e>
                        <m:r>
                          <a:rPr lang="en-US" sz="1200" b="0" i="1" smtClean="0">
                            <a:latin typeface="Cambria Math" panose="02040503050406030204" pitchFamily="18" charset="0"/>
                          </a:rPr>
                          <m:t>𝑅</m:t>
                        </m:r>
                      </m:e>
                      <m:sup>
                        <m:r>
                          <a:rPr lang="en-US" sz="1200" b="0" i="1" smtClean="0">
                            <a:latin typeface="Cambria Math" panose="02040503050406030204" pitchFamily="18" charset="0"/>
                          </a:rPr>
                          <m:t>2</m:t>
                        </m:r>
                      </m:sup>
                    </m:sSup>
                  </m:oMath>
                </a14:m>
                <a:r>
                  <a:rPr lang="en-US" sz="1200" dirty="0"/>
                  <a:t> </a:t>
                </a:r>
                <a14:m>
                  <m:oMath xmlns:m="http://schemas.openxmlformats.org/officeDocument/2006/math">
                    <m:r>
                      <a:rPr lang="en-US" sz="1200" i="1" smtClean="0">
                        <a:latin typeface="Cambria Math" panose="02040503050406030204" pitchFamily="18" charset="0"/>
                        <a:ea typeface="Cambria Math" panose="02040503050406030204" pitchFamily="18" charset="0"/>
                      </a:rPr>
                      <m:t>≈</m:t>
                    </m:r>
                    <m:r>
                      <a:rPr lang="en-US" sz="1200" b="0" i="1" smtClean="0">
                        <a:latin typeface="Cambria Math" panose="02040503050406030204" pitchFamily="18" charset="0"/>
                        <a:ea typeface="Cambria Math" panose="02040503050406030204" pitchFamily="18" charset="0"/>
                      </a:rPr>
                      <m:t> </m:t>
                    </m:r>
                  </m:oMath>
                </a14:m>
                <a:r>
                  <a:rPr lang="en-US" sz="1200" dirty="0"/>
                  <a:t>0.91</a:t>
                </a:r>
              </a:p>
            </p:txBody>
          </p:sp>
        </mc:Choice>
        <mc:Fallback xmlns="">
          <p:sp>
            <p:nvSpPr>
              <p:cNvPr id="20" name="TextBox 19">
                <a:extLst>
                  <a:ext uri="{FF2B5EF4-FFF2-40B4-BE49-F238E27FC236}">
                    <a16:creationId xmlns:a16="http://schemas.microsoft.com/office/drawing/2014/main" id="{4AD2BA4E-43D6-4E42-C894-54135CC0220E}"/>
                  </a:ext>
                </a:extLst>
              </p:cNvPr>
              <p:cNvSpPr txBox="1">
                <a:spLocks noRot="1" noChangeAspect="1" noMove="1" noResize="1" noEditPoints="1" noAdjustHandles="1" noChangeArrowheads="1" noChangeShapeType="1" noTextEdit="1"/>
              </p:cNvSpPr>
              <p:nvPr/>
            </p:nvSpPr>
            <p:spPr>
              <a:xfrm>
                <a:off x="2250634" y="2417052"/>
                <a:ext cx="1757869" cy="830997"/>
              </a:xfrm>
              <a:prstGeom prst="rect">
                <a:avLst/>
              </a:prstGeom>
              <a:blipFill>
                <a:blip r:embed="rId4"/>
                <a:stretch>
                  <a:fillRect t="-1515" b="-6061"/>
                </a:stretch>
              </a:blipFill>
            </p:spPr>
            <p:txBody>
              <a:bodyPr/>
              <a:lstStyle/>
              <a:p>
                <a:r>
                  <a:rPr lang="en-US">
                    <a:noFill/>
                  </a:rPr>
                  <a:t> </a:t>
                </a:r>
              </a:p>
            </p:txBody>
          </p:sp>
        </mc:Fallback>
      </mc:AlternateContent>
      <p:sp>
        <p:nvSpPr>
          <p:cNvPr id="24" name="Right Arrow 23">
            <a:extLst>
              <a:ext uri="{FF2B5EF4-FFF2-40B4-BE49-F238E27FC236}">
                <a16:creationId xmlns:a16="http://schemas.microsoft.com/office/drawing/2014/main" id="{9C6AABE8-CF26-B11B-C5F6-FF503286A706}"/>
              </a:ext>
            </a:extLst>
          </p:cNvPr>
          <p:cNvSpPr/>
          <p:nvPr/>
        </p:nvSpPr>
        <p:spPr>
          <a:xfrm>
            <a:off x="2064200" y="3465363"/>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25" name="TextBox 24">
            <a:extLst>
              <a:ext uri="{FF2B5EF4-FFF2-40B4-BE49-F238E27FC236}">
                <a16:creationId xmlns:a16="http://schemas.microsoft.com/office/drawing/2014/main" id="{3CEB55BB-4A46-206E-C2DA-85CFDF367777}"/>
              </a:ext>
            </a:extLst>
          </p:cNvPr>
          <p:cNvSpPr txBox="1"/>
          <p:nvPr/>
        </p:nvSpPr>
        <p:spPr>
          <a:xfrm>
            <a:off x="4101598" y="2417052"/>
            <a:ext cx="1757869" cy="1015663"/>
          </a:xfrm>
          <a:prstGeom prst="rect">
            <a:avLst/>
          </a:prstGeom>
          <a:noFill/>
        </p:spPr>
        <p:txBody>
          <a:bodyPr wrap="square" rtlCol="0">
            <a:spAutoFit/>
          </a:bodyPr>
          <a:lstStyle/>
          <a:p>
            <a:pPr marL="115888" indent="-115888">
              <a:buFont typeface="Arial" panose="020B0604020202020204" pitchFamily="34" charset="0"/>
              <a:buChar char="•"/>
            </a:pPr>
            <a:r>
              <a:rPr lang="en-US" sz="1200" dirty="0"/>
              <a:t>Baseline &amp; disaster scenarios</a:t>
            </a:r>
          </a:p>
          <a:p>
            <a:pPr marL="115888" indent="-115888">
              <a:buFont typeface="Arial" panose="020B0604020202020204" pitchFamily="34" charset="0"/>
              <a:buChar char="•"/>
            </a:pPr>
            <a:r>
              <a:rPr lang="en-US" sz="1200" dirty="0"/>
              <a:t>Stress tests to 2030</a:t>
            </a:r>
          </a:p>
          <a:p>
            <a:pPr marL="115888" indent="-115888">
              <a:buFont typeface="Arial" panose="020B0604020202020204" pitchFamily="34" charset="0"/>
              <a:buChar char="•"/>
            </a:pPr>
            <a:r>
              <a:rPr lang="en-US" sz="1200" dirty="0"/>
              <a:t>Municipal, regional, island-scale</a:t>
            </a:r>
          </a:p>
        </p:txBody>
      </p:sp>
      <p:sp>
        <p:nvSpPr>
          <p:cNvPr id="26" name="TextBox 25">
            <a:extLst>
              <a:ext uri="{FF2B5EF4-FFF2-40B4-BE49-F238E27FC236}">
                <a16:creationId xmlns:a16="http://schemas.microsoft.com/office/drawing/2014/main" id="{60594C52-32B4-7FF4-6237-7B5A82840939}"/>
              </a:ext>
            </a:extLst>
          </p:cNvPr>
          <p:cNvSpPr txBox="1"/>
          <p:nvPr/>
        </p:nvSpPr>
        <p:spPr>
          <a:xfrm>
            <a:off x="6051051" y="2398100"/>
            <a:ext cx="1662983" cy="830997"/>
          </a:xfrm>
          <a:prstGeom prst="rect">
            <a:avLst/>
          </a:prstGeom>
          <a:noFill/>
        </p:spPr>
        <p:txBody>
          <a:bodyPr wrap="square" rtlCol="0">
            <a:spAutoFit/>
          </a:bodyPr>
          <a:lstStyle/>
          <a:p>
            <a:pPr marL="115888" indent="-115888">
              <a:buFont typeface="Arial" panose="020B0604020202020204" pitchFamily="34" charset="0"/>
              <a:buChar char="•"/>
            </a:pPr>
            <a:r>
              <a:rPr lang="en-US" sz="1200" dirty="0"/>
              <a:t>Jobs, investment, Safety strategies</a:t>
            </a:r>
          </a:p>
          <a:p>
            <a:pPr marL="115888" indent="-115888">
              <a:buFont typeface="Arial" panose="020B0604020202020204" pitchFamily="34" charset="0"/>
              <a:buChar char="•"/>
            </a:pPr>
            <a:r>
              <a:rPr lang="en-US" sz="1200" dirty="0"/>
              <a:t>Counterfactual population paths</a:t>
            </a:r>
          </a:p>
        </p:txBody>
      </p:sp>
      <p:sp>
        <p:nvSpPr>
          <p:cNvPr id="27" name="TextBox 26">
            <a:extLst>
              <a:ext uri="{FF2B5EF4-FFF2-40B4-BE49-F238E27FC236}">
                <a16:creationId xmlns:a16="http://schemas.microsoft.com/office/drawing/2014/main" id="{CB3A7886-B442-7696-B7C5-BA3F0B4A6E17}"/>
              </a:ext>
            </a:extLst>
          </p:cNvPr>
          <p:cNvSpPr txBox="1"/>
          <p:nvPr/>
        </p:nvSpPr>
        <p:spPr>
          <a:xfrm>
            <a:off x="7875757" y="2417052"/>
            <a:ext cx="2002153" cy="830997"/>
          </a:xfrm>
          <a:prstGeom prst="rect">
            <a:avLst/>
          </a:prstGeom>
          <a:noFill/>
        </p:spPr>
        <p:txBody>
          <a:bodyPr wrap="square" rtlCol="0">
            <a:spAutoFit/>
          </a:bodyPr>
          <a:lstStyle/>
          <a:p>
            <a:pPr marL="115888" indent="-115888">
              <a:buFont typeface="Arial" panose="020B0604020202020204" pitchFamily="34" charset="0"/>
              <a:buChar char="•"/>
            </a:pPr>
            <a:r>
              <a:rPr lang="en-US" sz="1200" dirty="0"/>
              <a:t>Jobs, investment, safety strategies</a:t>
            </a:r>
          </a:p>
          <a:p>
            <a:pPr marL="115888" indent="-115888">
              <a:buFont typeface="Arial" panose="020B0604020202020204" pitchFamily="34" charset="0"/>
              <a:buChar char="•"/>
            </a:pPr>
            <a:r>
              <a:rPr lang="en-US" sz="1200" dirty="0"/>
              <a:t>Identifies policies that reduce population loss</a:t>
            </a:r>
          </a:p>
        </p:txBody>
      </p:sp>
      <p:pic>
        <p:nvPicPr>
          <p:cNvPr id="28" name="Picture 27" descr="A map of the caribbean&#10;&#10;AI-generated content may be incorrect.">
            <a:extLst>
              <a:ext uri="{FF2B5EF4-FFF2-40B4-BE49-F238E27FC236}">
                <a16:creationId xmlns:a16="http://schemas.microsoft.com/office/drawing/2014/main" id="{767D336D-C14C-D4E7-E86A-2BC4CC62B579}"/>
              </a:ext>
            </a:extLst>
          </p:cNvPr>
          <p:cNvPicPr>
            <a:picLocks noChangeAspect="1"/>
          </p:cNvPicPr>
          <p:nvPr/>
        </p:nvPicPr>
        <p:blipFill>
          <a:blip r:embed="rId5">
            <a:alphaModFix amt="35000"/>
            <a:extLst>
              <a:ext uri="{28A0092B-C50C-407E-A947-70E740481C1C}">
                <a14:useLocalDpi xmlns:a14="http://schemas.microsoft.com/office/drawing/2010/main" val="0"/>
              </a:ext>
            </a:extLst>
          </a:blip>
          <a:stretch>
            <a:fillRect/>
          </a:stretch>
        </p:blipFill>
        <p:spPr>
          <a:xfrm>
            <a:off x="4363258" y="3597911"/>
            <a:ext cx="1258028" cy="714936"/>
          </a:xfrm>
          <a:prstGeom prst="rect">
            <a:avLst/>
          </a:prstGeom>
          <a:effectLst>
            <a:softEdge rad="63500"/>
          </a:effectLst>
        </p:spPr>
      </p:pic>
      <p:pic>
        <p:nvPicPr>
          <p:cNvPr id="29" name="Picture 28" descr="A graph with a line and a point&#10;&#10;AI-generated content may be incorrect.">
            <a:extLst>
              <a:ext uri="{FF2B5EF4-FFF2-40B4-BE49-F238E27FC236}">
                <a16:creationId xmlns:a16="http://schemas.microsoft.com/office/drawing/2014/main" id="{B3E89C11-4034-0939-8354-BD3D3274B897}"/>
              </a:ext>
            </a:extLst>
          </p:cNvPr>
          <p:cNvPicPr>
            <a:picLocks noChangeAspect="1"/>
          </p:cNvPicPr>
          <p:nvPr/>
        </p:nvPicPr>
        <p:blipFill>
          <a:blip r:embed="rId6">
            <a:alphaModFix amt="50000"/>
            <a:extLst>
              <a:ext uri="{28A0092B-C50C-407E-A947-70E740481C1C}">
                <a14:useLocalDpi xmlns:a14="http://schemas.microsoft.com/office/drawing/2010/main" val="0"/>
              </a:ext>
            </a:extLst>
          </a:blip>
          <a:stretch>
            <a:fillRect/>
          </a:stretch>
        </p:blipFill>
        <p:spPr>
          <a:xfrm>
            <a:off x="6221587" y="3346344"/>
            <a:ext cx="1278464" cy="696053"/>
          </a:xfrm>
          <a:prstGeom prst="rect">
            <a:avLst/>
          </a:prstGeom>
          <a:effectLst>
            <a:softEdge rad="63500"/>
          </a:effectLst>
        </p:spPr>
      </p:pic>
      <p:sp>
        <p:nvSpPr>
          <p:cNvPr id="31" name="TextBox 30">
            <a:extLst>
              <a:ext uri="{FF2B5EF4-FFF2-40B4-BE49-F238E27FC236}">
                <a16:creationId xmlns:a16="http://schemas.microsoft.com/office/drawing/2014/main" id="{17E4EC9C-3146-CFF2-34C6-894555207D07}"/>
              </a:ext>
            </a:extLst>
          </p:cNvPr>
          <p:cNvSpPr txBox="1"/>
          <p:nvPr/>
        </p:nvSpPr>
        <p:spPr>
          <a:xfrm>
            <a:off x="4097848" y="4500539"/>
            <a:ext cx="1757868" cy="1015663"/>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Shocks amplify existing demographic trends</a:t>
            </a:r>
          </a:p>
          <a:p>
            <a:pPr marL="171450" indent="-171450">
              <a:buFont typeface="Arial" panose="020B0604020202020204" pitchFamily="34" charset="0"/>
              <a:buChar char="•"/>
            </a:pPr>
            <a:endParaRPr lang="en-US" sz="1200" dirty="0"/>
          </a:p>
        </p:txBody>
      </p:sp>
      <p:sp>
        <p:nvSpPr>
          <p:cNvPr id="32" name="TextBox 31">
            <a:extLst>
              <a:ext uri="{FF2B5EF4-FFF2-40B4-BE49-F238E27FC236}">
                <a16:creationId xmlns:a16="http://schemas.microsoft.com/office/drawing/2014/main" id="{BE6AF9A2-CBDE-9CCF-7B7B-9AD7A02132D9}"/>
              </a:ext>
            </a:extLst>
          </p:cNvPr>
          <p:cNvSpPr txBox="1"/>
          <p:nvPr/>
        </p:nvSpPr>
        <p:spPr>
          <a:xfrm>
            <a:off x="6034245" y="4500539"/>
            <a:ext cx="1662983" cy="1015663"/>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Population responds gradually, not instantly</a:t>
            </a:r>
          </a:p>
          <a:p>
            <a:pPr marL="171450" indent="-171450">
              <a:buFont typeface="Arial" panose="020B0604020202020204" pitchFamily="34" charset="0"/>
              <a:buChar char="•"/>
            </a:pPr>
            <a:endParaRPr lang="en-US" sz="1200" dirty="0"/>
          </a:p>
        </p:txBody>
      </p:sp>
      <p:sp>
        <p:nvSpPr>
          <p:cNvPr id="33" name="TextBox 32">
            <a:extLst>
              <a:ext uri="{FF2B5EF4-FFF2-40B4-BE49-F238E27FC236}">
                <a16:creationId xmlns:a16="http://schemas.microsoft.com/office/drawing/2014/main" id="{EF60ED56-DF16-DF7B-A513-9E4042DA0C89}"/>
              </a:ext>
            </a:extLst>
          </p:cNvPr>
          <p:cNvSpPr txBox="1"/>
          <p:nvPr/>
        </p:nvSpPr>
        <p:spPr>
          <a:xfrm>
            <a:off x="7864149" y="4495142"/>
            <a:ext cx="2002152" cy="830997"/>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Coordinated policies outperform isolated interventions</a:t>
            </a:r>
          </a:p>
        </p:txBody>
      </p:sp>
      <p:sp>
        <p:nvSpPr>
          <p:cNvPr id="34" name="Right Arrow 33">
            <a:extLst>
              <a:ext uri="{FF2B5EF4-FFF2-40B4-BE49-F238E27FC236}">
                <a16:creationId xmlns:a16="http://schemas.microsoft.com/office/drawing/2014/main" id="{1C5E44BF-262A-A7C2-66DA-3AA274C63780}"/>
              </a:ext>
            </a:extLst>
          </p:cNvPr>
          <p:cNvSpPr/>
          <p:nvPr/>
        </p:nvSpPr>
        <p:spPr>
          <a:xfrm>
            <a:off x="3968975" y="3462682"/>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35" name="Right Arrow 34">
            <a:extLst>
              <a:ext uri="{FF2B5EF4-FFF2-40B4-BE49-F238E27FC236}">
                <a16:creationId xmlns:a16="http://schemas.microsoft.com/office/drawing/2014/main" id="{20AD12C7-BC1F-F82B-FF7D-543776EC5EE9}"/>
              </a:ext>
            </a:extLst>
          </p:cNvPr>
          <p:cNvSpPr/>
          <p:nvPr/>
        </p:nvSpPr>
        <p:spPr>
          <a:xfrm>
            <a:off x="5804066" y="3431853"/>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36" name="Right Arrow 35">
            <a:extLst>
              <a:ext uri="{FF2B5EF4-FFF2-40B4-BE49-F238E27FC236}">
                <a16:creationId xmlns:a16="http://schemas.microsoft.com/office/drawing/2014/main" id="{9B75B2E2-5625-B3D2-B30F-60B29FEB7017}"/>
              </a:ext>
            </a:extLst>
          </p:cNvPr>
          <p:cNvSpPr/>
          <p:nvPr/>
        </p:nvSpPr>
        <p:spPr>
          <a:xfrm>
            <a:off x="7716278" y="3431853"/>
            <a:ext cx="297384" cy="274269"/>
          </a:xfrm>
          <a:prstGeom prst="rightArrow">
            <a:avLst/>
          </a:prstGeom>
          <a:solidFill>
            <a:srgbClr val="00B050"/>
          </a:solidFill>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effectLst>
                <a:glow rad="228600">
                  <a:schemeClr val="accent5">
                    <a:satMod val="175000"/>
                    <a:alpha val="40000"/>
                  </a:schemeClr>
                </a:glow>
              </a:effectLst>
            </a:endParaRPr>
          </a:p>
        </p:txBody>
      </p:sp>
      <p:sp>
        <p:nvSpPr>
          <p:cNvPr id="37" name="TextBox 36">
            <a:extLst>
              <a:ext uri="{FF2B5EF4-FFF2-40B4-BE49-F238E27FC236}">
                <a16:creationId xmlns:a16="http://schemas.microsoft.com/office/drawing/2014/main" id="{9096AA7F-2216-F4F6-3A38-909C684DE4FE}"/>
              </a:ext>
            </a:extLst>
          </p:cNvPr>
          <p:cNvSpPr txBox="1"/>
          <p:nvPr/>
        </p:nvSpPr>
        <p:spPr>
          <a:xfrm>
            <a:off x="2256977" y="4495142"/>
            <a:ext cx="1699753" cy="646331"/>
          </a:xfrm>
          <a:prstGeom prst="rect">
            <a:avLst/>
          </a:prstGeom>
          <a:noFill/>
        </p:spPr>
        <p:txBody>
          <a:bodyPr wrap="square" rtlCol="0">
            <a:spAutoFit/>
          </a:bodyPr>
          <a:lstStyle/>
          <a:p>
            <a:r>
              <a:rPr lang="en-US" sz="1200" b="1" dirty="0"/>
              <a:t>Key Finding:</a:t>
            </a:r>
          </a:p>
          <a:p>
            <a:pPr marL="115888" indent="-115888">
              <a:buFont typeface="Arial" panose="020B0604020202020204" pitchFamily="34" charset="0"/>
              <a:buChar char="•"/>
            </a:pPr>
            <a:r>
              <a:rPr lang="en-US" sz="1200" dirty="0"/>
              <a:t>Lagged population dynamics predictions</a:t>
            </a:r>
          </a:p>
        </p:txBody>
      </p:sp>
      <p:sp>
        <p:nvSpPr>
          <p:cNvPr id="38" name="Rounded Rectangle 37">
            <a:extLst>
              <a:ext uri="{FF2B5EF4-FFF2-40B4-BE49-F238E27FC236}">
                <a16:creationId xmlns:a16="http://schemas.microsoft.com/office/drawing/2014/main" id="{65C15933-D3C2-192C-FF8A-861B207A3D4F}"/>
              </a:ext>
            </a:extLst>
          </p:cNvPr>
          <p:cNvSpPr/>
          <p:nvPr/>
        </p:nvSpPr>
        <p:spPr>
          <a:xfrm>
            <a:off x="2365754" y="5351488"/>
            <a:ext cx="7843879" cy="914400"/>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EBF6BFF7-3304-BE0B-8EC1-3973CA968501}"/>
              </a:ext>
            </a:extLst>
          </p:cNvPr>
          <p:cNvSpPr txBox="1"/>
          <p:nvPr/>
        </p:nvSpPr>
        <p:spPr>
          <a:xfrm>
            <a:off x="2498879" y="5485522"/>
            <a:ext cx="4400163" cy="646331"/>
          </a:xfrm>
          <a:prstGeom prst="rect">
            <a:avLst/>
          </a:prstGeom>
          <a:noFill/>
        </p:spPr>
        <p:txBody>
          <a:bodyPr wrap="square" rtlCol="0">
            <a:spAutoFit/>
          </a:bodyPr>
          <a:lstStyle/>
          <a:p>
            <a:r>
              <a:rPr lang="en-US" sz="1200" b="1" dirty="0"/>
              <a:t>Goal: Translate modeling into policy insights</a:t>
            </a:r>
          </a:p>
          <a:p>
            <a:pPr marL="115888" indent="-115888">
              <a:buFont typeface="Arial" panose="020B0604020202020204" pitchFamily="34" charset="0"/>
              <a:buChar char="•"/>
            </a:pPr>
            <a:r>
              <a:rPr lang="en-US" sz="1200" dirty="0"/>
              <a:t>Understand Puerto Rico’s population dynamics</a:t>
            </a:r>
          </a:p>
          <a:p>
            <a:pPr marL="115888" indent="-115888">
              <a:buFont typeface="Arial" panose="020B0604020202020204" pitchFamily="34" charset="0"/>
              <a:buChar char="•"/>
            </a:pPr>
            <a:r>
              <a:rPr lang="en-US" sz="1200" dirty="0"/>
              <a:t>Identify policies that mitigate population loss</a:t>
            </a:r>
          </a:p>
        </p:txBody>
      </p:sp>
      <p:pic>
        <p:nvPicPr>
          <p:cNvPr id="41" name="Picture 40">
            <a:extLst>
              <a:ext uri="{FF2B5EF4-FFF2-40B4-BE49-F238E27FC236}">
                <a16:creationId xmlns:a16="http://schemas.microsoft.com/office/drawing/2014/main" id="{1691DC86-46AF-F80C-C7CB-800022EA8171}"/>
              </a:ext>
            </a:extLst>
          </p:cNvPr>
          <p:cNvPicPr>
            <a:picLocks noChangeAspect="1"/>
          </p:cNvPicPr>
          <p:nvPr/>
        </p:nvPicPr>
        <p:blipFill>
          <a:blip r:embed="rId7">
            <a:alphaModFix amt="50000"/>
            <a:extLst>
              <a:ext uri="{28A0092B-C50C-407E-A947-70E740481C1C}">
                <a14:useLocalDpi xmlns:a14="http://schemas.microsoft.com/office/drawing/2010/main" val="0"/>
              </a:ext>
            </a:extLst>
          </a:blip>
          <a:stretch>
            <a:fillRect/>
          </a:stretch>
        </p:blipFill>
        <p:spPr>
          <a:xfrm>
            <a:off x="6678106" y="5376362"/>
            <a:ext cx="2566490" cy="856722"/>
          </a:xfrm>
          <a:prstGeom prst="rect">
            <a:avLst/>
          </a:prstGeom>
          <a:effectLst>
            <a:softEdge rad="127000"/>
          </a:effectLst>
        </p:spPr>
      </p:pic>
      <p:pic>
        <p:nvPicPr>
          <p:cNvPr id="1026" name="Picture 2" descr="Signo De Análisis De Datos De Lupa PNG ,dibujos Análisis, Datos, Gráfico  PNG Imagen para Descarga Gratuita | Pngtree">
            <a:extLst>
              <a:ext uri="{FF2B5EF4-FFF2-40B4-BE49-F238E27FC236}">
                <a16:creationId xmlns:a16="http://schemas.microsoft.com/office/drawing/2014/main" id="{DD0DA978-5092-39E9-4FBE-98021EEF6C7A}"/>
              </a:ext>
            </a:extLst>
          </p:cNvPr>
          <p:cNvPicPr>
            <a:picLocks noChangeAspect="1" noChangeArrowheads="1"/>
          </p:cNvPicPr>
          <p:nvPr/>
        </p:nvPicPr>
        <p:blipFill>
          <a:blip r:embed="rId8">
            <a:alphaModFix amt="50000"/>
            <a:extLst>
              <a:ext uri="{28A0092B-C50C-407E-A947-70E740481C1C}">
                <a14:useLocalDpi xmlns:a14="http://schemas.microsoft.com/office/drawing/2010/main" val="0"/>
              </a:ext>
            </a:extLst>
          </a:blip>
          <a:srcRect/>
          <a:stretch>
            <a:fillRect/>
          </a:stretch>
        </p:blipFill>
        <p:spPr bwMode="auto">
          <a:xfrm flipH="1">
            <a:off x="8853536" y="5326139"/>
            <a:ext cx="1115961" cy="1115961"/>
          </a:xfrm>
          <a:prstGeom prst="rect">
            <a:avLst/>
          </a:prstGeom>
          <a:noFill/>
          <a:extLst>
            <a:ext uri="{909E8E84-426E-40DD-AFC4-6F175D3DCCD1}">
              <a14:hiddenFill xmlns:a14="http://schemas.microsoft.com/office/drawing/2010/main">
                <a:solidFill>
                  <a:srgbClr val="FFFFFF"/>
                </a:solidFill>
              </a14:hiddenFill>
            </a:ext>
          </a:extLst>
        </p:spPr>
      </p:pic>
      <p:sp>
        <p:nvSpPr>
          <p:cNvPr id="42" name="TextBox 41">
            <a:extLst>
              <a:ext uri="{FF2B5EF4-FFF2-40B4-BE49-F238E27FC236}">
                <a16:creationId xmlns:a16="http://schemas.microsoft.com/office/drawing/2014/main" id="{C55D1D4C-3D6F-EAE5-67D7-545BC96B1357}"/>
              </a:ext>
            </a:extLst>
          </p:cNvPr>
          <p:cNvSpPr txBox="1"/>
          <p:nvPr/>
        </p:nvSpPr>
        <p:spPr>
          <a:xfrm>
            <a:off x="2228786" y="3851182"/>
            <a:ext cx="1699753" cy="461665"/>
          </a:xfrm>
          <a:prstGeom prst="rect">
            <a:avLst/>
          </a:prstGeom>
          <a:noFill/>
        </p:spPr>
        <p:txBody>
          <a:bodyPr wrap="square" rtlCol="0">
            <a:spAutoFit/>
          </a:bodyPr>
          <a:lstStyle/>
          <a:p>
            <a:r>
              <a:rPr lang="en-US" sz="1200" b="1" dirty="0"/>
              <a:t>Interpretable:</a:t>
            </a:r>
          </a:p>
          <a:p>
            <a:pPr marL="115888" indent="-115888">
              <a:buFont typeface="Arial" panose="020B0604020202020204" pitchFamily="34" charset="0"/>
              <a:buChar char="•"/>
            </a:pPr>
            <a:r>
              <a:rPr lang="en-US" sz="1200" dirty="0"/>
              <a:t>SHAP Analysis</a:t>
            </a:r>
          </a:p>
        </p:txBody>
      </p:sp>
      <p:pic>
        <p:nvPicPr>
          <p:cNvPr id="44" name="Picture 43">
            <a:extLst>
              <a:ext uri="{FF2B5EF4-FFF2-40B4-BE49-F238E27FC236}">
                <a16:creationId xmlns:a16="http://schemas.microsoft.com/office/drawing/2014/main" id="{241077B7-234A-CD01-62FE-DE08983E930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8741" y="2712129"/>
            <a:ext cx="381232" cy="368934"/>
          </a:xfrm>
          <a:prstGeom prst="rect">
            <a:avLst/>
          </a:prstGeom>
        </p:spPr>
      </p:pic>
      <p:pic>
        <p:nvPicPr>
          <p:cNvPr id="46" name="Picture 45">
            <a:extLst>
              <a:ext uri="{FF2B5EF4-FFF2-40B4-BE49-F238E27FC236}">
                <a16:creationId xmlns:a16="http://schemas.microsoft.com/office/drawing/2014/main" id="{8CDDA542-195C-7B0D-5EA6-A3BF3366D1F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66193" y="3521655"/>
            <a:ext cx="381232" cy="368933"/>
          </a:xfrm>
          <a:prstGeom prst="rect">
            <a:avLst/>
          </a:prstGeom>
        </p:spPr>
      </p:pic>
      <p:pic>
        <p:nvPicPr>
          <p:cNvPr id="48" name="Picture 47">
            <a:extLst>
              <a:ext uri="{FF2B5EF4-FFF2-40B4-BE49-F238E27FC236}">
                <a16:creationId xmlns:a16="http://schemas.microsoft.com/office/drawing/2014/main" id="{2C3132D1-D1AC-4743-FDC3-68EC2C61DA1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66193" y="4548434"/>
            <a:ext cx="381232" cy="427494"/>
          </a:xfrm>
          <a:prstGeom prst="rect">
            <a:avLst/>
          </a:prstGeom>
        </p:spPr>
      </p:pic>
      <p:pic>
        <p:nvPicPr>
          <p:cNvPr id="50" name="Picture 49">
            <a:extLst>
              <a:ext uri="{FF2B5EF4-FFF2-40B4-BE49-F238E27FC236}">
                <a16:creationId xmlns:a16="http://schemas.microsoft.com/office/drawing/2014/main" id="{19466369-9CEA-EBD5-3EE1-020AEB8A00F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66193" y="5567347"/>
            <a:ext cx="413080" cy="450414"/>
          </a:xfrm>
          <a:prstGeom prst="rect">
            <a:avLst/>
          </a:prstGeom>
        </p:spPr>
      </p:pic>
      <p:sp>
        <p:nvSpPr>
          <p:cNvPr id="2" name="Oval 1">
            <a:extLst>
              <a:ext uri="{FF2B5EF4-FFF2-40B4-BE49-F238E27FC236}">
                <a16:creationId xmlns:a16="http://schemas.microsoft.com/office/drawing/2014/main" id="{0E7FAB82-AD50-6FE3-7CDF-48A66E7809F5}"/>
              </a:ext>
            </a:extLst>
          </p:cNvPr>
          <p:cNvSpPr/>
          <p:nvPr/>
        </p:nvSpPr>
        <p:spPr>
          <a:xfrm>
            <a:off x="8700117" y="1465666"/>
            <a:ext cx="490075" cy="339152"/>
          </a:xfrm>
          <a:prstGeom prst="ellipse">
            <a:avLst/>
          </a:prstGeom>
          <a:solidFill>
            <a:srgbClr val="FFAD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5</a:t>
            </a:r>
          </a:p>
        </p:txBody>
      </p:sp>
      <p:sp>
        <p:nvSpPr>
          <p:cNvPr id="3" name="Oval 2">
            <a:extLst>
              <a:ext uri="{FF2B5EF4-FFF2-40B4-BE49-F238E27FC236}">
                <a16:creationId xmlns:a16="http://schemas.microsoft.com/office/drawing/2014/main" id="{71E2C969-3039-8A43-84ED-14C3ABF44D43}"/>
              </a:ext>
            </a:extLst>
          </p:cNvPr>
          <p:cNvSpPr/>
          <p:nvPr/>
        </p:nvSpPr>
        <p:spPr>
          <a:xfrm>
            <a:off x="6615781" y="1465699"/>
            <a:ext cx="490075" cy="339152"/>
          </a:xfrm>
          <a:prstGeom prst="ellipse">
            <a:avLst/>
          </a:prstGeom>
          <a:solidFill>
            <a:srgbClr val="71B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4</a:t>
            </a:r>
          </a:p>
        </p:txBody>
      </p:sp>
      <p:sp>
        <p:nvSpPr>
          <p:cNvPr id="7" name="Oval 6">
            <a:extLst>
              <a:ext uri="{FF2B5EF4-FFF2-40B4-BE49-F238E27FC236}">
                <a16:creationId xmlns:a16="http://schemas.microsoft.com/office/drawing/2014/main" id="{6C200304-F471-462F-C61C-2C6A6E4DF94D}"/>
              </a:ext>
            </a:extLst>
          </p:cNvPr>
          <p:cNvSpPr/>
          <p:nvPr/>
        </p:nvSpPr>
        <p:spPr>
          <a:xfrm>
            <a:off x="4783851" y="1457353"/>
            <a:ext cx="490075" cy="339152"/>
          </a:xfrm>
          <a:prstGeom prst="ellipse">
            <a:avLst/>
          </a:prstGeom>
          <a:solidFill>
            <a:srgbClr val="649EC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3</a:t>
            </a:r>
          </a:p>
        </p:txBody>
      </p:sp>
      <p:sp>
        <p:nvSpPr>
          <p:cNvPr id="9" name="Oval 8">
            <a:extLst>
              <a:ext uri="{FF2B5EF4-FFF2-40B4-BE49-F238E27FC236}">
                <a16:creationId xmlns:a16="http://schemas.microsoft.com/office/drawing/2014/main" id="{852B82BC-BA73-BD0C-F0DC-9E03FE4F51D2}"/>
              </a:ext>
            </a:extLst>
          </p:cNvPr>
          <p:cNvSpPr/>
          <p:nvPr/>
        </p:nvSpPr>
        <p:spPr>
          <a:xfrm>
            <a:off x="2914258" y="1464904"/>
            <a:ext cx="490075" cy="339152"/>
          </a:xfrm>
          <a:prstGeom prst="ellipse">
            <a:avLst/>
          </a:prstGeom>
          <a:solidFill>
            <a:srgbClr val="5576B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2</a:t>
            </a:r>
          </a:p>
        </p:txBody>
      </p:sp>
      <p:sp>
        <p:nvSpPr>
          <p:cNvPr id="11" name="Oval 10">
            <a:extLst>
              <a:ext uri="{FF2B5EF4-FFF2-40B4-BE49-F238E27FC236}">
                <a16:creationId xmlns:a16="http://schemas.microsoft.com/office/drawing/2014/main" id="{33DD2C54-CD19-4DFF-8290-AB99C49805B0}"/>
              </a:ext>
            </a:extLst>
          </p:cNvPr>
          <p:cNvSpPr/>
          <p:nvPr/>
        </p:nvSpPr>
        <p:spPr>
          <a:xfrm>
            <a:off x="1033630" y="1465360"/>
            <a:ext cx="490075" cy="339152"/>
          </a:xfrm>
          <a:prstGeom prst="ellipse">
            <a:avLst/>
          </a:prstGeom>
          <a:solidFill>
            <a:srgbClr val="405C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1</a:t>
            </a:r>
          </a:p>
        </p:txBody>
      </p:sp>
      <p:pic>
        <p:nvPicPr>
          <p:cNvPr id="21" name="Picture 20" descr="A graph with lines and numbers&#10;&#10;AI-generated content may be incorrect.">
            <a:extLst>
              <a:ext uri="{FF2B5EF4-FFF2-40B4-BE49-F238E27FC236}">
                <a16:creationId xmlns:a16="http://schemas.microsoft.com/office/drawing/2014/main" id="{7A641495-0783-0ED2-2975-01E3CC9BB4AA}"/>
              </a:ext>
            </a:extLst>
          </p:cNvPr>
          <p:cNvPicPr>
            <a:picLocks noChangeAspect="1"/>
          </p:cNvPicPr>
          <p:nvPr/>
        </p:nvPicPr>
        <p:blipFill>
          <a:blip r:embed="rId13">
            <a:alphaModFix amt="50000"/>
            <a:extLst>
              <a:ext uri="{28A0092B-C50C-407E-A947-70E740481C1C}">
                <a14:useLocalDpi xmlns:a14="http://schemas.microsoft.com/office/drawing/2010/main" val="0"/>
              </a:ext>
            </a:extLst>
          </a:blip>
          <a:stretch>
            <a:fillRect/>
          </a:stretch>
        </p:blipFill>
        <p:spPr>
          <a:xfrm>
            <a:off x="8229889" y="3323214"/>
            <a:ext cx="1535155" cy="823879"/>
          </a:xfrm>
          <a:prstGeom prst="rect">
            <a:avLst/>
          </a:prstGeom>
          <a:effectLst>
            <a:softEdge rad="63500"/>
          </a:effectLst>
        </p:spPr>
      </p:pic>
    </p:spTree>
    <p:extLst>
      <p:ext uri="{BB962C8B-B14F-4D97-AF65-F5344CB8AC3E}">
        <p14:creationId xmlns:p14="http://schemas.microsoft.com/office/powerpoint/2010/main" val="1103992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E5CE5-78AD-490D-C7F0-BCFD03DE4B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6D5BCF9-5264-A0FA-7345-80535708E5F4}"/>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F3D5AD4-765C-F5F1-BF2E-88B3C1075A2F}"/>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600" b="1" dirty="0">
                <a:solidFill>
                  <a:schemeClr val="bg1"/>
                </a:solidFill>
              </a:rPr>
              <a:t>Model Selection</a:t>
            </a:r>
          </a:p>
        </p:txBody>
      </p:sp>
      <p:sp>
        <p:nvSpPr>
          <p:cNvPr id="11" name="TextBox 10">
            <a:extLst>
              <a:ext uri="{FF2B5EF4-FFF2-40B4-BE49-F238E27FC236}">
                <a16:creationId xmlns:a16="http://schemas.microsoft.com/office/drawing/2014/main" id="{B14DAF72-DF65-27AC-ED63-07FB535EECB3}"/>
              </a:ext>
            </a:extLst>
          </p:cNvPr>
          <p:cNvSpPr txBox="1"/>
          <p:nvPr/>
        </p:nvSpPr>
        <p:spPr>
          <a:xfrm>
            <a:off x="139613" y="1368962"/>
            <a:ext cx="9897766" cy="4801314"/>
          </a:xfrm>
          <a:prstGeom prst="rect">
            <a:avLst/>
          </a:prstGeom>
          <a:noFill/>
        </p:spPr>
        <p:txBody>
          <a:bodyPr wrap="square">
            <a:spAutoFit/>
          </a:bodyPr>
          <a:lstStyle/>
          <a:p>
            <a:pPr marL="285750" indent="-285750">
              <a:buFont typeface="Arial" panose="020B0604020202020204" pitchFamily="34" charset="0"/>
              <a:buChar char="•"/>
            </a:pPr>
            <a:r>
              <a:rPr lang="en-US" b="1" dirty="0"/>
              <a:t>Model selection approach:</a:t>
            </a:r>
            <a:endParaRPr lang="en-US" dirty="0"/>
          </a:p>
          <a:p>
            <a:pPr marL="742950" lvl="1" indent="-285750">
              <a:buFont typeface="Arial" panose="020B0604020202020204" pitchFamily="34" charset="0"/>
              <a:buChar char="•"/>
            </a:pPr>
            <a:r>
              <a:rPr lang="en-US" dirty="0"/>
              <a:t>Compared OLS, Ridge, Lasso, Random Forest, </a:t>
            </a:r>
            <a:r>
              <a:rPr lang="en-US" dirty="0" err="1"/>
              <a:t>HistGradientBoosting</a:t>
            </a:r>
            <a:r>
              <a:rPr lang="en-US" dirty="0"/>
              <a:t>, and Extra Trees </a:t>
            </a:r>
          </a:p>
          <a:p>
            <a:pPr marL="742950" lvl="1" indent="-285750">
              <a:buFont typeface="Arial" panose="020B0604020202020204" pitchFamily="34" charset="0"/>
              <a:buChar char="•"/>
            </a:pPr>
            <a:r>
              <a:rPr lang="en-US" dirty="0"/>
              <a:t>Selected Lasso as the final model based on the strongest out-of-sample performance </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endParaRPr lang="en-US" b="1" dirty="0"/>
          </a:p>
          <a:p>
            <a:pPr lvl="1"/>
            <a:endParaRPr lang="en-US" b="1" dirty="0"/>
          </a:p>
          <a:p>
            <a:endParaRPr lang="en-US" b="1" dirty="0"/>
          </a:p>
          <a:p>
            <a:endParaRPr lang="en-US" b="1" dirty="0"/>
          </a:p>
          <a:p>
            <a:endParaRPr lang="en-US" b="1" dirty="0"/>
          </a:p>
          <a:p>
            <a:endParaRPr lang="en-US" b="1" dirty="0"/>
          </a:p>
          <a:p>
            <a:endParaRPr lang="en-US" b="1" dirty="0"/>
          </a:p>
          <a:p>
            <a:pPr marL="285750" indent="-285750">
              <a:buFont typeface="Arial" panose="020B0604020202020204" pitchFamily="34" charset="0"/>
              <a:buChar char="•"/>
            </a:pPr>
            <a:r>
              <a:rPr lang="en-US" b="1" dirty="0"/>
              <a:t>Selected: </a:t>
            </a:r>
            <a:r>
              <a:rPr lang="en-US" dirty="0"/>
              <a:t>Lasso</a:t>
            </a:r>
          </a:p>
          <a:p>
            <a:pPr marL="285750" indent="-285750">
              <a:buFont typeface="Arial" panose="020B0604020202020204" pitchFamily="34" charset="0"/>
              <a:buChar char="•"/>
            </a:pPr>
            <a:r>
              <a:rPr lang="en-US" b="1" dirty="0"/>
              <a:t>Key Result:  </a:t>
            </a:r>
            <a:r>
              <a:rPr lang="en-US" dirty="0"/>
              <a:t>Test R² ≈ </a:t>
            </a:r>
            <a:r>
              <a:rPr lang="en-US" b="1" dirty="0"/>
              <a:t>0.91</a:t>
            </a:r>
            <a:endParaRPr lang="en-US" dirty="0"/>
          </a:p>
        </p:txBody>
      </p:sp>
      <p:pic>
        <p:nvPicPr>
          <p:cNvPr id="6" name="Picture 5">
            <a:extLst>
              <a:ext uri="{FF2B5EF4-FFF2-40B4-BE49-F238E27FC236}">
                <a16:creationId xmlns:a16="http://schemas.microsoft.com/office/drawing/2014/main" id="{2F138C60-C22C-D590-D67D-5C4FCD08C9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22" y="2722105"/>
            <a:ext cx="6878993" cy="2670770"/>
          </a:xfrm>
          <a:prstGeom prst="rect">
            <a:avLst/>
          </a:prstGeom>
        </p:spPr>
      </p:pic>
    </p:spTree>
    <p:extLst>
      <p:ext uri="{BB962C8B-B14F-4D97-AF65-F5344CB8AC3E}">
        <p14:creationId xmlns:p14="http://schemas.microsoft.com/office/powerpoint/2010/main" val="4261835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BC861-E33F-C09B-EB02-1B9C8104DF5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5E3B622-C2B6-15C0-6840-4EA0170A6E8E}"/>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75EDC21E-BFC6-1CCE-93E2-8AB394250B5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4000" b="1" dirty="0">
                <a:solidFill>
                  <a:schemeClr val="bg1"/>
                </a:solidFill>
              </a:rPr>
              <a:t>Chronological 80/20 Split</a:t>
            </a:r>
          </a:p>
        </p:txBody>
      </p:sp>
      <p:pic>
        <p:nvPicPr>
          <p:cNvPr id="3" name="Picture 2">
            <a:extLst>
              <a:ext uri="{FF2B5EF4-FFF2-40B4-BE49-F238E27FC236}">
                <a16:creationId xmlns:a16="http://schemas.microsoft.com/office/drawing/2014/main" id="{75392B15-D454-FF9B-9377-3BDDDE70F33B}"/>
              </a:ext>
            </a:extLst>
          </p:cNvPr>
          <p:cNvPicPr>
            <a:picLocks noChangeAspect="1"/>
          </p:cNvPicPr>
          <p:nvPr/>
        </p:nvPicPr>
        <p:blipFill>
          <a:blip r:embed="rId3"/>
          <a:stretch>
            <a:fillRect/>
          </a:stretch>
        </p:blipFill>
        <p:spPr>
          <a:xfrm>
            <a:off x="0" y="1246298"/>
            <a:ext cx="8788400" cy="4469314"/>
          </a:xfrm>
          <a:prstGeom prst="rect">
            <a:avLst/>
          </a:prstGeom>
        </p:spPr>
      </p:pic>
      <p:sp>
        <p:nvSpPr>
          <p:cNvPr id="8" name="TextBox 7">
            <a:extLst>
              <a:ext uri="{FF2B5EF4-FFF2-40B4-BE49-F238E27FC236}">
                <a16:creationId xmlns:a16="http://schemas.microsoft.com/office/drawing/2014/main" id="{7DC07DDB-1C42-8E82-B79B-75567BBEA860}"/>
              </a:ext>
            </a:extLst>
          </p:cNvPr>
          <p:cNvSpPr txBox="1"/>
          <p:nvPr/>
        </p:nvSpPr>
        <p:spPr>
          <a:xfrm>
            <a:off x="0" y="5933249"/>
            <a:ext cx="12192000" cy="369332"/>
          </a:xfrm>
          <a:prstGeom prst="rect">
            <a:avLst/>
          </a:prstGeom>
          <a:noFill/>
        </p:spPr>
        <p:txBody>
          <a:bodyPr wrap="square">
            <a:spAutoFit/>
          </a:bodyPr>
          <a:lstStyle/>
          <a:p>
            <a:r>
              <a:rPr lang="en-US" b="1" dirty="0"/>
              <a:t>Key takeaway: </a:t>
            </a:r>
            <a:r>
              <a:rPr lang="en-US" dirty="0"/>
              <a:t>The model is trained only on past data and evaluated on future years, ensuring a realistic forecasting setup</a:t>
            </a:r>
          </a:p>
        </p:txBody>
      </p:sp>
    </p:spTree>
    <p:extLst>
      <p:ext uri="{BB962C8B-B14F-4D97-AF65-F5344CB8AC3E}">
        <p14:creationId xmlns:p14="http://schemas.microsoft.com/office/powerpoint/2010/main" val="2143126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8286B-27FC-B142-24DF-3360A23C1D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A85A02-485F-6DB0-7576-9AB1804B11B7}"/>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A41ABC40-ED9C-119F-A258-0124DEB857C6}"/>
              </a:ext>
            </a:extLst>
          </p:cNvPr>
          <p:cNvSpPr txBox="1">
            <a:spLocks/>
          </p:cNvSpPr>
          <p:nvPr/>
        </p:nvSpPr>
        <p:spPr>
          <a:xfrm>
            <a:off x="0" y="361539"/>
            <a:ext cx="7199289"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Lead–Lag Analysis: </a:t>
            </a:r>
          </a:p>
          <a:p>
            <a:pPr lvl="0"/>
            <a:r>
              <a:rPr lang="en-US" sz="3200" b="1" dirty="0">
                <a:solidFill>
                  <a:schemeClr val="bg1"/>
                </a:solidFill>
              </a:rPr>
              <a:t>When Do Drivers Matter</a:t>
            </a:r>
          </a:p>
        </p:txBody>
      </p:sp>
      <p:sp>
        <p:nvSpPr>
          <p:cNvPr id="11" name="TextBox 10">
            <a:extLst>
              <a:ext uri="{FF2B5EF4-FFF2-40B4-BE49-F238E27FC236}">
                <a16:creationId xmlns:a16="http://schemas.microsoft.com/office/drawing/2014/main" id="{41355400-6FEF-AD30-128B-DC3422E8C2B4}"/>
              </a:ext>
            </a:extLst>
          </p:cNvPr>
          <p:cNvSpPr txBox="1"/>
          <p:nvPr/>
        </p:nvSpPr>
        <p:spPr>
          <a:xfrm>
            <a:off x="139613" y="1368962"/>
            <a:ext cx="6706030" cy="4524315"/>
          </a:xfrm>
          <a:prstGeom prst="rect">
            <a:avLst/>
          </a:prstGeom>
          <a:noFill/>
        </p:spPr>
        <p:txBody>
          <a:bodyPr wrap="square">
            <a:spAutoFit/>
          </a:bodyPr>
          <a:lstStyle/>
          <a:p>
            <a:r>
              <a:rPr lang="en-US" b="1" dirty="0"/>
              <a:t>Key Findings:</a:t>
            </a:r>
          </a:p>
          <a:p>
            <a:pPr marL="342900" indent="-342900">
              <a:buFont typeface="Arial" panose="020B0604020202020204" pitchFamily="34" charset="0"/>
              <a:buChar char="•"/>
            </a:pPr>
            <a:r>
              <a:rPr lang="en-US" dirty="0"/>
              <a:t>Hurricanes (wind exposure) have the strongest impact at lag 1 </a:t>
            </a:r>
          </a:p>
          <a:p>
            <a:pPr marL="342900" indent="-342900">
              <a:buFont typeface="Arial" panose="020B0604020202020204" pitchFamily="34" charset="0"/>
              <a:buChar char="•"/>
            </a:pPr>
            <a:r>
              <a:rPr lang="en-US" dirty="0"/>
              <a:t>Earthquake effects are both immediate and short-term persistent </a:t>
            </a:r>
          </a:p>
          <a:p>
            <a:pPr marL="342900" indent="-342900">
              <a:buFont typeface="Arial" panose="020B0604020202020204" pitchFamily="34" charset="0"/>
              <a:buChar char="•"/>
            </a:pPr>
            <a:r>
              <a:rPr lang="en-US" dirty="0"/>
              <a:t>Vulnerability (SVI) influences population change consistently over time </a:t>
            </a:r>
          </a:p>
          <a:p>
            <a:pPr marL="342900" indent="-342900">
              <a:buFont typeface="Arial" panose="020B0604020202020204" pitchFamily="34" charset="0"/>
              <a:buChar char="•"/>
            </a:pPr>
            <a:r>
              <a:rPr lang="en-US" dirty="0"/>
              <a:t>Economic variables contribute modest but stable effects </a:t>
            </a:r>
          </a:p>
          <a:p>
            <a:endParaRPr lang="en-US" dirty="0"/>
          </a:p>
          <a:p>
            <a:r>
              <a:rPr lang="en-US" b="1" dirty="0"/>
              <a:t>Interpretation:</a:t>
            </a:r>
          </a:p>
          <a:p>
            <a:pPr marL="342900" indent="-342900">
              <a:buFont typeface="Arial" panose="020B0604020202020204" pitchFamily="34" charset="0"/>
              <a:buChar char="•"/>
            </a:pPr>
            <a:r>
              <a:rPr lang="en-US" dirty="0"/>
              <a:t>Population responses to disasters are delayed, not immediate </a:t>
            </a:r>
          </a:p>
          <a:p>
            <a:pPr marL="342900" indent="-342900">
              <a:buFont typeface="Arial" panose="020B0604020202020204" pitchFamily="34" charset="0"/>
              <a:buChar char="•"/>
            </a:pPr>
            <a:r>
              <a:rPr lang="en-US" dirty="0"/>
              <a:t>Migration and recovery processes likely drive lagged effects </a:t>
            </a:r>
          </a:p>
          <a:p>
            <a:pPr marL="342900" indent="-342900">
              <a:buFont typeface="Arial" panose="020B0604020202020204" pitchFamily="34" charset="0"/>
              <a:buChar char="•"/>
            </a:pPr>
            <a:r>
              <a:rPr lang="en-US" dirty="0"/>
              <a:t>Structural factors shape baseline vulnerability across time </a:t>
            </a:r>
          </a:p>
          <a:p>
            <a:endParaRPr lang="en-US" dirty="0"/>
          </a:p>
          <a:p>
            <a:r>
              <a:rPr lang="en-US" b="1" dirty="0"/>
              <a:t>Key Insight: </a:t>
            </a:r>
            <a:r>
              <a:rPr lang="en-US" dirty="0"/>
              <a:t>Timing matters — not just magnitude</a:t>
            </a:r>
            <a:br>
              <a:rPr lang="en-US" dirty="0"/>
            </a:br>
            <a:r>
              <a:rPr lang="en-US" dirty="0"/>
              <a:t>Population change is driven by </a:t>
            </a:r>
            <a:r>
              <a:rPr lang="en-US" b="1" dirty="0"/>
              <a:t>delayed responses to shocks and persistent structural conditions</a:t>
            </a:r>
            <a:endParaRPr lang="en-US" dirty="0"/>
          </a:p>
        </p:txBody>
      </p:sp>
      <p:pic>
        <p:nvPicPr>
          <p:cNvPr id="3" name="Picture 2">
            <a:extLst>
              <a:ext uri="{FF2B5EF4-FFF2-40B4-BE49-F238E27FC236}">
                <a16:creationId xmlns:a16="http://schemas.microsoft.com/office/drawing/2014/main" id="{C1FD42D7-76D3-259B-08F9-14DCC8C56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37304" y="2444000"/>
            <a:ext cx="5415083" cy="3757094"/>
          </a:xfrm>
          <a:prstGeom prst="rect">
            <a:avLst/>
          </a:prstGeom>
        </p:spPr>
      </p:pic>
    </p:spTree>
    <p:extLst>
      <p:ext uri="{BB962C8B-B14F-4D97-AF65-F5344CB8AC3E}">
        <p14:creationId xmlns:p14="http://schemas.microsoft.com/office/powerpoint/2010/main" val="4004191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18DEC-A29D-0EF7-39B7-5D840E6E8D5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96B6C1F-CF7E-21EA-E139-BD9C08871792}"/>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9E468F0-34DE-8849-4B81-553DC807551E}"/>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Key Learning</a:t>
            </a:r>
          </a:p>
        </p:txBody>
      </p:sp>
      <p:sp>
        <p:nvSpPr>
          <p:cNvPr id="11" name="TextBox 10">
            <a:extLst>
              <a:ext uri="{FF2B5EF4-FFF2-40B4-BE49-F238E27FC236}">
                <a16:creationId xmlns:a16="http://schemas.microsoft.com/office/drawing/2014/main" id="{BCDD44F8-ED1E-744F-388B-CF81663B7177}"/>
              </a:ext>
            </a:extLst>
          </p:cNvPr>
          <p:cNvSpPr txBox="1"/>
          <p:nvPr/>
        </p:nvSpPr>
        <p:spPr>
          <a:xfrm>
            <a:off x="139613" y="1368962"/>
            <a:ext cx="11805460" cy="4801314"/>
          </a:xfrm>
          <a:prstGeom prst="rect">
            <a:avLst/>
          </a:prstGeom>
          <a:noFill/>
        </p:spPr>
        <p:txBody>
          <a:bodyPr wrap="square">
            <a:spAutoFit/>
          </a:bodyPr>
          <a:lstStyle/>
          <a:p>
            <a:r>
              <a:rPr lang="en-US" b="1" dirty="0"/>
              <a:t>What I learned</a:t>
            </a:r>
          </a:p>
          <a:p>
            <a:pPr marL="285750" indent="-285750">
              <a:buFont typeface="Arial" panose="020B0604020202020204" pitchFamily="34" charset="0"/>
              <a:buChar char="•"/>
            </a:pPr>
            <a:r>
              <a:rPr lang="en-US" dirty="0"/>
              <a:t>Short-run population change is highly volatile and difficult to predict </a:t>
            </a:r>
          </a:p>
          <a:p>
            <a:pPr marL="285750" indent="-285750">
              <a:buFont typeface="Arial" panose="020B0604020202020204" pitchFamily="34" charset="0"/>
              <a:buChar char="•"/>
            </a:pPr>
            <a:r>
              <a:rPr lang="en-US" dirty="0"/>
              <a:t>Models rely heavily on momentum (past population trends) in the short run </a:t>
            </a:r>
          </a:p>
          <a:p>
            <a:pPr marL="285750" indent="-285750">
              <a:buFont typeface="Arial" panose="020B0604020202020204" pitchFamily="34" charset="0"/>
              <a:buChar char="•"/>
            </a:pPr>
            <a:r>
              <a:rPr lang="en-US" dirty="0"/>
              <a:t>Structural patterns only emerge when the target is smoothed over time </a:t>
            </a:r>
          </a:p>
          <a:p>
            <a:pPr marL="285750" indent="-285750">
              <a:buFont typeface="Arial" panose="020B0604020202020204" pitchFamily="34" charset="0"/>
              <a:buChar char="•"/>
            </a:pPr>
            <a:r>
              <a:rPr lang="en-US" dirty="0"/>
              <a:t>Disaster and vulnerability effects become visible at longer horizons </a:t>
            </a:r>
          </a:p>
          <a:p>
            <a:br>
              <a:rPr lang="en-US" dirty="0"/>
            </a:br>
            <a:endParaRPr lang="en-US" dirty="0"/>
          </a:p>
          <a:p>
            <a:r>
              <a:rPr lang="en-US" b="1" dirty="0"/>
              <a:t>Implication: </a:t>
            </a:r>
            <a:r>
              <a:rPr lang="en-US" dirty="0"/>
              <a:t>Long-term modeling captures </a:t>
            </a:r>
            <a:r>
              <a:rPr lang="en-US" b="1" dirty="0"/>
              <a:t>meaningful structural drivers</a:t>
            </a:r>
            <a:r>
              <a:rPr lang="en-US" dirty="0"/>
              <a:t> </a:t>
            </a:r>
          </a:p>
          <a:p>
            <a:r>
              <a:rPr lang="en-US" dirty="0"/>
              <a:t>Population change is shaped by: </a:t>
            </a:r>
          </a:p>
          <a:p>
            <a:pPr marL="742950" lvl="1" indent="-285750">
              <a:buFont typeface="Arial" panose="020B0604020202020204" pitchFamily="34" charset="0"/>
              <a:buChar char="•"/>
            </a:pPr>
            <a:r>
              <a:rPr lang="en-US" dirty="0"/>
              <a:t>Persistent population momentum (path dependence) </a:t>
            </a:r>
          </a:p>
          <a:p>
            <a:pPr marL="742950" lvl="1" indent="-285750">
              <a:buFont typeface="Arial" panose="020B0604020202020204" pitchFamily="34" charset="0"/>
              <a:buChar char="•"/>
            </a:pPr>
            <a:r>
              <a:rPr lang="en-US" dirty="0"/>
              <a:t>Disaster exposure </a:t>
            </a:r>
          </a:p>
          <a:p>
            <a:pPr marL="742950" lvl="1" indent="-285750">
              <a:buFont typeface="Arial" panose="020B0604020202020204" pitchFamily="34" charset="0"/>
              <a:buChar char="•"/>
            </a:pPr>
            <a:r>
              <a:rPr lang="en-US" dirty="0"/>
              <a:t>Time trends reflecting broader structural shifts</a:t>
            </a:r>
          </a:p>
          <a:p>
            <a:pPr marL="742950" lvl="1" indent="-285750">
              <a:buFont typeface="Arial" panose="020B0604020202020204" pitchFamily="34" charset="0"/>
              <a:buChar char="•"/>
            </a:pPr>
            <a:r>
              <a:rPr lang="en-US" dirty="0"/>
              <a:t>Economic and demographic context</a:t>
            </a:r>
          </a:p>
          <a:p>
            <a:pPr marL="742950" lvl="1" indent="-285750">
              <a:buFont typeface="Arial" panose="020B0604020202020204" pitchFamily="34" charset="0"/>
              <a:buChar char="•"/>
            </a:pPr>
            <a:r>
              <a:rPr lang="en-US" dirty="0"/>
              <a:t>Regional differences (secondary role)</a:t>
            </a:r>
            <a:br>
              <a:rPr lang="en-US" dirty="0"/>
            </a:br>
            <a:endParaRPr lang="en-US" dirty="0"/>
          </a:p>
          <a:p>
            <a:r>
              <a:rPr lang="en-US" b="1" dirty="0"/>
              <a:t>Key Takeaway: </a:t>
            </a:r>
            <a:r>
              <a:rPr lang="en-US" dirty="0"/>
              <a:t>Population change reflects strong persistence and path dependence, while shocks influence outcomes primarily through cumulative long-term effects.</a:t>
            </a:r>
          </a:p>
        </p:txBody>
      </p:sp>
    </p:spTree>
    <p:extLst>
      <p:ext uri="{BB962C8B-B14F-4D97-AF65-F5344CB8AC3E}">
        <p14:creationId xmlns:p14="http://schemas.microsoft.com/office/powerpoint/2010/main" val="2050642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CB461-06C7-B3FE-2FD3-A6EAA2C2C6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AFF467-EA34-A1E1-7D27-49257098751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1C9245BE-7F46-5541-F240-56BA0A3CBFE3}"/>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Structural Patterns </a:t>
            </a:r>
          </a:p>
          <a:p>
            <a:pPr lvl="0"/>
            <a:r>
              <a:rPr lang="en-US" sz="3200" b="1" dirty="0">
                <a:solidFill>
                  <a:schemeClr val="bg1"/>
                </a:solidFill>
              </a:rPr>
              <a:t>(Beyond Prediction)</a:t>
            </a:r>
          </a:p>
        </p:txBody>
      </p:sp>
      <p:sp>
        <p:nvSpPr>
          <p:cNvPr id="11" name="TextBox 10">
            <a:extLst>
              <a:ext uri="{FF2B5EF4-FFF2-40B4-BE49-F238E27FC236}">
                <a16:creationId xmlns:a16="http://schemas.microsoft.com/office/drawing/2014/main" id="{5F60B027-7280-1B08-F112-1AB1AFF3FADD}"/>
              </a:ext>
            </a:extLst>
          </p:cNvPr>
          <p:cNvSpPr txBox="1"/>
          <p:nvPr/>
        </p:nvSpPr>
        <p:spPr>
          <a:xfrm>
            <a:off x="139613" y="1368962"/>
            <a:ext cx="9560053" cy="5016758"/>
          </a:xfrm>
          <a:prstGeom prst="rect">
            <a:avLst/>
          </a:prstGeom>
          <a:noFill/>
        </p:spPr>
        <p:txBody>
          <a:bodyPr wrap="square">
            <a:spAutoFit/>
          </a:bodyPr>
          <a:lstStyle/>
          <a:p>
            <a:r>
              <a:rPr lang="en-US" sz="2000" b="1" dirty="0"/>
              <a:t>What emerges</a:t>
            </a:r>
          </a:p>
          <a:p>
            <a:pPr marL="342900" indent="-342900">
              <a:buFont typeface="Arial" panose="020B0604020202020204" pitchFamily="34" charset="0"/>
              <a:buChar char="•"/>
            </a:pPr>
            <a:r>
              <a:rPr lang="en-US" sz="2000" dirty="0"/>
              <a:t>Distinct municipal typologies across Puerto Rico </a:t>
            </a:r>
          </a:p>
          <a:p>
            <a:pPr marL="342900" indent="-342900">
              <a:buFont typeface="Arial" panose="020B0604020202020204" pitchFamily="34" charset="0"/>
              <a:buChar char="•"/>
            </a:pPr>
            <a:r>
              <a:rPr lang="en-US" sz="2000" dirty="0"/>
              <a:t>Clear and persistent regional clustering </a:t>
            </a:r>
          </a:p>
          <a:p>
            <a:pPr marL="342900" indent="-342900">
              <a:buFont typeface="Arial" panose="020B0604020202020204" pitchFamily="34" charset="0"/>
              <a:buChar char="•"/>
            </a:pPr>
            <a:r>
              <a:rPr lang="en-US" sz="2000" dirty="0"/>
              <a:t>Strong spatial organization of population dynamics</a:t>
            </a:r>
            <a:br>
              <a:rPr lang="en-US" sz="2000" dirty="0"/>
            </a:br>
            <a:endParaRPr lang="en-US" sz="2000" dirty="0"/>
          </a:p>
          <a:p>
            <a:r>
              <a:rPr lang="en-US" sz="2000" b="1" dirty="0"/>
              <a:t>Key result</a:t>
            </a:r>
          </a:p>
          <a:p>
            <a:pPr marL="285750" indent="-285750">
              <a:buFont typeface="Arial" panose="020B0604020202020204" pitchFamily="34" charset="0"/>
              <a:buChar char="•"/>
            </a:pPr>
            <a:r>
              <a:rPr lang="en-US" sz="2000" dirty="0"/>
              <a:t>Patterns are stable and spatially coherent</a:t>
            </a:r>
          </a:p>
          <a:p>
            <a:pPr marL="285750" indent="-285750">
              <a:buFont typeface="Arial" panose="020B0604020202020204" pitchFamily="34" charset="0"/>
              <a:buChar char="•"/>
            </a:pPr>
            <a:r>
              <a:rPr lang="en-US" sz="2000" dirty="0"/>
              <a:t>Similar municipalities exhibit consistent trajectories </a:t>
            </a:r>
          </a:p>
          <a:p>
            <a:pPr marL="285750" indent="-285750">
              <a:buFont typeface="Arial" panose="020B0604020202020204" pitchFamily="34" charset="0"/>
              <a:buChar char="•"/>
            </a:pPr>
            <a:r>
              <a:rPr lang="en-US" sz="2000" dirty="0"/>
              <a:t>Geographic proximity aligns with structural similarity </a:t>
            </a:r>
          </a:p>
          <a:p>
            <a:pPr marL="285750" indent="-285750">
              <a:buFont typeface="Arial" panose="020B0604020202020204" pitchFamily="34" charset="0"/>
              <a:buChar char="•"/>
            </a:pPr>
            <a:r>
              <a:rPr lang="en-US" sz="2000" dirty="0"/>
              <a:t>Results persist across modeling approaches and specifications</a:t>
            </a:r>
            <a:br>
              <a:rPr lang="en-US" sz="2000" dirty="0"/>
            </a:br>
            <a:endParaRPr lang="en-US" sz="2000" dirty="0"/>
          </a:p>
          <a:p>
            <a:r>
              <a:rPr lang="en-US" sz="2000" b="1" dirty="0"/>
              <a:t>Interpretation</a:t>
            </a:r>
          </a:p>
          <a:p>
            <a:pPr marL="285750" indent="-285750">
              <a:buFont typeface="Arial" panose="020B0604020202020204" pitchFamily="34" charset="0"/>
              <a:buChar char="•"/>
            </a:pPr>
            <a:r>
              <a:rPr lang="en-US" sz="2000" dirty="0"/>
              <a:t>Population change is structurally and spatially organized, not random </a:t>
            </a:r>
          </a:p>
          <a:p>
            <a:pPr marL="285750" indent="-285750">
              <a:buFont typeface="Arial" panose="020B0604020202020204" pitchFamily="34" charset="0"/>
              <a:buChar char="•"/>
            </a:pPr>
            <a:r>
              <a:rPr lang="en-US" sz="2000" dirty="0"/>
              <a:t>Decline is concentrated in specific regions, not evenly distributed </a:t>
            </a:r>
          </a:p>
          <a:p>
            <a:pPr marL="285750" indent="-285750">
              <a:buFont typeface="Arial" panose="020B0604020202020204" pitchFamily="34" charset="0"/>
              <a:buChar char="•"/>
            </a:pPr>
            <a:r>
              <a:rPr lang="en-US" sz="2000" dirty="0"/>
              <a:t>Economic conditions and vulnerability align geographically </a:t>
            </a:r>
          </a:p>
          <a:p>
            <a:pPr marL="285750" indent="-285750">
              <a:buFont typeface="Arial" panose="020B0604020202020204" pitchFamily="34" charset="0"/>
              <a:buChar char="•"/>
            </a:pPr>
            <a:r>
              <a:rPr lang="en-US" sz="2000" dirty="0"/>
              <a:t>Spatial structure reflects long-term underlying conditions, not short-term shocks</a:t>
            </a:r>
          </a:p>
        </p:txBody>
      </p:sp>
    </p:spTree>
    <p:extLst>
      <p:ext uri="{BB962C8B-B14F-4D97-AF65-F5344CB8AC3E}">
        <p14:creationId xmlns:p14="http://schemas.microsoft.com/office/powerpoint/2010/main" val="628415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01E96-4FBA-2C53-EB6D-71A73082909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47CC9B3-CFF7-3236-0435-5AAC114F3BB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CCB344E-0505-7DC9-9B4B-918C6753D07A}"/>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
        <p:nvSpPr>
          <p:cNvPr id="11" name="TextBox 10">
            <a:extLst>
              <a:ext uri="{FF2B5EF4-FFF2-40B4-BE49-F238E27FC236}">
                <a16:creationId xmlns:a16="http://schemas.microsoft.com/office/drawing/2014/main" id="{780EBFB1-42F0-193F-093F-6D0414F8B9A6}"/>
              </a:ext>
            </a:extLst>
          </p:cNvPr>
          <p:cNvSpPr txBox="1"/>
          <p:nvPr/>
        </p:nvSpPr>
        <p:spPr>
          <a:xfrm>
            <a:off x="139614" y="1368962"/>
            <a:ext cx="7408330" cy="4524315"/>
          </a:xfrm>
          <a:prstGeom prst="rect">
            <a:avLst/>
          </a:prstGeom>
          <a:noFill/>
        </p:spPr>
        <p:txBody>
          <a:bodyPr wrap="square">
            <a:spAutoFit/>
          </a:bodyPr>
          <a:lstStyle/>
          <a:p>
            <a:r>
              <a:rPr lang="en-US" b="1" dirty="0"/>
              <a:t>Key Findings: </a:t>
            </a:r>
          </a:p>
          <a:p>
            <a:pPr marL="285750" indent="-285750">
              <a:buFont typeface="Arial" panose="020B0604020202020204" pitchFamily="34" charset="0"/>
              <a:buChar char="•"/>
            </a:pPr>
            <a:r>
              <a:rPr lang="en-US" dirty="0"/>
              <a:t>Puerto Rico shows a persistent population decline (~0.6% per year) </a:t>
            </a:r>
            <a:br>
              <a:rPr lang="en-US" dirty="0"/>
            </a:br>
            <a:r>
              <a:rPr lang="en-US" dirty="0"/>
              <a:t>≈ ~20,000 people lost annually </a:t>
            </a:r>
          </a:p>
          <a:p>
            <a:endParaRPr lang="en-US" dirty="0"/>
          </a:p>
          <a:p>
            <a:pPr marL="285750" indent="-285750">
              <a:buFont typeface="Arial" panose="020B0604020202020204" pitchFamily="34" charset="0"/>
              <a:buChar char="•"/>
            </a:pPr>
            <a:r>
              <a:rPr lang="en-US" dirty="0"/>
              <a:t>Decline is not uniform across the island </a:t>
            </a:r>
          </a:p>
          <a:p>
            <a:pPr marL="285750" indent="-285750">
              <a:buFont typeface="Arial" panose="020B0604020202020204" pitchFamily="34" charset="0"/>
              <a:buChar char="•"/>
            </a:pPr>
            <a:r>
              <a:rPr lang="en-US" dirty="0"/>
              <a:t>Largest losses in South and West regions </a:t>
            </a:r>
          </a:p>
          <a:p>
            <a:pPr marL="285750" indent="-285750">
              <a:buFont typeface="Arial" panose="020B0604020202020204" pitchFamily="34" charset="0"/>
              <a:buChar char="•"/>
            </a:pPr>
            <a:r>
              <a:rPr lang="en-US" dirty="0"/>
              <a:t>Regional differences remain stable over time</a:t>
            </a:r>
            <a:br>
              <a:rPr lang="en-US" dirty="0"/>
            </a:br>
            <a:endParaRPr lang="en-US" dirty="0"/>
          </a:p>
          <a:p>
            <a:r>
              <a:rPr lang="en-US" b="1" dirty="0"/>
              <a:t>Model Insight</a:t>
            </a:r>
          </a:p>
          <a:p>
            <a:pPr marL="285750" indent="-285750">
              <a:buFont typeface="Arial" panose="020B0604020202020204" pitchFamily="34" charset="0"/>
              <a:buChar char="•"/>
            </a:pPr>
            <a:r>
              <a:rPr lang="en-US" dirty="0"/>
              <a:t>Population decline is systematic and predictable </a:t>
            </a:r>
          </a:p>
          <a:p>
            <a:pPr marL="285750" indent="-285750">
              <a:buFont typeface="Arial" panose="020B0604020202020204" pitchFamily="34" charset="0"/>
              <a:buChar char="•"/>
            </a:pPr>
            <a:r>
              <a:rPr lang="en-US" dirty="0"/>
              <a:t>Regional location strongly influences outcomes </a:t>
            </a:r>
          </a:p>
          <a:p>
            <a:pPr marL="285750" indent="-285750">
              <a:buFont typeface="Arial" panose="020B0604020202020204" pitchFamily="34" charset="0"/>
              <a:buChar char="•"/>
            </a:pPr>
            <a:r>
              <a:rPr lang="en-US" dirty="0"/>
              <a:t>Decline is spatially concentrated, not random</a:t>
            </a:r>
            <a:br>
              <a:rPr lang="en-US" dirty="0"/>
            </a:br>
            <a:endParaRPr lang="en-US" dirty="0"/>
          </a:p>
          <a:p>
            <a:r>
              <a:rPr lang="en-US" b="1" dirty="0"/>
              <a:t>Key Insight: </a:t>
            </a:r>
            <a:r>
              <a:rPr lang="en-US" dirty="0"/>
              <a:t>Population decline in Puerto Rico is spatially structured and persistent, with long-term regional patterns driving outcomes more than short-term fluctuations</a:t>
            </a:r>
          </a:p>
        </p:txBody>
      </p:sp>
      <p:sp>
        <p:nvSpPr>
          <p:cNvPr id="2" name="Rectangle 1">
            <a:extLst>
              <a:ext uri="{FF2B5EF4-FFF2-40B4-BE49-F238E27FC236}">
                <a16:creationId xmlns:a16="http://schemas.microsoft.com/office/drawing/2014/main" id="{AB0A0A53-C08A-8CF6-2CA4-43ACDEE0AD90}"/>
              </a:ext>
            </a:extLst>
          </p:cNvPr>
          <p:cNvSpPr/>
          <p:nvPr/>
        </p:nvSpPr>
        <p:spPr>
          <a:xfrm flipH="1">
            <a:off x="9996298" y="3741650"/>
            <a:ext cx="60325"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257CEC4-6F2C-8ECC-12C3-45B2C85C508B}"/>
              </a:ext>
            </a:extLst>
          </p:cNvPr>
          <p:cNvSpPr/>
          <p:nvPr/>
        </p:nvSpPr>
        <p:spPr>
          <a:xfrm flipH="1">
            <a:off x="10068053" y="3751175"/>
            <a:ext cx="4571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1D25DF4-5DF8-F96E-0138-F8EA589E13D1}"/>
              </a:ext>
            </a:extLst>
          </p:cNvPr>
          <p:cNvSpPr/>
          <p:nvPr/>
        </p:nvSpPr>
        <p:spPr>
          <a:xfrm flipH="1">
            <a:off x="10166478" y="3741650"/>
            <a:ext cx="4571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73B7663-3D63-68BB-2952-42010C173F4C}"/>
              </a:ext>
            </a:extLst>
          </p:cNvPr>
          <p:cNvSpPr/>
          <p:nvPr/>
        </p:nvSpPr>
        <p:spPr>
          <a:xfrm flipH="1">
            <a:off x="10093453" y="3751175"/>
            <a:ext cx="45719" cy="457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 graph of earthquake and earthquake&#10;&#10;AI-generated content may be incorrect.">
            <a:extLst>
              <a:ext uri="{FF2B5EF4-FFF2-40B4-BE49-F238E27FC236}">
                <a16:creationId xmlns:a16="http://schemas.microsoft.com/office/drawing/2014/main" id="{E832074F-0E6B-0735-113E-B5184D60CB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86570" y="1179741"/>
            <a:ext cx="3619456" cy="5142868"/>
          </a:xfrm>
          <a:prstGeom prst="rect">
            <a:avLst/>
          </a:prstGeom>
        </p:spPr>
      </p:pic>
    </p:spTree>
    <p:extLst>
      <p:ext uri="{BB962C8B-B14F-4D97-AF65-F5344CB8AC3E}">
        <p14:creationId xmlns:p14="http://schemas.microsoft.com/office/powerpoint/2010/main" val="95035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CE450-7451-3561-C82E-B27D143454FF}"/>
            </a:ext>
          </a:extLst>
        </p:cNvPr>
        <p:cNvGrpSpPr/>
        <p:nvPr/>
      </p:nvGrpSpPr>
      <p:grpSpPr>
        <a:xfrm>
          <a:off x="0" y="0"/>
          <a:ext cx="0" cy="0"/>
          <a:chOff x="0" y="0"/>
          <a:chExt cx="0" cy="0"/>
        </a:xfrm>
      </p:grpSpPr>
      <p:pic>
        <p:nvPicPr>
          <p:cNvPr id="6" name="Picture 5" descr="A map of different colored areas&#10;&#10;AI-generated content may be incorrect.">
            <a:extLst>
              <a:ext uri="{FF2B5EF4-FFF2-40B4-BE49-F238E27FC236}">
                <a16:creationId xmlns:a16="http://schemas.microsoft.com/office/drawing/2014/main" id="{D1D0EC73-A520-E2D4-4E56-FEC5EAFCB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5253" y="4179625"/>
            <a:ext cx="4530034" cy="2150372"/>
          </a:xfrm>
          <a:prstGeom prst="rect">
            <a:avLst/>
          </a:prstGeom>
        </p:spPr>
      </p:pic>
      <p:pic>
        <p:nvPicPr>
          <p:cNvPr id="10" name="Picture 9" descr="A map of different colored areas&#10;&#10;AI-generated content may be incorrect.">
            <a:extLst>
              <a:ext uri="{FF2B5EF4-FFF2-40B4-BE49-F238E27FC236}">
                <a16:creationId xmlns:a16="http://schemas.microsoft.com/office/drawing/2014/main" id="{4984584E-D9F5-BB6F-B072-249C1077F9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01487" y="4179625"/>
            <a:ext cx="4492854" cy="2147233"/>
          </a:xfrm>
          <a:prstGeom prst="rect">
            <a:avLst/>
          </a:prstGeom>
        </p:spPr>
      </p:pic>
      <p:pic>
        <p:nvPicPr>
          <p:cNvPr id="13" name="Picture 12" descr="A map of different colored states&#10;&#10;AI-generated content may be incorrect.">
            <a:extLst>
              <a:ext uri="{FF2B5EF4-FFF2-40B4-BE49-F238E27FC236}">
                <a16:creationId xmlns:a16="http://schemas.microsoft.com/office/drawing/2014/main" id="{289B6E45-AFB1-5D39-45BE-04F30976DDB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844" y="1368962"/>
            <a:ext cx="4492854" cy="2150372"/>
          </a:xfrm>
          <a:prstGeom prst="rect">
            <a:avLst/>
          </a:prstGeom>
        </p:spPr>
      </p:pic>
      <p:pic>
        <p:nvPicPr>
          <p:cNvPr id="15" name="Picture 14" descr="A map of different colored areas&#10;&#10;AI-generated content may be incorrect.">
            <a:extLst>
              <a:ext uri="{FF2B5EF4-FFF2-40B4-BE49-F238E27FC236}">
                <a16:creationId xmlns:a16="http://schemas.microsoft.com/office/drawing/2014/main" id="{6F8F3549-F043-02CF-3966-FD9417B81C4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01487" y="1368962"/>
            <a:ext cx="4530038" cy="2150372"/>
          </a:xfrm>
          <a:prstGeom prst="rect">
            <a:avLst/>
          </a:prstGeom>
        </p:spPr>
      </p:pic>
      <p:sp>
        <p:nvSpPr>
          <p:cNvPr id="4" name="Rectangle 3">
            <a:extLst>
              <a:ext uri="{FF2B5EF4-FFF2-40B4-BE49-F238E27FC236}">
                <a16:creationId xmlns:a16="http://schemas.microsoft.com/office/drawing/2014/main" id="{B97622A4-D8B9-5C1F-0940-F076655EC8F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D1CA394-DA1A-2FB8-2000-66836352100D}"/>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spTree>
    <p:extLst>
      <p:ext uri="{BB962C8B-B14F-4D97-AF65-F5344CB8AC3E}">
        <p14:creationId xmlns:p14="http://schemas.microsoft.com/office/powerpoint/2010/main" val="2045837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B4858-528D-1E9D-D076-E07737746C2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CEA9AAD-CB49-B525-910C-44F3EE7A266C}"/>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9DFE2C1-2757-4F13-1168-9FCEC98D3970}"/>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3" name="Picture 2">
            <a:extLst>
              <a:ext uri="{FF2B5EF4-FFF2-40B4-BE49-F238E27FC236}">
                <a16:creationId xmlns:a16="http://schemas.microsoft.com/office/drawing/2014/main" id="{F3E640DB-B139-20C3-110C-47BE0BCE11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021" y="1725108"/>
            <a:ext cx="7772400" cy="4231640"/>
          </a:xfrm>
          <a:prstGeom prst="rect">
            <a:avLst/>
          </a:prstGeom>
        </p:spPr>
      </p:pic>
    </p:spTree>
    <p:extLst>
      <p:ext uri="{BB962C8B-B14F-4D97-AF65-F5344CB8AC3E}">
        <p14:creationId xmlns:p14="http://schemas.microsoft.com/office/powerpoint/2010/main" val="2328801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62D8DA-71F8-5252-E92B-F07096EA89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B4C24D0-FE60-EE0C-AD18-F6F6AF226A30}"/>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8CDDF6D-0977-8F9C-1E29-8906F64C30CC}"/>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6" name="Picture 5">
            <a:extLst>
              <a:ext uri="{FF2B5EF4-FFF2-40B4-BE49-F238E27FC236}">
                <a16:creationId xmlns:a16="http://schemas.microsoft.com/office/drawing/2014/main" id="{82016559-3C92-77D3-1BD1-9AC6D29815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368962"/>
            <a:ext cx="8708661" cy="4741382"/>
          </a:xfrm>
          <a:prstGeom prst="rect">
            <a:avLst/>
          </a:prstGeom>
        </p:spPr>
      </p:pic>
    </p:spTree>
    <p:extLst>
      <p:ext uri="{BB962C8B-B14F-4D97-AF65-F5344CB8AC3E}">
        <p14:creationId xmlns:p14="http://schemas.microsoft.com/office/powerpoint/2010/main" val="3688445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39974-DA9B-1BDB-4213-6CFAC82AA8F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82FF56E-E59A-FD79-029D-F15A477A025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59B74BF2-2043-D925-13F0-D6B86598330F}"/>
              </a:ext>
            </a:extLst>
          </p:cNvPr>
          <p:cNvSpPr txBox="1">
            <a:spLocks/>
          </p:cNvSpPr>
          <p:nvPr/>
        </p:nvSpPr>
        <p:spPr>
          <a:xfrm>
            <a:off x="0" y="361539"/>
            <a:ext cx="719929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a:solidFill>
                  <a:schemeClr val="bg1"/>
                </a:solidFill>
              </a:rPr>
              <a:t>Policy Response &amp; Retention Strategies </a:t>
            </a:r>
            <a:endParaRPr lang="en-US" sz="2400" dirty="0">
              <a:solidFill>
                <a:schemeClr val="bg1"/>
              </a:solidFill>
            </a:endParaRPr>
          </a:p>
        </p:txBody>
      </p:sp>
      <p:sp>
        <p:nvSpPr>
          <p:cNvPr id="12" name="TextBox 11">
            <a:extLst>
              <a:ext uri="{FF2B5EF4-FFF2-40B4-BE49-F238E27FC236}">
                <a16:creationId xmlns:a16="http://schemas.microsoft.com/office/drawing/2014/main" id="{B47823D1-EA69-E409-B8BD-E52E1C7E7F94}"/>
              </a:ext>
            </a:extLst>
          </p:cNvPr>
          <p:cNvSpPr txBox="1"/>
          <p:nvPr/>
        </p:nvSpPr>
        <p:spPr>
          <a:xfrm>
            <a:off x="248855" y="1368962"/>
            <a:ext cx="10608197" cy="4861587"/>
          </a:xfrm>
          <a:prstGeom prst="rect">
            <a:avLst/>
          </a:prstGeom>
          <a:noFill/>
        </p:spPr>
        <p:txBody>
          <a:bodyPr wrap="square">
            <a:spAutoFit/>
          </a:bodyPr>
          <a:lstStyle/>
          <a:p>
            <a:pPr>
              <a:lnSpc>
                <a:spcPts val="1350"/>
              </a:lnSpc>
              <a:buNone/>
            </a:pPr>
            <a:r>
              <a:rPr lang="en-US" b="1" dirty="0">
                <a:effectLst/>
              </a:rPr>
              <a:t>Key idea: </a:t>
            </a:r>
            <a:r>
              <a:rPr lang="en-US" dirty="0">
                <a:effectLst/>
              </a:rPr>
              <a:t>Natural disasters themselves are not preventable, but governments can still influence whether people </a:t>
            </a:r>
            <a:r>
              <a:rPr lang="en-US" dirty="0"/>
              <a:t> </a:t>
            </a:r>
            <a:r>
              <a:rPr lang="en-US" dirty="0">
                <a:effectLst/>
              </a:rPr>
              <a:t>stay, return, or leave by changing conditions such as:</a:t>
            </a:r>
          </a:p>
          <a:p>
            <a:pPr>
              <a:lnSpc>
                <a:spcPts val="1350"/>
              </a:lnSpc>
              <a:buNone/>
            </a:pPr>
            <a:br>
              <a:rPr lang="en-US" dirty="0">
                <a:effectLst/>
              </a:rPr>
            </a:br>
            <a:endParaRPr lang="en-US" dirty="0">
              <a:effectLst/>
            </a:endParaRPr>
          </a:p>
          <a:p>
            <a:pPr marL="285750" indent="-285750">
              <a:lnSpc>
                <a:spcPts val="1350"/>
              </a:lnSpc>
              <a:buFont typeface="Arial" panose="020B0604020202020204" pitchFamily="34" charset="0"/>
              <a:buChar char="•"/>
            </a:pPr>
            <a:r>
              <a:rPr lang="en-US" dirty="0">
                <a:effectLst/>
              </a:rPr>
              <a:t>economic opportunity</a:t>
            </a:r>
          </a:p>
          <a:p>
            <a:pPr marL="285750" indent="-285750">
              <a:lnSpc>
                <a:spcPts val="1350"/>
              </a:lnSpc>
              <a:buFont typeface="Arial" panose="020B0604020202020204" pitchFamily="34" charset="0"/>
              <a:buChar char="•"/>
            </a:pPr>
            <a:r>
              <a:rPr lang="en-US" dirty="0">
                <a:effectLst/>
              </a:rPr>
              <a:t>business activity</a:t>
            </a:r>
          </a:p>
          <a:p>
            <a:pPr marL="285750" indent="-285750">
              <a:lnSpc>
                <a:spcPts val="1350"/>
              </a:lnSpc>
              <a:buFont typeface="Arial" panose="020B0604020202020204" pitchFamily="34" charset="0"/>
              <a:buChar char="•"/>
            </a:pPr>
            <a:r>
              <a:rPr lang="en-US" dirty="0">
                <a:effectLst/>
              </a:rPr>
              <a:t>public safety</a:t>
            </a:r>
          </a:p>
          <a:p>
            <a:pPr marL="285750" indent="-285750">
              <a:lnSpc>
                <a:spcPts val="1350"/>
              </a:lnSpc>
              <a:buFont typeface="Arial" panose="020B0604020202020204" pitchFamily="34" charset="0"/>
              <a:buChar char="•"/>
            </a:pPr>
            <a:r>
              <a:rPr lang="en-US" dirty="0">
                <a:effectLst/>
              </a:rPr>
              <a:t>social vulnerability</a:t>
            </a:r>
          </a:p>
          <a:p>
            <a:pPr marL="285750" indent="-285750">
              <a:lnSpc>
                <a:spcPts val="1350"/>
              </a:lnSpc>
              <a:buFont typeface="Arial" panose="020B0604020202020204" pitchFamily="34" charset="0"/>
              <a:buChar char="•"/>
            </a:pPr>
            <a:r>
              <a:rPr lang="en-US" dirty="0">
                <a:effectLst/>
              </a:rPr>
              <a:t>demographic and family-support conditions</a:t>
            </a:r>
          </a:p>
          <a:p>
            <a:pPr marL="285750" indent="-285750">
              <a:lnSpc>
                <a:spcPts val="1350"/>
              </a:lnSpc>
              <a:buFont typeface="Arial" panose="020B0604020202020204" pitchFamily="34" charset="0"/>
              <a:buChar char="•"/>
            </a:pPr>
            <a:endParaRPr lang="en-US" dirty="0"/>
          </a:p>
          <a:p>
            <a:r>
              <a:rPr lang="en-US" dirty="0"/>
              <a:t>These are the </a:t>
            </a:r>
            <a:r>
              <a:rPr lang="en-US" b="1" dirty="0"/>
              <a:t>actionable levers</a:t>
            </a:r>
            <a:r>
              <a:rPr lang="en-US" dirty="0"/>
              <a:t> used in our policy simulations:</a:t>
            </a:r>
          </a:p>
          <a:p>
            <a:pPr marL="285750" indent="-285750">
              <a:buFont typeface="Arial" panose="020B0604020202020204" pitchFamily="34" charset="0"/>
              <a:buChar char="•"/>
            </a:pPr>
            <a:r>
              <a:rPr lang="en-US" b="1" dirty="0"/>
              <a:t>Economic</a:t>
            </a:r>
            <a:r>
              <a:rPr lang="en-US" dirty="0"/>
              <a:t> </a:t>
            </a:r>
          </a:p>
          <a:p>
            <a:pPr lvl="1"/>
            <a:r>
              <a:rPr lang="en-US" dirty="0"/>
              <a:t>	</a:t>
            </a:r>
            <a:r>
              <a:rPr lang="en-US" dirty="0" err="1"/>
              <a:t>establishment_growth</a:t>
            </a:r>
            <a:r>
              <a:rPr lang="en-US" dirty="0"/>
              <a:t> </a:t>
            </a:r>
          </a:p>
          <a:p>
            <a:pPr lvl="1"/>
            <a:r>
              <a:rPr lang="en-US" dirty="0"/>
              <a:t>	</a:t>
            </a:r>
            <a:r>
              <a:rPr lang="en-US" dirty="0" err="1"/>
              <a:t>income_growth</a:t>
            </a:r>
            <a:r>
              <a:rPr lang="en-US" dirty="0"/>
              <a:t> </a:t>
            </a:r>
          </a:p>
          <a:p>
            <a:pPr marL="285750" indent="-285750">
              <a:buFont typeface="Arial" panose="020B0604020202020204" pitchFamily="34" charset="0"/>
              <a:buChar char="•"/>
            </a:pPr>
            <a:r>
              <a:rPr lang="en-US" b="1" dirty="0"/>
              <a:t>Public safety</a:t>
            </a:r>
            <a:r>
              <a:rPr lang="en-US" dirty="0"/>
              <a:t> </a:t>
            </a:r>
          </a:p>
          <a:p>
            <a:pPr lvl="1"/>
            <a:r>
              <a:rPr lang="en-US" dirty="0"/>
              <a:t>	</a:t>
            </a:r>
            <a:r>
              <a:rPr lang="en-US" dirty="0" err="1"/>
              <a:t>total_crime_rate</a:t>
            </a:r>
            <a:r>
              <a:rPr lang="en-US" dirty="0"/>
              <a:t> (lagged) </a:t>
            </a:r>
          </a:p>
          <a:p>
            <a:pPr marL="285750" indent="-285750">
              <a:buFont typeface="Arial" panose="020B0604020202020204" pitchFamily="34" charset="0"/>
              <a:buChar char="•"/>
            </a:pPr>
            <a:r>
              <a:rPr lang="en-US" b="1" dirty="0"/>
              <a:t>Demographic / structural</a:t>
            </a:r>
            <a:r>
              <a:rPr lang="en-US" dirty="0"/>
              <a:t> </a:t>
            </a:r>
          </a:p>
          <a:p>
            <a:pPr lvl="1"/>
            <a:r>
              <a:rPr lang="en-US" dirty="0"/>
              <a:t>	</a:t>
            </a:r>
            <a:r>
              <a:rPr lang="en-US" dirty="0" err="1"/>
              <a:t>natural_change_rate</a:t>
            </a:r>
            <a:r>
              <a:rPr lang="en-US" dirty="0"/>
              <a:t> (births – deaths) </a:t>
            </a:r>
          </a:p>
          <a:p>
            <a:pPr marL="285750" indent="-285750">
              <a:buFont typeface="Arial" panose="020B0604020202020204" pitchFamily="34" charset="0"/>
              <a:buChar char="•"/>
            </a:pPr>
            <a:r>
              <a:rPr lang="en-US" b="1" dirty="0"/>
              <a:t>Vulnerability / resilience</a:t>
            </a:r>
            <a:r>
              <a:rPr lang="en-US" dirty="0"/>
              <a:t> </a:t>
            </a:r>
          </a:p>
          <a:p>
            <a:pPr lvl="1"/>
            <a:r>
              <a:rPr lang="en-US" dirty="0"/>
              <a:t>	svi_pca_1 (social vulnerability index)</a:t>
            </a:r>
          </a:p>
          <a:p>
            <a:pPr>
              <a:lnSpc>
                <a:spcPts val="1350"/>
              </a:lnSpc>
            </a:pPr>
            <a:endParaRPr lang="en-US" dirty="0">
              <a:effectLst/>
            </a:endParaRPr>
          </a:p>
        </p:txBody>
      </p:sp>
    </p:spTree>
    <p:extLst>
      <p:ext uri="{BB962C8B-B14F-4D97-AF65-F5344CB8AC3E}">
        <p14:creationId xmlns:p14="http://schemas.microsoft.com/office/powerpoint/2010/main" val="4270778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936C6-5F15-29F6-17AC-9BD0838BE4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6E08779-09CE-C644-CA15-0F182CB2ADA5}"/>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EF929E5D-31BD-8409-EB48-CF0FE1455ED2}"/>
              </a:ext>
            </a:extLst>
          </p:cNvPr>
          <p:cNvSpPr txBox="1">
            <a:spLocks/>
          </p:cNvSpPr>
          <p:nvPr/>
        </p:nvSpPr>
        <p:spPr>
          <a:xfrm>
            <a:off x="0" y="361539"/>
            <a:ext cx="719929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800" b="1" dirty="0">
                <a:solidFill>
                  <a:schemeClr val="bg1"/>
                </a:solidFill>
              </a:rPr>
              <a:t>Counterfactual Policy Packages</a:t>
            </a:r>
          </a:p>
        </p:txBody>
      </p:sp>
      <p:sp>
        <p:nvSpPr>
          <p:cNvPr id="12" name="TextBox 11">
            <a:extLst>
              <a:ext uri="{FF2B5EF4-FFF2-40B4-BE49-F238E27FC236}">
                <a16:creationId xmlns:a16="http://schemas.microsoft.com/office/drawing/2014/main" id="{62B49666-7F45-B191-2793-394E00C60369}"/>
              </a:ext>
            </a:extLst>
          </p:cNvPr>
          <p:cNvSpPr txBox="1"/>
          <p:nvPr/>
        </p:nvSpPr>
        <p:spPr>
          <a:xfrm>
            <a:off x="243069" y="1368962"/>
            <a:ext cx="10613984" cy="5005216"/>
          </a:xfrm>
          <a:prstGeom prst="rect">
            <a:avLst/>
          </a:prstGeom>
          <a:noFill/>
        </p:spPr>
        <p:txBody>
          <a:bodyPr wrap="square">
            <a:spAutoFit/>
          </a:bodyPr>
          <a:lstStyle/>
          <a:p>
            <a:r>
              <a:rPr lang="en-US" dirty="0"/>
              <a:t>I grouped features into </a:t>
            </a:r>
            <a:r>
              <a:rPr lang="en-US" b="1" dirty="0"/>
              <a:t>realistic policy bundles</a:t>
            </a:r>
            <a:r>
              <a:rPr lang="en-US" dirty="0"/>
              <a:t>:</a:t>
            </a:r>
          </a:p>
          <a:p>
            <a:pPr lvl="1"/>
            <a:r>
              <a:rPr lang="en-US" b="1" dirty="0"/>
              <a:t>1. Jobs push</a:t>
            </a:r>
          </a:p>
          <a:p>
            <a:pPr lvl="2"/>
            <a:r>
              <a:rPr lang="en-US" dirty="0"/>
              <a:t>↑ establishment growth </a:t>
            </a:r>
          </a:p>
          <a:p>
            <a:pPr lvl="2"/>
            <a:r>
              <a:rPr lang="en-US" dirty="0"/>
              <a:t>↑ income growth </a:t>
            </a:r>
          </a:p>
          <a:p>
            <a:pPr lvl="1"/>
            <a:endParaRPr lang="en-US" dirty="0"/>
          </a:p>
          <a:p>
            <a:pPr lvl="1"/>
            <a:r>
              <a:rPr lang="en-US" b="1" dirty="0"/>
              <a:t>2. Public safety</a:t>
            </a:r>
          </a:p>
          <a:p>
            <a:pPr lvl="1"/>
            <a:r>
              <a:rPr lang="en-US" dirty="0"/>
              <a:t>	↓ crime rates </a:t>
            </a:r>
          </a:p>
          <a:p>
            <a:pPr lvl="1"/>
            <a:endParaRPr lang="en-US" dirty="0"/>
          </a:p>
          <a:p>
            <a:pPr lvl="1"/>
            <a:r>
              <a:rPr lang="en-US" b="1" dirty="0"/>
              <a:t>3. Resilience &amp; vulnerability</a:t>
            </a:r>
          </a:p>
          <a:p>
            <a:pPr lvl="1"/>
            <a:r>
              <a:rPr lang="en-US" dirty="0"/>
              <a:t>	↓ SVI (reduce vulnerability exposure) </a:t>
            </a:r>
          </a:p>
          <a:p>
            <a:pPr lvl="1"/>
            <a:br>
              <a:rPr lang="en-US" dirty="0"/>
            </a:br>
            <a:endParaRPr lang="en-US" dirty="0"/>
          </a:p>
          <a:p>
            <a:pPr lvl="1"/>
            <a:r>
              <a:rPr lang="en-US" b="1" dirty="0"/>
              <a:t>4. Family &amp; demographic support</a:t>
            </a:r>
          </a:p>
          <a:p>
            <a:pPr lvl="1"/>
            <a:r>
              <a:rPr lang="en-US" dirty="0"/>
              <a:t>	↑ natural change rate </a:t>
            </a:r>
          </a:p>
          <a:p>
            <a:pPr lvl="1"/>
            <a:endParaRPr lang="en-US" dirty="0"/>
          </a:p>
          <a:p>
            <a:pPr lvl="1"/>
            <a:r>
              <a:rPr lang="en-US" b="1" dirty="0"/>
              <a:t>5. Retention bundle (most important)</a:t>
            </a:r>
          </a:p>
          <a:p>
            <a:pPr lvl="1"/>
            <a:r>
              <a:rPr lang="en-US" dirty="0"/>
              <a:t>	Combination of jobs, safety, resilience &amp; demographics</a:t>
            </a:r>
          </a:p>
          <a:p>
            <a:pPr>
              <a:lnSpc>
                <a:spcPts val="1350"/>
              </a:lnSpc>
            </a:pPr>
            <a:endParaRPr lang="en-US" dirty="0">
              <a:effectLst/>
            </a:endParaRPr>
          </a:p>
        </p:txBody>
      </p:sp>
    </p:spTree>
    <p:extLst>
      <p:ext uri="{BB962C8B-B14F-4D97-AF65-F5344CB8AC3E}">
        <p14:creationId xmlns:p14="http://schemas.microsoft.com/office/powerpoint/2010/main" val="17485315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30179-0DB9-2D0B-5773-D25FCC68DB7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3369159-7478-E673-F740-3CDD6E421438}"/>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B150FF2-0660-699A-8832-D5A9E0C0AA9D}"/>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eaLnBrk="0" fontAlgn="base" hangingPunct="0">
              <a:spcAft>
                <a:spcPct val="0"/>
              </a:spcAft>
            </a:pPr>
            <a:r>
              <a:rPr lang="en-US" altLang="en-US" sz="3600" b="1" dirty="0">
                <a:solidFill>
                  <a:schemeClr val="bg1"/>
                </a:solidFill>
              </a:rPr>
              <a:t>Actionable Policy Insights</a:t>
            </a:r>
          </a:p>
        </p:txBody>
      </p:sp>
      <p:pic>
        <p:nvPicPr>
          <p:cNvPr id="10" name="Picture 9" descr="A graph of different colored bars&#10;&#10;AI-generated content may be incorrect.">
            <a:extLst>
              <a:ext uri="{FF2B5EF4-FFF2-40B4-BE49-F238E27FC236}">
                <a16:creationId xmlns:a16="http://schemas.microsoft.com/office/drawing/2014/main" id="{B7024AA7-2E13-2554-A6E7-EAAEDCE52D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1624" y="1368962"/>
            <a:ext cx="8426663" cy="4557276"/>
          </a:xfrm>
          <a:prstGeom prst="rect">
            <a:avLst/>
          </a:prstGeom>
        </p:spPr>
      </p:pic>
    </p:spTree>
    <p:extLst>
      <p:ext uri="{BB962C8B-B14F-4D97-AF65-F5344CB8AC3E}">
        <p14:creationId xmlns:p14="http://schemas.microsoft.com/office/powerpoint/2010/main" val="6581757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C3A81-AA87-3908-006D-6032611734C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1C5401F-459E-4B3E-3886-882BA58E497F}"/>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99DAB5F5-4FDD-783D-5234-D2CB050C01B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eaLnBrk="0" fontAlgn="base" hangingPunct="0">
              <a:spcAft>
                <a:spcPct val="0"/>
              </a:spcAft>
            </a:pPr>
            <a:r>
              <a:rPr lang="en-US" altLang="en-US" sz="3600" b="1" dirty="0">
                <a:solidFill>
                  <a:schemeClr val="bg1"/>
                </a:solidFill>
              </a:rPr>
              <a:t>Actionable Policy Insights</a:t>
            </a:r>
          </a:p>
        </p:txBody>
      </p:sp>
      <p:pic>
        <p:nvPicPr>
          <p:cNvPr id="3" name="Picture 2" descr="A graph of a line graph&#10;&#10;AI-generated content may be incorrect.">
            <a:extLst>
              <a:ext uri="{FF2B5EF4-FFF2-40B4-BE49-F238E27FC236}">
                <a16:creationId xmlns:a16="http://schemas.microsoft.com/office/drawing/2014/main" id="{386A9B98-CF86-62A9-70E2-532D02FA82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113" y="1503874"/>
            <a:ext cx="8429150" cy="4507182"/>
          </a:xfrm>
          <a:prstGeom prst="rect">
            <a:avLst/>
          </a:prstGeom>
        </p:spPr>
      </p:pic>
    </p:spTree>
    <p:extLst>
      <p:ext uri="{BB962C8B-B14F-4D97-AF65-F5344CB8AC3E}">
        <p14:creationId xmlns:p14="http://schemas.microsoft.com/office/powerpoint/2010/main" val="17717756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C10C5-9BDA-B9C5-9144-4B2ED01207B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D4C70D4-92B9-0132-4644-E8C416ABDC04}"/>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29FB854C-AAB3-043F-4E90-1286423B3B46}"/>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3" name="Picture 2" descr="A graph with lines and numbers&#10;&#10;AI-generated content may be incorrect.">
            <a:extLst>
              <a:ext uri="{FF2B5EF4-FFF2-40B4-BE49-F238E27FC236}">
                <a16:creationId xmlns:a16="http://schemas.microsoft.com/office/drawing/2014/main" id="{CF51E733-B060-1ECD-5199-6494AA7A9D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6160" y="3693160"/>
            <a:ext cx="4647656" cy="2494280"/>
          </a:xfrm>
          <a:prstGeom prst="rect">
            <a:avLst/>
          </a:prstGeom>
        </p:spPr>
      </p:pic>
      <p:sp>
        <p:nvSpPr>
          <p:cNvPr id="7" name="TextBox 6">
            <a:extLst>
              <a:ext uri="{FF2B5EF4-FFF2-40B4-BE49-F238E27FC236}">
                <a16:creationId xmlns:a16="http://schemas.microsoft.com/office/drawing/2014/main" id="{CD7050EC-5E83-3D96-03C1-8C916B40BFE7}"/>
              </a:ext>
            </a:extLst>
          </p:cNvPr>
          <p:cNvSpPr txBox="1"/>
          <p:nvPr/>
        </p:nvSpPr>
        <p:spPr>
          <a:xfrm>
            <a:off x="139613" y="1368962"/>
            <a:ext cx="6866493" cy="4801314"/>
          </a:xfrm>
          <a:prstGeom prst="rect">
            <a:avLst/>
          </a:prstGeom>
          <a:noFill/>
        </p:spPr>
        <p:txBody>
          <a:bodyPr wrap="square">
            <a:spAutoFit/>
          </a:bodyPr>
          <a:lstStyle/>
          <a:p>
            <a:r>
              <a:rPr lang="en-US" sz="1400" b="1" dirty="0"/>
              <a:t>Key Findings: </a:t>
            </a:r>
          </a:p>
          <a:p>
            <a:pPr marL="285750" indent="-285750">
              <a:buFont typeface="Arial" panose="020B0604020202020204" pitchFamily="34" charset="0"/>
              <a:buChar char="•"/>
            </a:pPr>
            <a:r>
              <a:rPr lang="en-US" sz="1400" dirty="0"/>
              <a:t>Puerto Rico continues to show a persistent population decline (~0.6% per year) </a:t>
            </a:r>
            <a:r>
              <a:rPr lang="en-US" sz="1400" b="1" dirty="0"/>
              <a:t>~20,000 people lost annually</a:t>
            </a:r>
          </a:p>
          <a:p>
            <a:pPr marL="285750" indent="-285750">
              <a:buFont typeface="Arial" panose="020B0604020202020204" pitchFamily="34" charset="0"/>
              <a:buChar char="•"/>
            </a:pPr>
            <a:r>
              <a:rPr lang="en-US" sz="1400" dirty="0"/>
              <a:t>Policy interventions can slow decline, but do not reverse it</a:t>
            </a:r>
          </a:p>
          <a:p>
            <a:pPr marL="285750" indent="-285750">
              <a:buFont typeface="Arial" panose="020B0604020202020204" pitchFamily="34" charset="0"/>
              <a:buChar char="•"/>
            </a:pPr>
            <a:r>
              <a:rPr lang="en-US" sz="1400" dirty="0"/>
              <a:t>Retention and recovery bundles reduce losses but remain below current levels</a:t>
            </a:r>
          </a:p>
          <a:p>
            <a:pPr marL="285750" indent="-285750">
              <a:buFont typeface="Arial" panose="020B0604020202020204" pitchFamily="34" charset="0"/>
              <a:buChar char="•"/>
            </a:pPr>
            <a:r>
              <a:rPr lang="en-US" sz="1400" dirty="0"/>
              <a:t>A population increase only appears under strong recovery + return-migration conditions</a:t>
            </a:r>
            <a:br>
              <a:rPr lang="en-US" sz="1400" dirty="0"/>
            </a:br>
            <a:endParaRPr lang="en-US" sz="1400" dirty="0"/>
          </a:p>
          <a:p>
            <a:r>
              <a:rPr lang="en-US" sz="1600" dirty="0"/>
              <a:t>Natural disasters themselves are not preventable, but governments can still influence whether people </a:t>
            </a:r>
            <a:r>
              <a:rPr lang="en-US" sz="1600" b="1" dirty="0"/>
              <a:t>stay, return, or leave</a:t>
            </a:r>
            <a:r>
              <a:rPr lang="en-US" sz="1600" dirty="0"/>
              <a:t> by changing conditions such as:</a:t>
            </a:r>
          </a:p>
          <a:p>
            <a:pPr marL="742950" lvl="1" indent="-285750">
              <a:buFont typeface="Arial" panose="020B0604020202020204" pitchFamily="34" charset="0"/>
              <a:buChar char="•"/>
            </a:pPr>
            <a:r>
              <a:rPr lang="en-US" sz="1600" dirty="0"/>
              <a:t>economic opportunity</a:t>
            </a:r>
          </a:p>
          <a:p>
            <a:pPr marL="742950" lvl="1" indent="-285750">
              <a:buFont typeface="Arial" panose="020B0604020202020204" pitchFamily="34" charset="0"/>
              <a:buChar char="•"/>
            </a:pPr>
            <a:r>
              <a:rPr lang="en-US" sz="1600" dirty="0"/>
              <a:t>business activity</a:t>
            </a:r>
          </a:p>
          <a:p>
            <a:pPr marL="742950" lvl="1" indent="-285750">
              <a:buFont typeface="Arial" panose="020B0604020202020204" pitchFamily="34" charset="0"/>
              <a:buChar char="•"/>
            </a:pPr>
            <a:r>
              <a:rPr lang="en-US" sz="1600" dirty="0"/>
              <a:t>public safety</a:t>
            </a:r>
          </a:p>
          <a:p>
            <a:pPr marL="742950" lvl="1" indent="-285750">
              <a:buFont typeface="Arial" panose="020B0604020202020204" pitchFamily="34" charset="0"/>
              <a:buChar char="•"/>
            </a:pPr>
            <a:r>
              <a:rPr lang="en-US" sz="1600" dirty="0"/>
              <a:t>social vulnerability</a:t>
            </a:r>
          </a:p>
          <a:p>
            <a:pPr marL="742950" lvl="1" indent="-285750">
              <a:buFont typeface="Arial" panose="020B0604020202020204" pitchFamily="34" charset="0"/>
              <a:buChar char="•"/>
            </a:pPr>
            <a:r>
              <a:rPr lang="en-US" sz="1600" dirty="0"/>
              <a:t>demographic and family-support conditions</a:t>
            </a:r>
            <a:br>
              <a:rPr lang="en-US" sz="1400" dirty="0"/>
            </a:br>
            <a:endParaRPr lang="en-US" sz="1400" dirty="0"/>
          </a:p>
          <a:p>
            <a:r>
              <a:rPr lang="en-US" sz="1400" b="1" dirty="0"/>
              <a:t>Key Insight: </a:t>
            </a:r>
            <a:r>
              <a:rPr lang="en-US" sz="1400" dirty="0"/>
              <a:t>Population decline in Puerto Rico is persistent and momentum-driven, where policies can slow losses, but only a strong, coordinated recovery dynamic can stabilize or temporarily reverse the trend</a:t>
            </a:r>
          </a:p>
        </p:txBody>
      </p:sp>
      <p:pic>
        <p:nvPicPr>
          <p:cNvPr id="9" name="Picture 8" descr="A graph of different colored bars&#10;&#10;AI-generated content may be incorrect.">
            <a:extLst>
              <a:ext uri="{FF2B5EF4-FFF2-40B4-BE49-F238E27FC236}">
                <a16:creationId xmlns:a16="http://schemas.microsoft.com/office/drawing/2014/main" id="{9A33CC87-A651-632B-F8DC-6E5C518D83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8719" y="1368962"/>
            <a:ext cx="3895009" cy="2106484"/>
          </a:xfrm>
          <a:prstGeom prst="rect">
            <a:avLst/>
          </a:prstGeom>
        </p:spPr>
      </p:pic>
    </p:spTree>
    <p:extLst>
      <p:ext uri="{BB962C8B-B14F-4D97-AF65-F5344CB8AC3E}">
        <p14:creationId xmlns:p14="http://schemas.microsoft.com/office/powerpoint/2010/main" val="1511817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DD93C-1869-5A81-3809-E3BEE068FC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5F68F32-7899-CF79-F28E-C98FA6B200F3}"/>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6E908254-7865-C1C3-3621-CB661A720C85}"/>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sz="3200" b="1" dirty="0">
                <a:solidFill>
                  <a:schemeClr val="bg1"/>
                </a:solidFill>
              </a:rPr>
              <a:t>Island-Level Population Change</a:t>
            </a:r>
          </a:p>
        </p:txBody>
      </p:sp>
      <p:pic>
        <p:nvPicPr>
          <p:cNvPr id="3" name="Picture 2" descr="A graph of different types of graphs&#10;&#10;AI-generated content may be incorrect.">
            <a:extLst>
              <a:ext uri="{FF2B5EF4-FFF2-40B4-BE49-F238E27FC236}">
                <a16:creationId xmlns:a16="http://schemas.microsoft.com/office/drawing/2014/main" id="{E3BCD7A5-DEC1-9976-42CD-1C6257A454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4878" y="1368961"/>
            <a:ext cx="7316392" cy="3869245"/>
          </a:xfrm>
          <a:prstGeom prst="rect">
            <a:avLst/>
          </a:prstGeom>
        </p:spPr>
      </p:pic>
      <p:pic>
        <p:nvPicPr>
          <p:cNvPr id="9" name="Picture 8" descr="A graph and chart with blue and red lines&#10;&#10;AI-generated content may be incorrect.">
            <a:extLst>
              <a:ext uri="{FF2B5EF4-FFF2-40B4-BE49-F238E27FC236}">
                <a16:creationId xmlns:a16="http://schemas.microsoft.com/office/drawing/2014/main" id="{444245DB-B516-C39B-1114-69AE3D9DECA7}"/>
              </a:ext>
            </a:extLst>
          </p:cNvPr>
          <p:cNvPicPr>
            <a:picLocks noChangeAspect="1"/>
          </p:cNvPicPr>
          <p:nvPr/>
        </p:nvPicPr>
        <p:blipFill>
          <a:blip r:embed="rId4">
            <a:extLst>
              <a:ext uri="{28A0092B-C50C-407E-A947-70E740481C1C}">
                <a14:useLocalDpi xmlns:a14="http://schemas.microsoft.com/office/drawing/2010/main" val="0"/>
              </a:ext>
            </a:extLst>
          </a:blip>
          <a:srcRect r="49313"/>
          <a:stretch>
            <a:fillRect/>
          </a:stretch>
        </p:blipFill>
        <p:spPr>
          <a:xfrm>
            <a:off x="8355061" y="1653166"/>
            <a:ext cx="3662061" cy="2441468"/>
          </a:xfrm>
          <a:prstGeom prst="rect">
            <a:avLst/>
          </a:prstGeom>
        </p:spPr>
      </p:pic>
    </p:spTree>
    <p:extLst>
      <p:ext uri="{BB962C8B-B14F-4D97-AF65-F5344CB8AC3E}">
        <p14:creationId xmlns:p14="http://schemas.microsoft.com/office/powerpoint/2010/main" val="13916754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D9378-4901-CC95-4DF0-C7E71B5E622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2CAD6A5-BA72-AEE1-9FDB-8E3BFC1F195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F30B379C-AF02-DC4D-8D44-957433DF2A64}"/>
              </a:ext>
            </a:extLst>
          </p:cNvPr>
          <p:cNvSpPr txBox="1">
            <a:spLocks/>
          </p:cNvSpPr>
          <p:nvPr/>
        </p:nvSpPr>
        <p:spPr>
          <a:xfrm>
            <a:off x="0" y="361539"/>
            <a:ext cx="719929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400" b="1" dirty="0">
                <a:solidFill>
                  <a:schemeClr val="bg1"/>
                </a:solidFill>
              </a:rPr>
              <a:t>Next Steps: Poster Review and Final Report </a:t>
            </a:r>
          </a:p>
        </p:txBody>
      </p:sp>
      <p:sp>
        <p:nvSpPr>
          <p:cNvPr id="11" name="TextBox 10">
            <a:extLst>
              <a:ext uri="{FF2B5EF4-FFF2-40B4-BE49-F238E27FC236}">
                <a16:creationId xmlns:a16="http://schemas.microsoft.com/office/drawing/2014/main" id="{CD8A33B1-F324-0543-80BE-283BFC0306AF}"/>
              </a:ext>
            </a:extLst>
          </p:cNvPr>
          <p:cNvSpPr txBox="1"/>
          <p:nvPr/>
        </p:nvSpPr>
        <p:spPr>
          <a:xfrm>
            <a:off x="132408" y="1246298"/>
            <a:ext cx="11673769" cy="5170646"/>
          </a:xfrm>
          <a:prstGeom prst="rect">
            <a:avLst/>
          </a:prstGeom>
          <a:noFill/>
        </p:spPr>
        <p:txBody>
          <a:bodyPr wrap="square">
            <a:spAutoFit/>
          </a:bodyPr>
          <a:lstStyle/>
          <a:p>
            <a:r>
              <a:rPr lang="en-US" sz="2200" b="1" dirty="0"/>
              <a:t>Goal:</a:t>
            </a:r>
            <a:r>
              <a:rPr lang="en-US" sz="2200" dirty="0"/>
              <a:t> Complete final presentation materials and submission-ready report</a:t>
            </a:r>
          </a:p>
          <a:p>
            <a:endParaRPr lang="en-US" sz="2200" b="1" dirty="0"/>
          </a:p>
          <a:p>
            <a:r>
              <a:rPr lang="en-US" sz="2200" b="1" dirty="0"/>
              <a:t>Finalize poster</a:t>
            </a:r>
            <a:r>
              <a:rPr lang="en-US" sz="2200" dirty="0"/>
              <a:t> </a:t>
            </a:r>
          </a:p>
          <a:p>
            <a:pPr lvl="1"/>
            <a:r>
              <a:rPr lang="en-US" sz="2200" dirty="0"/>
              <a:t>Refine Results/Discussion wording </a:t>
            </a:r>
          </a:p>
          <a:p>
            <a:pPr lvl="1"/>
            <a:r>
              <a:rPr lang="en-US" sz="2200" dirty="0"/>
              <a:t>Ensure key message is clear: policy slows decline, recovery momentum is needed for reversal</a:t>
            </a:r>
          </a:p>
          <a:p>
            <a:pPr lvl="1"/>
            <a:r>
              <a:rPr lang="en-US" sz="2200" dirty="0"/>
              <a:t> </a:t>
            </a:r>
          </a:p>
          <a:p>
            <a:r>
              <a:rPr lang="en-US" sz="2200" b="1" dirty="0"/>
              <a:t>Complete final report</a:t>
            </a:r>
            <a:r>
              <a:rPr lang="en-US" sz="2200" dirty="0"/>
              <a:t> </a:t>
            </a:r>
          </a:p>
          <a:p>
            <a:pPr lvl="1"/>
            <a:r>
              <a:rPr lang="en-US" sz="2200" dirty="0"/>
              <a:t>Expand report using provided format</a:t>
            </a:r>
          </a:p>
          <a:p>
            <a:pPr lvl="1"/>
            <a:r>
              <a:rPr lang="en-US" sz="2200" dirty="0"/>
              <a:t>Add figures, tables, and model/scenario interpretations </a:t>
            </a:r>
          </a:p>
          <a:p>
            <a:pPr lvl="1"/>
            <a:r>
              <a:rPr lang="en-US" sz="2200" dirty="0"/>
              <a:t>Strengthen conclusion and future work sections </a:t>
            </a:r>
          </a:p>
          <a:p>
            <a:pPr lvl="1"/>
            <a:endParaRPr lang="en-US" sz="2200" dirty="0"/>
          </a:p>
          <a:p>
            <a:r>
              <a:rPr lang="en-US" sz="2200" b="1" dirty="0"/>
              <a:t>Final submission review</a:t>
            </a:r>
            <a:r>
              <a:rPr lang="en-US" sz="2200" dirty="0"/>
              <a:t> </a:t>
            </a:r>
          </a:p>
          <a:p>
            <a:pPr lvl="1"/>
            <a:r>
              <a:rPr lang="en-US" sz="2200" dirty="0"/>
              <a:t>Check consistency across notebooks, poster, slides, and report </a:t>
            </a:r>
          </a:p>
          <a:p>
            <a:pPr lvl="1"/>
            <a:r>
              <a:rPr lang="en-US" sz="2200" dirty="0"/>
              <a:t>Confirm all outputs, figures, and artifact manifests are complete </a:t>
            </a:r>
          </a:p>
          <a:p>
            <a:pPr lvl="1"/>
            <a:r>
              <a:rPr lang="en-US" sz="2200" dirty="0"/>
              <a:t>Prepare final presentation script and talking points</a:t>
            </a:r>
          </a:p>
        </p:txBody>
      </p:sp>
    </p:spTree>
    <p:extLst>
      <p:ext uri="{BB962C8B-B14F-4D97-AF65-F5344CB8AC3E}">
        <p14:creationId xmlns:p14="http://schemas.microsoft.com/office/powerpoint/2010/main" val="884264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74F16-EDCC-8571-609B-B4E36ECD957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2357FC-F0D5-14AF-6B21-AD635116F0AA}"/>
              </a:ext>
            </a:extLst>
          </p:cNvPr>
          <p:cNvSpPr/>
          <p:nvPr/>
        </p:nvSpPr>
        <p:spPr>
          <a:xfrm>
            <a:off x="0" y="196343"/>
            <a:ext cx="7199290" cy="1007423"/>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accent1"/>
              </a:solidFill>
            </a:endParaRPr>
          </a:p>
        </p:txBody>
      </p:sp>
      <p:sp>
        <p:nvSpPr>
          <p:cNvPr id="5" name="Title 10">
            <a:extLst>
              <a:ext uri="{FF2B5EF4-FFF2-40B4-BE49-F238E27FC236}">
                <a16:creationId xmlns:a16="http://schemas.microsoft.com/office/drawing/2014/main" id="{CF1A8BAC-04CD-0771-C6C6-B5D27E3ECAD1}"/>
              </a:ext>
            </a:extLst>
          </p:cNvPr>
          <p:cNvSpPr txBox="1">
            <a:spLocks/>
          </p:cNvSpPr>
          <p:nvPr/>
        </p:nvSpPr>
        <p:spPr>
          <a:xfrm>
            <a:off x="459357" y="361539"/>
            <a:ext cx="6546750" cy="719563"/>
          </a:xfrm>
          <a:prstGeom prst="rect">
            <a:avLst/>
          </a:prstGeom>
        </p:spPr>
        <p:txBody>
          <a:bodyPr anchor="ctr" anchorCtr="0">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lvl="0"/>
            <a:r>
              <a:rPr lang="en-US" b="1" dirty="0">
                <a:solidFill>
                  <a:schemeClr val="bg1"/>
                </a:solidFill>
              </a:rPr>
              <a:t>Final Takeaway</a:t>
            </a:r>
          </a:p>
        </p:txBody>
      </p:sp>
      <p:sp>
        <p:nvSpPr>
          <p:cNvPr id="11" name="TextBox 10">
            <a:extLst>
              <a:ext uri="{FF2B5EF4-FFF2-40B4-BE49-F238E27FC236}">
                <a16:creationId xmlns:a16="http://schemas.microsoft.com/office/drawing/2014/main" id="{5B3334E0-39F4-9C77-293B-86A671B72ACD}"/>
              </a:ext>
            </a:extLst>
          </p:cNvPr>
          <p:cNvSpPr txBox="1"/>
          <p:nvPr/>
        </p:nvSpPr>
        <p:spPr>
          <a:xfrm>
            <a:off x="139613" y="1368962"/>
            <a:ext cx="11527668" cy="4401205"/>
          </a:xfrm>
          <a:prstGeom prst="rect">
            <a:avLst/>
          </a:prstGeom>
          <a:noFill/>
        </p:spPr>
        <p:txBody>
          <a:bodyPr wrap="square">
            <a:spAutoFit/>
          </a:bodyPr>
          <a:lstStyle/>
          <a:p>
            <a:r>
              <a:rPr lang="en-US" sz="2000" b="1" dirty="0"/>
              <a:t>Population decline in Puerto Rico is not random:</a:t>
            </a:r>
          </a:p>
          <a:p>
            <a:pPr marL="342900" indent="-342900">
              <a:buFont typeface="Arial" panose="020B0604020202020204" pitchFamily="34" charset="0"/>
              <a:buChar char="•"/>
            </a:pPr>
            <a:r>
              <a:rPr lang="en-US" sz="2000" b="1" dirty="0"/>
              <a:t>Structured</a:t>
            </a:r>
            <a:r>
              <a:rPr lang="en-US" sz="2000" dirty="0"/>
              <a:t> — shaped by economic, demographic, and social conditions</a:t>
            </a:r>
          </a:p>
          <a:p>
            <a:pPr marL="342900" indent="-342900">
              <a:buFont typeface="Arial" panose="020B0604020202020204" pitchFamily="34" charset="0"/>
              <a:buChar char="•"/>
            </a:pPr>
            <a:r>
              <a:rPr lang="en-US" sz="2000" b="1" dirty="0"/>
              <a:t>Spatial</a:t>
            </a:r>
            <a:r>
              <a:rPr lang="en-US" sz="2000" dirty="0"/>
              <a:t> — concentrated differently across regions</a:t>
            </a:r>
          </a:p>
          <a:p>
            <a:pPr marL="342900" indent="-342900">
              <a:buFont typeface="Arial" panose="020B0604020202020204" pitchFamily="34" charset="0"/>
              <a:buChar char="•"/>
            </a:pPr>
            <a:r>
              <a:rPr lang="en-US" sz="2000" b="1" dirty="0"/>
              <a:t>Persistent</a:t>
            </a:r>
            <a:r>
              <a:rPr lang="en-US" sz="2000" dirty="0"/>
              <a:t> — strongly influenced by past population trends</a:t>
            </a:r>
            <a:br>
              <a:rPr lang="en-US" sz="2000" dirty="0"/>
            </a:br>
            <a:endParaRPr lang="en-US" sz="2000" dirty="0"/>
          </a:p>
          <a:p>
            <a:r>
              <a:rPr lang="en-US" sz="2000" b="1" dirty="0"/>
              <a:t>What the Model Revealed</a:t>
            </a:r>
          </a:p>
          <a:p>
            <a:pPr marL="285750" indent="-285750">
              <a:buFont typeface="Arial" panose="020B0604020202020204" pitchFamily="34" charset="0"/>
              <a:buChar char="•"/>
            </a:pPr>
            <a:r>
              <a:rPr lang="en-US" sz="2000" dirty="0"/>
              <a:t>Disasters amplify existing decline rather than acting as simple direct drivers</a:t>
            </a:r>
          </a:p>
          <a:p>
            <a:pPr marL="285750" indent="-285750">
              <a:buFont typeface="Arial" panose="020B0604020202020204" pitchFamily="34" charset="0"/>
              <a:buChar char="•"/>
            </a:pPr>
            <a:r>
              <a:rPr lang="en-US" sz="2000" dirty="0"/>
              <a:t>Policy bundles can slow decline, but reversal requires stronger recovery momentum</a:t>
            </a:r>
          </a:p>
          <a:p>
            <a:pPr marL="285750" indent="-285750">
              <a:buFont typeface="Arial" panose="020B0604020202020204" pitchFamily="34" charset="0"/>
              <a:buChar char="•"/>
            </a:pPr>
            <a:r>
              <a:rPr lang="en-US" sz="2000" dirty="0"/>
              <a:t>Recovery rebound scenarios show that stabilization or growth requires coordinated improvements and return migration</a:t>
            </a:r>
            <a:br>
              <a:rPr lang="en-US" sz="2000" dirty="0"/>
            </a:br>
            <a:endParaRPr lang="en-US" sz="2000" dirty="0"/>
          </a:p>
          <a:p>
            <a:r>
              <a:rPr lang="en-US" sz="2000" b="1" dirty="0"/>
              <a:t>Conclusion: </a:t>
            </a:r>
            <a:r>
              <a:rPr lang="en-US" sz="2000" dirty="0"/>
              <a:t>The project moved beyond prediction to a full </a:t>
            </a:r>
            <a:r>
              <a:rPr lang="en-US" sz="2000" b="1" dirty="0"/>
              <a:t>scenario and policy-testing framework</a:t>
            </a:r>
            <a:r>
              <a:rPr lang="en-US" sz="2000" dirty="0"/>
              <a:t>, showing not only where Puerto Rico’s population decline is headed, but what kinds of coordinated recovery strategies may be needed to slow, stabilize, or reverse it.</a:t>
            </a:r>
          </a:p>
        </p:txBody>
      </p:sp>
    </p:spTree>
    <p:extLst>
      <p:ext uri="{BB962C8B-B14F-4D97-AF65-F5344CB8AC3E}">
        <p14:creationId xmlns:p14="http://schemas.microsoft.com/office/powerpoint/2010/main" val="3664533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DBA8F4-EFC2-6B2F-1BCA-765B8B772E4B}"/>
            </a:ext>
          </a:extLst>
        </p:cNvPr>
        <p:cNvGrpSpPr/>
        <p:nvPr/>
      </p:nvGrpSpPr>
      <p:grpSpPr>
        <a:xfrm>
          <a:off x="0" y="0"/>
          <a:ext cx="0" cy="0"/>
          <a:chOff x="0" y="0"/>
          <a:chExt cx="0" cy="0"/>
        </a:xfrm>
      </p:grpSpPr>
      <p:pic>
        <p:nvPicPr>
          <p:cNvPr id="5" name="Picture Placeholder 4" descr="A black and white logo&#10;&#10;AI-generated content may be incorrect.">
            <a:extLst>
              <a:ext uri="{FF2B5EF4-FFF2-40B4-BE49-F238E27FC236}">
                <a16:creationId xmlns:a16="http://schemas.microsoft.com/office/drawing/2014/main" id="{C4EBD854-F9C7-43C9-52C4-3035C20D0A5C}"/>
              </a:ext>
            </a:extLst>
          </p:cNvPr>
          <p:cNvPicPr>
            <a:picLocks noGrp="1" noChangeAspect="1"/>
          </p:cNvPicPr>
          <p:nvPr>
            <p:ph type="pic" sz="quarter" idx="10"/>
          </p:nvPr>
        </p:nvPicPr>
        <p:blipFill>
          <a:blip r:embed="rId3" cstate="print">
            <a:extLst>
              <a:ext uri="{28A0092B-C50C-407E-A947-70E740481C1C}">
                <a14:useLocalDpi xmlns:a14="http://schemas.microsoft.com/office/drawing/2010/main"/>
              </a:ext>
            </a:extLst>
          </a:blip>
          <a:srcRect l="3" r="3"/>
          <a:stretch>
            <a:fillRect/>
          </a:stretch>
        </p:blipFill>
        <p:spPr/>
      </p:pic>
      <p:sp>
        <p:nvSpPr>
          <p:cNvPr id="3" name="Text Placeholder 2">
            <a:extLst>
              <a:ext uri="{FF2B5EF4-FFF2-40B4-BE49-F238E27FC236}">
                <a16:creationId xmlns:a16="http://schemas.microsoft.com/office/drawing/2014/main" id="{82EBA07C-4421-9897-AB9C-8069A832F1F6}"/>
              </a:ext>
            </a:extLst>
          </p:cNvPr>
          <p:cNvSpPr>
            <a:spLocks noGrp="1"/>
          </p:cNvSpPr>
          <p:nvPr>
            <p:ph type="body" sz="quarter" idx="11"/>
          </p:nvPr>
        </p:nvSpPr>
        <p:spPr/>
        <p:txBody>
          <a:bodyPr/>
          <a:lstStyle/>
          <a:p>
            <a:pPr>
              <a:spcBef>
                <a:spcPts val="0"/>
              </a:spcBef>
              <a:spcAft>
                <a:spcPts val="200"/>
              </a:spcAft>
              <a:buClr>
                <a:srgbClr val="D82042"/>
              </a:buClr>
            </a:pPr>
            <a:r>
              <a:rPr lang="en-US" dirty="0"/>
              <a:t>Revised January 2026</a:t>
            </a:r>
          </a:p>
          <a:p>
            <a:pPr>
              <a:spcBef>
                <a:spcPts val="0"/>
              </a:spcBef>
              <a:spcAft>
                <a:spcPts val="200"/>
              </a:spcAft>
              <a:buClr>
                <a:srgbClr val="D82042"/>
              </a:buClr>
            </a:pPr>
            <a:r>
              <a:rPr lang="en-US" dirty="0"/>
              <a:t>Department of University Communications and Marketing</a:t>
            </a:r>
          </a:p>
          <a:p>
            <a:pPr>
              <a:spcBef>
                <a:spcPts val="0"/>
              </a:spcBef>
              <a:spcAft>
                <a:spcPts val="200"/>
              </a:spcAft>
              <a:buClr>
                <a:srgbClr val="D82042"/>
              </a:buClr>
            </a:pPr>
            <a:r>
              <a:rPr lang="en-US" dirty="0"/>
              <a:t>© 2026, Rutgers, The State University of New Jersey</a:t>
            </a:r>
          </a:p>
        </p:txBody>
      </p:sp>
    </p:spTree>
    <p:extLst>
      <p:ext uri="{BB962C8B-B14F-4D97-AF65-F5344CB8AC3E}">
        <p14:creationId xmlns:p14="http://schemas.microsoft.com/office/powerpoint/2010/main" val="2791339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80B5812-1CA9-1409-56B3-E9FEA3A9DFF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BFC6FD08-35E7-CA4E-1876-B2106DBCFEBB}"/>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51D17C8F-DC77-48C5-3A63-316932EBD3A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D343163-A07B-B9A6-0209-1885C4B92D73}"/>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predictors:</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388D4477-5AA5-0731-D8FE-47D12D442B93}"/>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3069011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FFEEB00-8F6E-F48B-9F4C-DD64AFAE21D2}"/>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3ED45A06-FA0A-E2E0-182E-DDB1DFB558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CAB45-0C6E-B5C3-02F1-829E465F3DE6}"/>
                  </a:ext>
                </a:extLst>
              </p:cNvPr>
              <p:cNvSpPr txBox="1"/>
              <p:nvPr/>
            </p:nvSpPr>
            <p:spPr>
              <a:xfrm>
                <a:off x="472643" y="1519363"/>
                <a:ext cx="9336375" cy="524816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Lasso Regression (L1 Regularization)</a:t>
                </a:r>
              </a:p>
              <a:p>
                <a:pPr marL="742950" lvl="1" indent="-285750">
                  <a:buFont typeface="Arial" panose="020B0604020202020204" pitchFamily="34" charset="0"/>
                  <a:buChar char="•"/>
                </a:pPr>
                <a:r>
                  <a:rPr lang="en-US" sz="1600" b="1" dirty="0">
                    <a:latin typeface="Merriweather" pitchFamily="2" charset="77"/>
                  </a:rPr>
                  <a:t>Why use it?</a:t>
                </a:r>
                <a:r>
                  <a:rPr lang="en-US" sz="1600" dirty="0">
                    <a:latin typeface="Merriweather" pitchFamily="2" charset="77"/>
                  </a:rPr>
                  <a:t> We have many correlated variables (Poverty Rate and Unemployment are often linked). Lasso forces the model to choose only the </a:t>
                </a:r>
                <a:r>
                  <a:rPr lang="en-US" sz="1600" i="1" dirty="0">
                    <a:latin typeface="Merriweather" pitchFamily="2" charset="77"/>
                  </a:rPr>
                  <a:t>most important</a:t>
                </a:r>
                <a:r>
                  <a:rPr lang="en-US" sz="1600" dirty="0">
                    <a:latin typeface="Merriweather" pitchFamily="2" charset="77"/>
                  </a:rPr>
                  <a:t> ones and sets the others to zero. This solves the "noise" problem.</a:t>
                </a: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The Equation:</a:t>
                </a:r>
                <a:r>
                  <a:rPr lang="en-US" sz="1600" dirty="0">
                    <a:latin typeface="Merriweather" pitchFamily="2" charset="77"/>
                  </a:rPr>
                  <a:t> The model tries to minimize the error (difference between predicted </a:t>
                </a:r>
                <a14:m>
                  <m:oMath xmlns:m="http://schemas.openxmlformats.org/officeDocument/2006/math">
                    <m:acc>
                      <m:accPr>
                        <m:chr m:val="̂"/>
                        <m:ctrlPr>
                          <a:rPr lang="en-US" sz="1600" b="1" i="1">
                            <a:solidFill>
                              <a:schemeClr val="tx1">
                                <a:lumMod val="75000"/>
                                <a:lumOff val="25000"/>
                              </a:schemeClr>
                            </a:solidFill>
                            <a:latin typeface="Cambria Math" panose="02040503050406030204" pitchFamily="18" charset="0"/>
                          </a:rPr>
                        </m:ctrlPr>
                      </m:accPr>
                      <m:e>
                        <m:r>
                          <a:rPr lang="en-US" sz="1600" b="1" i="0" smtClean="0">
                            <a:solidFill>
                              <a:schemeClr val="tx1">
                                <a:lumMod val="75000"/>
                                <a:lumOff val="25000"/>
                              </a:schemeClr>
                            </a:solidFill>
                            <a:latin typeface="Cambria Math" panose="02040503050406030204" pitchFamily="18" charset="0"/>
                          </a:rPr>
                          <m:t>𝐲</m:t>
                        </m:r>
                      </m:e>
                    </m:acc>
                  </m:oMath>
                </a14:m>
                <a:r>
                  <a:rPr lang="en-US" sz="1600" b="1" dirty="0">
                    <a:latin typeface="Merriweather" pitchFamily="2" charset="77"/>
                  </a:rPr>
                  <a:t> </a:t>
                </a:r>
                <a:r>
                  <a:rPr lang="en-US" sz="1600" dirty="0">
                    <a:latin typeface="Merriweather" pitchFamily="2" charset="77"/>
                  </a:rPr>
                  <a:t>and actual </a:t>
                </a:r>
                <a14:m>
                  <m:oMath xmlns:m="http://schemas.openxmlformats.org/officeDocument/2006/math">
                    <m:r>
                      <a:rPr lang="en-US" sz="1600" b="1" i="1">
                        <a:solidFill>
                          <a:schemeClr val="tx1">
                            <a:lumMod val="75000"/>
                            <a:lumOff val="25000"/>
                          </a:schemeClr>
                        </a:solidFill>
                        <a:latin typeface="Cambria Math" panose="02040503050406030204" pitchFamily="18" charset="0"/>
                      </a:rPr>
                      <m:t>𝒚</m:t>
                    </m:r>
                  </m:oMath>
                </a14:m>
                <a:r>
                  <a:rPr lang="en-US" sz="1600" dirty="0">
                    <a:latin typeface="Merriweather" pitchFamily="2" charset="77"/>
                  </a:rPr>
                  <a:t>) plus a "penalty" for using too many variables.</a:t>
                </a:r>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Minimize</m:t>
                      </m:r>
                      <m:d>
                        <m:dPr>
                          <m:ctrlPr>
                            <a:rPr lang="en-US" sz="1600" b="1" i="1">
                              <a:solidFill>
                                <a:schemeClr val="tx1">
                                  <a:lumMod val="75000"/>
                                  <a:lumOff val="25000"/>
                                </a:schemeClr>
                              </a:solidFill>
                              <a:latin typeface="Cambria Math" panose="02040503050406030204" pitchFamily="18" charset="0"/>
                            </a:rPr>
                          </m:ctrlPr>
                        </m:dPr>
                        <m:e>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𝒏</m:t>
                              </m:r>
                            </m:sup>
                            <m:e>
                              <m:sSup>
                                <m:sSupPr>
                                  <m:ctrlPr>
                                    <a:rPr lang="en-US" sz="1600" b="1" i="1">
                                      <a:solidFill>
                                        <a:schemeClr val="tx1">
                                          <a:lumMod val="75000"/>
                                          <a:lumOff val="25000"/>
                                        </a:schemeClr>
                                      </a:solidFill>
                                      <a:latin typeface="Cambria Math" panose="02040503050406030204" pitchFamily="18" charset="0"/>
                                    </a:rPr>
                                  </m:ctrlPr>
                                </m:sSupPr>
                                <m:e>
                                  <m:d>
                                    <m:dPr>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acc>
                                        <m:accPr>
                                          <m:chr m:val="̂"/>
                                          <m:ctrlPr>
                                            <a:rPr lang="en-US" sz="1600" b="1" i="1">
                                              <a:solidFill>
                                                <a:schemeClr val="tx1">
                                                  <a:lumMod val="75000"/>
                                                  <a:lumOff val="25000"/>
                                                </a:schemeClr>
                                              </a:solidFill>
                                              <a:latin typeface="Cambria Math" panose="02040503050406030204" pitchFamily="18" charset="0"/>
                                            </a:rPr>
                                          </m:ctrlPr>
                                        </m:acc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e>
                                      </m:acc>
                                    </m:e>
                                  </m:d>
                                </m:e>
                                <m:sup>
                                  <m:r>
                                    <a:rPr lang="en-US" sz="1600" b="1" i="1">
                                      <a:solidFill>
                                        <a:schemeClr val="tx1">
                                          <a:lumMod val="75000"/>
                                          <a:lumOff val="25000"/>
                                        </a:schemeClr>
                                      </a:solidFill>
                                      <a:latin typeface="Cambria Math" panose="02040503050406030204" pitchFamily="18" charset="0"/>
                                    </a:rPr>
                                    <m:t>𝟐</m:t>
                                  </m:r>
                                </m:sup>
                              </m:sSup>
                            </m:e>
                          </m:nary>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𝝀</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𝒑</m:t>
                              </m:r>
                            </m:sup>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𝜷</m:t>
                                      </m:r>
                                    </m:e>
                                    <m:sub>
                                      <m:r>
                                        <a:rPr lang="en-US" sz="1600" b="1" i="1">
                                          <a:solidFill>
                                            <a:schemeClr val="tx1">
                                              <a:lumMod val="75000"/>
                                              <a:lumOff val="25000"/>
                                            </a:schemeClr>
                                          </a:solidFill>
                                          <a:latin typeface="Cambria Math" panose="02040503050406030204" pitchFamily="18" charset="0"/>
                                        </a:rPr>
                                        <m:t>𝒋</m:t>
                                      </m:r>
                                    </m:sub>
                                  </m:sSub>
                                </m:e>
                              </m:d>
                            </m:e>
                          </m:nary>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628650" lvl="1" indent="-171450">
                  <a:lnSpc>
                    <a:spcPct val="150000"/>
                  </a:lnSpc>
                  <a:buFont typeface="Arial" panose="020B0604020202020204" pitchFamily="34" charset="0"/>
                  <a:buChar char="•"/>
                </a:pPr>
                <a14:m>
                  <m:oMath xmlns:m="http://schemas.openxmlformats.org/officeDocument/2006/math">
                    <m:nary>
                      <m:naryPr>
                        <m:chr m:val="∑"/>
                        <m:ctrlPr>
                          <a:rPr lang="en-US" sz="1200" b="1" i="1">
                            <a:solidFill>
                              <a:schemeClr val="tx1">
                                <a:lumMod val="75000"/>
                                <a:lumOff val="25000"/>
                              </a:schemeClr>
                            </a:solidFill>
                            <a:latin typeface="Cambria Math" panose="02040503050406030204" pitchFamily="18" charset="0"/>
                          </a:rPr>
                        </m:ctrlPr>
                      </m:naryPr>
                      <m:sub>
                        <m:r>
                          <a:rPr lang="en-US" sz="1200" b="1" i="1">
                            <a:solidFill>
                              <a:schemeClr val="tx1">
                                <a:lumMod val="75000"/>
                                <a:lumOff val="25000"/>
                              </a:schemeClr>
                            </a:solidFill>
                            <a:latin typeface="Cambria Math" panose="02040503050406030204" pitchFamily="18" charset="0"/>
                          </a:rPr>
                          <m:t>𝒊</m:t>
                        </m:r>
                        <m:r>
                          <a:rPr lang="en-US" sz="1200" b="1" i="1">
                            <a:solidFill>
                              <a:schemeClr val="tx1">
                                <a:lumMod val="75000"/>
                                <a:lumOff val="25000"/>
                              </a:schemeClr>
                            </a:solidFill>
                            <a:latin typeface="Cambria Math" panose="02040503050406030204" pitchFamily="18" charset="0"/>
                          </a:rPr>
                          <m:t>=</m:t>
                        </m:r>
                        <m:r>
                          <a:rPr lang="en-US" sz="1200" b="1" i="1">
                            <a:solidFill>
                              <a:schemeClr val="tx1">
                                <a:lumMod val="75000"/>
                                <a:lumOff val="25000"/>
                              </a:schemeClr>
                            </a:solidFill>
                            <a:latin typeface="Cambria Math" panose="02040503050406030204" pitchFamily="18" charset="0"/>
                          </a:rPr>
                          <m:t>𝟏</m:t>
                        </m:r>
                      </m:sub>
                      <m:sup>
                        <m:r>
                          <a:rPr lang="en-US" sz="1200" b="1" i="1">
                            <a:solidFill>
                              <a:schemeClr val="tx1">
                                <a:lumMod val="75000"/>
                                <a:lumOff val="25000"/>
                              </a:schemeClr>
                            </a:solidFill>
                            <a:latin typeface="Cambria Math" panose="02040503050406030204" pitchFamily="18" charset="0"/>
                          </a:rPr>
                          <m:t>𝒏</m:t>
                        </m:r>
                      </m:sup>
                      <m:e>
                        <m:sSup>
                          <m:sSupPr>
                            <m:ctrlPr>
                              <a:rPr lang="en-US" sz="1200" b="1" i="1">
                                <a:solidFill>
                                  <a:schemeClr val="tx1">
                                    <a:lumMod val="75000"/>
                                    <a:lumOff val="25000"/>
                                  </a:schemeClr>
                                </a:solidFill>
                                <a:latin typeface="Cambria Math" panose="02040503050406030204" pitchFamily="18" charset="0"/>
                              </a:rPr>
                            </m:ctrlPr>
                          </m:sSupPr>
                          <m:e>
                            <m:d>
                              <m:dPr>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r>
                                  <a:rPr lang="en-US" sz="1200" b="1" i="1">
                                    <a:solidFill>
                                      <a:schemeClr val="tx1">
                                        <a:lumMod val="75000"/>
                                        <a:lumOff val="25000"/>
                                      </a:schemeClr>
                                    </a:solidFill>
                                    <a:latin typeface="Cambria Math" panose="02040503050406030204" pitchFamily="18" charset="0"/>
                                  </a:rPr>
                                  <m:t>−</m:t>
                                </m:r>
                                <m:acc>
                                  <m:accPr>
                                    <m:chr m:val="̂"/>
                                    <m:ctrlPr>
                                      <a:rPr lang="en-US" sz="1200" b="1" i="1">
                                        <a:solidFill>
                                          <a:schemeClr val="tx1">
                                            <a:lumMod val="75000"/>
                                            <a:lumOff val="25000"/>
                                          </a:schemeClr>
                                        </a:solidFill>
                                        <a:latin typeface="Cambria Math" panose="02040503050406030204" pitchFamily="18" charset="0"/>
                                      </a:rPr>
                                    </m:ctrlPr>
                                  </m:acc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e>
                                </m:acc>
                              </m:e>
                            </m:d>
                          </m:e>
                          <m:sup>
                            <m:r>
                              <a:rPr lang="en-US" sz="1200" b="1" i="1">
                                <a:solidFill>
                                  <a:schemeClr val="tx1">
                                    <a:lumMod val="75000"/>
                                    <a:lumOff val="25000"/>
                                  </a:schemeClr>
                                </a:solidFill>
                                <a:latin typeface="Cambria Math" panose="02040503050406030204" pitchFamily="18" charset="0"/>
                              </a:rPr>
                              <m:t>𝟐</m:t>
                            </m:r>
                          </m:sup>
                        </m:sSup>
                      </m:e>
                    </m:nary>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 The standard error (Residual Sum of Squares)</a:t>
                </a:r>
              </a:p>
              <a:p>
                <a:pPr marL="628650" lvl="1" indent="-171450">
                  <a:lnSpc>
                    <a:spcPct val="150000"/>
                  </a:lnSpc>
                  <a:buFont typeface="Arial" panose="020B0604020202020204" pitchFamily="34" charset="0"/>
                  <a:buChar char="•"/>
                </a:pPr>
                <a14:m>
                  <m:oMath xmlns:m="http://schemas.openxmlformats.org/officeDocument/2006/math">
                    <m:r>
                      <a:rPr lang="en-US" sz="1200" b="1" i="1" smtClean="0">
                        <a:solidFill>
                          <a:schemeClr val="tx1">
                            <a:lumMod val="75000"/>
                            <a:lumOff val="25000"/>
                          </a:schemeClr>
                        </a:solidFill>
                        <a:latin typeface="Cambria Math" panose="02040503050406030204" pitchFamily="18" charset="0"/>
                      </a:rPr>
                      <m:t>𝝀</m:t>
                    </m:r>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tuning parameter,  if set high, the model is forced to simplify</a:t>
                </a:r>
              </a:p>
              <a:p>
                <a:pPr marL="628650" lvl="1" indent="-171450">
                  <a:lnSpc>
                    <a:spcPct val="150000"/>
                  </a:lnSpc>
                  <a:buFont typeface="Arial" panose="020B0604020202020204" pitchFamily="34" charset="0"/>
                  <a:buChar char="•"/>
                </a:pPr>
                <a14:m>
                  <m:oMath xmlns:m="http://schemas.openxmlformats.org/officeDocument/2006/math">
                    <m:d>
                      <m:dPr>
                        <m:begChr m:val="|"/>
                        <m:endChr m:val="|"/>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a:rPr lang="en-US" sz="1200" b="1" i="1">
                                <a:solidFill>
                                  <a:schemeClr val="tx1">
                                    <a:lumMod val="75000"/>
                                    <a:lumOff val="25000"/>
                                  </a:schemeClr>
                                </a:solidFill>
                                <a:latin typeface="Cambria Math" panose="02040503050406030204" pitchFamily="18" charset="0"/>
                              </a:rPr>
                              <m:t>𝒋</m:t>
                            </m:r>
                          </m:sub>
                        </m:sSub>
                      </m:e>
                    </m:d>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absolute size of the coefficient for variable j</a:t>
                </a:r>
              </a:p>
              <a:p>
                <a:pPr marL="628650" lvl="1" indent="-171450">
                  <a:lnSpc>
                    <a:spcPct val="150000"/>
                  </a:lnSpc>
                  <a:buFont typeface="Arial" panose="020B0604020202020204" pitchFamily="34" charset="0"/>
                  <a:buChar char="•"/>
                </a:pPr>
                <a:r>
                  <a:rPr lang="en-US" sz="1200" b="1" dirty="0">
                    <a:latin typeface="Merriweather" pitchFamily="2" charset="77"/>
                  </a:rPr>
                  <a:t>How the variables fit:</a:t>
                </a:r>
                <a:r>
                  <a:rPr lang="en-US" sz="1200" dirty="0">
                    <a:latin typeface="Merriweather" pitchFamily="2" charset="77"/>
                  </a:rPr>
                  <a:t> If the coefficient </a:t>
                </a:r>
                <a14:m>
                  <m:oMath xmlns:m="http://schemas.openxmlformats.org/officeDocument/2006/math">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SVI</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for "No Vehicle Access" is high, but </a:t>
                </a:r>
                <a14:m>
                  <m:oMath xmlns:m="http://schemas.openxmlformats.org/officeDocument/2006/math">
                    <m:sSub>
                      <m:sSubPr>
                        <m:ctrlPr>
                          <a:rPr lang="en-US" sz="1200" b="1" i="1" smtClean="0">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Unemp</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shrinks to zero, the equation proves that </a:t>
                </a:r>
                <a:r>
                  <a:rPr lang="en-US" sz="1200" b="1" dirty="0">
                    <a:latin typeface="Merriweather" pitchFamily="2" charset="77"/>
                  </a:rPr>
                  <a:t>transportation vulnerability</a:t>
                </a:r>
                <a:r>
                  <a:rPr lang="en-US" sz="1200" dirty="0">
                    <a:latin typeface="Merriweather" pitchFamily="2" charset="77"/>
                  </a:rPr>
                  <a:t> is a stronger driver of migration than </a:t>
                </a:r>
                <a:r>
                  <a:rPr lang="en-US" sz="1200" b="1" dirty="0">
                    <a:latin typeface="Merriweather" pitchFamily="2" charset="77"/>
                  </a:rPr>
                  <a:t>unemployment</a:t>
                </a:r>
                <a:r>
                  <a:rPr lang="en-US" sz="1200" dirty="0">
                    <a:latin typeface="Merriweather" pitchFamily="2" charset="77"/>
                  </a:rPr>
                  <a:t> in our specific dataset</a:t>
                </a:r>
              </a:p>
            </p:txBody>
          </p:sp>
        </mc:Choice>
        <mc:Fallback xmlns="">
          <p:sp>
            <p:nvSpPr>
              <p:cNvPr id="2" name="TextBox 1">
                <a:extLst>
                  <a:ext uri="{FF2B5EF4-FFF2-40B4-BE49-F238E27FC236}">
                    <a16:creationId xmlns:a16="http://schemas.microsoft.com/office/drawing/2014/main" id="{4AACAB45-0C6E-B5C3-02F1-829E465F3DE6}"/>
                  </a:ext>
                </a:extLst>
              </p:cNvPr>
              <p:cNvSpPr txBox="1">
                <a:spLocks noRot="1" noChangeAspect="1" noMove="1" noResize="1" noEditPoints="1" noAdjustHandles="1" noChangeArrowheads="1" noChangeShapeType="1" noTextEdit="1"/>
              </p:cNvSpPr>
              <p:nvPr/>
            </p:nvSpPr>
            <p:spPr>
              <a:xfrm>
                <a:off x="472643" y="1519363"/>
                <a:ext cx="9336375" cy="5248168"/>
              </a:xfrm>
              <a:prstGeom prst="rect">
                <a:avLst/>
              </a:prstGeom>
              <a:blipFill>
                <a:blip r:embed="rId3"/>
                <a:stretch>
                  <a:fillRect l="-543" t="-483" r="-679"/>
                </a:stretch>
              </a:blipFill>
            </p:spPr>
            <p:txBody>
              <a:bodyPr/>
              <a:lstStyle/>
              <a:p>
                <a:r>
                  <a:rPr lang="en-US">
                    <a:noFill/>
                  </a:rPr>
                  <a:t> </a:t>
                </a:r>
              </a:p>
            </p:txBody>
          </p:sp>
        </mc:Fallback>
      </mc:AlternateContent>
      <p:sp>
        <p:nvSpPr>
          <p:cNvPr id="7" name="Google Shape;121;p15">
            <a:extLst>
              <a:ext uri="{FF2B5EF4-FFF2-40B4-BE49-F238E27FC236}">
                <a16:creationId xmlns:a16="http://schemas.microsoft.com/office/drawing/2014/main" id="{C0910809-4DFB-18ED-54C4-2580D01E1D6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a:t>
            </a:r>
            <a:endParaRPr sz="2800" b="1" dirty="0">
              <a:latin typeface="Merriweather" pitchFamily="2" charset="77"/>
            </a:endParaRPr>
          </a:p>
        </p:txBody>
      </p:sp>
    </p:spTree>
    <p:extLst>
      <p:ext uri="{BB962C8B-B14F-4D97-AF65-F5344CB8AC3E}">
        <p14:creationId xmlns:p14="http://schemas.microsoft.com/office/powerpoint/2010/main" val="14071211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0EB2950-2428-5E7D-FF80-C33D232E427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9BD82C1E-F47E-0BA1-D5BC-73146FA9B191}"/>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62E4B516-81D4-83EC-FF89-CCE629FE8358}"/>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D67AD-0F58-6B2F-24E6-FF34E893A269}"/>
                  </a:ext>
                </a:extLst>
              </p:cNvPr>
              <p:cNvSpPr txBox="1"/>
              <p:nvPr/>
            </p:nvSpPr>
            <p:spPr>
              <a:xfrm>
                <a:off x="472643" y="1519363"/>
                <a:ext cx="9336375" cy="5171609"/>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Random Forest (Regression Trees)</a:t>
                </a: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Linear models assume smooth trends. Natural disasters (hurricanes/earthquakes) are not smooth; they are "cliffs." Trees handle this by splitting data into "Normal Years" and "Shock Years.”</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Logic (Split Criterion):</a:t>
                </a:r>
                <a:r>
                  <a:rPr lang="en-US" dirty="0">
                    <a:latin typeface="Merriweather" pitchFamily="2" charset="77"/>
                  </a:rPr>
                  <a:t> The algorithm splits municipalities into groups to minimize the Variance </a:t>
                </a:r>
                <a:r>
                  <a:rPr lang="en-US" b="1" dirty="0">
                    <a:latin typeface="Merriweather" pitchFamily="2" charset="77"/>
                  </a:rPr>
                  <a:t>(Var) </a:t>
                </a:r>
                <a:r>
                  <a:rPr lang="en-US" dirty="0">
                    <a:latin typeface="Merriweather" pitchFamily="2" charset="77"/>
                  </a:rPr>
                  <a:t>of population loss within each group.</a:t>
                </a:r>
                <a:endParaRPr lang="en-US" dirty="0"/>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Gain</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𝒑𝒂𝒓𝒆𝒏𝒕</m:t>
                          </m:r>
                        </m:sub>
                      </m:sSub>
                      <m:r>
                        <a:rPr lang="en-US" sz="1600" b="1" i="1">
                          <a:solidFill>
                            <a:schemeClr val="tx1">
                              <a:lumMod val="75000"/>
                              <a:lumOff val="25000"/>
                            </a:schemeClr>
                          </a:solidFill>
                          <a:latin typeface="Cambria Math" panose="02040503050406030204" pitchFamily="18" charset="0"/>
                        </a:rPr>
                        <m:t>−</m:t>
                      </m:r>
                      <m:d>
                        <m:dPr>
                          <m:ctrlPr>
                            <a:rPr lang="en-US" sz="1600" b="1" i="1">
                              <a:solidFill>
                                <a:schemeClr val="tx1">
                                  <a:lumMod val="75000"/>
                                  <a:lumOff val="25000"/>
                                </a:schemeClr>
                              </a:solidFill>
                              <a:latin typeface="Cambria Math" panose="02040503050406030204" pitchFamily="18" charset="0"/>
                            </a:rPr>
                          </m:ctrlPr>
                        </m:dPr>
                        <m:e>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𝒍𝒆𝒇𝒕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𝒍𝒆𝒇𝒕</m:t>
                              </m:r>
                            </m:sub>
                          </m:sSub>
                          <m:r>
                            <a:rPr lang="en-US" sz="1600" b="1" i="1">
                              <a:solidFill>
                                <a:schemeClr val="tx1">
                                  <a:lumMod val="75000"/>
                                  <a:lumOff val="25000"/>
                                </a:schemeClr>
                              </a:solidFill>
                              <a:latin typeface="Cambria Math" panose="02040503050406030204" pitchFamily="18" charset="0"/>
                            </a:rPr>
                            <m:t>+</m:t>
                          </m:r>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𝒓𝒊𝒈𝒉𝒕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𝒓𝒊𝒈𝒉𝒕</m:t>
                              </m:r>
                            </m:sub>
                          </m:sSub>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r>
                  <a:rPr lang="en-US" sz="1400" dirty="0">
                    <a:latin typeface="Merriweather" pitchFamily="2" charset="77"/>
                  </a:rPr>
                  <a:t>The model might make its </a:t>
                </a:r>
                <a:r>
                  <a:rPr lang="en-US" sz="1400" b="1" dirty="0">
                    <a:latin typeface="Merriweather" pitchFamily="2" charset="77"/>
                  </a:rPr>
                  <a:t>root split</a:t>
                </a:r>
                <a:r>
                  <a:rPr lang="en-US" sz="1400" dirty="0">
                    <a:latin typeface="Merriweather" pitchFamily="2" charset="77"/>
                  </a:rPr>
                  <a:t> based on the Hazard Variable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oMath>
                </a14:m>
                <a:r>
                  <a:rPr lang="en-US" sz="1400" dirty="0">
                    <a:latin typeface="Merriweather" pitchFamily="2" charset="77"/>
                  </a:rPr>
                  <a:t>:</a:t>
                </a:r>
              </a:p>
              <a:p>
                <a:pPr lvl="1"/>
                <a:endParaRPr lang="en-US" sz="1400" dirty="0">
                  <a:latin typeface="Merriweather" pitchFamily="2" charset="77"/>
                </a:endParaRP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1 (Hurricane Year): Go Left </a:t>
                </a:r>
                <a:r>
                  <a:rPr lang="en-US" sz="1400" dirty="0">
                    <a:latin typeface="Merriweather" pitchFamily="2" charset="77"/>
                    <a:sym typeface="Wingdings" pitchFamily="2" charset="2"/>
                  </a:rPr>
                  <a:t> </a:t>
                </a:r>
                <a:r>
                  <a:rPr lang="en-US" sz="1400" dirty="0">
                    <a:latin typeface="Merriweather" pitchFamily="2" charset="77"/>
                  </a:rPr>
                  <a:t>Predict high population loss.</a:t>
                </a: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0 (Normal Year): Go Right </a:t>
                </a:r>
                <a:r>
                  <a:rPr lang="en-US" sz="1400" dirty="0">
                    <a:latin typeface="Merriweather" pitchFamily="2" charset="77"/>
                    <a:sym typeface="Wingdings" pitchFamily="2" charset="2"/>
                  </a:rPr>
                  <a:t> </a:t>
                </a:r>
                <a:r>
                  <a:rPr lang="en-US" sz="1400" dirty="0">
                    <a:latin typeface="Merriweather" pitchFamily="2" charset="77"/>
                  </a:rPr>
                  <a:t>Check Economic Variables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𝐸</m:t>
                        </m:r>
                      </m:e>
                      <m:sub>
                        <m:r>
                          <a:rPr lang="en-US" sz="1400" i="1">
                            <a:latin typeface="Cambria Math" panose="02040503050406030204" pitchFamily="18" charset="0"/>
                          </a:rPr>
                          <m:t>𝑢𝑛𝑒𝑚𝑝</m:t>
                        </m:r>
                      </m:sub>
                    </m:sSub>
                    <m:r>
                      <a:rPr lang="en-US" sz="1400" i="1">
                        <a:latin typeface="Cambria Math" panose="02040503050406030204" pitchFamily="18" charset="0"/>
                      </a:rPr>
                      <m:t> </m:t>
                    </m:r>
                  </m:oMath>
                </a14:m>
                <a:r>
                  <a:rPr lang="en-US" sz="1400" dirty="0">
                    <a:latin typeface="Merriweather" pitchFamily="2" charset="77"/>
                  </a:rPr>
                  <a:t>to refine the prediction.</a:t>
                </a:r>
              </a:p>
              <a:p>
                <a:pPr lvl="1"/>
                <a:endParaRPr lang="en-US" sz="1400" dirty="0">
                  <a:latin typeface="Merriweather" pitchFamily="2" charset="77"/>
                </a:endParaRPr>
              </a:p>
              <a:p>
                <a:pPr lvl="1"/>
                <a:r>
                  <a:rPr lang="en-US" sz="1400" dirty="0">
                    <a:latin typeface="Merriweather" pitchFamily="2" charset="77"/>
                  </a:rPr>
                  <a:t>This effectively captures the "Shock vs. Structural" dynamic.</a:t>
                </a:r>
              </a:p>
            </p:txBody>
          </p:sp>
        </mc:Choice>
        <mc:Fallback xmlns="">
          <p:sp>
            <p:nvSpPr>
              <p:cNvPr id="2" name="TextBox 1">
                <a:extLst>
                  <a:ext uri="{FF2B5EF4-FFF2-40B4-BE49-F238E27FC236}">
                    <a16:creationId xmlns:a16="http://schemas.microsoft.com/office/drawing/2014/main" id="{032D67AD-0F58-6B2F-24E6-FF34E893A269}"/>
                  </a:ext>
                </a:extLst>
              </p:cNvPr>
              <p:cNvSpPr txBox="1">
                <a:spLocks noRot="1" noChangeAspect="1" noMove="1" noResize="1" noEditPoints="1" noAdjustHandles="1" noChangeArrowheads="1" noChangeShapeType="1" noTextEdit="1"/>
              </p:cNvSpPr>
              <p:nvPr/>
            </p:nvSpPr>
            <p:spPr>
              <a:xfrm>
                <a:off x="472643" y="1519363"/>
                <a:ext cx="9336375" cy="5171609"/>
              </a:xfrm>
              <a:prstGeom prst="rect">
                <a:avLst/>
              </a:prstGeom>
              <a:blipFill>
                <a:blip r:embed="rId3"/>
                <a:stretch>
                  <a:fillRect l="-408" t="-489"/>
                </a:stretch>
              </a:blipFill>
            </p:spPr>
            <p:txBody>
              <a:bodyPr/>
              <a:lstStyle/>
              <a:p>
                <a:r>
                  <a:rPr lang="en-US">
                    <a:noFill/>
                  </a:rPr>
                  <a:t> </a:t>
                </a:r>
              </a:p>
            </p:txBody>
          </p:sp>
        </mc:Fallback>
      </mc:AlternateContent>
    </p:spTree>
    <p:extLst>
      <p:ext uri="{BB962C8B-B14F-4D97-AF65-F5344CB8AC3E}">
        <p14:creationId xmlns:p14="http://schemas.microsoft.com/office/powerpoint/2010/main" val="31447985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980A3D1-0808-729F-75B9-ABE74F775B4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DFA7EF6-54CE-5621-6B13-544B705E7AA7}"/>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a:t>
            </a:r>
            <a:endParaRPr sz="2800" b="1" dirty="0">
              <a:latin typeface="Merriweather" pitchFamily="2" charset="77"/>
            </a:endParaRPr>
          </a:p>
        </p:txBody>
      </p:sp>
      <p:sp>
        <p:nvSpPr>
          <p:cNvPr id="122" name="Google Shape;122;p15">
            <a:extLst>
              <a:ext uri="{FF2B5EF4-FFF2-40B4-BE49-F238E27FC236}">
                <a16:creationId xmlns:a16="http://schemas.microsoft.com/office/drawing/2014/main" id="{04128C63-1862-D3F5-6B90-99832508806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CDA93AE-6B20-F095-78C6-B7F50DF2A9C9}"/>
                  </a:ext>
                </a:extLst>
              </p:cNvPr>
              <p:cNvSpPr txBox="1"/>
              <p:nvPr/>
            </p:nvSpPr>
            <p:spPr>
              <a:xfrm>
                <a:off x="472643" y="1519363"/>
                <a:ext cx="9336375" cy="474854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To group 78 municipalities into 3-4 "Risk Profiles" without being told the answer beforehand.</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Equation:</a:t>
                </a:r>
                <a:r>
                  <a:rPr lang="en-US" dirty="0">
                    <a:latin typeface="Merriweather" pitchFamily="2" charset="77"/>
                  </a:rPr>
                  <a:t> The algorithm finds k centroids (centers of clusters) and assigns every municipality to the nearest one by minimizing the "Within-Cluster Sum of Squares" (WCSS).</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14:m>
                  <m:oMath xmlns:m="http://schemas.openxmlformats.org/officeDocument/2006/math">
                    <m:sSub>
                      <m:sSubPr>
                        <m:ctrlPr>
                          <a:rPr lang="en-US" sz="1400" b="1" i="1" smtClean="0">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vector of attributes for municipality </a:t>
                </a:r>
                <a:r>
                  <a:rPr lang="en-US" sz="1400" dirty="0" err="1">
                    <a:latin typeface="Merriweather" pitchFamily="2" charset="77"/>
                  </a:rPr>
                  <a:t>i</a:t>
                </a:r>
                <a:r>
                  <a:rPr lang="en-US" sz="1400" dirty="0">
                    <a:latin typeface="Merriweather" pitchFamily="2" charset="77"/>
                  </a:rPr>
                  <a:t> (Age, Poverty, Hurricane Risk)</a:t>
                </a:r>
              </a:p>
              <a:p>
                <a:pPr marL="742950" lvl="1" indent="-285750">
                  <a:buFont typeface="Arial" panose="020B0604020202020204" pitchFamily="34" charset="0"/>
                  <a:buChar char="•"/>
                </a:pPr>
                <a14:m>
                  <m:oMath xmlns:m="http://schemas.openxmlformats.org/officeDocument/2006/math">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"center" of Cluster j (e.g., the average "High Risk" town)</a:t>
                </a:r>
              </a:p>
              <a:p>
                <a:pPr marL="742950" lvl="1" indent="-285750">
                  <a:buFont typeface="Arial" panose="020B0604020202020204" pitchFamily="34" charset="0"/>
                  <a:buChar char="•"/>
                </a:pPr>
                <a14:m>
                  <m:oMath xmlns:m="http://schemas.openxmlformats.org/officeDocument/2006/math">
                    <m:sSup>
                      <m:sSupPr>
                        <m:ctrlPr>
                          <a:rPr lang="en-US" sz="1400" b="1" i="1">
                            <a:solidFill>
                              <a:schemeClr val="tx1">
                                <a:lumMod val="75000"/>
                                <a:lumOff val="25000"/>
                              </a:schemeClr>
                            </a:solidFill>
                            <a:latin typeface="Cambria Math" panose="02040503050406030204" pitchFamily="18" charset="0"/>
                          </a:rPr>
                        </m:ctrlPr>
                      </m:sSupPr>
                      <m:e>
                        <m:d>
                          <m:dPr>
                            <m:begChr m:val="|"/>
                            <m:endChr m:val="|"/>
                            <m:ctrlPr>
                              <a:rPr lang="en-US" sz="1400" b="1" i="1">
                                <a:solidFill>
                                  <a:schemeClr val="tx1">
                                    <a:lumMod val="75000"/>
                                    <a:lumOff val="25000"/>
                                  </a:schemeClr>
                                </a:solidFill>
                                <a:latin typeface="Cambria Math" panose="02040503050406030204" pitchFamily="18" charset="0"/>
                              </a:rPr>
                            </m:ctrlPr>
                          </m:dPr>
                          <m:e>
                            <m:d>
                              <m:dPr>
                                <m:begChr m:val="|"/>
                                <m:endChr m:val="|"/>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e>
                            </m:d>
                          </m:e>
                        </m:d>
                      </m:e>
                      <m:sup>
                        <m:r>
                          <a:rPr lang="en-US" sz="1400" b="1" i="1">
                            <a:solidFill>
                              <a:schemeClr val="tx1">
                                <a:lumMod val="75000"/>
                                <a:lumOff val="25000"/>
                              </a:schemeClr>
                            </a:solidFill>
                            <a:latin typeface="Cambria Math" panose="02040503050406030204" pitchFamily="18" charset="0"/>
                          </a:rPr>
                          <m:t>𝟐</m:t>
                        </m:r>
                      </m:sup>
                    </m:sSup>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Euclidean distance</a:t>
                </a:r>
              </a:p>
              <a:p>
                <a:r>
                  <a:rPr lang="en-US" dirty="0">
                    <a:latin typeface="Merriweather" pitchFamily="2" charset="77"/>
                  </a:rPr>
                  <a:t> </a:t>
                </a: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2CDA93AE-6B20-F095-78C6-B7F50DF2A9C9}"/>
                  </a:ext>
                </a:extLst>
              </p:cNvPr>
              <p:cNvSpPr txBox="1">
                <a:spLocks noRot="1" noChangeAspect="1" noMove="1" noResize="1" noEditPoints="1" noAdjustHandles="1" noChangeArrowheads="1" noChangeShapeType="1" noTextEdit="1"/>
              </p:cNvSpPr>
              <p:nvPr/>
            </p:nvSpPr>
            <p:spPr>
              <a:xfrm>
                <a:off x="472643" y="1519363"/>
                <a:ext cx="9336375" cy="4748544"/>
              </a:xfrm>
              <a:prstGeom prst="rect">
                <a:avLst/>
              </a:prstGeom>
              <a:blipFill>
                <a:blip r:embed="rId3"/>
                <a:stretch>
                  <a:fillRect l="-408" t="-533"/>
                </a:stretch>
              </a:blipFill>
            </p:spPr>
            <p:txBody>
              <a:bodyPr/>
              <a:lstStyle/>
              <a:p>
                <a:r>
                  <a:rPr lang="en-US">
                    <a:noFill/>
                  </a:rPr>
                  <a:t> </a:t>
                </a:r>
              </a:p>
            </p:txBody>
          </p:sp>
        </mc:Fallback>
      </mc:AlternateContent>
    </p:spTree>
    <p:extLst>
      <p:ext uri="{BB962C8B-B14F-4D97-AF65-F5344CB8AC3E}">
        <p14:creationId xmlns:p14="http://schemas.microsoft.com/office/powerpoint/2010/main" val="7945694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6EF50BF-94BC-B937-4417-B83DF5AB0B1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A8C4DC3-B6EA-348C-A077-492FABC2F2F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B550ABC-7669-F226-207D-FAA4232C8F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020E62-57B3-D132-562C-99AD62E7F5DA}"/>
                  </a:ext>
                </a:extLst>
              </p:cNvPr>
              <p:cNvSpPr txBox="1"/>
              <p:nvPr/>
            </p:nvSpPr>
            <p:spPr>
              <a:xfrm>
                <a:off x="472643" y="1519363"/>
                <a:ext cx="9336375" cy="562115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a:lnSpc>
                    <a:spcPct val="150000"/>
                  </a:lnSpc>
                </a:pPr>
                <a:r>
                  <a:rPr lang="en-US" dirty="0">
                    <a:latin typeface="Merriweather" pitchFamily="2" charset="77"/>
                  </a:rPr>
                  <a:t> </a:t>
                </a:r>
                <a:r>
                  <a:rPr lang="en-US" b="1" dirty="0">
                    <a:latin typeface="Merriweather" pitchFamily="2" charset="77"/>
                    <a:ea typeface="Times New Roman" panose="02020603050405020304" pitchFamily="18" charset="0"/>
                  </a:rPr>
                  <a:t>How the variables fit:</a:t>
                </a:r>
                <a:r>
                  <a:rPr lang="en-US" dirty="0">
                    <a:latin typeface="Merriweather" pitchFamily="2" charset="77"/>
                    <a:ea typeface="Times New Roman" panose="02020603050405020304" pitchFamily="18" charset="0"/>
                  </a:rPr>
                  <a:t> The "Distance" tells us how similar two towns are.</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A (Old population, High Poverty, Coastal)</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B (Young population, Low Poverty, Mountain)</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C (Old population, High Poverty, Coastal)</a:t>
                </a:r>
              </a:p>
              <a:p>
                <a:pPr marL="342900" marR="0" lvl="0" indent="-342900">
                  <a:buSzPts val="1000"/>
                  <a:buFont typeface="Symbol" pitchFamily="2" charset="2"/>
                  <a:buChar char=""/>
                  <a:tabLst>
                    <a:tab pos="457200" algn="l"/>
                  </a:tabLst>
                </a:pPr>
                <a:endParaRPr lang="en-US" dirty="0">
                  <a:latin typeface="Merriweather" pitchFamily="2" charset="77"/>
                  <a:ea typeface="Times New Roman" panose="02020603050405020304" pitchFamily="18" charset="0"/>
                </a:endParaRPr>
              </a:p>
              <a:p>
                <a:pPr marR="0" lvl="0">
                  <a:buSzPts val="1000"/>
                  <a:tabLst>
                    <a:tab pos="457200" algn="l"/>
                  </a:tabLst>
                </a:pPr>
                <a:endParaRPr lang="en-US" dirty="0">
                  <a:latin typeface="Merriweather" pitchFamily="2" charset="77"/>
                  <a:ea typeface="Times New Roman" panose="02020603050405020304" pitchFamily="18" charset="0"/>
                </a:endParaRPr>
              </a:p>
              <a:p>
                <a:r>
                  <a:rPr lang="en-US" dirty="0">
                    <a:latin typeface="Merriweather" pitchFamily="2" charset="77"/>
                    <a:ea typeface="Times New Roman" panose="02020603050405020304" pitchFamily="18" charset="0"/>
                  </a:rPr>
                  <a:t>The equation calculates that the mathematical distance between </a:t>
                </a:r>
                <a:r>
                  <a:rPr lang="en-US" b="1" dirty="0">
                    <a:latin typeface="Merriweather" pitchFamily="2" charset="77"/>
                    <a:ea typeface="Times New Roman" panose="02020603050405020304" pitchFamily="18" charset="0"/>
                  </a:rPr>
                  <a:t>Town A</a:t>
                </a:r>
                <a:r>
                  <a:rPr lang="en-US" dirty="0">
                    <a:latin typeface="Merriweather" pitchFamily="2" charset="77"/>
                    <a:ea typeface="Times New Roman" panose="02020603050405020304" pitchFamily="18" charset="0"/>
                  </a:rPr>
                  <a:t> and </a:t>
                </a:r>
                <a:r>
                  <a:rPr lang="en-US" b="1" dirty="0">
                    <a:latin typeface="Merriweather" pitchFamily="2" charset="77"/>
                    <a:ea typeface="Times New Roman" panose="02020603050405020304" pitchFamily="18" charset="0"/>
                  </a:rPr>
                  <a:t>Town C</a:t>
                </a:r>
                <a:r>
                  <a:rPr lang="en-US" dirty="0">
                    <a:latin typeface="Merriweather" pitchFamily="2" charset="77"/>
                    <a:ea typeface="Times New Roman" panose="02020603050405020304" pitchFamily="18" charset="0"/>
                  </a:rPr>
                  <a:t> is very small, so it groups them together into the same "Vulnerability Cluster."</a:t>
                </a:r>
              </a:p>
              <a:p>
                <a:endParaRPr lang="en-US" dirty="0">
                  <a:latin typeface="Merriweather" pitchFamily="2" charset="77"/>
                </a:endParaRP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43020E62-57B3-D132-562C-99AD62E7F5DA}"/>
                  </a:ext>
                </a:extLst>
              </p:cNvPr>
              <p:cNvSpPr txBox="1">
                <a:spLocks noRot="1" noChangeAspect="1" noMove="1" noResize="1" noEditPoints="1" noAdjustHandles="1" noChangeArrowheads="1" noChangeShapeType="1" noTextEdit="1"/>
              </p:cNvSpPr>
              <p:nvPr/>
            </p:nvSpPr>
            <p:spPr>
              <a:xfrm>
                <a:off x="472643" y="1519363"/>
                <a:ext cx="9336375" cy="5621154"/>
              </a:xfrm>
              <a:prstGeom prst="rect">
                <a:avLst/>
              </a:prstGeom>
              <a:blipFill>
                <a:blip r:embed="rId3"/>
                <a:stretch>
                  <a:fillRect l="-543" t="-4279"/>
                </a:stretch>
              </a:blipFill>
            </p:spPr>
            <p:txBody>
              <a:bodyPr/>
              <a:lstStyle/>
              <a:p>
                <a:r>
                  <a:rPr lang="en-US">
                    <a:noFill/>
                  </a:rPr>
                  <a:t> </a:t>
                </a:r>
              </a:p>
            </p:txBody>
          </p:sp>
        </mc:Fallback>
      </mc:AlternateContent>
    </p:spTree>
    <p:extLst>
      <p:ext uri="{BB962C8B-B14F-4D97-AF65-F5344CB8AC3E}">
        <p14:creationId xmlns:p14="http://schemas.microsoft.com/office/powerpoint/2010/main" val="1207826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FD24D36-A192-8DD1-E97D-FAF95975069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D4E32FA-91EE-1C76-2726-C556DD27EE49}"/>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95C9027-A1ED-B2F1-E68D-AB033BD59F6C}"/>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8C55C5-5517-9766-E34B-469866D9E598}"/>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3659799541"/>
      </p:ext>
    </p:extLst>
  </p:cSld>
  <p:clrMapOvr>
    <a:masterClrMapping/>
  </p:clrMapOvr>
</p:sld>
</file>

<file path=ppt/theme/theme1.xml><?xml version="1.0" encoding="utf-8"?>
<a:theme xmlns:a="http://schemas.openxmlformats.org/drawingml/2006/main" name="Rutgers Theme">
  <a:themeElements>
    <a:clrScheme name="Rutgers">
      <a:dk1>
        <a:srgbClr val="000000"/>
      </a:dk1>
      <a:lt1>
        <a:srgbClr val="FFFFFF"/>
      </a:lt1>
      <a:dk2>
        <a:srgbClr val="62666A"/>
      </a:dk2>
      <a:lt2>
        <a:srgbClr val="BBBCBC"/>
      </a:lt2>
      <a:accent1>
        <a:srgbClr val="CC0033"/>
      </a:accent1>
      <a:accent2>
        <a:srgbClr val="212121"/>
      </a:accent2>
      <a:accent3>
        <a:srgbClr val="8E0D18"/>
      </a:accent3>
      <a:accent4>
        <a:srgbClr val="666666"/>
      </a:accent4>
      <a:accent5>
        <a:srgbClr val="D7D7D7"/>
      </a:accent5>
      <a:accent6>
        <a:srgbClr val="EFEFEF"/>
      </a:accent6>
      <a:hlink>
        <a:srgbClr val="027EAB"/>
      </a:hlink>
      <a:folHlink>
        <a:srgbClr val="027EAB"/>
      </a:folHlink>
    </a:clrScheme>
    <a:fontScheme name="ppt">
      <a:majorFont>
        <a:latin typeface="PT serif"/>
        <a:ea typeface=""/>
        <a:cs typeface=""/>
      </a:majorFont>
      <a:minorFont>
        <a:latin typeface="Source sans 3"/>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utgers Theme" id="{9C799BE5-DC3B-C543-8DB1-997FB77415E5}" vid="{EE68E9E8-FE1E-FA4C-9487-082FBBF8EAE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11e45801-bee2-4eee-abb6-7fc01a89663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5021A5DC4BEF54E90B3A7E0D30B82FD" ma:contentTypeVersion="5" ma:contentTypeDescription="Create a new document." ma:contentTypeScope="" ma:versionID="0b09cb170d6a15113edb6f479f6ecd10">
  <xsd:schema xmlns:xsd="http://www.w3.org/2001/XMLSchema" xmlns:xs="http://www.w3.org/2001/XMLSchema" xmlns:p="http://schemas.microsoft.com/office/2006/metadata/properties" xmlns:ns3="11e45801-bee2-4eee-abb6-7fc01a896634" targetNamespace="http://schemas.microsoft.com/office/2006/metadata/properties" ma:root="true" ma:fieldsID="c9b1b393770a16940206f9bb69539431" ns3:_="">
    <xsd:import namespace="11e45801-bee2-4eee-abb6-7fc01a896634"/>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e45801-bee2-4eee-abb6-7fc01a89663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4EBF72-05B3-4092-B058-100DE54983B2}">
  <ds:schemaRefs>
    <ds:schemaRef ds:uri="http://schemas.microsoft.com/sharepoint/v3/contenttype/forms"/>
  </ds:schemaRefs>
</ds:datastoreItem>
</file>

<file path=customXml/itemProps2.xml><?xml version="1.0" encoding="utf-8"?>
<ds:datastoreItem xmlns:ds="http://schemas.openxmlformats.org/officeDocument/2006/customXml" ds:itemID="{1EFFF01E-6DF4-4530-B663-FF4BD91444A6}">
  <ds:schemaRefs>
    <ds:schemaRef ds:uri="11e45801-bee2-4eee-abb6-7fc01a896634"/>
    <ds:schemaRef ds:uri="http://schemas.microsoft.com/office/2006/documentManagement/types"/>
    <ds:schemaRef ds:uri="http://www.w3.org/XML/1998/namespace"/>
    <ds:schemaRef ds:uri="http://schemas.microsoft.com/office/2006/metadata/properties"/>
    <ds:schemaRef ds:uri="http://purl.org/dc/terms/"/>
    <ds:schemaRef ds:uri="http://purl.org/dc/elements/1.1/"/>
    <ds:schemaRef ds:uri="http://schemas.microsoft.com/office/infopath/2007/PartnerControl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CB7AAD6B-2CD1-4FD9-A228-72630DF2E75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1e45801-bee2-4eee-abb6-7fc01a8966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Rutgers Theme</Template>
  <TotalTime>29446</TotalTime>
  <Words>3728</Words>
  <Application>Microsoft Macintosh PowerPoint</Application>
  <PresentationFormat>Widescreen</PresentationFormat>
  <Paragraphs>410</Paragraphs>
  <Slides>27</Slides>
  <Notes>26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27</vt:i4>
      </vt:variant>
    </vt:vector>
  </HeadingPairs>
  <TitlesOfParts>
    <vt:vector size="37" baseType="lpstr">
      <vt:lpstr>Arial</vt:lpstr>
      <vt:lpstr>Source sans 3</vt:lpstr>
      <vt:lpstr>Symbol</vt:lpstr>
      <vt:lpstr>Merriweather</vt:lpstr>
      <vt:lpstr>Calibri</vt:lpstr>
      <vt:lpstr>Cambria Math</vt:lpstr>
      <vt:lpstr>Wingdings</vt:lpstr>
      <vt:lpstr>PT serif</vt:lpstr>
      <vt:lpstr>Roboto</vt:lpstr>
      <vt:lpstr>Rutgers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Andres Ruiz</cp:lastModifiedBy>
  <cp:revision>399</cp:revision>
  <cp:lastPrinted>2025-12-23T15:43:13Z</cp:lastPrinted>
  <dcterms:created xsi:type="dcterms:W3CDTF">2018-07-12T14:29:14Z</dcterms:created>
  <dcterms:modified xsi:type="dcterms:W3CDTF">2026-05-02T18:17:41Z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0x01010015021A5DC4BEF54E90B3A7E0D30B82FD</vt:lpwstr>
  </property>
</Properties>
</file>