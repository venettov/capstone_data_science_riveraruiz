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32"/>
  </p:notesMasterIdLst>
  <p:handoutMasterIdLst>
    <p:handoutMasterId r:id="rId33"/>
  </p:handoutMasterIdLst>
  <p:sldIdLst>
    <p:sldId id="408" r:id="rId5"/>
    <p:sldId id="407" r:id="rId6"/>
    <p:sldId id="448" r:id="rId7"/>
    <p:sldId id="431" r:id="rId8"/>
    <p:sldId id="449" r:id="rId9"/>
    <p:sldId id="454" r:id="rId10"/>
    <p:sldId id="435" r:id="rId11"/>
    <p:sldId id="436" r:id="rId12"/>
    <p:sldId id="437" r:id="rId13"/>
    <p:sldId id="457" r:id="rId14"/>
    <p:sldId id="444" r:id="rId15"/>
    <p:sldId id="445" r:id="rId16"/>
    <p:sldId id="450" r:id="rId17"/>
    <p:sldId id="452" r:id="rId18"/>
    <p:sldId id="451" r:id="rId19"/>
    <p:sldId id="453" r:id="rId20"/>
    <p:sldId id="455" r:id="rId21"/>
    <p:sldId id="456" r:id="rId22"/>
    <p:sldId id="438" r:id="rId23"/>
    <p:sldId id="439" r:id="rId24"/>
    <p:sldId id="430" r:id="rId25"/>
    <p:sldId id="442" r:id="rId26"/>
    <p:sldId id="275" r:id="rId27"/>
    <p:sldId id="276" r:id="rId28"/>
    <p:sldId id="277" r:id="rId29"/>
    <p:sldId id="279" r:id="rId30"/>
    <p:sldId id="281" r:id="rId31"/>
  </p:sldIdLst>
  <p:sldSz cx="12192000" cy="6858000"/>
  <p:notesSz cx="9296400" cy="7010400"/>
  <p:embeddedFontLst>
    <p:embeddedFont>
      <p:font typeface="Cambria Math" panose="02040503050406030204" pitchFamily="18" charset="0"/>
      <p:regular r:id="rId34"/>
    </p:embeddedFont>
    <p:embeddedFont>
      <p:font typeface="Merriweather" pitchFamily="2" charset="77"/>
      <p:regular r:id="rId35"/>
      <p:bold r:id="rId36"/>
      <p:italic r:id="rId37"/>
      <p:boldItalic r:id="rId38"/>
    </p:embeddedFont>
    <p:embeddedFont>
      <p:font typeface="PT serif" panose="020A0603040505020204" pitchFamily="18" charset="77"/>
      <p:regular r:id="rId39"/>
      <p:bold r:id="rId40"/>
      <p:italic r:id="rId41"/>
      <p:boldItalic r:id="rId42"/>
    </p:embeddedFont>
    <p:embeddedFont>
      <p:font typeface="Roboto" panose="02000000000000000000" pitchFamily="2" charset="0"/>
      <p:regular r:id="rId43"/>
      <p:bold r:id="rId44"/>
      <p:italic r:id="rId45"/>
      <p:boldItalic r:id="rId46"/>
    </p:embeddedFont>
    <p:embeddedFont>
      <p:font typeface="Source sans 3" panose="020B0303030403020204" pitchFamily="34" charset="0"/>
      <p:regular r:id="rId47"/>
      <p:bold r:id="rId48"/>
      <p:italic r:id="rId49"/>
      <p:boldItalic r:id="rId5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D59"/>
    <a:srgbClr val="71B2C4"/>
    <a:srgbClr val="649EC7"/>
    <a:srgbClr val="5576B9"/>
    <a:srgbClr val="405C84"/>
    <a:srgbClr val="00B050"/>
    <a:srgbClr val="00FACA"/>
    <a:srgbClr val="F9E289"/>
    <a:srgbClr val="F3D169"/>
    <a:srgbClr val="E8B51F"/>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94"/>
    <p:restoredTop sz="71650"/>
  </p:normalViewPr>
  <p:slideViewPr>
    <p:cSldViewPr snapToGrid="0">
      <p:cViewPr>
        <p:scale>
          <a:sx n="100" d="100"/>
          <a:sy n="100" d="100"/>
        </p:scale>
        <p:origin x="1016" y="328"/>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6.fntdata"/><Relationship Id="rId21" Type="http://schemas.openxmlformats.org/officeDocument/2006/relationships/slide" Target="slides/slide17.xml"/><Relationship Id="rId34" Type="http://schemas.openxmlformats.org/officeDocument/2006/relationships/font" Target="fonts/font1.fntdata"/><Relationship Id="rId42" Type="http://schemas.openxmlformats.org/officeDocument/2006/relationships/font" Target="fonts/font9.fntdata"/><Relationship Id="rId47" Type="http://schemas.openxmlformats.org/officeDocument/2006/relationships/font" Target="fonts/font14.fntdata"/><Relationship Id="rId50" Type="http://schemas.openxmlformats.org/officeDocument/2006/relationships/font" Target="fonts/font17.fntdata"/><Relationship Id="rId55"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font" Target="fonts/font12.fntdata"/><Relationship Id="rId53"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font" Target="fonts/font11.fntdata"/><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2.fntdata"/><Relationship Id="rId43" Type="http://schemas.openxmlformats.org/officeDocument/2006/relationships/font" Target="fonts/font10.fntdata"/><Relationship Id="rId48" Type="http://schemas.openxmlformats.org/officeDocument/2006/relationships/font" Target="fonts/font15.fntdata"/><Relationship Id="rId56" Type="http://schemas.microsoft.com/office/2018/10/relationships/authors" Target="authors.xml"/><Relationship Id="rId8" Type="http://schemas.openxmlformats.org/officeDocument/2006/relationships/slide" Target="slides/slide4.xml"/><Relationship Id="rId51" Type="http://schemas.openxmlformats.org/officeDocument/2006/relationships/commentAuthors" Target="commen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font" Target="fonts/font5.fntdata"/><Relationship Id="rId46" Type="http://schemas.openxmlformats.org/officeDocument/2006/relationships/font" Target="fonts/font13.fntdata"/><Relationship Id="rId20" Type="http://schemas.openxmlformats.org/officeDocument/2006/relationships/slide" Target="slides/slide16.xml"/><Relationship Id="rId41" Type="http://schemas.openxmlformats.org/officeDocument/2006/relationships/font" Target="fonts/font8.fntdata"/><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3.fntdata"/><Relationship Id="rId49" Type="http://schemas.openxmlformats.org/officeDocument/2006/relationships/font" Target="fonts/font1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5/1/26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5/1/26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2</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1DD09-BB55-281C-2B14-A8ACF16F8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046E6-D34B-02FB-7487-746D08C62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71936-83C1-5ABC-0C85-37052FCCE2B5}"/>
              </a:ext>
            </a:extLst>
          </p:cNvPr>
          <p:cNvSpPr>
            <a:spLocks noGrp="1"/>
          </p:cNvSpPr>
          <p:nvPr>
            <p:ph type="body" idx="1"/>
          </p:nvPr>
        </p:nvSpPr>
        <p:spPr/>
        <p:txBody>
          <a:bodyPr/>
          <a:lstStyle/>
          <a:p>
            <a:r>
              <a:rPr lang="en-US" dirty="0"/>
              <a:t>This slide shows how we split the data for modeling using a </a:t>
            </a:r>
            <a:r>
              <a:rPr lang="en-US" b="1" dirty="0"/>
              <a:t>chronological 80/20 framework</a:t>
            </a:r>
            <a:r>
              <a:rPr lang="en-US" dirty="0"/>
              <a:t>.</a:t>
            </a:r>
          </a:p>
          <a:p>
            <a:r>
              <a:rPr lang="en-US" dirty="0"/>
              <a:t>Instead of randomly splitting the data, we preserve the time structure.</a:t>
            </a:r>
            <a:br>
              <a:rPr lang="en-US" dirty="0"/>
            </a:br>
            <a:r>
              <a:rPr lang="en-US" dirty="0"/>
              <a:t>We train the model only on </a:t>
            </a:r>
            <a:r>
              <a:rPr lang="en-US" b="1" dirty="0"/>
              <a:t>earlier years (2010–2018)</a:t>
            </a:r>
            <a:r>
              <a:rPr lang="en-US" dirty="0"/>
              <a:t>, reserve </a:t>
            </a:r>
            <a:r>
              <a:rPr lang="en-US" b="1" dirty="0"/>
              <a:t>2019 as a validation year</a:t>
            </a:r>
            <a:r>
              <a:rPr lang="en-US" dirty="0"/>
              <a:t>, and then evaluate performance on </a:t>
            </a:r>
            <a:r>
              <a:rPr lang="en-US" b="1" dirty="0"/>
              <a:t>completely unseen future years (2020–2021)</a:t>
            </a:r>
            <a:r>
              <a:rPr lang="en-US" dirty="0"/>
              <a:t>.</a:t>
            </a:r>
          </a:p>
          <a:p>
            <a:r>
              <a:rPr lang="en-US" dirty="0"/>
              <a:t>Each year contributes </a:t>
            </a:r>
            <a:r>
              <a:rPr lang="en-US" b="1" dirty="0"/>
              <a:t>78 municipality-level observations</a:t>
            </a:r>
            <a:r>
              <a:rPr lang="en-US" dirty="0"/>
              <a:t>, so the split is balanced across time.</a:t>
            </a:r>
          </a:p>
          <a:p>
            <a:r>
              <a:rPr lang="en-US" dirty="0"/>
              <a:t>The key idea here is that we are mimicking a </a:t>
            </a:r>
            <a:r>
              <a:rPr lang="en-US" b="1" dirty="0"/>
              <a:t>real forecasting setup</a:t>
            </a:r>
            <a:r>
              <a:rPr lang="en-US" dirty="0"/>
              <a:t>:</a:t>
            </a:r>
          </a:p>
          <a:p>
            <a:r>
              <a:rPr lang="en-US" dirty="0"/>
              <a:t>the model learns from the past </a:t>
            </a:r>
          </a:p>
          <a:p>
            <a:r>
              <a:rPr lang="en-US" dirty="0"/>
              <a:t>it is tuned on a later holdout year </a:t>
            </a:r>
          </a:p>
          <a:p>
            <a:r>
              <a:rPr lang="en-US" dirty="0"/>
              <a:t>and it is tested on future data it has never seen </a:t>
            </a:r>
          </a:p>
          <a:p>
            <a:r>
              <a:rPr lang="en-US"/>
              <a:t>This avoids </a:t>
            </a:r>
            <a:r>
              <a:rPr lang="en-US" b="1"/>
              <a:t>data leakage</a:t>
            </a:r>
            <a:r>
              <a:rPr lang="en-US"/>
              <a:t>, meaning we never use future information to predict the past.</a:t>
            </a:r>
          </a:p>
          <a:p>
            <a:endParaRPr lang="en-US" dirty="0"/>
          </a:p>
        </p:txBody>
      </p:sp>
      <p:sp>
        <p:nvSpPr>
          <p:cNvPr id="4" name="Slide Number Placeholder 3">
            <a:extLst>
              <a:ext uri="{FF2B5EF4-FFF2-40B4-BE49-F238E27FC236}">
                <a16:creationId xmlns:a16="http://schemas.microsoft.com/office/drawing/2014/main" id="{A9518824-9364-DB73-9829-09F87B1DC587}"/>
              </a:ext>
            </a:extLst>
          </p:cNvPr>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437935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5</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takeaway from this analysis is that population dynamics in Puerto Rico are highly persistent and path-dependent.</a:t>
            </a:r>
            <a:br>
              <a:rPr lang="en-US" dirty="0"/>
            </a:br>
            <a:r>
              <a:rPr lang="en-US" dirty="0"/>
              <a:t>What happens in one period strongly influences what happens next.</a:t>
            </a:r>
            <a:br>
              <a:rPr lang="en-US" dirty="0"/>
            </a:br>
            <a:r>
              <a:rPr lang="en-US" dirty="0"/>
              <a:t>While shocks like hurricanes and earthquakes do matter, their effects are not immediate, they accumulate over time and are reflected through longer-term trends.</a:t>
            </a:r>
            <a:br>
              <a:rPr lang="en-US" dirty="0"/>
            </a:br>
            <a:r>
              <a:rPr lang="en-US" dirty="0"/>
              <a:t>So ultimately, population change is less about single events and more about the gradual buildup of structural conditions.</a:t>
            </a:r>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20598323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prediction, what we see is that population dynamics are not random, they’re spatially structured.</a:t>
            </a:r>
            <a:br>
              <a:rPr lang="en-US" dirty="0"/>
            </a:br>
            <a:r>
              <a:rPr lang="en-US" dirty="0"/>
              <a:t>Municipalities cluster into distinct typologies, and these clusters align strongly with geographic regions.</a:t>
            </a:r>
            <a:br>
              <a:rPr lang="en-US" dirty="0"/>
            </a:br>
            <a:r>
              <a:rPr lang="en-US" dirty="0"/>
              <a:t>This means similar places behave similarly over time.</a:t>
            </a:r>
            <a:br>
              <a:rPr lang="en-US" dirty="0"/>
            </a:br>
            <a:r>
              <a:rPr lang="en-US" dirty="0"/>
              <a:t>The key insight is that decline is not evenly distributed, it’s concentrated in specific regions and tied to underlying structural conditions like economic activity and vulnerability.</a:t>
            </a:r>
            <a:br>
              <a:rPr lang="en-US" dirty="0"/>
            </a:br>
            <a:r>
              <a:rPr lang="en-US" dirty="0"/>
              <a:t>So overall, population change reflects persistent regional structures rather than isolated local variation.</a:t>
            </a:r>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DD697-456F-1A75-D6E6-B1E6DD418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11258D-FCB8-7B47-C3D3-1D083E425B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D9247-5E09-9840-E9B6-40A68D4762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F6117F-BD8B-2B82-05BB-D543D4F651C2}"/>
              </a:ext>
            </a:extLst>
          </p:cNvPr>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9515485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0C211-7FD4-82EB-FB58-FE463015F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6E33D-00B6-FB9C-1548-6554AB87B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EBB1E5-C0C5-D8C2-DE97-00FDF2B7D79A}"/>
              </a:ext>
            </a:extLst>
          </p:cNvPr>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a:extLst>
              <a:ext uri="{FF2B5EF4-FFF2-40B4-BE49-F238E27FC236}">
                <a16:creationId xmlns:a16="http://schemas.microsoft.com/office/drawing/2014/main" id="{C98D717C-2CE1-A6ED-31E3-1DF7106F5466}"/>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34803800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F2AA8-ECEA-E732-FC01-1E089DD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E15F4-1306-EB85-E903-41BF9837C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75522-70CF-AD90-ABD8-B833DD828D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C5038E-CA49-0058-2D63-713C9A608039}"/>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18998686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6C1F-3692-A97E-B268-AA59DA162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A91B-C2FF-3602-A806-D05CC653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1EA65-77C7-68DF-4361-6D963E5E475C}"/>
              </a:ext>
            </a:extLst>
          </p:cNvPr>
          <p:cNvSpPr>
            <a:spLocks noGrp="1"/>
          </p:cNvSpPr>
          <p:nvPr>
            <p:ph type="body" idx="1"/>
          </p:nvPr>
        </p:nvSpPr>
        <p:spPr/>
        <p:txBody>
          <a:bodyPr/>
          <a:lstStyle/>
          <a:p>
            <a:r>
              <a:rPr lang="en-US" dirty="0"/>
              <a:t>Mechanically, the framework does:</a:t>
            </a:r>
          </a:p>
          <a:p>
            <a:r>
              <a:rPr lang="en-US" dirty="0"/>
              <a:t>Take latest municipal data </a:t>
            </a:r>
          </a:p>
          <a:p>
            <a:r>
              <a:rPr lang="en-US" dirty="0"/>
              <a:t>Apply </a:t>
            </a:r>
            <a:r>
              <a:rPr lang="en-US" b="1" dirty="0"/>
              <a:t>feature adjustments (policy shocks)</a:t>
            </a:r>
            <a:r>
              <a:rPr lang="en-US" dirty="0"/>
              <a:t> </a:t>
            </a:r>
          </a:p>
          <a:p>
            <a:r>
              <a:rPr lang="en-US" dirty="0"/>
              <a:t>Feed into </a:t>
            </a:r>
            <a:r>
              <a:rPr lang="en-US" b="1" dirty="0"/>
              <a:t>trained Lasso model</a:t>
            </a:r>
            <a:r>
              <a:rPr lang="en-US" dirty="0"/>
              <a:t> </a:t>
            </a:r>
          </a:p>
          <a:p>
            <a:r>
              <a:rPr lang="en-US" dirty="0"/>
              <a:t>Generate new predicted population paths </a:t>
            </a:r>
          </a:p>
          <a:p>
            <a:endParaRPr lang="en-US" dirty="0"/>
          </a:p>
          <a:p>
            <a:r>
              <a:rPr lang="en-US" dirty="0"/>
              <a:t>So:</a:t>
            </a:r>
          </a:p>
          <a:p>
            <a:r>
              <a:rPr lang="en-US" dirty="0"/>
              <a:t>policies → change features </a:t>
            </a:r>
          </a:p>
          <a:p>
            <a:r>
              <a:rPr lang="en-US" dirty="0"/>
              <a:t>features → change predictions </a:t>
            </a:r>
          </a:p>
          <a:p>
            <a:endParaRPr lang="en-US" dirty="0"/>
          </a:p>
          <a:p>
            <a:r>
              <a:rPr lang="en-US" dirty="0"/>
              <a:t>Important </a:t>
            </a:r>
          </a:p>
          <a:p>
            <a:r>
              <a:rPr lang="en-US" dirty="0"/>
              <a:t>These are </a:t>
            </a:r>
            <a:r>
              <a:rPr lang="en-US" b="1" dirty="0"/>
              <a:t>model-based counterfactuals, not causal estimates</a:t>
            </a:r>
            <a:endParaRPr lang="en-US" dirty="0"/>
          </a:p>
          <a:p>
            <a:endParaRPr lang="en-US" dirty="0"/>
          </a:p>
        </p:txBody>
      </p:sp>
      <p:sp>
        <p:nvSpPr>
          <p:cNvPr id="4" name="Slide Number Placeholder 3">
            <a:extLst>
              <a:ext uri="{FF2B5EF4-FFF2-40B4-BE49-F238E27FC236}">
                <a16:creationId xmlns:a16="http://schemas.microsoft.com/office/drawing/2014/main" id="{1158C983-D6E5-3C0B-780C-A94D0EC35CC9}"/>
              </a:ext>
            </a:extLst>
          </p:cNvPr>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310725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283EE-BD4C-21F8-3DC9-67BBF823A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F0831F-73CB-D30C-046A-15479FB4AE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D500A-05E9-F762-9470-E5DCFD7D1B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E37E72-4A92-E906-1EF7-1BD0A0C8FD98}"/>
              </a:ext>
            </a:extLst>
          </p:cNvPr>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12689172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4B2A4-A14E-7D1F-D2C2-A7CA276233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93C8D-F028-8C77-00D9-43FFBFAB6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F26B0-E18B-6A44-3338-F0166ED805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D4051-2C92-6894-79BA-CCC4179E6DAD}"/>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3142606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D3AE2-5385-ACB2-855D-B0020BA41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15E-4FB2-0FD4-12F5-0D0DAAE826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1FC44-DC21-AFC2-009E-310E8C544716}"/>
              </a:ext>
            </a:extLst>
          </p:cNvPr>
          <p:cNvSpPr>
            <a:spLocks noGrp="1"/>
          </p:cNvSpPr>
          <p:nvPr>
            <p:ph type="body" idx="1"/>
          </p:nvPr>
        </p:nvSpPr>
        <p:spPr/>
        <p:txBody>
          <a:bodyPr/>
          <a:lstStyle/>
          <a:p>
            <a:r>
              <a:rPr lang="en-US" dirty="0"/>
              <a:t>This figure shows the </a:t>
            </a:r>
            <a:r>
              <a:rPr lang="en-US" b="1" dirty="0"/>
              <a:t>island-level population trajectory</a:t>
            </a:r>
            <a:r>
              <a:rPr lang="en-US" dirty="0"/>
              <a:t> under different scenarios.</a:t>
            </a:r>
          </a:p>
          <a:p>
            <a:r>
              <a:rPr lang="en-US" dirty="0"/>
              <a:t>We start with the observed trend, which shows a steady decline with a small temporary fluctuation around the post-Maria period.</a:t>
            </a:r>
          </a:p>
          <a:p>
            <a:r>
              <a:rPr lang="en-US" dirty="0"/>
              <a:t>From 2024 onward, the forecast begins.</a:t>
            </a:r>
          </a:p>
          <a:p>
            <a:r>
              <a:rPr lang="en-US" dirty="0"/>
              <a:t>The </a:t>
            </a:r>
            <a:r>
              <a:rPr lang="en-US" b="1" dirty="0"/>
              <a:t>baseline scenario</a:t>
            </a:r>
            <a:r>
              <a:rPr lang="en-US" dirty="0"/>
              <a:t> continues the downward trajectory, reflecting the model’s core finding that population change is highly persistent.</a:t>
            </a:r>
          </a:p>
          <a:p>
            <a:r>
              <a:rPr lang="en-US" dirty="0"/>
              <a:t>The </a:t>
            </a:r>
            <a:r>
              <a:rPr lang="en-US" b="1" dirty="0"/>
              <a:t>retention bundle</a:t>
            </a:r>
            <a:r>
              <a:rPr lang="en-US" dirty="0"/>
              <a:t> improves outcomes slightly, slowing the rate of decline, but it does not reverse the trend. This shows that standard policy improvements alone are not enough to overcome structural momentum.</a:t>
            </a:r>
          </a:p>
          <a:p>
            <a:r>
              <a:rPr lang="en-US" dirty="0"/>
              <a:t>The </a:t>
            </a:r>
            <a:r>
              <a:rPr lang="en-US" b="1" dirty="0"/>
              <a:t>recovery bundle</a:t>
            </a:r>
            <a:r>
              <a:rPr lang="en-US" dirty="0"/>
              <a:t>, which applies stronger feature improvements, produces a slightly better trajectory, but still remains below the current population level.</a:t>
            </a:r>
          </a:p>
          <a:p>
            <a:r>
              <a:rPr lang="en-US" dirty="0"/>
              <a:t>The most important line is the </a:t>
            </a:r>
            <a:r>
              <a:rPr lang="en-US" b="1" dirty="0"/>
              <a:t>recovery rebound sensitivity</a:t>
            </a:r>
            <a:r>
              <a:rPr lang="en-US" dirty="0"/>
              <a:t>.</a:t>
            </a:r>
          </a:p>
          <a:p>
            <a:r>
              <a:rPr lang="en-US" dirty="0"/>
              <a:t>This scenario adds a return-migration or recovery shock, similar to the temporary increase observed after Hurricane Maria. Under this assumption, population can </a:t>
            </a:r>
            <a:r>
              <a:rPr lang="en-US" b="1" dirty="0"/>
              <a:t>stabilize and even temporarily increase</a:t>
            </a:r>
            <a:r>
              <a:rPr lang="en-US" dirty="0"/>
              <a:t>, but only under strong and coordinated improvements.</a:t>
            </a:r>
          </a:p>
          <a:p>
            <a:endParaRPr lang="en-US" dirty="0"/>
          </a:p>
          <a:p>
            <a:r>
              <a:rPr lang="en-US" dirty="0"/>
              <a:t>***The recovery bundle shows what the model predicts from stronger policy-feature improvements. The rebound sensitivity shows what additional recovery momentum would be needed to reverse the decline.</a:t>
            </a:r>
          </a:p>
          <a:p>
            <a:endParaRPr lang="en-US" dirty="0"/>
          </a:p>
          <a:p>
            <a:endParaRPr lang="en-US" dirty="0"/>
          </a:p>
          <a:p>
            <a:endParaRPr lang="en-US" dirty="0"/>
          </a:p>
          <a:p>
            <a:r>
              <a:rPr lang="en-US" dirty="0"/>
              <a:t>The uncertainty band shows that even under optimistic assumptions, outcomes remain bounded and gradually converge.</a:t>
            </a:r>
          </a:p>
          <a:p>
            <a:endParaRPr lang="en-US" dirty="0"/>
          </a:p>
          <a:p>
            <a:r>
              <a:rPr lang="en-US" dirty="0"/>
              <a:t> The key takeaway is that:</a:t>
            </a:r>
            <a:br>
              <a:rPr lang="en-US" dirty="0"/>
            </a:br>
            <a:r>
              <a:rPr lang="en-US" dirty="0"/>
              <a:t>Population decline in Puerto Rico is driven by </a:t>
            </a:r>
            <a:r>
              <a:rPr lang="en-US" b="1" dirty="0"/>
              <a:t>persistent structural dynamics</a:t>
            </a:r>
            <a:r>
              <a:rPr lang="en-US" dirty="0"/>
              <a:t>, and reversing it would require not just policy improvements, but a </a:t>
            </a:r>
            <a:r>
              <a:rPr lang="en-US" b="1" dirty="0"/>
              <a:t>sustained recovery dynamic strong enough to overcome that momentum</a:t>
            </a:r>
            <a:r>
              <a:rPr lang="en-US" dirty="0"/>
              <a:t>.</a:t>
            </a:r>
          </a:p>
          <a:p>
            <a:endParaRPr lang="en-US" dirty="0"/>
          </a:p>
        </p:txBody>
      </p:sp>
      <p:sp>
        <p:nvSpPr>
          <p:cNvPr id="4" name="Slide Number Placeholder 3">
            <a:extLst>
              <a:ext uri="{FF2B5EF4-FFF2-40B4-BE49-F238E27FC236}">
                <a16:creationId xmlns:a16="http://schemas.microsoft.com/office/drawing/2014/main" id="{CE186F9E-A819-9DFC-96D9-6091E023F146}"/>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16736366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128C-29E3-C741-F35F-0B11A9887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7026FC-28B9-535A-538E-01D689E39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4C150-12A5-E967-3D8A-98A4534C52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FABF98-7D1C-BD1F-62D7-CF11BD1DB70D}"/>
              </a:ext>
            </a:extLst>
          </p:cNvPr>
          <p:cNvSpPr>
            <a:spLocks noGrp="1"/>
          </p:cNvSpPr>
          <p:nvPr>
            <p:ph type="sldNum" sz="quarter" idx="5"/>
          </p:nvPr>
        </p:nvSpPr>
        <p:spPr/>
        <p:txBody>
          <a:bodyPr/>
          <a:lstStyle/>
          <a:p>
            <a:fld id="{5068C1A6-6C9C-C342-8E0F-AE9AC9AFD13B}" type="slidenum">
              <a:rPr lang="en-US" smtClean="0"/>
              <a:t>17</a:t>
            </a:fld>
            <a:endParaRPr lang="en-US" dirty="0"/>
          </a:p>
        </p:txBody>
      </p:sp>
    </p:spTree>
    <p:extLst>
      <p:ext uri="{BB962C8B-B14F-4D97-AF65-F5344CB8AC3E}">
        <p14:creationId xmlns:p14="http://schemas.microsoft.com/office/powerpoint/2010/main" val="7562173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next step, I’m extending this work into a policy simulation framework.</a:t>
            </a:r>
            <a:br>
              <a:rPr lang="en-US" dirty="0"/>
            </a:br>
            <a:r>
              <a:rPr lang="en-US" dirty="0"/>
              <a:t>The goal is to move beyond forecasting and evaluate how different interventions, such as job growth or retention strategies, could influence population trends.</a:t>
            </a:r>
            <a:br>
              <a:rPr lang="en-US" dirty="0"/>
            </a:br>
            <a:br>
              <a:rPr lang="en-US" dirty="0"/>
            </a:br>
            <a:r>
              <a:rPr lang="en-US" dirty="0"/>
              <a:t>Ultimately, this allows to assess which strategies are most effective at slowing population decline and translate those insights into an interactive dashboard.</a:t>
            </a:r>
          </a:p>
        </p:txBody>
      </p:sp>
      <p:sp>
        <p:nvSpPr>
          <p:cNvPr id="4" name="Slide Number Placeholder 3"/>
          <p:cNvSpPr>
            <a:spLocks noGrp="1"/>
          </p:cNvSpPr>
          <p:nvPr>
            <p:ph type="sldNum" sz="quarter" idx="5"/>
          </p:nvPr>
        </p:nvSpPr>
        <p:spPr/>
        <p:txBody>
          <a:bodyPr/>
          <a:lstStyle/>
          <a:p>
            <a:fld id="{5068C1A6-6C9C-C342-8E0F-AE9AC9AFD13B}" type="slidenum">
              <a:rPr lang="en-US" smtClean="0"/>
              <a:t>18</a:t>
            </a:fld>
            <a:endParaRPr lang="en-US" dirty="0"/>
          </a:p>
        </p:txBody>
      </p:sp>
    </p:spTree>
    <p:extLst>
      <p:ext uri="{BB962C8B-B14F-4D97-AF65-F5344CB8AC3E}">
        <p14:creationId xmlns:p14="http://schemas.microsoft.com/office/powerpoint/2010/main" val="36580110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19</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20</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0.xml"/><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10.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14 Progress: 1 May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7">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8">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
        <p:nvSpPr>
          <p:cNvPr id="2" name="Oval 1">
            <a:extLst>
              <a:ext uri="{FF2B5EF4-FFF2-40B4-BE49-F238E27FC236}">
                <a16:creationId xmlns:a16="http://schemas.microsoft.com/office/drawing/2014/main" id="{0E7FAB82-AD50-6FE3-7CDF-48A66E7809F5}"/>
              </a:ext>
            </a:extLst>
          </p:cNvPr>
          <p:cNvSpPr/>
          <p:nvPr/>
        </p:nvSpPr>
        <p:spPr>
          <a:xfrm>
            <a:off x="8700117" y="1465666"/>
            <a:ext cx="490075" cy="339152"/>
          </a:xfrm>
          <a:prstGeom prst="ellipse">
            <a:avLst/>
          </a:prstGeom>
          <a:solidFill>
            <a:srgbClr val="FFAD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 name="Oval 2">
            <a:extLst>
              <a:ext uri="{FF2B5EF4-FFF2-40B4-BE49-F238E27FC236}">
                <a16:creationId xmlns:a16="http://schemas.microsoft.com/office/drawing/2014/main" id="{71E2C969-3039-8A43-84ED-14C3ABF44D43}"/>
              </a:ext>
            </a:extLst>
          </p:cNvPr>
          <p:cNvSpPr/>
          <p:nvPr/>
        </p:nvSpPr>
        <p:spPr>
          <a:xfrm>
            <a:off x="6615781" y="1465699"/>
            <a:ext cx="490075" cy="339152"/>
          </a:xfrm>
          <a:prstGeom prst="ellipse">
            <a:avLst/>
          </a:prstGeom>
          <a:solidFill>
            <a:srgbClr val="71B2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7" name="Oval 6">
            <a:extLst>
              <a:ext uri="{FF2B5EF4-FFF2-40B4-BE49-F238E27FC236}">
                <a16:creationId xmlns:a16="http://schemas.microsoft.com/office/drawing/2014/main" id="{6C200304-F471-462F-C61C-2C6A6E4DF94D}"/>
              </a:ext>
            </a:extLst>
          </p:cNvPr>
          <p:cNvSpPr/>
          <p:nvPr/>
        </p:nvSpPr>
        <p:spPr>
          <a:xfrm>
            <a:off x="4783851" y="1457353"/>
            <a:ext cx="490075" cy="339152"/>
          </a:xfrm>
          <a:prstGeom prst="ellipse">
            <a:avLst/>
          </a:prstGeom>
          <a:solidFill>
            <a:srgbClr val="649E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 name="Oval 8">
            <a:extLst>
              <a:ext uri="{FF2B5EF4-FFF2-40B4-BE49-F238E27FC236}">
                <a16:creationId xmlns:a16="http://schemas.microsoft.com/office/drawing/2014/main" id="{852B82BC-BA73-BD0C-F0DC-9E03FE4F51D2}"/>
              </a:ext>
            </a:extLst>
          </p:cNvPr>
          <p:cNvSpPr/>
          <p:nvPr/>
        </p:nvSpPr>
        <p:spPr>
          <a:xfrm>
            <a:off x="2914258" y="1464904"/>
            <a:ext cx="490075" cy="339152"/>
          </a:xfrm>
          <a:prstGeom prst="ellipse">
            <a:avLst/>
          </a:prstGeom>
          <a:solidFill>
            <a:srgbClr val="5576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1" name="Oval 10">
            <a:extLst>
              <a:ext uri="{FF2B5EF4-FFF2-40B4-BE49-F238E27FC236}">
                <a16:creationId xmlns:a16="http://schemas.microsoft.com/office/drawing/2014/main" id="{33DD2C54-CD19-4DFF-8290-AB99C49805B0}"/>
              </a:ext>
            </a:extLst>
          </p:cNvPr>
          <p:cNvSpPr/>
          <p:nvPr/>
        </p:nvSpPr>
        <p:spPr>
          <a:xfrm>
            <a:off x="1033630" y="1465360"/>
            <a:ext cx="490075" cy="339152"/>
          </a:xfrm>
          <a:prstGeom prst="ellipse">
            <a:avLst/>
          </a:prstGeom>
          <a:solidFill>
            <a:srgbClr val="405C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pic>
        <p:nvPicPr>
          <p:cNvPr id="21" name="Picture 20" descr="A graph with lines and numbers&#10;&#10;AI-generated content may be incorrect.">
            <a:extLst>
              <a:ext uri="{FF2B5EF4-FFF2-40B4-BE49-F238E27FC236}">
                <a16:creationId xmlns:a16="http://schemas.microsoft.com/office/drawing/2014/main" id="{7A641495-0783-0ED2-2975-01E3CC9BB4AA}"/>
              </a:ext>
            </a:extLst>
          </p:cNvPr>
          <p:cNvPicPr>
            <a:picLocks noChangeAspect="1"/>
          </p:cNvPicPr>
          <p:nvPr/>
        </p:nvPicPr>
        <p:blipFill>
          <a:blip r:embed="rId13">
            <a:alphaModFix amt="50000"/>
            <a:extLst>
              <a:ext uri="{28A0092B-C50C-407E-A947-70E740481C1C}">
                <a14:useLocalDpi xmlns:a14="http://schemas.microsoft.com/office/drawing/2010/main" val="0"/>
              </a:ext>
            </a:extLst>
          </a:blip>
          <a:stretch>
            <a:fillRect/>
          </a:stretch>
        </p:blipFill>
        <p:spPr>
          <a:xfrm>
            <a:off x="8229889" y="3323214"/>
            <a:ext cx="1535155" cy="823879"/>
          </a:xfrm>
          <a:prstGeom prst="rect">
            <a:avLst/>
          </a:prstGeom>
          <a:effectLst>
            <a:softEdge rad="63500"/>
          </a:effectLst>
        </p:spPr>
      </p:pic>
    </p:spTree>
    <p:extLst>
      <p:ext uri="{BB962C8B-B14F-4D97-AF65-F5344CB8AC3E}">
        <p14:creationId xmlns:p14="http://schemas.microsoft.com/office/powerpoint/2010/main" val="11039927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C861-E33F-C09B-EB02-1B9C8104DF5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5E3B622-C2B6-15C0-6840-4EA0170A6E8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75EDC21E-BFC6-1CCE-93E2-8AB394250B5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Chronological 80/20 Split</a:t>
            </a:r>
          </a:p>
        </p:txBody>
      </p:sp>
      <p:pic>
        <p:nvPicPr>
          <p:cNvPr id="3" name="Picture 2">
            <a:extLst>
              <a:ext uri="{FF2B5EF4-FFF2-40B4-BE49-F238E27FC236}">
                <a16:creationId xmlns:a16="http://schemas.microsoft.com/office/drawing/2014/main" id="{75392B15-D454-FF9B-9377-3BDDDE70F33B}"/>
              </a:ext>
            </a:extLst>
          </p:cNvPr>
          <p:cNvPicPr>
            <a:picLocks noChangeAspect="1"/>
          </p:cNvPicPr>
          <p:nvPr/>
        </p:nvPicPr>
        <p:blipFill>
          <a:blip r:embed="rId3"/>
          <a:stretch>
            <a:fillRect/>
          </a:stretch>
        </p:blipFill>
        <p:spPr>
          <a:xfrm>
            <a:off x="0" y="1246298"/>
            <a:ext cx="8788400" cy="4469314"/>
          </a:xfrm>
          <a:prstGeom prst="rect">
            <a:avLst/>
          </a:prstGeom>
        </p:spPr>
      </p:pic>
      <p:sp>
        <p:nvSpPr>
          <p:cNvPr id="8" name="TextBox 7">
            <a:extLst>
              <a:ext uri="{FF2B5EF4-FFF2-40B4-BE49-F238E27FC236}">
                <a16:creationId xmlns:a16="http://schemas.microsoft.com/office/drawing/2014/main" id="{7DC07DDB-1C42-8E82-B79B-75567BBEA860}"/>
              </a:ext>
            </a:extLst>
          </p:cNvPr>
          <p:cNvSpPr txBox="1"/>
          <p:nvPr/>
        </p:nvSpPr>
        <p:spPr>
          <a:xfrm>
            <a:off x="0" y="5933249"/>
            <a:ext cx="12192000" cy="369332"/>
          </a:xfrm>
          <a:prstGeom prst="rect">
            <a:avLst/>
          </a:prstGeom>
          <a:noFill/>
        </p:spPr>
        <p:txBody>
          <a:bodyPr wrap="square">
            <a:spAutoFit/>
          </a:bodyPr>
          <a:lstStyle/>
          <a:p>
            <a:r>
              <a:rPr lang="en-US" b="1" dirty="0"/>
              <a:t>Key takeaway: </a:t>
            </a:r>
            <a:r>
              <a:rPr lang="en-US" dirty="0"/>
              <a:t>The model is trained only on past data and evaluated on future years, ensuring a realistic forecasting setup</a:t>
            </a:r>
          </a:p>
        </p:txBody>
      </p:sp>
    </p:spTree>
    <p:extLst>
      <p:ext uri="{BB962C8B-B14F-4D97-AF65-F5344CB8AC3E}">
        <p14:creationId xmlns:p14="http://schemas.microsoft.com/office/powerpoint/2010/main" val="21431262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b="1" dirty="0"/>
              <a:t>Key Findings:</a:t>
            </a:r>
          </a:p>
          <a:p>
            <a:pPr marL="342900" indent="-342900">
              <a:buFont typeface="Arial" panose="020B0604020202020204" pitchFamily="34" charset="0"/>
              <a:buChar char="•"/>
            </a:pPr>
            <a:r>
              <a:rPr lang="en-US" dirty="0"/>
              <a:t>Hurricanes (wind exposure) have the strongest impact at lag 1 </a:t>
            </a:r>
          </a:p>
          <a:p>
            <a:pPr marL="342900" indent="-342900">
              <a:buFont typeface="Arial" panose="020B0604020202020204" pitchFamily="34" charset="0"/>
              <a:buChar char="•"/>
            </a:pPr>
            <a:r>
              <a:rPr lang="en-US" dirty="0"/>
              <a:t>Earthquake effects are both immediate and short-term persistent </a:t>
            </a:r>
          </a:p>
          <a:p>
            <a:pPr marL="342900" indent="-342900">
              <a:buFont typeface="Arial" panose="020B0604020202020204" pitchFamily="34" charset="0"/>
              <a:buChar char="•"/>
            </a:pPr>
            <a:r>
              <a:rPr lang="en-US" dirty="0"/>
              <a:t>Vulnerability (SVI) influences population change consistently over time </a:t>
            </a:r>
          </a:p>
          <a:p>
            <a:pPr marL="342900" indent="-342900">
              <a:buFont typeface="Arial" panose="020B0604020202020204" pitchFamily="34" charset="0"/>
              <a:buChar char="•"/>
            </a:pPr>
            <a:r>
              <a:rPr lang="en-US" dirty="0"/>
              <a:t>Economic variables contribute modest but stable effects </a:t>
            </a:r>
          </a:p>
          <a:p>
            <a:endParaRPr lang="en-US" dirty="0"/>
          </a:p>
          <a:p>
            <a:r>
              <a:rPr lang="en-US" b="1" dirty="0"/>
              <a:t>Interpretation:</a:t>
            </a:r>
          </a:p>
          <a:p>
            <a:pPr marL="342900" indent="-342900">
              <a:buFont typeface="Arial" panose="020B0604020202020204" pitchFamily="34" charset="0"/>
              <a:buChar char="•"/>
            </a:pPr>
            <a:r>
              <a:rPr lang="en-US" dirty="0"/>
              <a:t>Population responses to disasters are delayed, not immediate </a:t>
            </a:r>
          </a:p>
          <a:p>
            <a:pPr marL="342900" indent="-342900">
              <a:buFont typeface="Arial" panose="020B0604020202020204" pitchFamily="34" charset="0"/>
              <a:buChar char="•"/>
            </a:pPr>
            <a:r>
              <a:rPr lang="en-US" dirty="0"/>
              <a:t>Migration and recovery processes likely drive lagged effects </a:t>
            </a:r>
          </a:p>
          <a:p>
            <a:pPr marL="342900" indent="-342900">
              <a:buFont typeface="Arial" panose="020B0604020202020204" pitchFamily="34" charset="0"/>
              <a:buChar char="•"/>
            </a:pPr>
            <a:r>
              <a:rPr lang="en-US" dirty="0"/>
              <a:t>Structural factors shape baseline vulnerability across time </a:t>
            </a:r>
          </a:p>
          <a:p>
            <a:endParaRPr lang="en-US" dirty="0"/>
          </a:p>
          <a:p>
            <a:r>
              <a:rPr lang="en-US" b="1" dirty="0"/>
              <a:t>Key Insight: </a:t>
            </a:r>
            <a:r>
              <a:rPr lang="en-US" dirty="0"/>
              <a:t>Timing matters — not just magnitude</a:t>
            </a:r>
            <a:br>
              <a:rPr lang="en-US" dirty="0"/>
            </a:br>
            <a:r>
              <a:rPr lang="en-US" dirty="0"/>
              <a:t>Population change is driven by </a:t>
            </a:r>
            <a:r>
              <a:rPr lang="en-US" b="1" dirty="0"/>
              <a:t>delayed responses to shocks and persistent structural conditions</a:t>
            </a:r>
            <a:endParaRPr lang="en-US"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spTree>
    <p:extLst>
      <p:ext uri="{BB962C8B-B14F-4D97-AF65-F5344CB8AC3E}">
        <p14:creationId xmlns:p14="http://schemas.microsoft.com/office/powerpoint/2010/main" val="40041912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4801314"/>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 </a:t>
            </a:r>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Persistent population momentum (path dependence)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Time trends reflecting broader structural shifts</a:t>
            </a:r>
          </a:p>
          <a:p>
            <a:pPr marL="742950" lvl="1" indent="-285750">
              <a:buFont typeface="Arial" panose="020B0604020202020204" pitchFamily="34" charset="0"/>
              <a:buChar char="•"/>
            </a:pPr>
            <a:r>
              <a:rPr lang="en-US" dirty="0"/>
              <a:t>Economic and demographic context</a:t>
            </a:r>
          </a:p>
          <a:p>
            <a:pPr marL="742950" lvl="1" indent="-285750">
              <a:buFont typeface="Arial" panose="020B0604020202020204" pitchFamily="34" charset="0"/>
              <a:buChar char="•"/>
            </a:pPr>
            <a:r>
              <a:rPr lang="en-US" dirty="0"/>
              <a:t>Regional differences (secondary role)</a:t>
            </a:r>
            <a:br>
              <a:rPr lang="en-US" dirty="0"/>
            </a:br>
            <a:endParaRPr lang="en-US" dirty="0"/>
          </a:p>
          <a:p>
            <a:r>
              <a:rPr lang="en-US" b="1" dirty="0"/>
              <a:t>Key Takeaway: </a:t>
            </a:r>
            <a:r>
              <a:rPr lang="en-US" dirty="0"/>
              <a:t>Population change reflects strong persistence and path dependence, while shocks influence outcomes primarily through cumulative long-term effects.</a:t>
            </a:r>
          </a:p>
        </p:txBody>
      </p:sp>
    </p:spTree>
    <p:extLst>
      <p:ext uri="{BB962C8B-B14F-4D97-AF65-F5344CB8AC3E}">
        <p14:creationId xmlns:p14="http://schemas.microsoft.com/office/powerpoint/2010/main" val="20506428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5016758"/>
          </a:xfrm>
          <a:prstGeom prst="rect">
            <a:avLst/>
          </a:prstGeom>
          <a:noFill/>
        </p:spPr>
        <p:txBody>
          <a:bodyPr wrap="square">
            <a:spAutoFit/>
          </a:bodyPr>
          <a:lstStyle/>
          <a:p>
            <a:r>
              <a:rPr lang="en-US" sz="2000" b="1" dirty="0"/>
              <a:t>What emerges</a:t>
            </a:r>
          </a:p>
          <a:p>
            <a:pPr marL="342900" indent="-342900">
              <a:buFont typeface="Arial" panose="020B0604020202020204" pitchFamily="34" charset="0"/>
              <a:buChar char="•"/>
            </a:pPr>
            <a:r>
              <a:rPr lang="en-US" sz="2000" dirty="0"/>
              <a:t>Distinct municipal typologies across Puerto Rico </a:t>
            </a:r>
          </a:p>
          <a:p>
            <a:pPr marL="342900" indent="-342900">
              <a:buFont typeface="Arial" panose="020B0604020202020204" pitchFamily="34" charset="0"/>
              <a:buChar char="•"/>
            </a:pPr>
            <a:r>
              <a:rPr lang="en-US" sz="2000" dirty="0"/>
              <a:t>Clear and persistent regional clustering </a:t>
            </a:r>
          </a:p>
          <a:p>
            <a:pPr marL="342900" indent="-342900">
              <a:buFont typeface="Arial" panose="020B0604020202020204" pitchFamily="34" charset="0"/>
              <a:buChar char="•"/>
            </a:pPr>
            <a:r>
              <a:rPr lang="en-US" sz="2000" dirty="0"/>
              <a:t>Strong spatial organization of population dynamics</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exhibit consistent trajectories </a:t>
            </a:r>
          </a:p>
          <a:p>
            <a:pPr marL="285750" indent="-285750">
              <a:buFont typeface="Arial" panose="020B0604020202020204" pitchFamily="34" charset="0"/>
              <a:buChar char="•"/>
            </a:pPr>
            <a:r>
              <a:rPr lang="en-US" sz="2000" dirty="0"/>
              <a:t>Geographic proximity aligns with structural similarity </a:t>
            </a:r>
          </a:p>
          <a:p>
            <a:pPr marL="285750" indent="-285750">
              <a:buFont typeface="Arial" panose="020B0604020202020204" pitchFamily="34" charset="0"/>
              <a:buChar char="•"/>
            </a:pPr>
            <a:r>
              <a:rPr lang="en-US" sz="2000" dirty="0"/>
              <a:t>Results persist across modeling approaches and specifications</a:t>
            </a:r>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change is structurally and spatially organized, not random </a:t>
            </a:r>
          </a:p>
          <a:p>
            <a:pPr marL="285750" indent="-285750">
              <a:buFont typeface="Arial" panose="020B0604020202020204" pitchFamily="34" charset="0"/>
              <a:buChar char="•"/>
            </a:pPr>
            <a:r>
              <a:rPr lang="en-US" sz="2000" dirty="0"/>
              <a:t>Decline is concentrated in specific regions, not evenly distributed </a:t>
            </a:r>
          </a:p>
          <a:p>
            <a:pPr marL="285750" indent="-285750">
              <a:buFont typeface="Arial" panose="020B0604020202020204" pitchFamily="34" charset="0"/>
              <a:buChar char="•"/>
            </a:pPr>
            <a:r>
              <a:rPr lang="en-US" sz="2000" dirty="0"/>
              <a:t>Economic conditions and vulnerability align geographically </a:t>
            </a:r>
          </a:p>
          <a:p>
            <a:pPr marL="285750" indent="-285750">
              <a:buFont typeface="Arial" panose="020B0604020202020204" pitchFamily="34" charset="0"/>
              <a:buChar char="•"/>
            </a:pPr>
            <a:r>
              <a:rPr lang="en-US" sz="2000" dirty="0"/>
              <a:t>Spatial structure reflects long-term underlying conditions, not short-term shocks</a:t>
            </a:r>
          </a:p>
        </p:txBody>
      </p:sp>
    </p:spTree>
    <p:extLst>
      <p:ext uri="{BB962C8B-B14F-4D97-AF65-F5344CB8AC3E}">
        <p14:creationId xmlns:p14="http://schemas.microsoft.com/office/powerpoint/2010/main" val="628415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Picture 22" descr="A graph of earthquake and earthquake&#10;&#10;AI-generated content may be incorrect.">
            <a:extLst>
              <a:ext uri="{FF2B5EF4-FFF2-40B4-BE49-F238E27FC236}">
                <a16:creationId xmlns:a16="http://schemas.microsoft.com/office/drawing/2014/main" id="{E832074F-0E6B-0735-113E-B5184D60C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6570" y="1179741"/>
            <a:ext cx="3619456" cy="5142868"/>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CE450-7451-3561-C82E-B27D143454FF}"/>
            </a:ext>
          </a:extLst>
        </p:cNvPr>
        <p:cNvGrpSpPr/>
        <p:nvPr/>
      </p:nvGrpSpPr>
      <p:grpSpPr>
        <a:xfrm>
          <a:off x="0" y="0"/>
          <a:ext cx="0" cy="0"/>
          <a:chOff x="0" y="0"/>
          <a:chExt cx="0" cy="0"/>
        </a:xfrm>
      </p:grpSpPr>
      <p:pic>
        <p:nvPicPr>
          <p:cNvPr id="6" name="Picture 5" descr="A map of different colored areas&#10;&#10;AI-generated content may be incorrect.">
            <a:extLst>
              <a:ext uri="{FF2B5EF4-FFF2-40B4-BE49-F238E27FC236}">
                <a16:creationId xmlns:a16="http://schemas.microsoft.com/office/drawing/2014/main" id="{D1D0EC73-A520-E2D4-4E56-FEC5EAFCBC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5253" y="4179625"/>
            <a:ext cx="4530034" cy="2150372"/>
          </a:xfrm>
          <a:prstGeom prst="rect">
            <a:avLst/>
          </a:prstGeom>
        </p:spPr>
      </p:pic>
      <p:pic>
        <p:nvPicPr>
          <p:cNvPr id="10" name="Picture 9" descr="A map of different colored areas&#10;&#10;AI-generated content may be incorrect.">
            <a:extLst>
              <a:ext uri="{FF2B5EF4-FFF2-40B4-BE49-F238E27FC236}">
                <a16:creationId xmlns:a16="http://schemas.microsoft.com/office/drawing/2014/main" id="{4984584E-D9F5-BB6F-B072-249C1077F9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01487" y="4179625"/>
            <a:ext cx="4492854" cy="2147233"/>
          </a:xfrm>
          <a:prstGeom prst="rect">
            <a:avLst/>
          </a:prstGeom>
        </p:spPr>
      </p:pic>
      <p:pic>
        <p:nvPicPr>
          <p:cNvPr id="13" name="Picture 12" descr="A map of different colored states&#10;&#10;AI-generated content may be incorrect.">
            <a:extLst>
              <a:ext uri="{FF2B5EF4-FFF2-40B4-BE49-F238E27FC236}">
                <a16:creationId xmlns:a16="http://schemas.microsoft.com/office/drawing/2014/main" id="{289B6E45-AFB1-5D39-45BE-04F30976DD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3844" y="1368962"/>
            <a:ext cx="4492854" cy="2150372"/>
          </a:xfrm>
          <a:prstGeom prst="rect">
            <a:avLst/>
          </a:prstGeom>
        </p:spPr>
      </p:pic>
      <p:pic>
        <p:nvPicPr>
          <p:cNvPr id="15" name="Picture 14" descr="A map of different colored areas&#10;&#10;AI-generated content may be incorrect.">
            <a:extLst>
              <a:ext uri="{FF2B5EF4-FFF2-40B4-BE49-F238E27FC236}">
                <a16:creationId xmlns:a16="http://schemas.microsoft.com/office/drawing/2014/main" id="{6F8F3549-F043-02CF-3966-FD9417B81C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01487" y="1368962"/>
            <a:ext cx="4530038" cy="2150372"/>
          </a:xfrm>
          <a:prstGeom prst="rect">
            <a:avLst/>
          </a:prstGeom>
        </p:spPr>
      </p:pic>
      <p:sp>
        <p:nvSpPr>
          <p:cNvPr id="4" name="Rectangle 3">
            <a:extLst>
              <a:ext uri="{FF2B5EF4-FFF2-40B4-BE49-F238E27FC236}">
                <a16:creationId xmlns:a16="http://schemas.microsoft.com/office/drawing/2014/main" id="{B97622A4-D8B9-5C1F-0940-F076655EC8F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D1CA394-DA1A-2FB8-2000-66836352100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Tree>
    <p:extLst>
      <p:ext uri="{BB962C8B-B14F-4D97-AF65-F5344CB8AC3E}">
        <p14:creationId xmlns:p14="http://schemas.microsoft.com/office/powerpoint/2010/main" val="20458378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7021" y="1725108"/>
            <a:ext cx="7772400" cy="4231640"/>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2D8DA-71F8-5252-E92B-F07096EA896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B4C24D0-FE60-EE0C-AD18-F6F6AF226A3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8CDDF6D-0977-8F9C-1E29-8906F64C30C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6" name="Picture 5">
            <a:extLst>
              <a:ext uri="{FF2B5EF4-FFF2-40B4-BE49-F238E27FC236}">
                <a16:creationId xmlns:a16="http://schemas.microsoft.com/office/drawing/2014/main" id="{82016559-3C92-77D3-1BD1-9AC6D2981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68962"/>
            <a:ext cx="8708661" cy="4741382"/>
          </a:xfrm>
          <a:prstGeom prst="rect">
            <a:avLst/>
          </a:prstGeom>
        </p:spPr>
      </p:pic>
    </p:spTree>
    <p:extLst>
      <p:ext uri="{BB962C8B-B14F-4D97-AF65-F5344CB8AC3E}">
        <p14:creationId xmlns:p14="http://schemas.microsoft.com/office/powerpoint/2010/main" val="36884450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39974-DA9B-1BDB-4213-6CFAC82AA8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2FF56E-E59A-FD79-029D-F15A477A02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9B74BF2-2043-D925-13F0-D6B86598330F}"/>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Policy Response &amp; Retention Strategies </a:t>
            </a:r>
            <a:endParaRPr lang="en-US" sz="2400" dirty="0">
              <a:solidFill>
                <a:schemeClr val="bg1"/>
              </a:solidFill>
            </a:endParaRPr>
          </a:p>
        </p:txBody>
      </p:sp>
      <p:sp>
        <p:nvSpPr>
          <p:cNvPr id="12" name="TextBox 11">
            <a:extLst>
              <a:ext uri="{FF2B5EF4-FFF2-40B4-BE49-F238E27FC236}">
                <a16:creationId xmlns:a16="http://schemas.microsoft.com/office/drawing/2014/main" id="{B47823D1-EA69-E409-B8BD-E52E1C7E7F94}"/>
              </a:ext>
            </a:extLst>
          </p:cNvPr>
          <p:cNvSpPr txBox="1"/>
          <p:nvPr/>
        </p:nvSpPr>
        <p:spPr>
          <a:xfrm>
            <a:off x="248855" y="1368962"/>
            <a:ext cx="10608197" cy="4861587"/>
          </a:xfrm>
          <a:prstGeom prst="rect">
            <a:avLst/>
          </a:prstGeom>
          <a:noFill/>
        </p:spPr>
        <p:txBody>
          <a:bodyPr wrap="square">
            <a:spAutoFit/>
          </a:bodyPr>
          <a:lstStyle/>
          <a:p>
            <a:pPr>
              <a:lnSpc>
                <a:spcPts val="1350"/>
              </a:lnSpc>
              <a:buNone/>
            </a:pPr>
            <a:r>
              <a:rPr lang="en-US" b="1" dirty="0">
                <a:effectLst/>
              </a:rPr>
              <a:t>Key idea: </a:t>
            </a:r>
            <a:r>
              <a:rPr lang="en-US" dirty="0">
                <a:effectLst/>
              </a:rPr>
              <a:t>Natural disasters themselves are not preventable, but governments can still influence whether people </a:t>
            </a:r>
            <a:r>
              <a:rPr lang="en-US" dirty="0"/>
              <a:t> </a:t>
            </a:r>
            <a:r>
              <a:rPr lang="en-US" dirty="0">
                <a:effectLst/>
              </a:rPr>
              <a:t>stay, return, or leave by changing conditions such as:</a:t>
            </a:r>
          </a:p>
          <a:p>
            <a:pPr>
              <a:lnSpc>
                <a:spcPts val="1350"/>
              </a:lnSpc>
              <a:buNone/>
            </a:pPr>
            <a:br>
              <a:rPr lang="en-US" dirty="0">
                <a:effectLst/>
              </a:rPr>
            </a:br>
            <a:endParaRPr lang="en-US" dirty="0">
              <a:effectLst/>
            </a:endParaRPr>
          </a:p>
          <a:p>
            <a:pPr marL="285750" indent="-285750">
              <a:lnSpc>
                <a:spcPts val="1350"/>
              </a:lnSpc>
              <a:buFont typeface="Arial" panose="020B0604020202020204" pitchFamily="34" charset="0"/>
              <a:buChar char="•"/>
            </a:pPr>
            <a:r>
              <a:rPr lang="en-US" dirty="0">
                <a:effectLst/>
              </a:rPr>
              <a:t>economic opportunity</a:t>
            </a:r>
          </a:p>
          <a:p>
            <a:pPr marL="285750" indent="-285750">
              <a:lnSpc>
                <a:spcPts val="1350"/>
              </a:lnSpc>
              <a:buFont typeface="Arial" panose="020B0604020202020204" pitchFamily="34" charset="0"/>
              <a:buChar char="•"/>
            </a:pPr>
            <a:r>
              <a:rPr lang="en-US" dirty="0">
                <a:effectLst/>
              </a:rPr>
              <a:t>business activity</a:t>
            </a:r>
          </a:p>
          <a:p>
            <a:pPr marL="285750" indent="-285750">
              <a:lnSpc>
                <a:spcPts val="1350"/>
              </a:lnSpc>
              <a:buFont typeface="Arial" panose="020B0604020202020204" pitchFamily="34" charset="0"/>
              <a:buChar char="•"/>
            </a:pPr>
            <a:r>
              <a:rPr lang="en-US" dirty="0">
                <a:effectLst/>
              </a:rPr>
              <a:t>public safety</a:t>
            </a:r>
          </a:p>
          <a:p>
            <a:pPr marL="285750" indent="-285750">
              <a:lnSpc>
                <a:spcPts val="1350"/>
              </a:lnSpc>
              <a:buFont typeface="Arial" panose="020B0604020202020204" pitchFamily="34" charset="0"/>
              <a:buChar char="•"/>
            </a:pPr>
            <a:r>
              <a:rPr lang="en-US" dirty="0">
                <a:effectLst/>
              </a:rPr>
              <a:t>social vulnerability</a:t>
            </a:r>
          </a:p>
          <a:p>
            <a:pPr marL="285750" indent="-285750">
              <a:lnSpc>
                <a:spcPts val="1350"/>
              </a:lnSpc>
              <a:buFont typeface="Arial" panose="020B0604020202020204" pitchFamily="34" charset="0"/>
              <a:buChar char="•"/>
            </a:pPr>
            <a:r>
              <a:rPr lang="en-US" dirty="0">
                <a:effectLst/>
              </a:rPr>
              <a:t>demographic and family-support conditions</a:t>
            </a:r>
          </a:p>
          <a:p>
            <a:pPr marL="285750" indent="-285750">
              <a:lnSpc>
                <a:spcPts val="1350"/>
              </a:lnSpc>
              <a:buFont typeface="Arial" panose="020B0604020202020204" pitchFamily="34" charset="0"/>
              <a:buChar char="•"/>
            </a:pPr>
            <a:endParaRPr lang="en-US" dirty="0"/>
          </a:p>
          <a:p>
            <a:r>
              <a:rPr lang="en-US" dirty="0"/>
              <a:t>These are the </a:t>
            </a:r>
            <a:r>
              <a:rPr lang="en-US" b="1" dirty="0"/>
              <a:t>actionable levers</a:t>
            </a:r>
            <a:r>
              <a:rPr lang="en-US" dirty="0"/>
              <a:t> used in our policy simulations:</a:t>
            </a:r>
          </a:p>
          <a:p>
            <a:pPr marL="285750" indent="-285750">
              <a:buFont typeface="Arial" panose="020B0604020202020204" pitchFamily="34" charset="0"/>
              <a:buChar char="•"/>
            </a:pPr>
            <a:r>
              <a:rPr lang="en-US" b="1" dirty="0"/>
              <a:t>Economic</a:t>
            </a:r>
            <a:r>
              <a:rPr lang="en-US" dirty="0"/>
              <a:t> </a:t>
            </a:r>
          </a:p>
          <a:p>
            <a:pPr lvl="1"/>
            <a:r>
              <a:rPr lang="en-US" dirty="0"/>
              <a:t>	</a:t>
            </a:r>
            <a:r>
              <a:rPr lang="en-US" dirty="0" err="1"/>
              <a:t>establishment_growth</a:t>
            </a:r>
            <a:r>
              <a:rPr lang="en-US" dirty="0"/>
              <a:t> </a:t>
            </a:r>
          </a:p>
          <a:p>
            <a:pPr lvl="1"/>
            <a:r>
              <a:rPr lang="en-US" dirty="0"/>
              <a:t>	</a:t>
            </a:r>
            <a:r>
              <a:rPr lang="en-US" dirty="0" err="1"/>
              <a:t>income_growth</a:t>
            </a:r>
            <a:r>
              <a:rPr lang="en-US" dirty="0"/>
              <a:t> </a:t>
            </a:r>
          </a:p>
          <a:p>
            <a:pPr marL="285750" indent="-285750">
              <a:buFont typeface="Arial" panose="020B0604020202020204" pitchFamily="34" charset="0"/>
              <a:buChar char="•"/>
            </a:pPr>
            <a:r>
              <a:rPr lang="en-US" b="1" dirty="0"/>
              <a:t>Public safety</a:t>
            </a:r>
            <a:r>
              <a:rPr lang="en-US" dirty="0"/>
              <a:t> </a:t>
            </a:r>
          </a:p>
          <a:p>
            <a:pPr lvl="1"/>
            <a:r>
              <a:rPr lang="en-US" dirty="0"/>
              <a:t>	</a:t>
            </a:r>
            <a:r>
              <a:rPr lang="en-US" dirty="0" err="1"/>
              <a:t>total_crime_rate</a:t>
            </a:r>
            <a:r>
              <a:rPr lang="en-US" dirty="0"/>
              <a:t> (lagged) </a:t>
            </a:r>
          </a:p>
          <a:p>
            <a:pPr marL="285750" indent="-285750">
              <a:buFont typeface="Arial" panose="020B0604020202020204" pitchFamily="34" charset="0"/>
              <a:buChar char="•"/>
            </a:pPr>
            <a:r>
              <a:rPr lang="en-US" b="1" dirty="0"/>
              <a:t>Demographic / structural</a:t>
            </a:r>
            <a:r>
              <a:rPr lang="en-US" dirty="0"/>
              <a:t> </a:t>
            </a:r>
          </a:p>
          <a:p>
            <a:pPr lvl="1"/>
            <a:r>
              <a:rPr lang="en-US" dirty="0"/>
              <a:t>	</a:t>
            </a:r>
            <a:r>
              <a:rPr lang="en-US" dirty="0" err="1"/>
              <a:t>natural_change_rate</a:t>
            </a:r>
            <a:r>
              <a:rPr lang="en-US" dirty="0"/>
              <a:t> (births – deaths) </a:t>
            </a:r>
          </a:p>
          <a:p>
            <a:pPr marL="285750" indent="-285750">
              <a:buFont typeface="Arial" panose="020B0604020202020204" pitchFamily="34" charset="0"/>
              <a:buChar char="•"/>
            </a:pPr>
            <a:r>
              <a:rPr lang="en-US" b="1" dirty="0"/>
              <a:t>Vulnerability / resilience</a:t>
            </a:r>
            <a:r>
              <a:rPr lang="en-US" dirty="0"/>
              <a:t> </a:t>
            </a:r>
          </a:p>
          <a:p>
            <a:pPr lvl="1"/>
            <a:r>
              <a:rPr lang="en-US" dirty="0"/>
              <a:t>	svi_pca_1 (social vulnerability index)</a:t>
            </a:r>
          </a:p>
          <a:p>
            <a:pPr>
              <a:lnSpc>
                <a:spcPts val="1350"/>
              </a:lnSpc>
            </a:pPr>
            <a:endParaRPr lang="en-US" dirty="0">
              <a:effectLst/>
            </a:endParaRPr>
          </a:p>
        </p:txBody>
      </p:sp>
    </p:spTree>
    <p:extLst>
      <p:ext uri="{BB962C8B-B14F-4D97-AF65-F5344CB8AC3E}">
        <p14:creationId xmlns:p14="http://schemas.microsoft.com/office/powerpoint/2010/main" val="42707783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36C6-5F15-29F6-17AC-9BD0838BE4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E08779-09CE-C644-CA15-0F182CB2ADA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F929E5D-31BD-8409-EB48-CF0FE1455ED2}"/>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1" dirty="0">
                <a:solidFill>
                  <a:schemeClr val="bg1"/>
                </a:solidFill>
              </a:rPr>
              <a:t>Counterfactual Policy Packages</a:t>
            </a:r>
          </a:p>
        </p:txBody>
      </p:sp>
      <p:sp>
        <p:nvSpPr>
          <p:cNvPr id="12" name="TextBox 11">
            <a:extLst>
              <a:ext uri="{FF2B5EF4-FFF2-40B4-BE49-F238E27FC236}">
                <a16:creationId xmlns:a16="http://schemas.microsoft.com/office/drawing/2014/main" id="{62B49666-7F45-B191-2793-394E00C60369}"/>
              </a:ext>
            </a:extLst>
          </p:cNvPr>
          <p:cNvSpPr txBox="1"/>
          <p:nvPr/>
        </p:nvSpPr>
        <p:spPr>
          <a:xfrm>
            <a:off x="243069" y="1368962"/>
            <a:ext cx="10613984" cy="5005216"/>
          </a:xfrm>
          <a:prstGeom prst="rect">
            <a:avLst/>
          </a:prstGeom>
          <a:noFill/>
        </p:spPr>
        <p:txBody>
          <a:bodyPr wrap="square">
            <a:spAutoFit/>
          </a:bodyPr>
          <a:lstStyle/>
          <a:p>
            <a:r>
              <a:rPr lang="en-US" dirty="0"/>
              <a:t>I grouped features into </a:t>
            </a:r>
            <a:r>
              <a:rPr lang="en-US" b="1" dirty="0"/>
              <a:t>realistic policy bundles</a:t>
            </a:r>
            <a:r>
              <a:rPr lang="en-US" dirty="0"/>
              <a:t>:</a:t>
            </a:r>
          </a:p>
          <a:p>
            <a:pPr lvl="1"/>
            <a:r>
              <a:rPr lang="en-US" b="1" dirty="0"/>
              <a:t>1. Jobs push</a:t>
            </a:r>
          </a:p>
          <a:p>
            <a:pPr lvl="2"/>
            <a:r>
              <a:rPr lang="en-US" dirty="0"/>
              <a:t>↑ establishment growth </a:t>
            </a:r>
          </a:p>
          <a:p>
            <a:pPr lvl="2"/>
            <a:r>
              <a:rPr lang="en-US" dirty="0"/>
              <a:t>↑ income growth </a:t>
            </a:r>
          </a:p>
          <a:p>
            <a:pPr lvl="1"/>
            <a:endParaRPr lang="en-US" dirty="0"/>
          </a:p>
          <a:p>
            <a:pPr lvl="1"/>
            <a:r>
              <a:rPr lang="en-US" b="1" dirty="0"/>
              <a:t>2. Public safety</a:t>
            </a:r>
          </a:p>
          <a:p>
            <a:pPr lvl="1"/>
            <a:r>
              <a:rPr lang="en-US" dirty="0"/>
              <a:t>	↓ crime rates </a:t>
            </a:r>
          </a:p>
          <a:p>
            <a:pPr lvl="1"/>
            <a:endParaRPr lang="en-US" dirty="0"/>
          </a:p>
          <a:p>
            <a:pPr lvl="1"/>
            <a:r>
              <a:rPr lang="en-US" b="1" dirty="0"/>
              <a:t>3. Resilience &amp; vulnerability</a:t>
            </a:r>
          </a:p>
          <a:p>
            <a:pPr lvl="1"/>
            <a:r>
              <a:rPr lang="en-US" dirty="0"/>
              <a:t>	↓ SVI (reduce vulnerability exposure) </a:t>
            </a:r>
          </a:p>
          <a:p>
            <a:pPr lvl="1"/>
            <a:br>
              <a:rPr lang="en-US" dirty="0"/>
            </a:br>
            <a:endParaRPr lang="en-US" dirty="0"/>
          </a:p>
          <a:p>
            <a:pPr lvl="1"/>
            <a:r>
              <a:rPr lang="en-US" b="1" dirty="0"/>
              <a:t>4. Family &amp; demographic support</a:t>
            </a:r>
          </a:p>
          <a:p>
            <a:pPr lvl="1"/>
            <a:r>
              <a:rPr lang="en-US" dirty="0"/>
              <a:t>	↑ natural change rate </a:t>
            </a:r>
          </a:p>
          <a:p>
            <a:pPr lvl="1"/>
            <a:endParaRPr lang="en-US" dirty="0"/>
          </a:p>
          <a:p>
            <a:pPr lvl="1"/>
            <a:r>
              <a:rPr lang="en-US" b="1" dirty="0"/>
              <a:t>5. Retention bundle (most important)</a:t>
            </a:r>
          </a:p>
          <a:p>
            <a:pPr lvl="1"/>
            <a:r>
              <a:rPr lang="en-US" dirty="0"/>
              <a:t>	Combination of jobs, safety, resilience &amp; demographics</a:t>
            </a:r>
          </a:p>
          <a:p>
            <a:pPr>
              <a:lnSpc>
                <a:spcPts val="1350"/>
              </a:lnSpc>
            </a:pPr>
            <a:endParaRPr lang="en-US" dirty="0">
              <a:effectLst/>
            </a:endParaRPr>
          </a:p>
        </p:txBody>
      </p:sp>
    </p:spTree>
    <p:extLst>
      <p:ext uri="{BB962C8B-B14F-4D97-AF65-F5344CB8AC3E}">
        <p14:creationId xmlns:p14="http://schemas.microsoft.com/office/powerpoint/2010/main" val="17485315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30179-0DB9-2D0B-5773-D25FCC68DB7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3369159-7478-E673-F740-3CDD6E42143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B150FF2-0660-699A-8832-D5A9E0C0AA9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eaLnBrk="0" fontAlgn="base" hangingPunct="0">
              <a:spcAft>
                <a:spcPct val="0"/>
              </a:spcAft>
            </a:pPr>
            <a:r>
              <a:rPr lang="en-US" altLang="en-US" sz="3600" b="1" dirty="0">
                <a:solidFill>
                  <a:schemeClr val="bg1"/>
                </a:solidFill>
              </a:rPr>
              <a:t>Actionable Policy Insights</a:t>
            </a:r>
          </a:p>
        </p:txBody>
      </p:sp>
      <p:pic>
        <p:nvPicPr>
          <p:cNvPr id="10" name="Picture 9" descr="A graph of different colored bars&#10;&#10;AI-generated content may be incorrect.">
            <a:extLst>
              <a:ext uri="{FF2B5EF4-FFF2-40B4-BE49-F238E27FC236}">
                <a16:creationId xmlns:a16="http://schemas.microsoft.com/office/drawing/2014/main" id="{B7024AA7-2E13-2554-A6E7-EAAEDCE52D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624" y="1368962"/>
            <a:ext cx="8426663" cy="4557276"/>
          </a:xfrm>
          <a:prstGeom prst="rect">
            <a:avLst/>
          </a:prstGeom>
        </p:spPr>
      </p:pic>
    </p:spTree>
    <p:extLst>
      <p:ext uri="{BB962C8B-B14F-4D97-AF65-F5344CB8AC3E}">
        <p14:creationId xmlns:p14="http://schemas.microsoft.com/office/powerpoint/2010/main" val="6581757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CC3A81-AA87-3908-006D-6032611734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1C5401F-459E-4B3E-3886-882BA58E497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9DAB5F5-4FDD-783D-5234-D2CB050C01B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eaLnBrk="0" fontAlgn="base" hangingPunct="0">
              <a:spcAft>
                <a:spcPct val="0"/>
              </a:spcAft>
            </a:pPr>
            <a:r>
              <a:rPr lang="en-US" altLang="en-US" sz="3600" b="1" dirty="0">
                <a:solidFill>
                  <a:schemeClr val="bg1"/>
                </a:solidFill>
              </a:rPr>
              <a:t>Actionable Policy Insights</a:t>
            </a:r>
          </a:p>
        </p:txBody>
      </p:sp>
      <p:pic>
        <p:nvPicPr>
          <p:cNvPr id="3" name="Picture 2" descr="A graph of a line graph&#10;&#10;AI-generated content may be incorrect.">
            <a:extLst>
              <a:ext uri="{FF2B5EF4-FFF2-40B4-BE49-F238E27FC236}">
                <a16:creationId xmlns:a16="http://schemas.microsoft.com/office/drawing/2014/main" id="{386A9B98-CF86-62A9-70E2-532D02FA82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113" y="1503874"/>
            <a:ext cx="8429150" cy="4507182"/>
          </a:xfrm>
          <a:prstGeom prst="rect">
            <a:avLst/>
          </a:prstGeom>
        </p:spPr>
      </p:pic>
    </p:spTree>
    <p:extLst>
      <p:ext uri="{BB962C8B-B14F-4D97-AF65-F5344CB8AC3E}">
        <p14:creationId xmlns:p14="http://schemas.microsoft.com/office/powerpoint/2010/main" val="1771775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0C5-9BDA-B9C5-9144-4B2ED01207B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4C70D4-92B9-0132-4644-E8C416ABDC0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9FB854C-AAB3-043F-4E90-1286423B3B46}"/>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descr="A graph with lines and numbers&#10;&#10;AI-generated content may be incorrect.">
            <a:extLst>
              <a:ext uri="{FF2B5EF4-FFF2-40B4-BE49-F238E27FC236}">
                <a16:creationId xmlns:a16="http://schemas.microsoft.com/office/drawing/2014/main" id="{CF51E733-B060-1ECD-5199-6494AA7A9D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6160" y="3693160"/>
            <a:ext cx="4647656" cy="2494280"/>
          </a:xfrm>
          <a:prstGeom prst="rect">
            <a:avLst/>
          </a:prstGeom>
        </p:spPr>
      </p:pic>
      <p:sp>
        <p:nvSpPr>
          <p:cNvPr id="7" name="TextBox 6">
            <a:extLst>
              <a:ext uri="{FF2B5EF4-FFF2-40B4-BE49-F238E27FC236}">
                <a16:creationId xmlns:a16="http://schemas.microsoft.com/office/drawing/2014/main" id="{CD7050EC-5E83-3D96-03C1-8C916B40BFE7}"/>
              </a:ext>
            </a:extLst>
          </p:cNvPr>
          <p:cNvSpPr txBox="1"/>
          <p:nvPr/>
        </p:nvSpPr>
        <p:spPr>
          <a:xfrm>
            <a:off x="139613" y="1368962"/>
            <a:ext cx="6866493" cy="4801314"/>
          </a:xfrm>
          <a:prstGeom prst="rect">
            <a:avLst/>
          </a:prstGeom>
          <a:noFill/>
        </p:spPr>
        <p:txBody>
          <a:bodyPr wrap="square">
            <a:spAutoFit/>
          </a:bodyPr>
          <a:lstStyle/>
          <a:p>
            <a:r>
              <a:rPr lang="en-US" sz="1400" b="1" dirty="0"/>
              <a:t>Key Findings: </a:t>
            </a:r>
          </a:p>
          <a:p>
            <a:pPr marL="285750" indent="-285750">
              <a:buFont typeface="Arial" panose="020B0604020202020204" pitchFamily="34" charset="0"/>
              <a:buChar char="•"/>
            </a:pPr>
            <a:r>
              <a:rPr lang="en-US" sz="1400" dirty="0"/>
              <a:t>Puerto Rico continues to show a persistent population decline (~0.6% per year) </a:t>
            </a:r>
            <a:r>
              <a:rPr lang="en-US" sz="1400" b="1" dirty="0"/>
              <a:t>~20,000 people lost annually</a:t>
            </a:r>
          </a:p>
          <a:p>
            <a:pPr marL="285750" indent="-285750">
              <a:buFont typeface="Arial" panose="020B0604020202020204" pitchFamily="34" charset="0"/>
              <a:buChar char="•"/>
            </a:pPr>
            <a:r>
              <a:rPr lang="en-US" sz="1400" dirty="0"/>
              <a:t>Policy interventions can slow decline, but do not reverse it</a:t>
            </a:r>
          </a:p>
          <a:p>
            <a:pPr marL="285750" indent="-285750">
              <a:buFont typeface="Arial" panose="020B0604020202020204" pitchFamily="34" charset="0"/>
              <a:buChar char="•"/>
            </a:pPr>
            <a:r>
              <a:rPr lang="en-US" sz="1400" dirty="0"/>
              <a:t>Retention and recovery bundles reduce losses but remain below current levels</a:t>
            </a:r>
          </a:p>
          <a:p>
            <a:pPr marL="285750" indent="-285750">
              <a:buFont typeface="Arial" panose="020B0604020202020204" pitchFamily="34" charset="0"/>
              <a:buChar char="•"/>
            </a:pPr>
            <a:r>
              <a:rPr lang="en-US" sz="1400" dirty="0"/>
              <a:t>A population increase only appears under strong recovery + return-migration conditions</a:t>
            </a:r>
            <a:br>
              <a:rPr lang="en-US" sz="1400" dirty="0"/>
            </a:br>
            <a:endParaRPr lang="en-US" sz="1400" dirty="0"/>
          </a:p>
          <a:p>
            <a:r>
              <a:rPr lang="en-US" sz="1600" dirty="0"/>
              <a:t>Natural disasters themselves are not preventable, but governments can still influence whether people </a:t>
            </a:r>
            <a:r>
              <a:rPr lang="en-US" sz="1600" b="1" dirty="0"/>
              <a:t>stay, return, or leave</a:t>
            </a:r>
            <a:r>
              <a:rPr lang="en-US" sz="1600" dirty="0"/>
              <a:t> by changing conditions such as:</a:t>
            </a:r>
          </a:p>
          <a:p>
            <a:pPr marL="742950" lvl="1" indent="-285750">
              <a:buFont typeface="Arial" panose="020B0604020202020204" pitchFamily="34" charset="0"/>
              <a:buChar char="•"/>
            </a:pPr>
            <a:r>
              <a:rPr lang="en-US" sz="1600" dirty="0"/>
              <a:t>economic opportunity</a:t>
            </a:r>
          </a:p>
          <a:p>
            <a:pPr marL="742950" lvl="1" indent="-285750">
              <a:buFont typeface="Arial" panose="020B0604020202020204" pitchFamily="34" charset="0"/>
              <a:buChar char="•"/>
            </a:pPr>
            <a:r>
              <a:rPr lang="en-US" sz="1600" dirty="0"/>
              <a:t>business activity</a:t>
            </a:r>
          </a:p>
          <a:p>
            <a:pPr marL="742950" lvl="1" indent="-285750">
              <a:buFont typeface="Arial" panose="020B0604020202020204" pitchFamily="34" charset="0"/>
              <a:buChar char="•"/>
            </a:pPr>
            <a:r>
              <a:rPr lang="en-US" sz="1600" dirty="0"/>
              <a:t>public safety</a:t>
            </a:r>
          </a:p>
          <a:p>
            <a:pPr marL="742950" lvl="1" indent="-285750">
              <a:buFont typeface="Arial" panose="020B0604020202020204" pitchFamily="34" charset="0"/>
              <a:buChar char="•"/>
            </a:pPr>
            <a:r>
              <a:rPr lang="en-US" sz="1600" dirty="0"/>
              <a:t>social vulnerability</a:t>
            </a:r>
          </a:p>
          <a:p>
            <a:pPr marL="742950" lvl="1" indent="-285750">
              <a:buFont typeface="Arial" panose="020B0604020202020204" pitchFamily="34" charset="0"/>
              <a:buChar char="•"/>
            </a:pPr>
            <a:r>
              <a:rPr lang="en-US" sz="1600" dirty="0"/>
              <a:t>demographic and family-support conditions</a:t>
            </a:r>
            <a:br>
              <a:rPr lang="en-US" sz="1400" dirty="0"/>
            </a:br>
            <a:endParaRPr lang="en-US" sz="1400" dirty="0"/>
          </a:p>
          <a:p>
            <a:r>
              <a:rPr lang="en-US" sz="1400" b="1" dirty="0"/>
              <a:t>Key Insight: </a:t>
            </a:r>
            <a:r>
              <a:rPr lang="en-US" sz="1400" dirty="0"/>
              <a:t>Population decline in Puerto Rico is persistent and momentum-driven, where policies can slow losses, but only a strong, coordinated recovery dynamic can stabilize or temporarily reverse the trend</a:t>
            </a:r>
          </a:p>
        </p:txBody>
      </p:sp>
      <p:pic>
        <p:nvPicPr>
          <p:cNvPr id="9" name="Picture 8" descr="A graph of different colored bars&#10;&#10;AI-generated content may be incorrect.">
            <a:extLst>
              <a:ext uri="{FF2B5EF4-FFF2-40B4-BE49-F238E27FC236}">
                <a16:creationId xmlns:a16="http://schemas.microsoft.com/office/drawing/2014/main" id="{9A33CC87-A651-632B-F8DC-6E5C518D83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38719" y="1368962"/>
            <a:ext cx="3895009" cy="2106484"/>
          </a:xfrm>
          <a:prstGeom prst="rect">
            <a:avLst/>
          </a:prstGeom>
        </p:spPr>
      </p:pic>
    </p:spTree>
    <p:extLst>
      <p:ext uri="{BB962C8B-B14F-4D97-AF65-F5344CB8AC3E}">
        <p14:creationId xmlns:p14="http://schemas.microsoft.com/office/powerpoint/2010/main" val="1511817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DD93C-1869-5A81-3809-E3BEE068FC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5F68F32-7899-CF79-F28E-C98FA6B200F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6E908254-7865-C1C3-3621-CB661A720C8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descr="A graph of different types of graphs&#10;&#10;AI-generated content may be incorrect.">
            <a:extLst>
              <a:ext uri="{FF2B5EF4-FFF2-40B4-BE49-F238E27FC236}">
                <a16:creationId xmlns:a16="http://schemas.microsoft.com/office/drawing/2014/main" id="{E3BCD7A5-DEC1-9976-42CD-1C6257A454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4878" y="1368961"/>
            <a:ext cx="7316392" cy="3869245"/>
          </a:xfrm>
          <a:prstGeom prst="rect">
            <a:avLst/>
          </a:prstGeom>
        </p:spPr>
      </p:pic>
      <p:pic>
        <p:nvPicPr>
          <p:cNvPr id="9" name="Picture 8" descr="A graph and chart with blue and red lines&#10;&#10;AI-generated content may be incorrect.">
            <a:extLst>
              <a:ext uri="{FF2B5EF4-FFF2-40B4-BE49-F238E27FC236}">
                <a16:creationId xmlns:a16="http://schemas.microsoft.com/office/drawing/2014/main" id="{444245DB-B516-C39B-1114-69AE3D9DECA7}"/>
              </a:ext>
            </a:extLst>
          </p:cNvPr>
          <p:cNvPicPr>
            <a:picLocks noChangeAspect="1"/>
          </p:cNvPicPr>
          <p:nvPr/>
        </p:nvPicPr>
        <p:blipFill>
          <a:blip r:embed="rId4">
            <a:extLst>
              <a:ext uri="{28A0092B-C50C-407E-A947-70E740481C1C}">
                <a14:useLocalDpi xmlns:a14="http://schemas.microsoft.com/office/drawing/2010/main" val="0"/>
              </a:ext>
            </a:extLst>
          </a:blip>
          <a:srcRect r="49313"/>
          <a:stretch>
            <a:fillRect/>
          </a:stretch>
        </p:blipFill>
        <p:spPr>
          <a:xfrm>
            <a:off x="8355061" y="1653166"/>
            <a:ext cx="3662061" cy="2441468"/>
          </a:xfrm>
          <a:prstGeom prst="rect">
            <a:avLst/>
          </a:prstGeom>
        </p:spPr>
      </p:pic>
    </p:spTree>
    <p:extLst>
      <p:ext uri="{BB962C8B-B14F-4D97-AF65-F5344CB8AC3E}">
        <p14:creationId xmlns:p14="http://schemas.microsoft.com/office/powerpoint/2010/main" val="13916754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D9378-4901-CC95-4DF0-C7E71B5E62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CAD6A5-BA72-AEE1-9FDB-8E3BFC1F19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30B379C-AF02-DC4D-8D44-957433DF2A64}"/>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Next Steps: Poster Review and Final Report </a:t>
            </a:r>
          </a:p>
        </p:txBody>
      </p:sp>
      <p:sp>
        <p:nvSpPr>
          <p:cNvPr id="11" name="TextBox 10">
            <a:extLst>
              <a:ext uri="{FF2B5EF4-FFF2-40B4-BE49-F238E27FC236}">
                <a16:creationId xmlns:a16="http://schemas.microsoft.com/office/drawing/2014/main" id="{CD8A33B1-F324-0543-80BE-283BFC0306AF}"/>
              </a:ext>
            </a:extLst>
          </p:cNvPr>
          <p:cNvSpPr txBox="1"/>
          <p:nvPr/>
        </p:nvSpPr>
        <p:spPr>
          <a:xfrm>
            <a:off x="132408" y="1246298"/>
            <a:ext cx="11673769" cy="5170646"/>
          </a:xfrm>
          <a:prstGeom prst="rect">
            <a:avLst/>
          </a:prstGeom>
          <a:noFill/>
        </p:spPr>
        <p:txBody>
          <a:bodyPr wrap="square">
            <a:spAutoFit/>
          </a:bodyPr>
          <a:lstStyle/>
          <a:p>
            <a:r>
              <a:rPr lang="en-US" sz="2200" b="1" dirty="0"/>
              <a:t>Goal:</a:t>
            </a:r>
            <a:r>
              <a:rPr lang="en-US" sz="2200" dirty="0"/>
              <a:t> Complete final presentation materials and submission-ready report</a:t>
            </a:r>
          </a:p>
          <a:p>
            <a:endParaRPr lang="en-US" sz="2200" b="1" dirty="0"/>
          </a:p>
          <a:p>
            <a:r>
              <a:rPr lang="en-US" sz="2200" b="1" dirty="0"/>
              <a:t>Finalize poster</a:t>
            </a:r>
            <a:r>
              <a:rPr lang="en-US" sz="2200" dirty="0"/>
              <a:t> </a:t>
            </a:r>
          </a:p>
          <a:p>
            <a:pPr lvl="1"/>
            <a:r>
              <a:rPr lang="en-US" sz="2200" dirty="0"/>
              <a:t>Refine Results/Discussion wording </a:t>
            </a:r>
          </a:p>
          <a:p>
            <a:pPr lvl="1"/>
            <a:r>
              <a:rPr lang="en-US" sz="2200" dirty="0"/>
              <a:t>Ensure key message is clear: policy slows decline, recovery momentum is needed for reversal</a:t>
            </a:r>
          </a:p>
          <a:p>
            <a:pPr lvl="1"/>
            <a:r>
              <a:rPr lang="en-US" sz="2200" dirty="0"/>
              <a:t> </a:t>
            </a:r>
          </a:p>
          <a:p>
            <a:r>
              <a:rPr lang="en-US" sz="2200" b="1" dirty="0"/>
              <a:t>Complete final report</a:t>
            </a:r>
            <a:r>
              <a:rPr lang="en-US" sz="2200" dirty="0"/>
              <a:t> </a:t>
            </a:r>
          </a:p>
          <a:p>
            <a:pPr lvl="1"/>
            <a:r>
              <a:rPr lang="en-US" sz="2200" dirty="0"/>
              <a:t>Expand report using provided format</a:t>
            </a:r>
          </a:p>
          <a:p>
            <a:pPr lvl="1"/>
            <a:r>
              <a:rPr lang="en-US" sz="2200" dirty="0"/>
              <a:t>Add figures, tables, and model/scenario interpretations </a:t>
            </a:r>
          </a:p>
          <a:p>
            <a:pPr lvl="1"/>
            <a:r>
              <a:rPr lang="en-US" sz="2200" dirty="0"/>
              <a:t>Strengthen conclusion and future work sections </a:t>
            </a:r>
          </a:p>
          <a:p>
            <a:pPr lvl="1"/>
            <a:endParaRPr lang="en-US" sz="2200" dirty="0"/>
          </a:p>
          <a:p>
            <a:r>
              <a:rPr lang="en-US" sz="2200" b="1" dirty="0"/>
              <a:t>Final submission review</a:t>
            </a:r>
            <a:r>
              <a:rPr lang="en-US" sz="2200" dirty="0"/>
              <a:t> </a:t>
            </a:r>
          </a:p>
          <a:p>
            <a:pPr lvl="1"/>
            <a:r>
              <a:rPr lang="en-US" sz="2200" dirty="0"/>
              <a:t>Check consistency across notebooks, poster, slides, and report </a:t>
            </a:r>
          </a:p>
          <a:p>
            <a:pPr lvl="1"/>
            <a:r>
              <a:rPr lang="en-US" sz="2200" dirty="0"/>
              <a:t>Confirm all outputs, figures, and artifact manifests are complete </a:t>
            </a:r>
          </a:p>
          <a:p>
            <a:pPr lvl="1"/>
            <a:r>
              <a:rPr lang="en-US" sz="2200" dirty="0"/>
              <a:t>Prepare final presentation script and talking points</a:t>
            </a:r>
          </a:p>
        </p:txBody>
      </p:sp>
    </p:spTree>
    <p:extLst>
      <p:ext uri="{BB962C8B-B14F-4D97-AF65-F5344CB8AC3E}">
        <p14:creationId xmlns:p14="http://schemas.microsoft.com/office/powerpoint/2010/main" val="8842645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Final Takeaway</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b="1" dirty="0"/>
              <a:t>Population decline in Puerto Rico is not random:</a:t>
            </a:r>
          </a:p>
          <a:p>
            <a:pPr marL="342900" indent="-342900">
              <a:buFont typeface="Arial" panose="020B0604020202020204" pitchFamily="34" charset="0"/>
              <a:buChar char="•"/>
            </a:pPr>
            <a:r>
              <a:rPr lang="en-US" sz="2000" b="1" dirty="0"/>
              <a:t>Structured</a:t>
            </a:r>
            <a:r>
              <a:rPr lang="en-US" sz="2000" dirty="0"/>
              <a:t> — shaped by economic, demographic, and social conditions</a:t>
            </a:r>
          </a:p>
          <a:p>
            <a:pPr marL="342900" indent="-342900">
              <a:buFont typeface="Arial" panose="020B0604020202020204" pitchFamily="34" charset="0"/>
              <a:buChar char="•"/>
            </a:pPr>
            <a:r>
              <a:rPr lang="en-US" sz="2000" b="1" dirty="0"/>
              <a:t>Spatial</a:t>
            </a:r>
            <a:r>
              <a:rPr lang="en-US" sz="2000" dirty="0"/>
              <a:t> — concentrated differently across regions</a:t>
            </a:r>
          </a:p>
          <a:p>
            <a:pPr marL="342900" indent="-342900">
              <a:buFont typeface="Arial" panose="020B0604020202020204" pitchFamily="34" charset="0"/>
              <a:buChar char="•"/>
            </a:pPr>
            <a:r>
              <a:rPr lang="en-US" sz="2000" b="1" dirty="0"/>
              <a:t>Persistent</a:t>
            </a:r>
            <a:r>
              <a:rPr lang="en-US" sz="2000" dirty="0"/>
              <a:t> — strongly influenced by past population trends</a:t>
            </a:r>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Disasters amplify existing decline rather than acting as simple direct drivers</a:t>
            </a:r>
          </a:p>
          <a:p>
            <a:pPr marL="285750" indent="-285750">
              <a:buFont typeface="Arial" panose="020B0604020202020204" pitchFamily="34" charset="0"/>
              <a:buChar char="•"/>
            </a:pPr>
            <a:r>
              <a:rPr lang="en-US" sz="2000" dirty="0"/>
              <a:t>Policy bundles can slow decline, but reversal requires stronger recovery momentum</a:t>
            </a:r>
          </a:p>
          <a:p>
            <a:pPr marL="285750" indent="-285750">
              <a:buFont typeface="Arial" panose="020B0604020202020204" pitchFamily="34" charset="0"/>
              <a:buChar char="•"/>
            </a:pPr>
            <a:r>
              <a:rPr lang="en-US" sz="2000" dirty="0"/>
              <a:t>Recovery rebound scenarios show that stabilization or growth requires coordinated improvements and return migration</a:t>
            </a:r>
            <a:br>
              <a:rPr lang="en-US" sz="2000" dirty="0"/>
            </a:br>
            <a:endParaRPr lang="en-US" sz="2000" dirty="0"/>
          </a:p>
          <a:p>
            <a:r>
              <a:rPr lang="en-US" sz="2000" b="1" dirty="0"/>
              <a:t>Conclusion: </a:t>
            </a:r>
            <a:r>
              <a:rPr lang="en-US" sz="2000" dirty="0"/>
              <a:t>The project moved beyond prediction to a full </a:t>
            </a:r>
            <a:r>
              <a:rPr lang="en-US" sz="2000" b="1" dirty="0"/>
              <a:t>scenario and policy-testing framework</a:t>
            </a:r>
            <a:r>
              <a:rPr lang="en-US" sz="2000" dirty="0"/>
              <a:t>, showing not only where Puerto Rico’s population decline is headed, but what kinds of coordinated recovery strategies may be needed to slow, stabilize, or reverse it.</a:t>
            </a:r>
          </a:p>
        </p:txBody>
      </p:sp>
    </p:spTree>
    <p:extLst>
      <p:ext uri="{BB962C8B-B14F-4D97-AF65-F5344CB8AC3E}">
        <p14:creationId xmlns:p14="http://schemas.microsoft.com/office/powerpoint/2010/main" val="36645331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4EBF72-05B3-4092-B058-100DE54983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Rutgers Theme</Template>
  <TotalTime>29337</TotalTime>
  <Words>3728</Words>
  <Application>Microsoft Macintosh PowerPoint</Application>
  <PresentationFormat>Widescreen</PresentationFormat>
  <Paragraphs>410</Paragraphs>
  <Slides>27</Slides>
  <Notes>26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27</vt:i4>
      </vt:variant>
    </vt:vector>
  </HeadingPairs>
  <TitlesOfParts>
    <vt:vector size="37" baseType="lpstr">
      <vt:lpstr>PT serif</vt:lpstr>
      <vt:lpstr>Source sans 3</vt:lpstr>
      <vt:lpstr>Roboto</vt:lpstr>
      <vt:lpstr>Wingdings</vt:lpstr>
      <vt:lpstr>Merriweather</vt:lpstr>
      <vt:lpstr>Arial</vt:lpstr>
      <vt:lpstr>Symbol</vt:lpstr>
      <vt:lpstr>Cambria Math</vt:lpstr>
      <vt:lpstr>Calibri</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399</cp:revision>
  <cp:lastPrinted>2025-12-23T15:43:13Z</cp:lastPrinted>
  <dcterms:created xsi:type="dcterms:W3CDTF">2018-07-12T14:29:14Z</dcterms:created>
  <dcterms:modified xsi:type="dcterms:W3CDTF">2026-05-01T18:41:57Z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