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27"/>
  </p:notesMasterIdLst>
  <p:handoutMasterIdLst>
    <p:handoutMasterId r:id="rId28"/>
  </p:handoutMasterIdLst>
  <p:sldIdLst>
    <p:sldId id="408" r:id="rId5"/>
    <p:sldId id="407" r:id="rId6"/>
    <p:sldId id="447" r:id="rId7"/>
    <p:sldId id="431" r:id="rId8"/>
    <p:sldId id="440" r:id="rId9"/>
    <p:sldId id="443" r:id="rId10"/>
    <p:sldId id="434" r:id="rId11"/>
    <p:sldId id="435" r:id="rId12"/>
    <p:sldId id="436" r:id="rId13"/>
    <p:sldId id="437" r:id="rId14"/>
    <p:sldId id="446" r:id="rId15"/>
    <p:sldId id="444" r:id="rId16"/>
    <p:sldId id="445" r:id="rId17"/>
    <p:sldId id="438" r:id="rId18"/>
    <p:sldId id="439" r:id="rId19"/>
    <p:sldId id="430" r:id="rId20"/>
    <p:sldId id="442" r:id="rId21"/>
    <p:sldId id="275" r:id="rId22"/>
    <p:sldId id="276" r:id="rId23"/>
    <p:sldId id="277" r:id="rId24"/>
    <p:sldId id="279" r:id="rId25"/>
    <p:sldId id="281" r:id="rId26"/>
  </p:sldIdLst>
  <p:sldSz cx="12192000" cy="6858000"/>
  <p:notesSz cx="9296400" cy="7010400"/>
  <p:embeddedFontLst>
    <p:embeddedFont>
      <p:font typeface="Cambria Math" panose="02040503050406030204" pitchFamily="18" charset="0"/>
      <p:regular r:id="rId29"/>
    </p:embeddedFont>
    <p:embeddedFont>
      <p:font typeface="Merriweather" pitchFamily="2" charset="77"/>
      <p:regular r:id="rId30"/>
      <p:bold r:id="rId31"/>
      <p:italic r:id="rId32"/>
      <p:boldItalic r:id="rId33"/>
    </p:embeddedFont>
    <p:embeddedFont>
      <p:font typeface="PT serif" panose="020A0603040505020204" pitchFamily="18" charset="77"/>
      <p:regular r:id="rId34"/>
      <p:bold r:id="rId35"/>
      <p:italic r:id="rId36"/>
      <p:boldItalic r:id="rId37"/>
    </p:embeddedFont>
    <p:embeddedFont>
      <p:font typeface="Roboto" panose="02000000000000000000" pitchFamily="2" charset="0"/>
      <p:regular r:id="rId38"/>
      <p:bold r:id="rId39"/>
      <p:italic r:id="rId40"/>
      <p:boldItalic r:id="rId41"/>
    </p:embeddedFont>
    <p:embeddedFont>
      <p:font typeface="Source sans 3" panose="020B0303030403020204"/>
      <p:regular r:id="rId42"/>
      <p:bold r:id="rId43"/>
      <p:italic r:id="rId44"/>
      <p:boldItalic r:id="rId4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289"/>
    <a:srgbClr val="F3D169"/>
    <a:srgbClr val="E8B51F"/>
    <a:srgbClr val="E0002B"/>
    <a:srgbClr val="D82042"/>
    <a:srgbClr val="ECC734"/>
    <a:srgbClr val="FFD579"/>
    <a:srgbClr val="988CB0"/>
    <a:srgbClr val="CC0033"/>
    <a:srgbClr val="62E8DD"/>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730"/>
    <p:restoredTop sz="89041"/>
  </p:normalViewPr>
  <p:slideViewPr>
    <p:cSldViewPr snapToGrid="0">
      <p:cViewPr>
        <p:scale>
          <a:sx n="80" d="100"/>
          <a:sy n="80" d="100"/>
        </p:scale>
        <p:origin x="2112" y="888"/>
      </p:cViewPr>
      <p:guideLst>
        <p:guide pos="3040"/>
        <p:guide orient="horz" pos="2160"/>
      </p:guideLst>
    </p:cSldViewPr>
  </p:slideViewPr>
  <p:notesTextViewPr>
    <p:cViewPr>
      <p:scale>
        <a:sx n="110" d="100"/>
        <a:sy n="11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11.fntdata"/><Relationship Id="rId21" Type="http://schemas.openxmlformats.org/officeDocument/2006/relationships/slide" Target="slides/slide17.xml"/><Relationship Id="rId34" Type="http://schemas.openxmlformats.org/officeDocument/2006/relationships/font" Target="fonts/font6.fntdata"/><Relationship Id="rId42" Type="http://schemas.openxmlformats.org/officeDocument/2006/relationships/font" Target="fonts/font14.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font" Target="fonts/font1.fntdata"/><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4.fntdata"/><Relationship Id="rId37" Type="http://schemas.openxmlformats.org/officeDocument/2006/relationships/font" Target="fonts/font9.fntdata"/><Relationship Id="rId40" Type="http://schemas.openxmlformats.org/officeDocument/2006/relationships/font" Target="fonts/font12.fntdata"/><Relationship Id="rId45" Type="http://schemas.openxmlformats.org/officeDocument/2006/relationships/font" Target="fonts/font17.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handoutMaster" Target="handoutMasters/handoutMaster1.xml"/><Relationship Id="rId36" Type="http://schemas.openxmlformats.org/officeDocument/2006/relationships/font" Target="fonts/font8.fntdata"/><Relationship Id="rId49"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3.fntdata"/><Relationship Id="rId44" Type="http://schemas.openxmlformats.org/officeDocument/2006/relationships/font" Target="fonts/font16.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font" Target="fonts/font2.fntdata"/><Relationship Id="rId35" Type="http://schemas.openxmlformats.org/officeDocument/2006/relationships/font" Target="fonts/font7.fntdata"/><Relationship Id="rId43" Type="http://schemas.openxmlformats.org/officeDocument/2006/relationships/font" Target="fonts/font15.fntdata"/><Relationship Id="rId48" Type="http://schemas.openxmlformats.org/officeDocument/2006/relationships/viewProps" Target="viewProps.xml"/><Relationship Id="rId8" Type="http://schemas.openxmlformats.org/officeDocument/2006/relationships/slide" Target="slides/slide4.xml"/><Relationship Id="rId51" Type="http://schemas.microsoft.com/office/2018/10/relationships/authors" Target="author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5.fntdata"/><Relationship Id="rId38" Type="http://schemas.openxmlformats.org/officeDocument/2006/relationships/font" Target="fonts/font10.fntdata"/><Relationship Id="rId46" Type="http://schemas.openxmlformats.org/officeDocument/2006/relationships/commentAuthors" Target="commentAuthors.xml"/><Relationship Id="rId20" Type="http://schemas.openxmlformats.org/officeDocument/2006/relationships/slide" Target="slides/slide16.xml"/><Relationship Id="rId41" Type="http://schemas.openxmlformats.org/officeDocument/2006/relationships/font" Target="fonts/font13.fntdata"/><Relationship Id="rId1" Type="http://schemas.openxmlformats.org/officeDocument/2006/relationships/customXml" Target="../customXml/item1.xml"/><Relationship Id="rId6"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4/11/26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4/11/26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82BA45-6537-06C1-4B21-CD290AE1F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D5725-9C6F-B6BE-8FDB-89320BAE12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3CC98E-FA3E-E51A-98CA-9214B30FDF97}"/>
              </a:ext>
            </a:extLst>
          </p:cNvPr>
          <p:cNvSpPr>
            <a:spLocks noGrp="1"/>
          </p:cNvSpPr>
          <p:nvPr>
            <p:ph type="body" idx="1"/>
          </p:nvPr>
        </p:nvSpPr>
        <p:spPr/>
        <p:txBody>
          <a:bodyPr/>
          <a:lstStyle/>
          <a:p>
            <a:r>
              <a:rPr lang="en-US" dirty="0"/>
              <a:t>This slide shows the full pipeline. We start with municipal-level structural, economic, and shock data. In Phase 2, we build a predictive model and select Lasso with strong out-of-sample performance. We then interpret the model using SHAP and lead–lag analysis, which reveals that population dynamics are highly persistent. In Phase 3, we generate scenario forecasts, and in Phase 4 we translate those into policy simulations to identify strategies that can reduce population loss.</a:t>
            </a:r>
          </a:p>
        </p:txBody>
      </p:sp>
      <p:sp>
        <p:nvSpPr>
          <p:cNvPr id="4" name="Slide Number Placeholder 3">
            <a:extLst>
              <a:ext uri="{FF2B5EF4-FFF2-40B4-BE49-F238E27FC236}">
                <a16:creationId xmlns:a16="http://schemas.microsoft.com/office/drawing/2014/main" id="{6B5C4318-3BA3-0FD4-318E-C4435095CF76}"/>
              </a:ext>
            </a:extLst>
          </p:cNvPr>
          <p:cNvSpPr>
            <a:spLocks noGrp="1"/>
          </p:cNvSpPr>
          <p:nvPr>
            <p:ph type="sldNum" sz="quarter" idx="5"/>
          </p:nvPr>
        </p:nvSpPr>
        <p:spPr/>
        <p:txBody>
          <a:bodyPr/>
          <a:lstStyle/>
          <a:p>
            <a:fld id="{5068C1A6-6C9C-C342-8E0F-AE9AC9AFD13B}" type="slidenum">
              <a:rPr lang="en-US" smtClean="0"/>
              <a:t>2</a:t>
            </a:fld>
            <a:endParaRPr lang="en-US" dirty="0"/>
          </a:p>
        </p:txBody>
      </p:sp>
    </p:spTree>
    <p:extLst>
      <p:ext uri="{BB962C8B-B14F-4D97-AF65-F5344CB8AC3E}">
        <p14:creationId xmlns:p14="http://schemas.microsoft.com/office/powerpoint/2010/main" val="27583483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week, all models had negative R². This week, after testing nonlinear models, Extra Trees achieved positive R², showing that population dynamics require nonlinear modeling.</a:t>
            </a:r>
          </a:p>
        </p:txBody>
      </p:sp>
      <p:sp>
        <p:nvSpPr>
          <p:cNvPr id="4" name="Slide Number Placeholder 3"/>
          <p:cNvSpPr>
            <a:spLocks noGrp="1"/>
          </p:cNvSpPr>
          <p:nvPr>
            <p:ph type="sldNum" sz="quarter" idx="5"/>
          </p:nvPr>
        </p:nvSpPr>
        <p:spPr/>
        <p:txBody>
          <a:bodyPr/>
          <a:lstStyle/>
          <a:p>
            <a:fld id="{5068C1A6-6C9C-C342-8E0F-AE9AC9AFD13B}" type="slidenum">
              <a:rPr lang="en-US" smtClean="0"/>
              <a:t>3</a:t>
            </a:fld>
            <a:endParaRPr lang="en-US" dirty="0"/>
          </a:p>
        </p:txBody>
      </p:sp>
    </p:spTree>
    <p:extLst>
      <p:ext uri="{BB962C8B-B14F-4D97-AF65-F5344CB8AC3E}">
        <p14:creationId xmlns:p14="http://schemas.microsoft.com/office/powerpoint/2010/main" val="3312028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 analysis indicates that population change is primarily driven by lagged population dynamics and temporal persistence. Disaster-related variables, including hurricanes, earthquakes, and social vulnerability indices, do not appear as dominant predictors. This suggests that their effects are indirectly embedded within lagged population changes rather than captured as independent contemporaneous features.</a:t>
            </a:r>
          </a:p>
        </p:txBody>
      </p:sp>
      <p:sp>
        <p:nvSpPr>
          <p:cNvPr id="4" name="Slide Number Placeholder 3"/>
          <p:cNvSpPr>
            <a:spLocks noGrp="1"/>
          </p:cNvSpPr>
          <p:nvPr>
            <p:ph type="sldNum" sz="quarter" idx="5"/>
          </p:nvPr>
        </p:nvSpPr>
        <p:spPr/>
        <p:txBody>
          <a:bodyPr/>
          <a:lstStyle/>
          <a:p>
            <a:fld id="{5068C1A6-6C9C-C342-8E0F-AE9AC9AFD13B}" type="slidenum">
              <a:rPr lang="en-US" smtClean="0"/>
              <a:t>4</a:t>
            </a:fld>
            <a:endParaRPr lang="en-US" dirty="0"/>
          </a:p>
        </p:txBody>
      </p:sp>
    </p:spTree>
    <p:extLst>
      <p:ext uri="{BB962C8B-B14F-4D97-AF65-F5344CB8AC3E}">
        <p14:creationId xmlns:p14="http://schemas.microsoft.com/office/powerpoint/2010/main" val="31204306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58BF-2752-B391-56A9-F664D9534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5FE71-47E3-4CB3-EEB6-583D6D4DE9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33D1F1-E2B5-70B3-B317-B979A4B294B0}"/>
              </a:ext>
            </a:extLst>
          </p:cNvPr>
          <p:cNvSpPr>
            <a:spLocks noGrp="1"/>
          </p:cNvSpPr>
          <p:nvPr>
            <p:ph type="body" idx="1"/>
          </p:nvPr>
        </p:nvSpPr>
        <p:spPr/>
        <p:txBody>
          <a:bodyPr/>
          <a:lstStyle/>
          <a:p>
            <a:r>
              <a:rPr lang="en-US" dirty="0"/>
              <a:t>This slide looks at when different drivers actually matter over time.</a:t>
            </a:r>
          </a:p>
          <a:p>
            <a:endParaRPr lang="en-US" dirty="0"/>
          </a:p>
          <a:p>
            <a:r>
              <a:rPr lang="en-US" dirty="0"/>
              <a:t>The key takeaway is that lagged population dynamics dominate across all horizons. </a:t>
            </a:r>
          </a:p>
          <a:p>
            <a:r>
              <a:rPr lang="en-US" dirty="0"/>
              <a:t>This means population change is highly persistent, what happened in the past strongly predicts the future.</a:t>
            </a:r>
          </a:p>
          <a:p>
            <a:endParaRPr lang="en-US" dirty="0"/>
          </a:p>
          <a:p>
            <a:r>
              <a:rPr lang="en-US" dirty="0"/>
              <a:t>We tested whether disasters like hurricanes and earthquakes show up directly at different lags, </a:t>
            </a:r>
          </a:p>
          <a:p>
            <a:r>
              <a:rPr lang="en-US" dirty="0"/>
              <a:t>but they do not appear as strong standalone predictors.</a:t>
            </a:r>
          </a:p>
          <a:p>
            <a:endParaRPr lang="en-US" dirty="0"/>
          </a:p>
          <a:p>
            <a:r>
              <a:rPr lang="en-US" dirty="0"/>
              <a:t>Instead, their effects are absorbed into lagged population variables. </a:t>
            </a:r>
          </a:p>
          <a:p>
            <a:r>
              <a:rPr lang="en-US" dirty="0"/>
              <a:t>In other words, shocks don’t show up immediately, they accumulate and persist over time.</a:t>
            </a:r>
          </a:p>
          <a:p>
            <a:endParaRPr lang="en-US" dirty="0"/>
          </a:p>
          <a:p>
            <a:r>
              <a:rPr lang="en-US" dirty="0"/>
              <a:t>So migration responses are gradual rather than immediate.</a:t>
            </a:r>
          </a:p>
          <a:p>
            <a:endParaRPr lang="en-US" dirty="0"/>
          </a:p>
          <a:p>
            <a:r>
              <a:rPr lang="en-US" dirty="0"/>
              <a:t>The main insight is that population change is driven by persistence, not isolated shocks.</a:t>
            </a:r>
          </a:p>
          <a:p>
            <a:r>
              <a:rPr lang="en-US" dirty="0"/>
              <a:t>This has important implications: policies should focus on long-term structural conditions, </a:t>
            </a:r>
          </a:p>
          <a:p>
            <a:r>
              <a:rPr lang="en-US" dirty="0"/>
              <a:t>not just short-term responses to disasters.</a:t>
            </a:r>
          </a:p>
          <a:p>
            <a:endParaRPr lang="en-US" dirty="0"/>
          </a:p>
          <a:p>
            <a:endParaRPr lang="en-US" dirty="0"/>
          </a:p>
          <a:p>
            <a:endParaRPr lang="en-US" dirty="0"/>
          </a:p>
          <a:p>
            <a:endParaRPr lang="en-US" dirty="0"/>
          </a:p>
          <a:p>
            <a:r>
              <a:rPr lang="en-US" dirty="0"/>
              <a:t>This slide looks at when different drivers matter over time.</a:t>
            </a:r>
            <a:br>
              <a:rPr lang="en-US" dirty="0"/>
            </a:br>
            <a:r>
              <a:rPr lang="en-US" dirty="0"/>
              <a:t>What we find is that lagged population dominates, meaning population change is highly persistent.</a:t>
            </a:r>
            <a:br>
              <a:rPr lang="en-US" dirty="0"/>
            </a:br>
            <a:r>
              <a:rPr lang="en-US" dirty="0"/>
              <a:t>Even though we include disaster variables, they don’t show up as strong direct predictors at any lag.</a:t>
            </a:r>
            <a:br>
              <a:rPr lang="en-US" dirty="0"/>
            </a:br>
            <a:r>
              <a:rPr lang="en-US" dirty="0"/>
              <a:t>Instead, their effects are absorbed into past population changes, which means migration responses are gradual, not immediate.</a:t>
            </a:r>
            <a:br>
              <a:rPr lang="en-US" dirty="0"/>
            </a:br>
            <a:r>
              <a:rPr lang="en-US" dirty="0"/>
              <a:t>So the key takeaway is that population dynamics are driven more by persistence than by isolated shocks.</a:t>
            </a:r>
          </a:p>
          <a:p>
            <a:endParaRPr lang="en-US" dirty="0"/>
          </a:p>
        </p:txBody>
      </p:sp>
      <p:sp>
        <p:nvSpPr>
          <p:cNvPr id="4" name="Slide Number Placeholder 3">
            <a:extLst>
              <a:ext uri="{FF2B5EF4-FFF2-40B4-BE49-F238E27FC236}">
                <a16:creationId xmlns:a16="http://schemas.microsoft.com/office/drawing/2014/main" id="{685C73E6-5BEC-A8F8-A1AF-781212921898}"/>
              </a:ext>
            </a:extLst>
          </p:cNvPr>
          <p:cNvSpPr>
            <a:spLocks noGrp="1"/>
          </p:cNvSpPr>
          <p:nvPr>
            <p:ph type="sldNum" sz="quarter" idx="5"/>
          </p:nvPr>
        </p:nvSpPr>
        <p:spPr/>
        <p:txBody>
          <a:bodyPr/>
          <a:lstStyle/>
          <a:p>
            <a:fld id="{5068C1A6-6C9C-C342-8E0F-AE9AC9AFD13B}" type="slidenum">
              <a:rPr lang="en-US" smtClean="0"/>
              <a:t>5</a:t>
            </a:fld>
            <a:endParaRPr lang="en-US" dirty="0"/>
          </a:p>
        </p:txBody>
      </p:sp>
    </p:spTree>
    <p:extLst>
      <p:ext uri="{BB962C8B-B14F-4D97-AF65-F5344CB8AC3E}">
        <p14:creationId xmlns:p14="http://schemas.microsoft.com/office/powerpoint/2010/main" val="23080536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short run, population change is mostly driven </a:t>
            </a:r>
            <a:r>
              <a:rPr lang="en-US"/>
              <a:t>by momentum — it’s </a:t>
            </a:r>
            <a:r>
              <a:rPr lang="en-US" dirty="0"/>
              <a:t>very noisy and hard to predict.</a:t>
            </a:r>
            <a:br>
              <a:rPr lang="en-US" dirty="0"/>
            </a:br>
            <a:r>
              <a:rPr lang="en-US" dirty="0"/>
              <a:t>But when we move to the 3-year horizon, we start to see more stable patterns.</a:t>
            </a:r>
            <a:br>
              <a:rPr lang="en-US" dirty="0"/>
            </a:br>
            <a:r>
              <a:rPr lang="en-US" dirty="0"/>
              <a:t>Even then, the model shows that population dynamics are highly persistent, and disaster variables do not appear as strong direct predictors.</a:t>
            </a:r>
            <a:br>
              <a:rPr lang="en-US" dirty="0"/>
            </a:br>
            <a:r>
              <a:rPr lang="en-US" dirty="0"/>
              <a:t>Instead, their effects are absorbed over time through lagged population changes.</a:t>
            </a:r>
          </a:p>
        </p:txBody>
      </p:sp>
      <p:sp>
        <p:nvSpPr>
          <p:cNvPr id="4" name="Slide Number Placeholder 3"/>
          <p:cNvSpPr>
            <a:spLocks noGrp="1"/>
          </p:cNvSpPr>
          <p:nvPr>
            <p:ph type="sldNum" sz="quarter" idx="5"/>
          </p:nvPr>
        </p:nvSpPr>
        <p:spPr/>
        <p:txBody>
          <a:bodyPr/>
          <a:lstStyle/>
          <a:p>
            <a:fld id="{5068C1A6-6C9C-C342-8E0F-AE9AC9AFD13B}" type="slidenum">
              <a:rPr lang="en-US" smtClean="0"/>
              <a:t>6</a:t>
            </a:fld>
            <a:endParaRPr lang="en-US" dirty="0"/>
          </a:p>
        </p:txBody>
      </p:sp>
    </p:spTree>
    <p:extLst>
      <p:ext uri="{BB962C8B-B14F-4D97-AF65-F5344CB8AC3E}">
        <p14:creationId xmlns:p14="http://schemas.microsoft.com/office/powerpoint/2010/main" val="2398604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takeaway from this analysis is that population dynamics in Puerto Rico are highly persistent and path-dependent.</a:t>
            </a:r>
            <a:br>
              <a:rPr lang="en-US" dirty="0"/>
            </a:br>
            <a:r>
              <a:rPr lang="en-US" dirty="0"/>
              <a:t>What happens in one period strongly influences what happens next.</a:t>
            </a:r>
            <a:br>
              <a:rPr lang="en-US" dirty="0"/>
            </a:br>
            <a:r>
              <a:rPr lang="en-US" dirty="0"/>
              <a:t>While shocks like hurricanes and earthquakes do matter, their effects are not immediate, they accumulate over time and are reflected through longer-term trends.</a:t>
            </a:r>
            <a:br>
              <a:rPr lang="en-US" dirty="0"/>
            </a:br>
            <a:r>
              <a:rPr lang="en-US" dirty="0"/>
              <a:t>So ultimately, population change is less about single events and more about the gradual buildup of structural conditions.</a:t>
            </a:r>
          </a:p>
        </p:txBody>
      </p:sp>
      <p:sp>
        <p:nvSpPr>
          <p:cNvPr id="4" name="Slide Number Placeholder 3"/>
          <p:cNvSpPr>
            <a:spLocks noGrp="1"/>
          </p:cNvSpPr>
          <p:nvPr>
            <p:ph type="sldNum" sz="quarter" idx="5"/>
          </p:nvPr>
        </p:nvSpPr>
        <p:spPr/>
        <p:txBody>
          <a:bodyPr/>
          <a:lstStyle/>
          <a:p>
            <a:fld id="{5068C1A6-6C9C-C342-8E0F-AE9AC9AFD13B}" type="slidenum">
              <a:rPr lang="en-US" smtClean="0"/>
              <a:t>7</a:t>
            </a:fld>
            <a:endParaRPr lang="en-US" dirty="0"/>
          </a:p>
        </p:txBody>
      </p:sp>
    </p:spTree>
    <p:extLst>
      <p:ext uri="{BB962C8B-B14F-4D97-AF65-F5344CB8AC3E}">
        <p14:creationId xmlns:p14="http://schemas.microsoft.com/office/powerpoint/2010/main" val="20598323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prediction, what we see is that population dynamics are not random, they’re spatially structured.</a:t>
            </a:r>
            <a:br>
              <a:rPr lang="en-US" dirty="0"/>
            </a:br>
            <a:r>
              <a:rPr lang="en-US" dirty="0"/>
              <a:t>Municipalities cluster into distinct typologies, and these clusters align strongly with geographic regions.</a:t>
            </a:r>
            <a:br>
              <a:rPr lang="en-US" dirty="0"/>
            </a:br>
            <a:r>
              <a:rPr lang="en-US" dirty="0"/>
              <a:t>This means similar places behave similarly over time.</a:t>
            </a:r>
            <a:br>
              <a:rPr lang="en-US" dirty="0"/>
            </a:br>
            <a:r>
              <a:rPr lang="en-US" dirty="0"/>
              <a:t>The key insight is that decline is not evenly distributed, it’s concentrated in specific regions and tied to underlying structural conditions like economic activity and vulnerability.</a:t>
            </a:r>
            <a:br>
              <a:rPr lang="en-US" dirty="0"/>
            </a:br>
            <a:r>
              <a:rPr lang="en-US" dirty="0"/>
              <a:t>So overall, population change reflects persistent regional structures rather than isolated local variation.</a:t>
            </a:r>
          </a:p>
        </p:txBody>
      </p:sp>
      <p:sp>
        <p:nvSpPr>
          <p:cNvPr id="4" name="Slide Number Placeholder 3"/>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7895981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island level, Puerto Rico shows a persistent population decline of about 0.6% per year, or roughly 20,000 people annually.</a:t>
            </a:r>
            <a:br>
              <a:rPr lang="en-US" dirty="0"/>
            </a:br>
            <a:r>
              <a:rPr lang="en-US" dirty="0"/>
              <a:t>Importantly, this decline is not uniform, it’s concentrated in specific regions, particularly the South and West.</a:t>
            </a:r>
            <a:br>
              <a:rPr lang="en-US" dirty="0"/>
            </a:br>
            <a:r>
              <a:rPr lang="en-US" dirty="0"/>
              <a:t>What the model confirms is that this pattern is systematic and predictable, not random. Regional location plays a major role, and these differences remain stable over time. So the key takeaway is that population decline is spatially structured and persistent, driven by long-term regional dynamics rather than short-term fluctuations.</a:t>
            </a:r>
          </a:p>
        </p:txBody>
      </p:sp>
      <p:sp>
        <p:nvSpPr>
          <p:cNvPr id="4" name="Slide Number Placeholder 3"/>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29896346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BB172-3F24-3E94-A5DE-DBFF22636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14CCE8-3D2F-7AA0-9B10-2F363DF459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03E17D-A98F-69D5-013C-E0A67996AF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BBAA54-B176-F39C-3CFF-6E7B899142BB}"/>
              </a:ext>
            </a:extLst>
          </p:cNvPr>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13815551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76FB7-E1E1-DF26-DD42-A6914910E8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697AD-0E16-C69C-3838-FDE2DCF9CA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9A24C-0EA7-83F2-3028-7B89A1FC2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1F1F4F-300D-524D-88DA-F56D106F648B}"/>
              </a:ext>
            </a:extLst>
          </p:cNvPr>
          <p:cNvSpPr>
            <a:spLocks noGrp="1"/>
          </p:cNvSpPr>
          <p:nvPr>
            <p:ph type="sldNum" sz="quarter" idx="5"/>
          </p:nvPr>
        </p:nvSpPr>
        <p:spPr/>
        <p:txBody>
          <a:bodyPr/>
          <a:lstStyle/>
          <a:p>
            <a:fld id="{5068C1A6-6C9C-C342-8E0F-AE9AC9AFD13B}" type="slidenum">
              <a:rPr lang="en-US" smtClean="0"/>
              <a:t>11</a:t>
            </a:fld>
            <a:endParaRPr lang="en-US" dirty="0"/>
          </a:p>
        </p:txBody>
      </p:sp>
    </p:spTree>
    <p:extLst>
      <p:ext uri="{BB962C8B-B14F-4D97-AF65-F5344CB8AC3E}">
        <p14:creationId xmlns:p14="http://schemas.microsoft.com/office/powerpoint/2010/main" val="40555313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0C211-7FD4-82EB-FB58-FE463015F9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66E33D-00B6-FB9C-1548-6554AB87B4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EBB1E5-C0C5-D8C2-DE97-00FDF2B7D79A}"/>
              </a:ext>
            </a:extLst>
          </p:cNvPr>
          <p:cNvSpPr>
            <a:spLocks noGrp="1"/>
          </p:cNvSpPr>
          <p:nvPr>
            <p:ph type="body" idx="1"/>
          </p:nvPr>
        </p:nvSpPr>
        <p:spPr/>
        <p:txBody>
          <a:bodyPr/>
          <a:lstStyle/>
          <a:p>
            <a:r>
              <a:rPr lang="en-US" b="1" dirty="0"/>
              <a:t>1. The "Anchor" (Historical vs. Forecast)</a:t>
            </a:r>
          </a:p>
          <a:p>
            <a:r>
              <a:rPr lang="en-US" b="1" dirty="0"/>
              <a:t>The Black Line (2014–2023):</a:t>
            </a:r>
            <a:r>
              <a:rPr lang="en-US" dirty="0"/>
              <a:t> This represents </a:t>
            </a:r>
            <a:r>
              <a:rPr lang="en-US" b="1" dirty="0"/>
              <a:t>Observed Data</a:t>
            </a:r>
            <a:r>
              <a:rPr lang="en-US" dirty="0"/>
              <a:t>. It establishes the baseline trend of population decline that the models are "learning" from.</a:t>
            </a:r>
          </a:p>
          <a:p>
            <a:r>
              <a:rPr lang="en-US" b="1" dirty="0"/>
              <a:t>The Red Dashed Line (Current: 2023):</a:t>
            </a:r>
            <a:r>
              <a:rPr lang="en-US" dirty="0"/>
              <a:t> This is the </a:t>
            </a:r>
            <a:r>
              <a:rPr lang="en-US" b="1" dirty="0"/>
              <a:t>Pivot Point</a:t>
            </a:r>
            <a:r>
              <a:rPr lang="en-US" dirty="0"/>
              <a:t>. Everything to the left is fact; everything to the right is a probabilistic projection based on Phase 6 modeling.</a:t>
            </a:r>
          </a:p>
          <a:p>
            <a:endParaRPr lang="en-US" dirty="0"/>
          </a:p>
          <a:p>
            <a:r>
              <a:rPr lang="en-US" b="1" dirty="0"/>
              <a:t>2. The "Median" (The Expected Path)</a:t>
            </a:r>
          </a:p>
          <a:p>
            <a:r>
              <a:rPr lang="en-US" dirty="0"/>
              <a:t>The center line represents the </a:t>
            </a:r>
            <a:r>
              <a:rPr lang="en-US" b="1" dirty="0"/>
              <a:t>P50 (Median) Forecast</a:t>
            </a:r>
            <a:r>
              <a:rPr lang="en-US" dirty="0"/>
              <a:t>.</a:t>
            </a:r>
          </a:p>
          <a:p>
            <a:r>
              <a:rPr lang="en-US" b="1" dirty="0"/>
              <a:t>The Insight:</a:t>
            </a:r>
            <a:r>
              <a:rPr lang="en-US" dirty="0"/>
              <a:t> Our analysis suggests that the most likely outcome is a continued, linear decline, bringing the population toward the </a:t>
            </a:r>
            <a:r>
              <a:rPr lang="en-US" b="1" dirty="0"/>
              <a:t>3.0M mark by 2030</a:t>
            </a:r>
            <a:r>
              <a:rPr lang="en-US" dirty="0"/>
              <a:t>.</a:t>
            </a:r>
          </a:p>
          <a:p>
            <a:endParaRPr lang="en-US" dirty="0"/>
          </a:p>
          <a:p>
            <a:r>
              <a:rPr lang="en-US" b="1" dirty="0"/>
              <a:t>3. Understanding the "Fan" (The Probability Bands)</a:t>
            </a:r>
          </a:p>
          <a:p>
            <a:r>
              <a:rPr lang="en-US" dirty="0"/>
              <a:t>Instead of giving a single "guess," the fan shows a range of possible futures:</a:t>
            </a:r>
          </a:p>
          <a:p>
            <a:r>
              <a:rPr lang="en-US" b="1" dirty="0"/>
              <a:t>The Core (Central Bands):</a:t>
            </a:r>
            <a:r>
              <a:rPr lang="en-US" dirty="0"/>
              <a:t> The green and teal areas represent the </a:t>
            </a:r>
            <a:r>
              <a:rPr lang="en-US" b="1" dirty="0"/>
              <a:t>50% probability interval</a:t>
            </a:r>
            <a:r>
              <a:rPr lang="en-US" dirty="0"/>
              <a:t>. If current structural conditions remain stable, the population will almost certainly land within this range.</a:t>
            </a:r>
          </a:p>
          <a:p>
            <a:r>
              <a:rPr lang="en-US" b="1" dirty="0"/>
              <a:t>The Tails (Outer Bands):</a:t>
            </a:r>
            <a:r>
              <a:rPr lang="en-US" dirty="0"/>
              <a:t> The dark purple and light orange areas represent </a:t>
            </a:r>
            <a:r>
              <a:rPr lang="en-US" b="1" dirty="0"/>
              <a:t>extreme scenarios</a:t>
            </a:r>
            <a:r>
              <a:rPr lang="en-US" dirty="0"/>
              <a:t> (Tail Risks).</a:t>
            </a:r>
          </a:p>
          <a:p>
            <a:pPr lvl="1"/>
            <a:r>
              <a:rPr lang="en-US" b="1" dirty="0"/>
              <a:t>Upper Tail (Orange):</a:t>
            </a:r>
            <a:r>
              <a:rPr lang="en-US" dirty="0"/>
              <a:t> Represents a "Favorable" scenario where decline slows significantly (e.g., due to economic stabilization or migration shifts).</a:t>
            </a:r>
          </a:p>
          <a:p>
            <a:pPr lvl="1"/>
            <a:r>
              <a:rPr lang="en-US" b="1" dirty="0"/>
              <a:t>Lower Tail (Dark Purple):</a:t>
            </a:r>
            <a:r>
              <a:rPr lang="en-US" dirty="0"/>
              <a:t> Represents an "Adverse" scenario where decline accelerates (e.g., due to external shocks or deepening structural vulnerability).</a:t>
            </a:r>
          </a:p>
          <a:p>
            <a:pPr lvl="1"/>
            <a:endParaRPr lang="en-US" dirty="0"/>
          </a:p>
          <a:p>
            <a:r>
              <a:rPr lang="en-US" b="1" dirty="0"/>
              <a:t>4. Key Takeaway for Policy</a:t>
            </a:r>
          </a:p>
          <a:p>
            <a:r>
              <a:rPr lang="en-US" b="1" dirty="0"/>
              <a:t>Systemic Persistence:</a:t>
            </a:r>
            <a:r>
              <a:rPr lang="en-US" dirty="0"/>
              <a:t> Even in the most "optimistic" scenario (the top of the fan), the island does not return to growth by 2030.</a:t>
            </a:r>
          </a:p>
          <a:p>
            <a:r>
              <a:rPr lang="en-US" b="1" dirty="0"/>
              <a:t>Widening Uncertainty:</a:t>
            </a:r>
            <a:r>
              <a:rPr lang="en-US" dirty="0"/>
              <a:t> The "width" of the fan at 2030 illustrates that while we are certain about the </a:t>
            </a:r>
            <a:r>
              <a:rPr lang="en-US" i="1" dirty="0"/>
              <a:t>direction</a:t>
            </a:r>
            <a:r>
              <a:rPr lang="en-US" dirty="0"/>
              <a:t> of the trend, the </a:t>
            </a:r>
            <a:r>
              <a:rPr lang="en-US" i="1" dirty="0"/>
              <a:t>magnitude</a:t>
            </a:r>
            <a:r>
              <a:rPr lang="en-US" dirty="0"/>
              <a:t> of the loss is subject to high volatility, requiring flexible regional planning.</a:t>
            </a:r>
          </a:p>
          <a:p>
            <a:endParaRPr lang="en-US" dirty="0"/>
          </a:p>
        </p:txBody>
      </p:sp>
      <p:sp>
        <p:nvSpPr>
          <p:cNvPr id="4" name="Slide Number Placeholder 3">
            <a:extLst>
              <a:ext uri="{FF2B5EF4-FFF2-40B4-BE49-F238E27FC236}">
                <a16:creationId xmlns:a16="http://schemas.microsoft.com/office/drawing/2014/main" id="{C98D717C-2CE1-A6ED-31E3-1DF7106F5466}"/>
              </a:ext>
            </a:extLst>
          </p:cNvPr>
          <p:cNvSpPr>
            <a:spLocks noGrp="1"/>
          </p:cNvSpPr>
          <p:nvPr>
            <p:ph type="sldNum" sz="quarter" idx="5"/>
          </p:nvPr>
        </p:nvSpPr>
        <p:spPr/>
        <p:txBody>
          <a:bodyPr/>
          <a:lstStyle/>
          <a:p>
            <a:fld id="{5068C1A6-6C9C-C342-8E0F-AE9AC9AFD13B}" type="slidenum">
              <a:rPr lang="en-US" smtClean="0"/>
              <a:t>12</a:t>
            </a:fld>
            <a:endParaRPr lang="en-US" dirty="0"/>
          </a:p>
        </p:txBody>
      </p:sp>
    </p:spTree>
    <p:extLst>
      <p:ext uri="{BB962C8B-B14F-4D97-AF65-F5344CB8AC3E}">
        <p14:creationId xmlns:p14="http://schemas.microsoft.com/office/powerpoint/2010/main" val="34803800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 next step, I’m extending this work into a policy simulation framework.</a:t>
            </a:r>
            <a:br>
              <a:rPr lang="en-US" dirty="0"/>
            </a:br>
            <a:r>
              <a:rPr lang="en-US" dirty="0"/>
              <a:t>The goal is to move beyond forecasting and evaluate how different interventions, such as job growth or retention strategies, could influence population trends.</a:t>
            </a:r>
            <a:br>
              <a:rPr lang="en-US" dirty="0"/>
            </a:br>
            <a:br>
              <a:rPr lang="en-US" dirty="0"/>
            </a:br>
            <a:r>
              <a:rPr lang="en-US" dirty="0"/>
              <a:t>Ultimately, this allows to assess which strategies are most effective at slowing population decline and translate those insights into an interactive dashboard.</a:t>
            </a:r>
          </a:p>
        </p:txBody>
      </p:sp>
      <p:sp>
        <p:nvSpPr>
          <p:cNvPr id="4" name="Slide Number Placeholder 3"/>
          <p:cNvSpPr>
            <a:spLocks noGrp="1"/>
          </p:cNvSpPr>
          <p:nvPr>
            <p:ph type="sldNum" sz="quarter" idx="5"/>
          </p:nvPr>
        </p:nvSpPr>
        <p:spPr/>
        <p:txBody>
          <a:bodyPr/>
          <a:lstStyle/>
          <a:p>
            <a:fld id="{5068C1A6-6C9C-C342-8E0F-AE9AC9AFD13B}" type="slidenum">
              <a:rPr lang="en-US" smtClean="0"/>
              <a:t>13</a:t>
            </a:fld>
            <a:endParaRPr lang="en-US" dirty="0"/>
          </a:p>
        </p:txBody>
      </p:sp>
    </p:spTree>
    <p:extLst>
      <p:ext uri="{BB962C8B-B14F-4D97-AF65-F5344CB8AC3E}">
        <p14:creationId xmlns:p14="http://schemas.microsoft.com/office/powerpoint/2010/main" val="36580110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population decline in Puerto Rico is not random, it’s structured, spatial, and persistent.</a:t>
            </a:r>
            <a:br>
              <a:rPr lang="en-US" dirty="0"/>
            </a:br>
            <a:r>
              <a:rPr lang="en-US" dirty="0"/>
              <a:t>In the short run, changes are noisy and difficult to predict, but the model shows strong momentum and path dependence.</a:t>
            </a:r>
            <a:br>
              <a:rPr lang="en-US" dirty="0"/>
            </a:br>
            <a:r>
              <a:rPr lang="en-US" dirty="0"/>
              <a:t>When we look at longer horizons, clear structural patterns emerge, especially across regions.</a:t>
            </a:r>
            <a:br>
              <a:rPr lang="en-US" dirty="0"/>
            </a:br>
            <a:r>
              <a:rPr lang="en-US" dirty="0"/>
              <a:t>So the key takeaway is that population dynamics follow stable, long-term patterns that are spatially organized and persistent.</a:t>
            </a:r>
          </a:p>
        </p:txBody>
      </p:sp>
      <p:sp>
        <p:nvSpPr>
          <p:cNvPr id="4" name="Slide Number Placeholder 3"/>
          <p:cNvSpPr>
            <a:spLocks noGrp="1"/>
          </p:cNvSpPr>
          <p:nvPr>
            <p:ph type="sldNum" sz="quarter" idx="5"/>
          </p:nvPr>
        </p:nvSpPr>
        <p:spPr/>
        <p:txBody>
          <a:bodyPr/>
          <a:lstStyle/>
          <a:p>
            <a:fld id="{5068C1A6-6C9C-C342-8E0F-AE9AC9AFD13B}" type="slidenum">
              <a:rPr lang="en-US" smtClean="0"/>
              <a:t>14</a:t>
            </a:fld>
            <a:endParaRPr lang="en-US" dirty="0"/>
          </a:p>
        </p:txBody>
      </p:sp>
    </p:spTree>
    <p:extLst>
      <p:ext uri="{BB962C8B-B14F-4D97-AF65-F5344CB8AC3E}">
        <p14:creationId xmlns:p14="http://schemas.microsoft.com/office/powerpoint/2010/main" val="9703566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0AB45-ECFC-7929-641D-AC7B10694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68FDB-3D4E-1F34-5B50-53EBDB67C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BF334-9481-B967-6FDA-3E1D6772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56073-BB5F-27B4-E844-C4B566405FF2}"/>
              </a:ext>
            </a:extLst>
          </p:cNvPr>
          <p:cNvSpPr>
            <a:spLocks noGrp="1"/>
          </p:cNvSpPr>
          <p:nvPr>
            <p:ph type="sldNum" sz="quarter" idx="5"/>
          </p:nvPr>
        </p:nvSpPr>
        <p:spPr/>
        <p:txBody>
          <a:bodyPr/>
          <a:lstStyle/>
          <a:p>
            <a:fld id="{5068C1A6-6C9C-C342-8E0F-AE9AC9AFD13B}" type="slidenum">
              <a:rPr lang="en-US" smtClean="0"/>
              <a:t>15</a:t>
            </a:fld>
            <a:endParaRPr lang="en-US" dirty="0"/>
          </a:p>
        </p:txBody>
      </p:sp>
    </p:spTree>
    <p:extLst>
      <p:ext uri="{BB962C8B-B14F-4D97-AF65-F5344CB8AC3E}">
        <p14:creationId xmlns:p14="http://schemas.microsoft.com/office/powerpoint/2010/main" val="30818261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8137BA3-3B38-2E50-ADE9-DB22B1B981E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72FD4A5C-40C3-7571-F15D-F43282F97A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9DB3AF1A-645B-DCD3-7D8B-A456C1EED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071388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0.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2667357"/>
            <a:ext cx="11081771" cy="590932"/>
          </a:xfrm>
        </p:spPr>
        <p:txBody>
          <a:bodyPr>
            <a:normAutofit/>
          </a:bodyPr>
          <a:lstStyle/>
          <a:p>
            <a:pPr marL="14288" indent="-14288"/>
            <a:r>
              <a:rPr lang="en-US" sz="2800" dirty="0"/>
              <a:t>Population &amp;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326654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741260" y="4200029"/>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741260" y="4755207"/>
            <a:ext cx="3745923" cy="103412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a:p>
            <a:pPr>
              <a:lnSpc>
                <a:spcPct val="160000"/>
              </a:lnSpc>
            </a:pPr>
            <a:r>
              <a:rPr lang="en-US" sz="1400" b="1" dirty="0">
                <a:latin typeface="+mj-lt"/>
                <a:cs typeface="Arial" panose="020B0604020202020204" pitchFamily="34" charset="0"/>
                <a:sym typeface="DM Sans"/>
              </a:rPr>
              <a:t>Week 10 Progress: 10 April 2026</a:t>
            </a:r>
            <a:endParaRPr lang="en-US" sz="1400" b="1" dirty="0">
              <a:latin typeface="+mj-lt"/>
              <a:cs typeface="Arial" panose="020B0604020202020204" pitchFamily="34" charset="0"/>
            </a:endParaRP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Problem &amp; Objective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5247590"/>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400" b="1" dirty="0">
                <a:latin typeface="Merriweather" pitchFamily="2" charset="77"/>
              </a:rPr>
              <a:t>Research Problem: </a:t>
            </a:r>
            <a:r>
              <a:rPr lang="en-US" sz="1400" dirty="0">
                <a:latin typeface="Merriweather" pitchFamily="2" charset="77"/>
              </a:rPr>
              <a:t>Puerto Rico has experienced </a:t>
            </a:r>
            <a:r>
              <a:rPr lang="en-US" sz="1400" i="1" dirty="0">
                <a:latin typeface="Merriweather" pitchFamily="2" charset="77"/>
              </a:rPr>
              <a:t>significant population decline and regional vulnerability </a:t>
            </a:r>
            <a:r>
              <a:rPr lang="en-US" sz="14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Objective: </a:t>
            </a:r>
            <a:r>
              <a:rPr lang="en-US" sz="1400" dirty="0">
                <a:latin typeface="Merriweather" pitchFamily="2" charset="77"/>
              </a:rPr>
              <a:t>Develop a </a:t>
            </a:r>
            <a:r>
              <a:rPr lang="en-US" sz="1400" b="1" i="1" dirty="0">
                <a:latin typeface="Merriweather" pitchFamily="2" charset="77"/>
              </a:rPr>
              <a:t>data-driven framework</a:t>
            </a:r>
            <a:r>
              <a:rPr lang="en-US" sz="1400" i="1" dirty="0">
                <a:latin typeface="Merriweather" pitchFamily="2" charset="77"/>
              </a:rPr>
              <a:t> </a:t>
            </a:r>
            <a:r>
              <a:rPr lang="en-US" sz="1400" dirty="0">
                <a:latin typeface="Merriweather" pitchFamily="2" charset="77"/>
              </a:rPr>
              <a:t>to:</a:t>
            </a:r>
          </a:p>
          <a:p>
            <a:pPr marL="742950" lvl="1" indent="-285750" fontAlgn="base">
              <a:lnSpc>
                <a:spcPct val="150000"/>
              </a:lnSpc>
              <a:buFont typeface="Arial" panose="020B0604020202020204" pitchFamily="34" charset="0"/>
              <a:buChar char="•"/>
            </a:pPr>
            <a:r>
              <a:rPr lang="en-US" sz="14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4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4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4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400" dirty="0">
                <a:latin typeface="Merriweather" pitchFamily="2" charset="77"/>
              </a:rPr>
              <a:t>Predict population change with reasonable accuracy</a:t>
            </a:r>
          </a:p>
          <a:p>
            <a:pPr marL="742950" lvl="1" indent="-285750" fontAlgn="base">
              <a:lnSpc>
                <a:spcPct val="150000"/>
              </a:lnSpc>
              <a:buFont typeface="Arial" panose="020B0604020202020204" pitchFamily="34" charset="0"/>
              <a:buChar char="•"/>
            </a:pPr>
            <a:r>
              <a:rPr lang="en-US" sz="1400" dirty="0">
                <a:latin typeface="Merriweather" pitchFamily="2" charset="77"/>
              </a:rPr>
              <a:t>Identify key drivers </a:t>
            </a:r>
          </a:p>
          <a:p>
            <a:pPr marL="742950" lvl="1" indent="-285750" fontAlgn="base">
              <a:lnSpc>
                <a:spcPct val="150000"/>
              </a:lnSpc>
              <a:buFont typeface="Arial" panose="020B0604020202020204" pitchFamily="34" charset="0"/>
              <a:buChar char="•"/>
            </a:pPr>
            <a:r>
              <a:rPr lang="en-US" sz="1400" dirty="0">
                <a:latin typeface="Merriweather" pitchFamily="2" charset="77"/>
              </a:rPr>
              <a:t>Detect clusters/regions with similar vulnerability profiles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This week, I worked on extend modeling to scenario-based forecasting under disasters</a:t>
            </a:r>
          </a:p>
          <a:p>
            <a:pPr marL="285750" indent="-285750" fontAlgn="base">
              <a:buFont typeface="Arial" panose="020B0604020202020204" pitchFamily="34" charset="0"/>
              <a:buChar char="•"/>
            </a:pPr>
            <a:endParaRPr lang="en-US" sz="1400" dirty="0">
              <a:solidFill>
                <a:srgbClr val="000000"/>
              </a:solidFill>
              <a:latin typeface="Merriweather" pitchFamily="2" charset="77"/>
              <a:ea typeface="Arial"/>
              <a:cs typeface="Arial"/>
              <a:sym typeface="Arial"/>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8987" y="2052133"/>
            <a:ext cx="4517551" cy="3316132"/>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73ADF-3CEF-930A-8D0F-31CD9CF650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51E56BA-1E5C-FEB3-C46B-E10B8284B97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026467D1-73DE-26D8-C5E7-22A81E24FAA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End-to-End Modeling Pipeline</a:t>
            </a:r>
          </a:p>
        </p:txBody>
      </p:sp>
      <p:pic>
        <p:nvPicPr>
          <p:cNvPr id="15" name="Picture 14">
            <a:extLst>
              <a:ext uri="{FF2B5EF4-FFF2-40B4-BE49-F238E27FC236}">
                <a16:creationId xmlns:a16="http://schemas.microsoft.com/office/drawing/2014/main" id="{1A039865-54B0-40AB-27D1-ED0C3A5C6541}"/>
              </a:ext>
            </a:extLst>
          </p:cNvPr>
          <p:cNvPicPr>
            <a:picLocks noChangeAspect="1"/>
          </p:cNvPicPr>
          <p:nvPr/>
        </p:nvPicPr>
        <p:blipFill>
          <a:blip r:embed="rId3">
            <a:extLst>
              <a:ext uri="{28A0092B-C50C-407E-A947-70E740481C1C}">
                <a14:useLocalDpi xmlns:a14="http://schemas.microsoft.com/office/drawing/2010/main" val="0"/>
              </a:ext>
            </a:extLst>
          </a:blip>
          <a:srcRect l="1931" t="12796" r="3600" b="6344"/>
          <a:stretch>
            <a:fillRect/>
          </a:stretch>
        </p:blipFill>
        <p:spPr>
          <a:xfrm>
            <a:off x="213698" y="1246298"/>
            <a:ext cx="9062114" cy="4906344"/>
          </a:xfrm>
          <a:prstGeom prst="rect">
            <a:avLst/>
          </a:prstGeom>
        </p:spPr>
      </p:pic>
    </p:spTree>
    <p:extLst>
      <p:ext uri="{BB962C8B-B14F-4D97-AF65-F5344CB8AC3E}">
        <p14:creationId xmlns:p14="http://schemas.microsoft.com/office/powerpoint/2010/main" val="40002344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E5CE5-78AD-490D-C7F0-BCFD03DE4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6D5BCF9-5264-A0FA-7345-80535708E5F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3D5AD4-765C-F5F1-BF2E-88B3C1075A2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Model Selection</a:t>
            </a:r>
          </a:p>
        </p:txBody>
      </p:sp>
      <p:sp>
        <p:nvSpPr>
          <p:cNvPr id="11" name="TextBox 10">
            <a:extLst>
              <a:ext uri="{FF2B5EF4-FFF2-40B4-BE49-F238E27FC236}">
                <a16:creationId xmlns:a16="http://schemas.microsoft.com/office/drawing/2014/main" id="{B14DAF72-DF65-27AC-ED63-07FB535EECB3}"/>
              </a:ext>
            </a:extLst>
          </p:cNvPr>
          <p:cNvSpPr txBox="1"/>
          <p:nvPr/>
        </p:nvSpPr>
        <p:spPr>
          <a:xfrm>
            <a:off x="139613" y="1368962"/>
            <a:ext cx="9897766" cy="4801314"/>
          </a:xfrm>
          <a:prstGeom prst="rect">
            <a:avLst/>
          </a:prstGeom>
          <a:noFill/>
        </p:spPr>
        <p:txBody>
          <a:bodyPr wrap="square">
            <a:spAutoFit/>
          </a:bodyPr>
          <a:lstStyle/>
          <a:p>
            <a:pPr marL="285750" indent="-285750">
              <a:buFont typeface="Arial" panose="020B0604020202020204" pitchFamily="34" charset="0"/>
              <a:buChar char="•"/>
            </a:pPr>
            <a:r>
              <a:rPr lang="en-US" b="1" dirty="0"/>
              <a:t>Model selection approach:</a:t>
            </a:r>
            <a:endParaRPr lang="en-US" dirty="0"/>
          </a:p>
          <a:p>
            <a:pPr marL="742950" lvl="1" indent="-285750">
              <a:buFont typeface="Arial" panose="020B0604020202020204" pitchFamily="34" charset="0"/>
              <a:buChar char="•"/>
            </a:pPr>
            <a:r>
              <a:rPr lang="en-US" dirty="0"/>
              <a:t>Compared OLS, Ridge, Random Forest, HGB, and Extra Trees</a:t>
            </a:r>
          </a:p>
          <a:p>
            <a:pPr marL="742950" lvl="1" indent="-285750">
              <a:buFont typeface="Arial" panose="020B0604020202020204" pitchFamily="34" charset="0"/>
              <a:buChar char="•"/>
            </a:pPr>
            <a:r>
              <a:rPr lang="en-US" dirty="0"/>
              <a:t>Compared OLS, Ridge, Lasso, Random Forest, </a:t>
            </a:r>
            <a:r>
              <a:rPr lang="en-US" dirty="0" err="1"/>
              <a:t>HistGradientBoosting</a:t>
            </a:r>
            <a:r>
              <a:rPr lang="en-US" dirty="0"/>
              <a:t>, and Extra Trees </a:t>
            </a:r>
          </a:p>
          <a:p>
            <a:pPr marL="742950" lvl="1" indent="-285750">
              <a:buFont typeface="Arial" panose="020B0604020202020204" pitchFamily="34" charset="0"/>
              <a:buChar char="•"/>
            </a:pPr>
            <a:r>
              <a:rPr lang="en-US" dirty="0"/>
              <a:t>Selected Lasso as the final model based on the strongest out-of-sample performance </a:t>
            </a:r>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lvl="1"/>
            <a:endParaRPr lang="en-US" b="1" dirty="0"/>
          </a:p>
          <a:p>
            <a:endParaRPr lang="en-US" b="1" dirty="0"/>
          </a:p>
          <a:p>
            <a:endParaRPr lang="en-US" b="1" dirty="0"/>
          </a:p>
          <a:p>
            <a:endParaRPr lang="en-US" b="1" dirty="0"/>
          </a:p>
          <a:p>
            <a:endParaRPr lang="en-US" b="1" dirty="0"/>
          </a:p>
          <a:p>
            <a:pPr marL="285750" indent="-285750">
              <a:buFont typeface="Arial" panose="020B0604020202020204" pitchFamily="34" charset="0"/>
              <a:buChar char="•"/>
            </a:pPr>
            <a:r>
              <a:rPr lang="en-US" b="1" dirty="0"/>
              <a:t>Selected: </a:t>
            </a:r>
            <a:r>
              <a:rPr lang="en-US" dirty="0"/>
              <a:t>Lasso</a:t>
            </a:r>
          </a:p>
          <a:p>
            <a:pPr marL="285750" indent="-285750">
              <a:buFont typeface="Arial" panose="020B0604020202020204" pitchFamily="34" charset="0"/>
              <a:buChar char="•"/>
            </a:pPr>
            <a:r>
              <a:rPr lang="en-US" b="1" dirty="0"/>
              <a:t>Key Result:  </a:t>
            </a:r>
            <a:r>
              <a:rPr lang="en-US" dirty="0"/>
              <a:t>Test R² ≈ </a:t>
            </a:r>
            <a:r>
              <a:rPr lang="en-US" b="1" dirty="0"/>
              <a:t>0.91</a:t>
            </a:r>
            <a:endParaRPr lang="en-US" dirty="0"/>
          </a:p>
        </p:txBody>
      </p:sp>
      <p:pic>
        <p:nvPicPr>
          <p:cNvPr id="6" name="Picture 5">
            <a:extLst>
              <a:ext uri="{FF2B5EF4-FFF2-40B4-BE49-F238E27FC236}">
                <a16:creationId xmlns:a16="http://schemas.microsoft.com/office/drawing/2014/main" id="{2F138C60-C22C-D590-D67D-5C4FCD08C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622" y="2722105"/>
            <a:ext cx="6878993" cy="2670770"/>
          </a:xfrm>
          <a:prstGeom prst="rect">
            <a:avLst/>
          </a:prstGeom>
        </p:spPr>
      </p:pic>
    </p:spTree>
    <p:extLst>
      <p:ext uri="{BB962C8B-B14F-4D97-AF65-F5344CB8AC3E}">
        <p14:creationId xmlns:p14="http://schemas.microsoft.com/office/powerpoint/2010/main" val="42618353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63F91-10B1-8FD8-8D23-A624D7AAB1F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D911A7F-04CC-CF59-0C7D-646AE714B4D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38BEA08-D38A-6D1A-E0E3-767A67E0145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SHAP Analysis</a:t>
            </a:r>
          </a:p>
        </p:txBody>
      </p:sp>
      <p:sp>
        <p:nvSpPr>
          <p:cNvPr id="11" name="TextBox 10">
            <a:extLst>
              <a:ext uri="{FF2B5EF4-FFF2-40B4-BE49-F238E27FC236}">
                <a16:creationId xmlns:a16="http://schemas.microsoft.com/office/drawing/2014/main" id="{21E6B10A-5B31-3B5F-A809-FE0960DB5449}"/>
              </a:ext>
            </a:extLst>
          </p:cNvPr>
          <p:cNvSpPr txBox="1"/>
          <p:nvPr/>
        </p:nvSpPr>
        <p:spPr>
          <a:xfrm>
            <a:off x="139613" y="1368962"/>
            <a:ext cx="9560053" cy="4770537"/>
          </a:xfrm>
          <a:prstGeom prst="rect">
            <a:avLst/>
          </a:prstGeom>
          <a:noFill/>
        </p:spPr>
        <p:txBody>
          <a:bodyPr wrap="square">
            <a:spAutoFit/>
          </a:bodyPr>
          <a:lstStyle/>
          <a:p>
            <a:r>
              <a:rPr lang="en-US" sz="1600" b="1" dirty="0"/>
              <a:t>Why SHAP?</a:t>
            </a:r>
          </a:p>
          <a:p>
            <a:pPr marL="285750" indent="-285750">
              <a:buFont typeface="Arial" panose="020B0604020202020204" pitchFamily="34" charset="0"/>
              <a:buChar char="•"/>
            </a:pPr>
            <a:r>
              <a:rPr lang="en-US" sz="1600" dirty="0"/>
              <a:t>Models don’t explain why predictions are made</a:t>
            </a:r>
          </a:p>
          <a:p>
            <a:pPr marL="285750" indent="-285750">
              <a:buFont typeface="Arial" panose="020B0604020202020204" pitchFamily="34" charset="0"/>
              <a:buChar char="•"/>
            </a:pPr>
            <a:r>
              <a:rPr lang="en-US" sz="1600" dirty="0"/>
              <a:t>SHAP reveals feature-level contributions</a:t>
            </a:r>
          </a:p>
          <a:p>
            <a:pPr marL="285750" indent="-285750">
              <a:buFont typeface="Arial" panose="020B0604020202020204" pitchFamily="34" charset="0"/>
              <a:buChar char="•"/>
            </a:pPr>
            <a:r>
              <a:rPr lang="en-US" sz="1600" dirty="0"/>
              <a:t>Helps identify dominant drivers and hidden relationships</a:t>
            </a:r>
            <a:br>
              <a:rPr lang="en-US" sz="1600" dirty="0"/>
            </a:br>
            <a:endParaRPr lang="en-US" sz="1600" dirty="0"/>
          </a:p>
          <a:p>
            <a:r>
              <a:rPr lang="en-US" sz="1600" b="1" dirty="0"/>
              <a:t>What SHAP Does</a:t>
            </a:r>
          </a:p>
          <a:p>
            <a:r>
              <a:rPr lang="en-US" sz="1600" dirty="0"/>
              <a:t>Breaks each prediction into </a:t>
            </a:r>
            <a:r>
              <a:rPr lang="en-US" sz="1600" b="1" dirty="0"/>
              <a:t>feature contributions</a:t>
            </a:r>
            <a:r>
              <a:rPr lang="en-US" sz="1600" dirty="0"/>
              <a:t> to show: </a:t>
            </a:r>
          </a:p>
          <a:p>
            <a:pPr marL="742950" lvl="1" indent="-285750">
              <a:buFont typeface="Arial" panose="020B0604020202020204" pitchFamily="34" charset="0"/>
              <a:buChar char="•"/>
            </a:pPr>
            <a:r>
              <a:rPr lang="en-US" sz="1600" dirty="0"/>
              <a:t>Which variables matter most </a:t>
            </a:r>
          </a:p>
          <a:p>
            <a:pPr marL="742950" lvl="1" indent="-285750">
              <a:buFont typeface="Arial" panose="020B0604020202020204" pitchFamily="34" charset="0"/>
              <a:buChar char="•"/>
            </a:pPr>
            <a:r>
              <a:rPr lang="en-US" sz="1600" dirty="0"/>
              <a:t>Direction of impact (increase vs decrease) </a:t>
            </a:r>
          </a:p>
          <a:p>
            <a:pPr marL="742950" lvl="1" indent="-285750">
              <a:buFont typeface="Arial" panose="020B0604020202020204" pitchFamily="34" charset="0"/>
              <a:buChar char="•"/>
            </a:pPr>
            <a:r>
              <a:rPr lang="en-US" sz="1600" dirty="0"/>
              <a:t>Consistency across municipalities </a:t>
            </a:r>
          </a:p>
          <a:p>
            <a:br>
              <a:rPr lang="en-US" sz="1600" dirty="0"/>
            </a:br>
            <a:endParaRPr lang="en-US" sz="1600" dirty="0"/>
          </a:p>
          <a:p>
            <a:r>
              <a:rPr lang="en-US" sz="1600" b="1" dirty="0"/>
              <a:t>What the Model is Learning (Lasso)</a:t>
            </a:r>
          </a:p>
          <a:p>
            <a:pPr marL="285750" indent="-285750">
              <a:buFont typeface="Arial" panose="020B0604020202020204" pitchFamily="34" charset="0"/>
              <a:buChar char="•"/>
            </a:pPr>
            <a:r>
              <a:rPr lang="en-US" sz="1600" dirty="0"/>
              <a:t>Past population change is the dominant driver (strong persistence)</a:t>
            </a:r>
          </a:p>
          <a:p>
            <a:pPr marL="285750" indent="-285750">
              <a:buFont typeface="Arial" panose="020B0604020202020204" pitchFamily="34" charset="0"/>
              <a:buChar char="•"/>
            </a:pPr>
            <a:r>
              <a:rPr lang="en-US" sz="1600" dirty="0"/>
              <a:t>Population dynamics are highly path-dependent over time</a:t>
            </a:r>
          </a:p>
          <a:p>
            <a:pPr marL="285750" indent="-285750">
              <a:buFont typeface="Arial" panose="020B0604020202020204" pitchFamily="34" charset="0"/>
              <a:buChar char="•"/>
            </a:pPr>
            <a:r>
              <a:rPr lang="en-US" sz="1600" dirty="0"/>
              <a:t>Temporal trends (year) capture broader structural shifts</a:t>
            </a:r>
          </a:p>
          <a:p>
            <a:pPr marL="285750" indent="-285750">
              <a:buFont typeface="Arial" panose="020B0604020202020204" pitchFamily="34" charset="0"/>
              <a:buChar char="•"/>
            </a:pPr>
            <a:r>
              <a:rPr lang="en-US" sz="1600" dirty="0"/>
              <a:t>Economic and demographic context provide secondary explanatory support</a:t>
            </a:r>
          </a:p>
          <a:p>
            <a:pPr marL="285750" indent="-285750">
              <a:buFont typeface="Arial" panose="020B0604020202020204" pitchFamily="34" charset="0"/>
              <a:buChar char="•"/>
            </a:pPr>
            <a:r>
              <a:rPr lang="en-US" sz="1600" dirty="0"/>
              <a:t>Disaster variables do not appear as strong direct predictors</a:t>
            </a:r>
          </a:p>
          <a:p>
            <a:pPr marL="285750" indent="-285750">
              <a:buFont typeface="Arial" panose="020B0604020202020204" pitchFamily="34" charset="0"/>
              <a:buChar char="•"/>
            </a:pPr>
            <a:r>
              <a:rPr lang="en-US" sz="1600" dirty="0"/>
              <a:t>Their effects are indirectly captured through lagged population changes</a:t>
            </a:r>
            <a:endParaRPr lang="en-US" altLang="en-US" sz="1600" dirty="0">
              <a:latin typeface="Arial" panose="020B0604020202020204" pitchFamily="34" charset="0"/>
            </a:endParaRPr>
          </a:p>
        </p:txBody>
      </p:sp>
      <p:pic>
        <p:nvPicPr>
          <p:cNvPr id="6" name="Picture 5">
            <a:extLst>
              <a:ext uri="{FF2B5EF4-FFF2-40B4-BE49-F238E27FC236}">
                <a16:creationId xmlns:a16="http://schemas.microsoft.com/office/drawing/2014/main" id="{8B2A31DC-50D7-1A00-EFBA-2067FF059C1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7685" y="1442543"/>
            <a:ext cx="4447312" cy="4635795"/>
          </a:xfrm>
          <a:prstGeom prst="rect">
            <a:avLst/>
          </a:prstGeom>
        </p:spPr>
      </p:pic>
    </p:spTree>
    <p:extLst>
      <p:ext uri="{BB962C8B-B14F-4D97-AF65-F5344CB8AC3E}">
        <p14:creationId xmlns:p14="http://schemas.microsoft.com/office/powerpoint/2010/main" val="2363809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8286B-27FC-B142-24DF-3360A23C1D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8A85A02-485F-6DB0-7576-9AB1804B11B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41ABC40-ED9C-119F-A258-0124DEB857C6}"/>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Lead–Lag Analysis: </a:t>
            </a:r>
          </a:p>
          <a:p>
            <a:pPr lvl="0"/>
            <a:r>
              <a:rPr lang="en-US" sz="3200" b="1" dirty="0">
                <a:solidFill>
                  <a:schemeClr val="bg1"/>
                </a:solidFill>
              </a:rPr>
              <a:t>When Do Drivers Matter</a:t>
            </a:r>
          </a:p>
        </p:txBody>
      </p:sp>
      <p:sp>
        <p:nvSpPr>
          <p:cNvPr id="11" name="TextBox 10">
            <a:extLst>
              <a:ext uri="{FF2B5EF4-FFF2-40B4-BE49-F238E27FC236}">
                <a16:creationId xmlns:a16="http://schemas.microsoft.com/office/drawing/2014/main" id="{41355400-6FEF-AD30-128B-DC3422E8C2B4}"/>
              </a:ext>
            </a:extLst>
          </p:cNvPr>
          <p:cNvSpPr txBox="1"/>
          <p:nvPr/>
        </p:nvSpPr>
        <p:spPr>
          <a:xfrm>
            <a:off x="139613" y="1368962"/>
            <a:ext cx="6706030" cy="4524315"/>
          </a:xfrm>
          <a:prstGeom prst="rect">
            <a:avLst/>
          </a:prstGeom>
          <a:noFill/>
        </p:spPr>
        <p:txBody>
          <a:bodyPr wrap="square">
            <a:spAutoFit/>
          </a:bodyPr>
          <a:lstStyle/>
          <a:p>
            <a:r>
              <a:rPr lang="en-US" sz="1600" b="1" dirty="0"/>
              <a:t>Key Findings:</a:t>
            </a:r>
          </a:p>
          <a:p>
            <a:pPr marL="285750" indent="-285750">
              <a:buFont typeface="Arial" panose="020B0604020202020204" pitchFamily="34" charset="0"/>
              <a:buChar char="•"/>
            </a:pPr>
            <a:r>
              <a:rPr lang="en-US" sz="1600" dirty="0"/>
              <a:t>Lagged population dynamics dominate across all time horizons</a:t>
            </a:r>
          </a:p>
          <a:p>
            <a:pPr marL="285750" indent="-285750">
              <a:buFont typeface="Arial" panose="020B0604020202020204" pitchFamily="34" charset="0"/>
              <a:buChar char="•"/>
            </a:pPr>
            <a:r>
              <a:rPr lang="en-US" sz="1600" dirty="0"/>
              <a:t>Population change exhibits strong persistence (momentum effect)</a:t>
            </a:r>
          </a:p>
          <a:p>
            <a:pPr marL="285750" indent="-285750">
              <a:buFont typeface="Arial" panose="020B0604020202020204" pitchFamily="34" charset="0"/>
              <a:buChar char="•"/>
            </a:pPr>
            <a:r>
              <a:rPr lang="en-US" sz="1600" dirty="0"/>
              <a:t>Time trend captures broader structural shifts over time</a:t>
            </a:r>
          </a:p>
          <a:p>
            <a:pPr marL="285750" indent="-285750">
              <a:buFont typeface="Arial" panose="020B0604020202020204" pitchFamily="34" charset="0"/>
              <a:buChar char="•"/>
            </a:pPr>
            <a:r>
              <a:rPr lang="en-US" sz="1600" dirty="0"/>
              <a:t>Economic and demographic variables provide secondary support</a:t>
            </a:r>
          </a:p>
          <a:p>
            <a:pPr marL="285750" indent="-285750">
              <a:buFont typeface="Arial" panose="020B0604020202020204" pitchFamily="34" charset="0"/>
              <a:buChar char="•"/>
            </a:pPr>
            <a:r>
              <a:rPr lang="en-US" sz="1600" dirty="0"/>
              <a:t>Disaster variables show limited direct importance across lags</a:t>
            </a:r>
            <a:br>
              <a:rPr lang="en-US" sz="1600" dirty="0"/>
            </a:br>
            <a:endParaRPr lang="en-US" sz="1600" dirty="0"/>
          </a:p>
          <a:p>
            <a:endParaRPr lang="en-US" sz="1600" dirty="0"/>
          </a:p>
          <a:p>
            <a:r>
              <a:rPr lang="en-US" sz="1600" b="1" dirty="0"/>
              <a:t>Interpretation:</a:t>
            </a:r>
          </a:p>
          <a:p>
            <a:pPr marL="285750" indent="-285750">
              <a:buFont typeface="Arial" panose="020B0604020202020204" pitchFamily="34" charset="0"/>
              <a:buChar char="•"/>
            </a:pPr>
            <a:r>
              <a:rPr lang="en-US" sz="1600" dirty="0"/>
              <a:t>Population dynamics are highly path-dependent</a:t>
            </a:r>
          </a:p>
          <a:p>
            <a:pPr marL="285750" indent="-285750">
              <a:buFont typeface="Arial" panose="020B0604020202020204" pitchFamily="34" charset="0"/>
              <a:buChar char="•"/>
            </a:pPr>
            <a:r>
              <a:rPr lang="en-US" sz="1600" dirty="0"/>
              <a:t>Migration responses unfold gradually rather than immediately</a:t>
            </a:r>
          </a:p>
          <a:p>
            <a:pPr marL="285750" indent="-285750">
              <a:buFont typeface="Arial" panose="020B0604020202020204" pitchFamily="34" charset="0"/>
              <a:buChar char="•"/>
            </a:pPr>
            <a:r>
              <a:rPr lang="en-US" sz="1600" dirty="0"/>
              <a:t>Lagged population absorbs the cumulative effects of shocks</a:t>
            </a:r>
          </a:p>
          <a:p>
            <a:pPr marL="285750" indent="-285750">
              <a:buFont typeface="Arial" panose="020B0604020202020204" pitchFamily="34" charset="0"/>
              <a:buChar char="•"/>
            </a:pPr>
            <a:r>
              <a:rPr lang="en-US" sz="1600" dirty="0"/>
              <a:t>Disaster impacts are not immediate standalone drivers</a:t>
            </a:r>
            <a:br>
              <a:rPr lang="en-US" sz="1600" dirty="0"/>
            </a:br>
            <a:endParaRPr lang="en-US" sz="1600" dirty="0"/>
          </a:p>
          <a:p>
            <a:endParaRPr lang="en-US" sz="1600" dirty="0"/>
          </a:p>
          <a:p>
            <a:r>
              <a:rPr lang="en-US" sz="1600" b="1" dirty="0"/>
              <a:t>Key Insight: </a:t>
            </a:r>
            <a:r>
              <a:rPr lang="en-US" sz="1600" dirty="0"/>
              <a:t>Population change is driven by persistence, not isolated shocks</a:t>
            </a:r>
            <a:endParaRPr lang="en-US" sz="1600" b="1" dirty="0"/>
          </a:p>
          <a:p>
            <a:pPr marL="285750" indent="-285750">
              <a:buFont typeface="Arial" panose="020B0604020202020204" pitchFamily="34" charset="0"/>
              <a:buChar char="•"/>
            </a:pPr>
            <a:r>
              <a:rPr lang="en-US" sz="1600" dirty="0"/>
              <a:t>Shocks matter, but only through their long-term effects</a:t>
            </a:r>
          </a:p>
          <a:p>
            <a:pPr marL="285750" indent="-285750">
              <a:buFont typeface="Arial" panose="020B0604020202020204" pitchFamily="34" charset="0"/>
              <a:buChar char="•"/>
            </a:pPr>
            <a:r>
              <a:rPr lang="en-US" sz="1600" dirty="0"/>
              <a:t>Migration dynamics reflect accumulated history, not single events</a:t>
            </a:r>
          </a:p>
        </p:txBody>
      </p:sp>
      <p:pic>
        <p:nvPicPr>
          <p:cNvPr id="6" name="Picture 5">
            <a:extLst>
              <a:ext uri="{FF2B5EF4-FFF2-40B4-BE49-F238E27FC236}">
                <a16:creationId xmlns:a16="http://schemas.microsoft.com/office/drawing/2014/main" id="{4C0A5257-3ED7-BCB5-16B5-91225047CD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99289" y="2668842"/>
            <a:ext cx="4853097" cy="3366198"/>
          </a:xfrm>
          <a:prstGeom prst="rect">
            <a:avLst/>
          </a:prstGeom>
        </p:spPr>
      </p:pic>
    </p:spTree>
    <p:extLst>
      <p:ext uri="{BB962C8B-B14F-4D97-AF65-F5344CB8AC3E}">
        <p14:creationId xmlns:p14="http://schemas.microsoft.com/office/powerpoint/2010/main" val="34568565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2ACF3-8AD5-5B55-CC0F-B560A9E972E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8C4B2DE-21C6-40E1-5826-14B7605F579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D30331D-2D8A-23B1-45BA-E48486797D1C}"/>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What the Model is Learning?</a:t>
            </a:r>
          </a:p>
        </p:txBody>
      </p:sp>
      <p:sp>
        <p:nvSpPr>
          <p:cNvPr id="11" name="TextBox 10">
            <a:extLst>
              <a:ext uri="{FF2B5EF4-FFF2-40B4-BE49-F238E27FC236}">
                <a16:creationId xmlns:a16="http://schemas.microsoft.com/office/drawing/2014/main" id="{19C36B04-5B3F-72DC-833A-DC190E5AD9A4}"/>
              </a:ext>
            </a:extLst>
          </p:cNvPr>
          <p:cNvSpPr txBox="1"/>
          <p:nvPr/>
        </p:nvSpPr>
        <p:spPr>
          <a:xfrm>
            <a:off x="139613" y="1368962"/>
            <a:ext cx="9560053" cy="4801314"/>
          </a:xfrm>
          <a:prstGeom prst="rect">
            <a:avLst/>
          </a:prstGeom>
          <a:noFill/>
        </p:spPr>
        <p:txBody>
          <a:bodyPr wrap="square">
            <a:spAutoFit/>
          </a:bodyPr>
          <a:lstStyle/>
          <a:p>
            <a:r>
              <a:rPr lang="en-US" b="1" dirty="0"/>
              <a:t>Short-Run Target (Annual Change)</a:t>
            </a:r>
          </a:p>
          <a:p>
            <a:pPr marL="285750" indent="-285750">
              <a:buFont typeface="Arial" panose="020B0604020202020204" pitchFamily="34" charset="0"/>
              <a:buChar char="•"/>
            </a:pPr>
            <a:r>
              <a:rPr lang="en-US" dirty="0"/>
              <a:t>Dominated by past population change (momentum)</a:t>
            </a:r>
          </a:p>
          <a:p>
            <a:pPr marL="285750" indent="-285750">
              <a:buFont typeface="Arial" panose="020B0604020202020204" pitchFamily="34" charset="0"/>
              <a:buChar char="•"/>
            </a:pPr>
            <a:r>
              <a:rPr lang="en-US" dirty="0"/>
              <a:t>Predictions rely heavily on autoregressive dynamics</a:t>
            </a:r>
          </a:p>
          <a:p>
            <a:pPr marL="285750" indent="-285750">
              <a:buFont typeface="Arial" panose="020B0604020202020204" pitchFamily="34" charset="0"/>
              <a:buChar char="•"/>
            </a:pPr>
            <a:r>
              <a:rPr lang="en-US" dirty="0"/>
              <a:t>Structural and disaster variables have limited short-term signal</a:t>
            </a:r>
          </a:p>
          <a:p>
            <a:pPr marL="285750" indent="-285750">
              <a:buFont typeface="Arial" panose="020B0604020202020204" pitchFamily="34" charset="0"/>
              <a:buChar char="•"/>
            </a:pPr>
            <a:r>
              <a:rPr lang="en-US" dirty="0"/>
              <a:t>Result: Short-run population change is high-noise and difficult to predict</a:t>
            </a:r>
            <a:br>
              <a:rPr lang="en-US" dirty="0"/>
            </a:br>
            <a:endParaRPr lang="en-US" dirty="0"/>
          </a:p>
          <a:p>
            <a:r>
              <a:rPr lang="en-US" b="1" dirty="0"/>
              <a:t>3-Year Target (Smoothed Change)</a:t>
            </a:r>
            <a:endParaRPr lang="en-US" dirty="0"/>
          </a:p>
          <a:p>
            <a:r>
              <a:rPr lang="en-US" dirty="0"/>
              <a:t>Captures broader structural patterns:</a:t>
            </a:r>
          </a:p>
          <a:p>
            <a:pPr marL="285750" indent="-285750">
              <a:buFont typeface="Arial" panose="020B0604020202020204" pitchFamily="34" charset="0"/>
              <a:buChar char="•"/>
            </a:pPr>
            <a:r>
              <a:rPr lang="en-US" dirty="0"/>
              <a:t>Strong persistence in population dynamics over time</a:t>
            </a:r>
          </a:p>
          <a:p>
            <a:pPr marL="285750" indent="-285750">
              <a:buFont typeface="Arial" panose="020B0604020202020204" pitchFamily="34" charset="0"/>
              <a:buChar char="•"/>
            </a:pPr>
            <a:r>
              <a:rPr lang="en-US" dirty="0"/>
              <a:t>Time trends reflect broader structural shifts</a:t>
            </a:r>
          </a:p>
          <a:p>
            <a:pPr marL="285750" indent="-285750">
              <a:buFont typeface="Arial" panose="020B0604020202020204" pitchFamily="34" charset="0"/>
              <a:buChar char="•"/>
            </a:pPr>
            <a:r>
              <a:rPr lang="en-US" dirty="0"/>
              <a:t>Economic and demographic context provide secondary support</a:t>
            </a:r>
          </a:p>
          <a:p>
            <a:pPr marL="285750" indent="-285750">
              <a:buFont typeface="Arial" panose="020B0604020202020204" pitchFamily="34" charset="0"/>
              <a:buChar char="•"/>
            </a:pPr>
            <a:r>
              <a:rPr lang="en-US" dirty="0"/>
              <a:t>Regional differences contribute modest explanatory power</a:t>
            </a:r>
          </a:p>
          <a:p>
            <a:pPr marL="285750" indent="-285750">
              <a:buFont typeface="Arial" panose="020B0604020202020204" pitchFamily="34" charset="0"/>
              <a:buChar char="•"/>
            </a:pPr>
            <a:r>
              <a:rPr lang="en-US" dirty="0"/>
              <a:t>Disaster variables do not appear as strong direct predictors</a:t>
            </a:r>
          </a:p>
          <a:p>
            <a:endParaRPr lang="en-US" b="1" dirty="0"/>
          </a:p>
          <a:p>
            <a:r>
              <a:rPr lang="en-US" b="1" dirty="0"/>
              <a:t>Result: </a:t>
            </a:r>
            <a:r>
              <a:rPr lang="en-US" dirty="0"/>
              <a:t>Model reflects persistent, path-dependent population dynamics</a:t>
            </a:r>
          </a:p>
          <a:p>
            <a:r>
              <a:rPr lang="en-US" b="1" dirty="0"/>
              <a:t>Key Insight: </a:t>
            </a:r>
            <a:r>
              <a:rPr lang="en-US" dirty="0"/>
              <a:t>Population change is driven by momentum in the short run, but by structural and disaster-related factors over longer horizons</a:t>
            </a:r>
          </a:p>
        </p:txBody>
      </p:sp>
    </p:spTree>
    <p:extLst>
      <p:ext uri="{BB962C8B-B14F-4D97-AF65-F5344CB8AC3E}">
        <p14:creationId xmlns:p14="http://schemas.microsoft.com/office/powerpoint/2010/main" val="28294199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18DEC-A29D-0EF7-39B7-5D840E6E8D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96B6C1F-CF7E-21EA-E139-BD9C08871792}"/>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9E468F0-34DE-8849-4B81-553DC807551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Key Learning</a:t>
            </a:r>
          </a:p>
        </p:txBody>
      </p:sp>
      <p:sp>
        <p:nvSpPr>
          <p:cNvPr id="11" name="TextBox 10">
            <a:extLst>
              <a:ext uri="{FF2B5EF4-FFF2-40B4-BE49-F238E27FC236}">
                <a16:creationId xmlns:a16="http://schemas.microsoft.com/office/drawing/2014/main" id="{BCDD44F8-ED1E-744F-388B-CF81663B7177}"/>
              </a:ext>
            </a:extLst>
          </p:cNvPr>
          <p:cNvSpPr txBox="1"/>
          <p:nvPr/>
        </p:nvSpPr>
        <p:spPr>
          <a:xfrm>
            <a:off x="139613" y="1368962"/>
            <a:ext cx="11805460" cy="4801314"/>
          </a:xfrm>
          <a:prstGeom prst="rect">
            <a:avLst/>
          </a:prstGeom>
          <a:noFill/>
        </p:spPr>
        <p:txBody>
          <a:bodyPr wrap="square">
            <a:spAutoFit/>
          </a:bodyPr>
          <a:lstStyle/>
          <a:p>
            <a:r>
              <a:rPr lang="en-US" b="1" dirty="0"/>
              <a:t>What I learned</a:t>
            </a:r>
          </a:p>
          <a:p>
            <a:pPr marL="285750" indent="-285750">
              <a:buFont typeface="Arial" panose="020B0604020202020204" pitchFamily="34" charset="0"/>
              <a:buChar char="•"/>
            </a:pPr>
            <a:r>
              <a:rPr lang="en-US" dirty="0"/>
              <a:t>Short-run population change is highly volatile and difficult to predict </a:t>
            </a:r>
          </a:p>
          <a:p>
            <a:pPr marL="285750" indent="-285750">
              <a:buFont typeface="Arial" panose="020B0604020202020204" pitchFamily="34" charset="0"/>
              <a:buChar char="•"/>
            </a:pPr>
            <a:r>
              <a:rPr lang="en-US" dirty="0"/>
              <a:t>Models rely heavily on momentum (past population trends) in the short run </a:t>
            </a:r>
          </a:p>
          <a:p>
            <a:pPr marL="285750" indent="-285750">
              <a:buFont typeface="Arial" panose="020B0604020202020204" pitchFamily="34" charset="0"/>
              <a:buChar char="•"/>
            </a:pPr>
            <a:r>
              <a:rPr lang="en-US" dirty="0"/>
              <a:t>Structural patterns only emerge when the target is smoothed over time </a:t>
            </a:r>
          </a:p>
          <a:p>
            <a:pPr marL="285750" indent="-285750">
              <a:buFont typeface="Arial" panose="020B0604020202020204" pitchFamily="34" charset="0"/>
              <a:buChar char="•"/>
            </a:pPr>
            <a:r>
              <a:rPr lang="en-US" dirty="0"/>
              <a:t>Disaster and vulnerability effects become visible at longer horizons </a:t>
            </a:r>
          </a:p>
          <a:p>
            <a:br>
              <a:rPr lang="en-US" dirty="0"/>
            </a:br>
            <a:endParaRPr lang="en-US" dirty="0"/>
          </a:p>
          <a:p>
            <a:r>
              <a:rPr lang="en-US" b="1" dirty="0"/>
              <a:t>Implication: </a:t>
            </a:r>
            <a:r>
              <a:rPr lang="en-US" dirty="0"/>
              <a:t>Long-term modeling captures </a:t>
            </a:r>
            <a:r>
              <a:rPr lang="en-US" b="1" dirty="0"/>
              <a:t>meaningful structural drivers</a:t>
            </a:r>
            <a:r>
              <a:rPr lang="en-US" dirty="0"/>
              <a:t> </a:t>
            </a:r>
          </a:p>
          <a:p>
            <a:r>
              <a:rPr lang="en-US" dirty="0"/>
              <a:t>Population change is shaped by: </a:t>
            </a:r>
          </a:p>
          <a:p>
            <a:pPr marL="742950" lvl="1" indent="-285750">
              <a:buFont typeface="Arial" panose="020B0604020202020204" pitchFamily="34" charset="0"/>
              <a:buChar char="•"/>
            </a:pPr>
            <a:r>
              <a:rPr lang="en-US" dirty="0"/>
              <a:t>Persistent population momentum (path dependence) </a:t>
            </a:r>
          </a:p>
          <a:p>
            <a:pPr marL="742950" lvl="1" indent="-285750">
              <a:buFont typeface="Arial" panose="020B0604020202020204" pitchFamily="34" charset="0"/>
              <a:buChar char="•"/>
            </a:pPr>
            <a:r>
              <a:rPr lang="en-US" dirty="0"/>
              <a:t>Disaster exposure </a:t>
            </a:r>
          </a:p>
          <a:p>
            <a:pPr marL="742950" lvl="1" indent="-285750">
              <a:buFont typeface="Arial" panose="020B0604020202020204" pitchFamily="34" charset="0"/>
              <a:buChar char="•"/>
            </a:pPr>
            <a:r>
              <a:rPr lang="en-US" dirty="0"/>
              <a:t>Time trends reflecting broader structural shifts</a:t>
            </a:r>
          </a:p>
          <a:p>
            <a:pPr marL="742950" lvl="1" indent="-285750">
              <a:buFont typeface="Arial" panose="020B0604020202020204" pitchFamily="34" charset="0"/>
              <a:buChar char="•"/>
            </a:pPr>
            <a:r>
              <a:rPr lang="en-US" dirty="0"/>
              <a:t>Economic and demographic context</a:t>
            </a:r>
          </a:p>
          <a:p>
            <a:pPr marL="742950" lvl="1" indent="-285750">
              <a:buFont typeface="Arial" panose="020B0604020202020204" pitchFamily="34" charset="0"/>
              <a:buChar char="•"/>
            </a:pPr>
            <a:r>
              <a:rPr lang="en-US" dirty="0"/>
              <a:t>Regional differences (secondary role)</a:t>
            </a:r>
            <a:br>
              <a:rPr lang="en-US" dirty="0"/>
            </a:br>
            <a:endParaRPr lang="en-US" dirty="0"/>
          </a:p>
          <a:p>
            <a:r>
              <a:rPr lang="en-US" b="1" dirty="0"/>
              <a:t>Key Takeaway: </a:t>
            </a:r>
            <a:r>
              <a:rPr lang="en-US" dirty="0"/>
              <a:t>Population change reflects strong persistence and path dependence, while shocks influence outcomes primarily through cumulative long-term effects.</a:t>
            </a:r>
          </a:p>
        </p:txBody>
      </p:sp>
    </p:spTree>
    <p:extLst>
      <p:ext uri="{BB962C8B-B14F-4D97-AF65-F5344CB8AC3E}">
        <p14:creationId xmlns:p14="http://schemas.microsoft.com/office/powerpoint/2010/main" val="20506428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CB461-06C7-B3FE-2FD3-A6EAA2C2C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AFF467-EA34-A1E1-7D27-49257098751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C9245BE-7F46-5541-F240-56BA0A3CBFE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Structural Patterns </a:t>
            </a:r>
          </a:p>
          <a:p>
            <a:pPr lvl="0"/>
            <a:r>
              <a:rPr lang="en-US" sz="3200" b="1" dirty="0">
                <a:solidFill>
                  <a:schemeClr val="bg1"/>
                </a:solidFill>
              </a:rPr>
              <a:t>(Beyond Prediction)</a:t>
            </a:r>
          </a:p>
        </p:txBody>
      </p:sp>
      <p:sp>
        <p:nvSpPr>
          <p:cNvPr id="11" name="TextBox 10">
            <a:extLst>
              <a:ext uri="{FF2B5EF4-FFF2-40B4-BE49-F238E27FC236}">
                <a16:creationId xmlns:a16="http://schemas.microsoft.com/office/drawing/2014/main" id="{5F60B027-7280-1B08-F112-1AB1AFF3FADD}"/>
              </a:ext>
            </a:extLst>
          </p:cNvPr>
          <p:cNvSpPr txBox="1"/>
          <p:nvPr/>
        </p:nvSpPr>
        <p:spPr>
          <a:xfrm>
            <a:off x="139613" y="1368962"/>
            <a:ext cx="9560053" cy="5016758"/>
          </a:xfrm>
          <a:prstGeom prst="rect">
            <a:avLst/>
          </a:prstGeom>
          <a:noFill/>
        </p:spPr>
        <p:txBody>
          <a:bodyPr wrap="square">
            <a:spAutoFit/>
          </a:bodyPr>
          <a:lstStyle/>
          <a:p>
            <a:r>
              <a:rPr lang="en-US" sz="2000" b="1" dirty="0"/>
              <a:t>What emerges</a:t>
            </a:r>
          </a:p>
          <a:p>
            <a:pPr marL="342900" indent="-342900">
              <a:buFont typeface="Arial" panose="020B0604020202020204" pitchFamily="34" charset="0"/>
              <a:buChar char="•"/>
            </a:pPr>
            <a:r>
              <a:rPr lang="en-US" sz="2000" dirty="0"/>
              <a:t>Distinct municipal typologies across Puerto Rico </a:t>
            </a:r>
          </a:p>
          <a:p>
            <a:pPr marL="342900" indent="-342900">
              <a:buFont typeface="Arial" panose="020B0604020202020204" pitchFamily="34" charset="0"/>
              <a:buChar char="•"/>
            </a:pPr>
            <a:r>
              <a:rPr lang="en-US" sz="2000" dirty="0"/>
              <a:t>Clear and persistent regional clustering </a:t>
            </a:r>
          </a:p>
          <a:p>
            <a:pPr marL="342900" indent="-342900">
              <a:buFont typeface="Arial" panose="020B0604020202020204" pitchFamily="34" charset="0"/>
              <a:buChar char="•"/>
            </a:pPr>
            <a:r>
              <a:rPr lang="en-US" sz="2000" dirty="0"/>
              <a:t>Strong spatial organization of population dynamics</a:t>
            </a:r>
            <a:br>
              <a:rPr lang="en-US" sz="2000" dirty="0"/>
            </a:br>
            <a:endParaRPr lang="en-US" sz="2000" dirty="0"/>
          </a:p>
          <a:p>
            <a:r>
              <a:rPr lang="en-US" sz="2000" b="1" dirty="0"/>
              <a:t>Key result</a:t>
            </a:r>
          </a:p>
          <a:p>
            <a:pPr marL="285750" indent="-285750">
              <a:buFont typeface="Arial" panose="020B0604020202020204" pitchFamily="34" charset="0"/>
              <a:buChar char="•"/>
            </a:pPr>
            <a:r>
              <a:rPr lang="en-US" sz="2000" dirty="0"/>
              <a:t>Patterns are stable and spatially coherent</a:t>
            </a:r>
          </a:p>
          <a:p>
            <a:pPr marL="285750" indent="-285750">
              <a:buFont typeface="Arial" panose="020B0604020202020204" pitchFamily="34" charset="0"/>
              <a:buChar char="•"/>
            </a:pPr>
            <a:r>
              <a:rPr lang="en-US" sz="2000" dirty="0"/>
              <a:t>Similar municipalities exhibit consistent trajectories </a:t>
            </a:r>
          </a:p>
          <a:p>
            <a:pPr marL="285750" indent="-285750">
              <a:buFont typeface="Arial" panose="020B0604020202020204" pitchFamily="34" charset="0"/>
              <a:buChar char="•"/>
            </a:pPr>
            <a:r>
              <a:rPr lang="en-US" sz="2000" dirty="0"/>
              <a:t>Geographic proximity aligns with structural similarity </a:t>
            </a:r>
          </a:p>
          <a:p>
            <a:pPr marL="285750" indent="-285750">
              <a:buFont typeface="Arial" panose="020B0604020202020204" pitchFamily="34" charset="0"/>
              <a:buChar char="•"/>
            </a:pPr>
            <a:r>
              <a:rPr lang="en-US" sz="2000" dirty="0"/>
              <a:t>Results persist across modeling approaches and specifications</a:t>
            </a:r>
            <a:br>
              <a:rPr lang="en-US" sz="2000" dirty="0"/>
            </a:br>
            <a:endParaRPr lang="en-US" sz="2000" dirty="0"/>
          </a:p>
          <a:p>
            <a:r>
              <a:rPr lang="en-US" sz="2000" b="1" dirty="0"/>
              <a:t>Interpretation</a:t>
            </a:r>
          </a:p>
          <a:p>
            <a:pPr marL="285750" indent="-285750">
              <a:buFont typeface="Arial" panose="020B0604020202020204" pitchFamily="34" charset="0"/>
              <a:buChar char="•"/>
            </a:pPr>
            <a:r>
              <a:rPr lang="en-US" sz="2000" dirty="0"/>
              <a:t>Population change is structurally and spatially organized, not random </a:t>
            </a:r>
          </a:p>
          <a:p>
            <a:pPr marL="285750" indent="-285750">
              <a:buFont typeface="Arial" panose="020B0604020202020204" pitchFamily="34" charset="0"/>
              <a:buChar char="•"/>
            </a:pPr>
            <a:r>
              <a:rPr lang="en-US" sz="2000" dirty="0"/>
              <a:t>Decline is concentrated in specific regions, not evenly distributed </a:t>
            </a:r>
          </a:p>
          <a:p>
            <a:pPr marL="285750" indent="-285750">
              <a:buFont typeface="Arial" panose="020B0604020202020204" pitchFamily="34" charset="0"/>
              <a:buChar char="•"/>
            </a:pPr>
            <a:r>
              <a:rPr lang="en-US" sz="2000" dirty="0"/>
              <a:t>Economic conditions and vulnerability align geographically </a:t>
            </a:r>
          </a:p>
          <a:p>
            <a:pPr marL="285750" indent="-285750">
              <a:buFont typeface="Arial" panose="020B0604020202020204" pitchFamily="34" charset="0"/>
              <a:buChar char="•"/>
            </a:pPr>
            <a:r>
              <a:rPr lang="en-US" sz="2000" dirty="0"/>
              <a:t>Spatial structure reflects long-term underlying conditions, not short-term shocks</a:t>
            </a:r>
          </a:p>
        </p:txBody>
      </p:sp>
    </p:spTree>
    <p:extLst>
      <p:ext uri="{BB962C8B-B14F-4D97-AF65-F5344CB8AC3E}">
        <p14:creationId xmlns:p14="http://schemas.microsoft.com/office/powerpoint/2010/main" val="628415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01E96-4FBA-2C53-EB6D-71A73082909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CC9B3-CFF7-3236-0435-5AAC114F3BB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CCB344E-0505-7DC9-9B4B-918C6753D07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11" name="TextBox 10">
            <a:extLst>
              <a:ext uri="{FF2B5EF4-FFF2-40B4-BE49-F238E27FC236}">
                <a16:creationId xmlns:a16="http://schemas.microsoft.com/office/drawing/2014/main" id="{780EBFB1-42F0-193F-093F-6D0414F8B9A6}"/>
              </a:ext>
            </a:extLst>
          </p:cNvPr>
          <p:cNvSpPr txBox="1"/>
          <p:nvPr/>
        </p:nvSpPr>
        <p:spPr>
          <a:xfrm>
            <a:off x="139614" y="1368962"/>
            <a:ext cx="7408330" cy="4524315"/>
          </a:xfrm>
          <a:prstGeom prst="rect">
            <a:avLst/>
          </a:prstGeom>
          <a:noFill/>
        </p:spPr>
        <p:txBody>
          <a:bodyPr wrap="square">
            <a:spAutoFit/>
          </a:bodyPr>
          <a:lstStyle/>
          <a:p>
            <a:r>
              <a:rPr lang="en-US" b="1" dirty="0"/>
              <a:t>Key Findings: </a:t>
            </a:r>
          </a:p>
          <a:p>
            <a:pPr marL="285750" indent="-285750">
              <a:buFont typeface="Arial" panose="020B0604020202020204" pitchFamily="34" charset="0"/>
              <a:buChar char="•"/>
            </a:pPr>
            <a:r>
              <a:rPr lang="en-US" dirty="0"/>
              <a:t>Puerto Rico shows a persistent population decline (~0.6% per year) </a:t>
            </a:r>
            <a:br>
              <a:rPr lang="en-US" dirty="0"/>
            </a:br>
            <a:r>
              <a:rPr lang="en-US" dirty="0"/>
              <a:t>≈ ~20,000 people lost annually </a:t>
            </a:r>
          </a:p>
          <a:p>
            <a:endParaRPr lang="en-US" dirty="0"/>
          </a:p>
          <a:p>
            <a:pPr marL="285750" indent="-285750">
              <a:buFont typeface="Arial" panose="020B0604020202020204" pitchFamily="34" charset="0"/>
              <a:buChar char="•"/>
            </a:pPr>
            <a:r>
              <a:rPr lang="en-US" dirty="0"/>
              <a:t>Decline is not uniform across the island </a:t>
            </a:r>
          </a:p>
          <a:p>
            <a:pPr marL="285750" indent="-285750">
              <a:buFont typeface="Arial" panose="020B0604020202020204" pitchFamily="34" charset="0"/>
              <a:buChar char="•"/>
            </a:pPr>
            <a:r>
              <a:rPr lang="en-US" dirty="0"/>
              <a:t>Largest losses in South and West regions </a:t>
            </a:r>
          </a:p>
          <a:p>
            <a:pPr marL="285750" indent="-285750">
              <a:buFont typeface="Arial" panose="020B0604020202020204" pitchFamily="34" charset="0"/>
              <a:buChar char="•"/>
            </a:pPr>
            <a:r>
              <a:rPr lang="en-US" dirty="0"/>
              <a:t>Regional differences remain stable over time</a:t>
            </a:r>
            <a:br>
              <a:rPr lang="en-US" dirty="0"/>
            </a:br>
            <a:endParaRPr lang="en-US" dirty="0"/>
          </a:p>
          <a:p>
            <a:r>
              <a:rPr lang="en-US" b="1" dirty="0"/>
              <a:t>Model Insight</a:t>
            </a:r>
          </a:p>
          <a:p>
            <a:pPr marL="285750" indent="-285750">
              <a:buFont typeface="Arial" panose="020B0604020202020204" pitchFamily="34" charset="0"/>
              <a:buChar char="•"/>
            </a:pPr>
            <a:r>
              <a:rPr lang="en-US" dirty="0"/>
              <a:t>Population decline is systematic and predictable </a:t>
            </a:r>
          </a:p>
          <a:p>
            <a:pPr marL="285750" indent="-285750">
              <a:buFont typeface="Arial" panose="020B0604020202020204" pitchFamily="34" charset="0"/>
              <a:buChar char="•"/>
            </a:pPr>
            <a:r>
              <a:rPr lang="en-US" dirty="0"/>
              <a:t>Regional location strongly influences outcomes </a:t>
            </a:r>
          </a:p>
          <a:p>
            <a:pPr marL="285750" indent="-285750">
              <a:buFont typeface="Arial" panose="020B0604020202020204" pitchFamily="34" charset="0"/>
              <a:buChar char="•"/>
            </a:pPr>
            <a:r>
              <a:rPr lang="en-US" dirty="0"/>
              <a:t>Decline is spatially concentrated, not random</a:t>
            </a:r>
            <a:br>
              <a:rPr lang="en-US" dirty="0"/>
            </a:br>
            <a:endParaRPr lang="en-US" dirty="0"/>
          </a:p>
          <a:p>
            <a:r>
              <a:rPr lang="en-US" b="1" dirty="0"/>
              <a:t>Key Insight: </a:t>
            </a:r>
            <a:r>
              <a:rPr lang="en-US" dirty="0"/>
              <a:t>Population decline in Puerto Rico is spatially structured and persistent, with long-term regional patterns driving outcomes more than short-term fluctuations</a:t>
            </a:r>
          </a:p>
        </p:txBody>
      </p:sp>
      <p:grpSp>
        <p:nvGrpSpPr>
          <p:cNvPr id="21" name="Group 20">
            <a:extLst>
              <a:ext uri="{FF2B5EF4-FFF2-40B4-BE49-F238E27FC236}">
                <a16:creationId xmlns:a16="http://schemas.microsoft.com/office/drawing/2014/main" id="{EDACC794-0F41-477B-77BE-4B63A721FCAB}"/>
              </a:ext>
            </a:extLst>
          </p:cNvPr>
          <p:cNvGrpSpPr/>
          <p:nvPr/>
        </p:nvGrpSpPr>
        <p:grpSpPr>
          <a:xfrm>
            <a:off x="8430735" y="847624"/>
            <a:ext cx="3131127" cy="5162752"/>
            <a:chOff x="8118763" y="1155096"/>
            <a:chExt cx="3131127" cy="5162752"/>
          </a:xfrm>
        </p:grpSpPr>
        <p:grpSp>
          <p:nvGrpSpPr>
            <p:cNvPr id="20" name="Group 19">
              <a:extLst>
                <a:ext uri="{FF2B5EF4-FFF2-40B4-BE49-F238E27FC236}">
                  <a16:creationId xmlns:a16="http://schemas.microsoft.com/office/drawing/2014/main" id="{27C4B837-2BB3-A8C9-C4E8-9EEBE510D2C6}"/>
                </a:ext>
              </a:extLst>
            </p:cNvPr>
            <p:cNvGrpSpPr/>
            <p:nvPr/>
          </p:nvGrpSpPr>
          <p:grpSpPr>
            <a:xfrm>
              <a:off x="8118763" y="1155096"/>
              <a:ext cx="3131127" cy="2695448"/>
              <a:chOff x="8118763" y="1155096"/>
              <a:chExt cx="3131127" cy="2695448"/>
            </a:xfrm>
          </p:grpSpPr>
          <p:pic>
            <p:nvPicPr>
              <p:cNvPr id="6" name="Picture 5">
                <a:extLst>
                  <a:ext uri="{FF2B5EF4-FFF2-40B4-BE49-F238E27FC236}">
                    <a16:creationId xmlns:a16="http://schemas.microsoft.com/office/drawing/2014/main" id="{2BB35D2E-6173-F0FE-F37B-CA70A306F9AC}"/>
                  </a:ext>
                </a:extLst>
              </p:cNvPr>
              <p:cNvPicPr>
                <a:picLocks noChangeAspect="1"/>
              </p:cNvPicPr>
              <p:nvPr/>
            </p:nvPicPr>
            <p:blipFill>
              <a:blip r:embed="rId3">
                <a:extLst>
                  <a:ext uri="{28A0092B-C50C-407E-A947-70E740481C1C}">
                    <a14:useLocalDpi xmlns:a14="http://schemas.microsoft.com/office/drawing/2010/main" val="0"/>
                  </a:ext>
                </a:extLst>
              </a:blip>
              <a:srcRect l="67914" b="50026"/>
              <a:stretch>
                <a:fillRect/>
              </a:stretch>
            </p:blipFill>
            <p:spPr>
              <a:xfrm>
                <a:off x="8118763" y="1155096"/>
                <a:ext cx="3131127" cy="2509761"/>
              </a:xfrm>
              <a:prstGeom prst="rect">
                <a:avLst/>
              </a:prstGeom>
            </p:spPr>
          </p:pic>
          <p:sp>
            <p:nvSpPr>
              <p:cNvPr id="9" name="TextBox 8">
                <a:extLst>
                  <a:ext uri="{FF2B5EF4-FFF2-40B4-BE49-F238E27FC236}">
                    <a16:creationId xmlns:a16="http://schemas.microsoft.com/office/drawing/2014/main" id="{F9FB1B4D-7A97-9378-8948-4BFA30136017}"/>
                  </a:ext>
                </a:extLst>
              </p:cNvPr>
              <p:cNvSpPr txBox="1"/>
              <p:nvPr/>
            </p:nvSpPr>
            <p:spPr>
              <a:xfrm>
                <a:off x="9593467" y="3635100"/>
                <a:ext cx="402674" cy="215444"/>
              </a:xfrm>
              <a:prstGeom prst="rect">
                <a:avLst/>
              </a:prstGeom>
              <a:noFill/>
            </p:spPr>
            <p:txBody>
              <a:bodyPr wrap="none" rtlCol="0">
                <a:spAutoFit/>
              </a:bodyPr>
              <a:lstStyle/>
              <a:p>
                <a:r>
                  <a:rPr lang="en-US" sz="800" dirty="0">
                    <a:latin typeface="Arial" panose="020B0604020202020204" pitchFamily="34" charset="0"/>
                    <a:cs typeface="Arial" panose="020B0604020202020204" pitchFamily="34" charset="0"/>
                  </a:rPr>
                  <a:t>Year</a:t>
                </a:r>
              </a:p>
            </p:txBody>
          </p:sp>
          <p:sp>
            <p:nvSpPr>
              <p:cNvPr id="14" name="TextBox 13">
                <a:extLst>
                  <a:ext uri="{FF2B5EF4-FFF2-40B4-BE49-F238E27FC236}">
                    <a16:creationId xmlns:a16="http://schemas.microsoft.com/office/drawing/2014/main" id="{B1581230-0D1C-E54C-94A1-7C4EE1CAB251}"/>
                  </a:ext>
                </a:extLst>
              </p:cNvPr>
              <p:cNvSpPr txBox="1"/>
              <p:nvPr/>
            </p:nvSpPr>
            <p:spPr>
              <a:xfrm>
                <a:off x="8371185" y="3605597"/>
                <a:ext cx="383438" cy="200055"/>
              </a:xfrm>
              <a:prstGeom prst="rect">
                <a:avLst/>
              </a:prstGeom>
              <a:noFill/>
            </p:spPr>
            <p:txBody>
              <a:bodyPr wrap="none" rtlCol="0">
                <a:spAutoFit/>
              </a:bodyPr>
              <a:lstStyle/>
              <a:p>
                <a:r>
                  <a:rPr lang="en-US" sz="700" dirty="0">
                    <a:latin typeface="Arial" panose="020B0604020202020204" pitchFamily="34" charset="0"/>
                    <a:cs typeface="Arial" panose="020B0604020202020204" pitchFamily="34" charset="0"/>
                  </a:rPr>
                  <a:t>2010</a:t>
                </a:r>
              </a:p>
            </p:txBody>
          </p:sp>
          <p:sp>
            <p:nvSpPr>
              <p:cNvPr id="15" name="TextBox 14">
                <a:extLst>
                  <a:ext uri="{FF2B5EF4-FFF2-40B4-BE49-F238E27FC236}">
                    <a16:creationId xmlns:a16="http://schemas.microsoft.com/office/drawing/2014/main" id="{198EB478-DDB0-BA94-B326-9858271A8284}"/>
                  </a:ext>
                </a:extLst>
              </p:cNvPr>
              <p:cNvSpPr txBox="1"/>
              <p:nvPr/>
            </p:nvSpPr>
            <p:spPr>
              <a:xfrm>
                <a:off x="10834985" y="3605597"/>
                <a:ext cx="383438" cy="200055"/>
              </a:xfrm>
              <a:prstGeom prst="rect">
                <a:avLst/>
              </a:prstGeom>
              <a:noFill/>
            </p:spPr>
            <p:txBody>
              <a:bodyPr wrap="none" rtlCol="0">
                <a:spAutoFit/>
              </a:bodyPr>
              <a:lstStyle/>
              <a:p>
                <a:r>
                  <a:rPr lang="en-US" sz="700" dirty="0">
                    <a:latin typeface="Arial" panose="020B0604020202020204" pitchFamily="34" charset="0"/>
                    <a:cs typeface="Arial" panose="020B0604020202020204" pitchFamily="34" charset="0"/>
                  </a:rPr>
                  <a:t>2030</a:t>
                </a:r>
              </a:p>
            </p:txBody>
          </p:sp>
        </p:grpSp>
        <p:grpSp>
          <p:nvGrpSpPr>
            <p:cNvPr id="19" name="Group 18">
              <a:extLst>
                <a:ext uri="{FF2B5EF4-FFF2-40B4-BE49-F238E27FC236}">
                  <a16:creationId xmlns:a16="http://schemas.microsoft.com/office/drawing/2014/main" id="{3F52B153-1F4E-E244-5429-4E561CE2DF5B}"/>
                </a:ext>
              </a:extLst>
            </p:cNvPr>
            <p:cNvGrpSpPr/>
            <p:nvPr/>
          </p:nvGrpSpPr>
          <p:grpSpPr>
            <a:xfrm>
              <a:off x="8118763" y="4071982"/>
              <a:ext cx="3131127" cy="2245866"/>
              <a:chOff x="8118763" y="4071982"/>
              <a:chExt cx="3131127" cy="2245866"/>
            </a:xfrm>
          </p:grpSpPr>
          <p:sp>
            <p:nvSpPr>
              <p:cNvPr id="16" name="TextBox 15">
                <a:extLst>
                  <a:ext uri="{FF2B5EF4-FFF2-40B4-BE49-F238E27FC236}">
                    <a16:creationId xmlns:a16="http://schemas.microsoft.com/office/drawing/2014/main" id="{F105475C-A289-F161-251F-3F8D53617005}"/>
                  </a:ext>
                </a:extLst>
              </p:cNvPr>
              <p:cNvSpPr txBox="1"/>
              <p:nvPr/>
            </p:nvSpPr>
            <p:spPr>
              <a:xfrm>
                <a:off x="9587117" y="6102404"/>
                <a:ext cx="402674" cy="215444"/>
              </a:xfrm>
              <a:prstGeom prst="rect">
                <a:avLst/>
              </a:prstGeom>
              <a:noFill/>
            </p:spPr>
            <p:txBody>
              <a:bodyPr wrap="none" rtlCol="0">
                <a:spAutoFit/>
              </a:bodyPr>
              <a:lstStyle/>
              <a:p>
                <a:r>
                  <a:rPr lang="en-US" sz="800" dirty="0">
                    <a:latin typeface="Arial" panose="020B0604020202020204" pitchFamily="34" charset="0"/>
                    <a:cs typeface="Arial" panose="020B0604020202020204" pitchFamily="34" charset="0"/>
                  </a:rPr>
                  <a:t>Year</a:t>
                </a:r>
              </a:p>
            </p:txBody>
          </p:sp>
          <p:pic>
            <p:nvPicPr>
              <p:cNvPr id="7" name="Picture 6">
                <a:extLst>
                  <a:ext uri="{FF2B5EF4-FFF2-40B4-BE49-F238E27FC236}">
                    <a16:creationId xmlns:a16="http://schemas.microsoft.com/office/drawing/2014/main" id="{38ABC03F-53AA-DAB0-01C1-6493859D5F77}"/>
                  </a:ext>
                </a:extLst>
              </p:cNvPr>
              <p:cNvPicPr>
                <a:picLocks noChangeAspect="1"/>
              </p:cNvPicPr>
              <p:nvPr/>
            </p:nvPicPr>
            <p:blipFill>
              <a:blip r:embed="rId3">
                <a:extLst>
                  <a:ext uri="{28A0092B-C50C-407E-A947-70E740481C1C}">
                    <a14:useLocalDpi xmlns:a14="http://schemas.microsoft.com/office/drawing/2010/main" val="0"/>
                  </a:ext>
                </a:extLst>
              </a:blip>
              <a:srcRect l="67914" t="53230" b="5732"/>
              <a:stretch>
                <a:fillRect/>
              </a:stretch>
            </p:blipFill>
            <p:spPr>
              <a:xfrm>
                <a:off x="8118763" y="4071982"/>
                <a:ext cx="3131127" cy="2061029"/>
              </a:xfrm>
              <a:prstGeom prst="rect">
                <a:avLst/>
              </a:prstGeom>
            </p:spPr>
          </p:pic>
          <p:sp>
            <p:nvSpPr>
              <p:cNvPr id="17" name="TextBox 16">
                <a:extLst>
                  <a:ext uri="{FF2B5EF4-FFF2-40B4-BE49-F238E27FC236}">
                    <a16:creationId xmlns:a16="http://schemas.microsoft.com/office/drawing/2014/main" id="{54A4B5DA-04B9-716D-8487-8428E92BAE75}"/>
                  </a:ext>
                </a:extLst>
              </p:cNvPr>
              <p:cNvSpPr txBox="1"/>
              <p:nvPr/>
            </p:nvSpPr>
            <p:spPr>
              <a:xfrm>
                <a:off x="8364835" y="6072901"/>
                <a:ext cx="383438" cy="200055"/>
              </a:xfrm>
              <a:prstGeom prst="rect">
                <a:avLst/>
              </a:prstGeom>
              <a:noFill/>
            </p:spPr>
            <p:txBody>
              <a:bodyPr wrap="none" rtlCol="0">
                <a:spAutoFit/>
              </a:bodyPr>
              <a:lstStyle/>
              <a:p>
                <a:r>
                  <a:rPr lang="en-US" sz="700" dirty="0">
                    <a:latin typeface="Arial" panose="020B0604020202020204" pitchFamily="34" charset="0"/>
                    <a:cs typeface="Arial" panose="020B0604020202020204" pitchFamily="34" charset="0"/>
                  </a:rPr>
                  <a:t>2010</a:t>
                </a:r>
              </a:p>
            </p:txBody>
          </p:sp>
          <p:sp>
            <p:nvSpPr>
              <p:cNvPr id="18" name="TextBox 17">
                <a:extLst>
                  <a:ext uri="{FF2B5EF4-FFF2-40B4-BE49-F238E27FC236}">
                    <a16:creationId xmlns:a16="http://schemas.microsoft.com/office/drawing/2014/main" id="{AE216B00-BB65-B90E-69D8-DEBC73C01070}"/>
                  </a:ext>
                </a:extLst>
              </p:cNvPr>
              <p:cNvSpPr txBox="1"/>
              <p:nvPr/>
            </p:nvSpPr>
            <p:spPr>
              <a:xfrm>
                <a:off x="10828635" y="6072901"/>
                <a:ext cx="383438" cy="200055"/>
              </a:xfrm>
              <a:prstGeom prst="rect">
                <a:avLst/>
              </a:prstGeom>
              <a:noFill/>
            </p:spPr>
            <p:txBody>
              <a:bodyPr wrap="none" rtlCol="0">
                <a:spAutoFit/>
              </a:bodyPr>
              <a:lstStyle/>
              <a:p>
                <a:r>
                  <a:rPr lang="en-US" sz="700" dirty="0">
                    <a:latin typeface="Arial" panose="020B0604020202020204" pitchFamily="34" charset="0"/>
                    <a:cs typeface="Arial" panose="020B0604020202020204" pitchFamily="34" charset="0"/>
                  </a:rPr>
                  <a:t>2030</a:t>
                </a:r>
              </a:p>
            </p:txBody>
          </p:sp>
        </p:grpSp>
      </p:grpSp>
    </p:spTree>
    <p:extLst>
      <p:ext uri="{BB962C8B-B14F-4D97-AF65-F5344CB8AC3E}">
        <p14:creationId xmlns:p14="http://schemas.microsoft.com/office/powerpoint/2010/main" val="950352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AACEB-1722-88D8-B95E-8240E932C59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A414B29-6E64-67DF-0F80-8F8B88C89F4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4CDF8FC6-9195-2AC0-E464-BF6773D0F89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23850934-A93C-C08E-997D-C535CB36B4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179625"/>
            <a:ext cx="4530034" cy="2150372"/>
          </a:xfrm>
          <a:prstGeom prst="rect">
            <a:avLst/>
          </a:prstGeom>
          <a:ln>
            <a:solidFill>
              <a:schemeClr val="bg1"/>
            </a:solidFill>
          </a:ln>
        </p:spPr>
      </p:pic>
      <p:pic>
        <p:nvPicPr>
          <p:cNvPr id="7" name="Picture 6">
            <a:extLst>
              <a:ext uri="{FF2B5EF4-FFF2-40B4-BE49-F238E27FC236}">
                <a16:creationId xmlns:a16="http://schemas.microsoft.com/office/drawing/2014/main" id="{0813A7E1-52A3-7A13-10F0-4FF402090E0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26236" y="4179625"/>
            <a:ext cx="4492852" cy="2150372"/>
          </a:xfrm>
          <a:prstGeom prst="rect">
            <a:avLst/>
          </a:prstGeom>
          <a:ln>
            <a:solidFill>
              <a:schemeClr val="bg1"/>
            </a:solidFill>
          </a:ln>
        </p:spPr>
      </p:pic>
      <p:pic>
        <p:nvPicPr>
          <p:cNvPr id="9" name="Picture 8">
            <a:extLst>
              <a:ext uri="{FF2B5EF4-FFF2-40B4-BE49-F238E27FC236}">
                <a16:creationId xmlns:a16="http://schemas.microsoft.com/office/drawing/2014/main" id="{290417C2-B2F3-1C4D-AF70-1BABFA946C4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8590" y="1368962"/>
            <a:ext cx="4492854" cy="2150372"/>
          </a:xfrm>
          <a:prstGeom prst="rect">
            <a:avLst/>
          </a:prstGeom>
          <a:ln>
            <a:solidFill>
              <a:schemeClr val="bg1"/>
            </a:solidFill>
          </a:ln>
        </p:spPr>
      </p:pic>
      <p:pic>
        <p:nvPicPr>
          <p:cNvPr id="11" name="Picture 10">
            <a:extLst>
              <a:ext uri="{FF2B5EF4-FFF2-40B4-BE49-F238E27FC236}">
                <a16:creationId xmlns:a16="http://schemas.microsoft.com/office/drawing/2014/main" id="{93FEF1C9-C665-F74C-8B8B-95287B78588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126236" y="1368962"/>
            <a:ext cx="4530036" cy="2150372"/>
          </a:xfrm>
          <a:prstGeom prst="rect">
            <a:avLst/>
          </a:prstGeom>
          <a:ln>
            <a:solidFill>
              <a:schemeClr val="bg1"/>
            </a:solidFill>
          </a:ln>
        </p:spPr>
      </p:pic>
    </p:spTree>
    <p:extLst>
      <p:ext uri="{BB962C8B-B14F-4D97-AF65-F5344CB8AC3E}">
        <p14:creationId xmlns:p14="http://schemas.microsoft.com/office/powerpoint/2010/main" val="20072460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B4858-528D-1E9D-D076-E07737746C2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EA9AAD-CB49-B525-910C-44F3EE7A266C}"/>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9DFE2C1-2757-4F13-1168-9FCEC98D397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F3E640DB-B139-20C3-110C-47BE0BCE11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7021" y="1725108"/>
            <a:ext cx="7772400" cy="4231640"/>
          </a:xfrm>
          <a:prstGeom prst="rect">
            <a:avLst/>
          </a:prstGeom>
        </p:spPr>
      </p:pic>
    </p:spTree>
    <p:extLst>
      <p:ext uri="{BB962C8B-B14F-4D97-AF65-F5344CB8AC3E}">
        <p14:creationId xmlns:p14="http://schemas.microsoft.com/office/powerpoint/2010/main" val="23288019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2D8DA-71F8-5252-E92B-F07096EA896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B4C24D0-FE60-EE0C-AD18-F6F6AF226A3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8CDDF6D-0977-8F9C-1E29-8906F64C30CC}"/>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6" name="Picture 5">
            <a:extLst>
              <a:ext uri="{FF2B5EF4-FFF2-40B4-BE49-F238E27FC236}">
                <a16:creationId xmlns:a16="http://schemas.microsoft.com/office/drawing/2014/main" id="{82016559-3C92-77D3-1BD1-9AC6D29815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368962"/>
            <a:ext cx="8708661" cy="4741382"/>
          </a:xfrm>
          <a:prstGeom prst="rect">
            <a:avLst/>
          </a:prstGeom>
        </p:spPr>
      </p:pic>
    </p:spTree>
    <p:extLst>
      <p:ext uri="{BB962C8B-B14F-4D97-AF65-F5344CB8AC3E}">
        <p14:creationId xmlns:p14="http://schemas.microsoft.com/office/powerpoint/2010/main" val="36884450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D9378-4901-CC95-4DF0-C7E71B5E62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2CAD6A5-BA72-AEE1-9FDB-8E3BFC1F19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30B379C-AF02-DC4D-8D44-957433DF2A6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Next Steps</a:t>
            </a:r>
          </a:p>
        </p:txBody>
      </p:sp>
      <p:sp>
        <p:nvSpPr>
          <p:cNvPr id="11" name="TextBox 10">
            <a:extLst>
              <a:ext uri="{FF2B5EF4-FFF2-40B4-BE49-F238E27FC236}">
                <a16:creationId xmlns:a16="http://schemas.microsoft.com/office/drawing/2014/main" id="{CD8A33B1-F324-0543-80BE-283BFC0306AF}"/>
              </a:ext>
            </a:extLst>
          </p:cNvPr>
          <p:cNvSpPr txBox="1"/>
          <p:nvPr/>
        </p:nvSpPr>
        <p:spPr>
          <a:xfrm>
            <a:off x="132408" y="1246298"/>
            <a:ext cx="11673769" cy="4524315"/>
          </a:xfrm>
          <a:prstGeom prst="rect">
            <a:avLst/>
          </a:prstGeom>
          <a:noFill/>
        </p:spPr>
        <p:txBody>
          <a:bodyPr wrap="square">
            <a:spAutoFit/>
          </a:bodyPr>
          <a:lstStyle/>
          <a:p>
            <a:pPr lvl="0" eaLnBrk="0" fontAlgn="base" hangingPunct="0">
              <a:spcBef>
                <a:spcPct val="0"/>
              </a:spcBef>
              <a:spcAft>
                <a:spcPct val="0"/>
              </a:spcAft>
            </a:pPr>
            <a:r>
              <a:rPr lang="en-US" sz="2400" b="1" dirty="0"/>
              <a:t>Policy Simulation &amp; Scenario Analysis</a:t>
            </a:r>
          </a:p>
          <a:p>
            <a:pPr lvl="0" eaLnBrk="0" fontAlgn="base" hangingPunct="0">
              <a:spcBef>
                <a:spcPct val="0"/>
              </a:spcBef>
              <a:spcAft>
                <a:spcPct val="0"/>
              </a:spcAft>
            </a:pPr>
            <a:endParaRPr lang="en-US" sz="2400" dirty="0"/>
          </a:p>
          <a:p>
            <a:pPr lvl="0" eaLnBrk="0" fontAlgn="base" hangingPunct="0">
              <a:spcBef>
                <a:spcPct val="0"/>
              </a:spcBef>
              <a:spcAft>
                <a:spcPct val="0"/>
              </a:spcAft>
            </a:pPr>
            <a:r>
              <a:rPr lang="en-US" altLang="en-US" sz="2400" b="1" dirty="0"/>
              <a:t>Goal: </a:t>
            </a:r>
            <a:r>
              <a:rPr lang="en-US" altLang="en-US" sz="2400" dirty="0"/>
              <a:t>Translate predictive modeling into actionable policy insights</a:t>
            </a:r>
          </a:p>
          <a:p>
            <a:pPr lvl="0" eaLnBrk="0" fontAlgn="base" hangingPunct="0">
              <a:spcBef>
                <a:spcPct val="0"/>
              </a:spcBef>
              <a:spcAft>
                <a:spcPct val="0"/>
              </a:spcAft>
            </a:pPr>
            <a:endParaRPr lang="en-US" sz="2400" dirty="0"/>
          </a:p>
          <a:p>
            <a:pPr marL="285750" lvl="0" indent="-285750" eaLnBrk="0" fontAlgn="base" hangingPunct="0">
              <a:spcBef>
                <a:spcPct val="0"/>
              </a:spcBef>
              <a:spcAft>
                <a:spcPct val="0"/>
              </a:spcAft>
              <a:buFont typeface="Arial" panose="020B0604020202020204" pitchFamily="34" charset="0"/>
              <a:buChar char="•"/>
            </a:pPr>
            <a:r>
              <a:rPr lang="en-US" sz="2400" dirty="0"/>
              <a:t>Extend forecasting into policy-driven scenarios </a:t>
            </a:r>
          </a:p>
          <a:p>
            <a:pPr marL="742950" lvl="1" indent="-285750" eaLnBrk="0" fontAlgn="base" hangingPunct="0">
              <a:spcBef>
                <a:spcPct val="0"/>
              </a:spcBef>
              <a:spcAft>
                <a:spcPct val="0"/>
              </a:spcAft>
              <a:buFont typeface="Arial" panose="020B0604020202020204" pitchFamily="34" charset="0"/>
              <a:buChar char="•"/>
            </a:pPr>
            <a:r>
              <a:rPr lang="en-US" sz="2400" dirty="0"/>
              <a:t>Simulate interventions (jobs, retention, resilience strategies) </a:t>
            </a:r>
          </a:p>
          <a:p>
            <a:pPr marL="285750" indent="-285750" eaLnBrk="0" fontAlgn="base" hangingPunct="0">
              <a:spcBef>
                <a:spcPct val="0"/>
              </a:spcBef>
              <a:spcAft>
                <a:spcPct val="0"/>
              </a:spcAft>
              <a:buFont typeface="Arial" panose="020B0604020202020204" pitchFamily="34" charset="0"/>
              <a:buChar char="•"/>
            </a:pPr>
            <a:endParaRPr lang="en-US" sz="2400" dirty="0"/>
          </a:p>
          <a:p>
            <a:pPr marL="285750" indent="-285750" eaLnBrk="0" fontAlgn="base" hangingPunct="0">
              <a:spcBef>
                <a:spcPct val="0"/>
              </a:spcBef>
              <a:spcAft>
                <a:spcPct val="0"/>
              </a:spcAft>
              <a:buFont typeface="Arial" panose="020B0604020202020204" pitchFamily="34" charset="0"/>
              <a:buChar char="•"/>
            </a:pPr>
            <a:r>
              <a:rPr lang="en-US" sz="2400" dirty="0"/>
              <a:t>Evaluate policy effectiveness </a:t>
            </a:r>
          </a:p>
          <a:p>
            <a:pPr marL="742950" lvl="1" indent="-285750" eaLnBrk="0" fontAlgn="base" hangingPunct="0">
              <a:spcBef>
                <a:spcPct val="0"/>
              </a:spcBef>
              <a:spcAft>
                <a:spcPct val="0"/>
              </a:spcAft>
              <a:buFont typeface="Arial" panose="020B0604020202020204" pitchFamily="34" charset="0"/>
              <a:buChar char="•"/>
            </a:pPr>
            <a:r>
              <a:rPr lang="en-US" sz="2400" dirty="0"/>
              <a:t>Identify which strategies slow population decline </a:t>
            </a:r>
          </a:p>
          <a:p>
            <a:pPr marL="285750" indent="-285750" eaLnBrk="0" fontAlgn="base" hangingPunct="0">
              <a:spcBef>
                <a:spcPct val="0"/>
              </a:spcBef>
              <a:spcAft>
                <a:spcPct val="0"/>
              </a:spcAft>
              <a:buFont typeface="Arial" panose="020B0604020202020204" pitchFamily="34" charset="0"/>
              <a:buChar char="•"/>
            </a:pPr>
            <a:endParaRPr lang="en-US" sz="2400" dirty="0"/>
          </a:p>
          <a:p>
            <a:pPr marL="285750" indent="-285750" eaLnBrk="0" fontAlgn="base" hangingPunct="0">
              <a:spcBef>
                <a:spcPct val="0"/>
              </a:spcBef>
              <a:spcAft>
                <a:spcPct val="0"/>
              </a:spcAft>
              <a:buFont typeface="Arial" panose="020B0604020202020204" pitchFamily="34" charset="0"/>
              <a:buChar char="•"/>
            </a:pPr>
            <a:r>
              <a:rPr lang="en-US" sz="2400" dirty="0"/>
              <a:t>Integrate results into interactive dashboard </a:t>
            </a:r>
          </a:p>
          <a:p>
            <a:pPr marL="742950" lvl="1" indent="-285750" eaLnBrk="0" fontAlgn="base" hangingPunct="0">
              <a:spcBef>
                <a:spcPct val="0"/>
              </a:spcBef>
              <a:spcAft>
                <a:spcPct val="0"/>
              </a:spcAft>
              <a:buFont typeface="Arial" panose="020B0604020202020204" pitchFamily="34" charset="0"/>
              <a:buChar char="•"/>
            </a:pPr>
            <a:r>
              <a:rPr lang="en-US" sz="2400" dirty="0"/>
              <a:t>Expand website with scenario exploration tools </a:t>
            </a:r>
            <a:r>
              <a:rPr lang="en-US" altLang="en-US" sz="2400" dirty="0"/>
              <a:t> </a:t>
            </a:r>
          </a:p>
        </p:txBody>
      </p:sp>
    </p:spTree>
    <p:extLst>
      <p:ext uri="{BB962C8B-B14F-4D97-AF65-F5344CB8AC3E}">
        <p14:creationId xmlns:p14="http://schemas.microsoft.com/office/powerpoint/2010/main" val="8842645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4F16-EDCC-8571-609B-B4E36ECD957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2357FC-F0D5-14AF-6B21-AD635116F0A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F1A8BAC-04CD-0771-C6C6-B5D27E3ECAD1}"/>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Final Takeaway</a:t>
            </a:r>
          </a:p>
        </p:txBody>
      </p:sp>
      <p:sp>
        <p:nvSpPr>
          <p:cNvPr id="11" name="TextBox 10">
            <a:extLst>
              <a:ext uri="{FF2B5EF4-FFF2-40B4-BE49-F238E27FC236}">
                <a16:creationId xmlns:a16="http://schemas.microsoft.com/office/drawing/2014/main" id="{5B3334E0-39F4-9C77-293B-86A671B72ACD}"/>
              </a:ext>
            </a:extLst>
          </p:cNvPr>
          <p:cNvSpPr txBox="1"/>
          <p:nvPr/>
        </p:nvSpPr>
        <p:spPr>
          <a:xfrm>
            <a:off x="139613" y="1368962"/>
            <a:ext cx="11527668" cy="4524315"/>
          </a:xfrm>
          <a:prstGeom prst="rect">
            <a:avLst/>
          </a:prstGeom>
          <a:noFill/>
        </p:spPr>
        <p:txBody>
          <a:bodyPr wrap="square">
            <a:spAutoFit/>
          </a:bodyPr>
          <a:lstStyle/>
          <a:p>
            <a:r>
              <a:rPr lang="en-US" sz="2400" b="1" dirty="0"/>
              <a:t>Population decline in Puerto Rico is not random:</a:t>
            </a:r>
          </a:p>
          <a:p>
            <a:pPr marL="342900" indent="-342900">
              <a:buFont typeface="Arial" panose="020B0604020202020204" pitchFamily="34" charset="0"/>
              <a:buChar char="•"/>
            </a:pPr>
            <a:r>
              <a:rPr lang="en-US" sz="2400" b="1" dirty="0"/>
              <a:t>Structured </a:t>
            </a:r>
            <a:r>
              <a:rPr lang="en-US" sz="2400" dirty="0"/>
              <a:t>— driven by economic and social conditions </a:t>
            </a:r>
          </a:p>
          <a:p>
            <a:pPr marL="342900" indent="-342900">
              <a:buFont typeface="Arial" panose="020B0604020202020204" pitchFamily="34" charset="0"/>
              <a:buChar char="•"/>
            </a:pPr>
            <a:r>
              <a:rPr lang="en-US" sz="2400" b="1" dirty="0"/>
              <a:t>Spatial </a:t>
            </a:r>
            <a:r>
              <a:rPr lang="en-US" sz="2400" dirty="0"/>
              <a:t>— concentrated in specific regions </a:t>
            </a:r>
          </a:p>
          <a:p>
            <a:pPr marL="342900" indent="-342900">
              <a:buFont typeface="Arial" panose="020B0604020202020204" pitchFamily="34" charset="0"/>
              <a:buChar char="•"/>
            </a:pPr>
            <a:r>
              <a:rPr lang="en-US" sz="2400" b="1" dirty="0"/>
              <a:t>Persistent </a:t>
            </a:r>
            <a:r>
              <a:rPr lang="en-US" sz="2400" dirty="0"/>
              <a:t>— consistent over time </a:t>
            </a:r>
            <a:br>
              <a:rPr lang="en-US" sz="2400" dirty="0"/>
            </a:br>
            <a:endParaRPr lang="en-US" sz="2400" dirty="0"/>
          </a:p>
          <a:p>
            <a:r>
              <a:rPr lang="en-US" sz="2400" b="1" dirty="0"/>
              <a:t>What the Model Revealed</a:t>
            </a:r>
          </a:p>
          <a:p>
            <a:pPr marL="285750" indent="-285750">
              <a:buFont typeface="Arial" panose="020B0604020202020204" pitchFamily="34" charset="0"/>
              <a:buChar char="•"/>
            </a:pPr>
            <a:r>
              <a:rPr lang="en-US" sz="2400" dirty="0"/>
              <a:t>Short-term population change is highly unpredictable </a:t>
            </a:r>
          </a:p>
          <a:p>
            <a:pPr marL="285750" indent="-285750">
              <a:buFont typeface="Arial" panose="020B0604020202020204" pitchFamily="34" charset="0"/>
              <a:buChar char="•"/>
            </a:pPr>
            <a:r>
              <a:rPr lang="en-US" sz="2400" dirty="0"/>
              <a:t>But underlying structural patterns are stable and detectable </a:t>
            </a:r>
          </a:p>
          <a:p>
            <a:pPr marL="285750" indent="-285750">
              <a:buFont typeface="Arial" panose="020B0604020202020204" pitchFamily="34" charset="0"/>
              <a:buChar char="•"/>
            </a:pPr>
            <a:r>
              <a:rPr lang="en-US" sz="2400" dirty="0"/>
              <a:t>Structural patterns become clear at longer horizons (3-year target) </a:t>
            </a:r>
            <a:br>
              <a:rPr lang="en-US" sz="2400" dirty="0"/>
            </a:br>
            <a:endParaRPr lang="en-US" sz="2400" dirty="0"/>
          </a:p>
          <a:p>
            <a:r>
              <a:rPr lang="en-US" sz="2400" b="1" dirty="0"/>
              <a:t>Conclusion: </a:t>
            </a:r>
            <a:r>
              <a:rPr lang="en-US" sz="2400" dirty="0"/>
              <a:t>Even when prediction is difficult, the data reveals strong, stable, and spatially coherent patterns across Puerto Rico</a:t>
            </a:r>
          </a:p>
        </p:txBody>
      </p:sp>
    </p:spTree>
    <p:extLst>
      <p:ext uri="{BB962C8B-B14F-4D97-AF65-F5344CB8AC3E}">
        <p14:creationId xmlns:p14="http://schemas.microsoft.com/office/powerpoint/2010/main" val="36645331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A8F4-EFC2-6B2F-1BCA-765B8B772E4B}"/>
            </a:ext>
          </a:extLst>
        </p:cNvPr>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C4EBD854-F9C7-43C9-52C4-3035C20D0A5C}"/>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82EBA07C-4421-9897-AB9C-8069A832F1F6}"/>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27913394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80B5812-1CA9-1409-56B3-E9FEA3A9DFF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FC6FD08-35E7-CA4E-1876-B2106DBCFEBB}"/>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51D17C8F-DC77-48C5-3A63-316932EBD3A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343163-A07B-B9A6-0209-1885C4B92D7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30690111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94EBF72-05B3-4092-B058-100DE54983B2}">
  <ds:schemaRefs>
    <ds:schemaRef ds:uri="http://schemas.microsoft.com/sharepoint/v3/contenttype/forms"/>
  </ds:schemaRefs>
</ds:datastoreItem>
</file>

<file path=customXml/itemProps2.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customXml/itemProps3.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Rutgers Theme</Template>
  <TotalTime>28588</TotalTime>
  <Words>2936</Words>
  <Application>Microsoft Macintosh PowerPoint</Application>
  <PresentationFormat>Widescreen</PresentationFormat>
  <Paragraphs>311</Paragraphs>
  <Slides>22</Slides>
  <Notes>21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22</vt:i4>
      </vt:variant>
    </vt:vector>
  </HeadingPairs>
  <TitlesOfParts>
    <vt:vector size="32" baseType="lpstr">
      <vt:lpstr>Arial</vt:lpstr>
      <vt:lpstr>Roboto</vt:lpstr>
      <vt:lpstr>Symbol</vt:lpstr>
      <vt:lpstr>Calibri</vt:lpstr>
      <vt:lpstr>Cambria Math</vt:lpstr>
      <vt:lpstr>Merriweather</vt:lpstr>
      <vt:lpstr>Source sans 3</vt:lpstr>
      <vt:lpstr>Wingdings</vt:lpstr>
      <vt:lpstr>PT serif</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Jose Riveraruiz</cp:lastModifiedBy>
  <cp:revision>369</cp:revision>
  <cp:lastPrinted>2025-12-23T15:43:13Z</cp:lastPrinted>
  <dcterms:created xsi:type="dcterms:W3CDTF">2018-07-12T14:29:14Z</dcterms:created>
  <dcterms:modified xsi:type="dcterms:W3CDTF">2026-04-12T16:12:44Z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