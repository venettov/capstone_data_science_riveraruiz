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6" r:id="rId2"/>
  </p:sldIdLst>
  <p:sldSz cx="21945600" cy="16459200"/>
  <p:notesSz cx="6858000" cy="9144000"/>
  <p:defaultTextStyle>
    <a:defPPr>
      <a:defRPr lang="en-US"/>
    </a:defPPr>
    <a:lvl1pPr marL="0" algn="l" defTabSz="1843431" rtl="0" eaLnBrk="1" latinLnBrk="0" hangingPunct="1">
      <a:defRPr sz="3629" kern="1200">
        <a:solidFill>
          <a:schemeClr val="tx1"/>
        </a:solidFill>
        <a:latin typeface="+mn-lt"/>
        <a:ea typeface="+mn-ea"/>
        <a:cs typeface="+mn-cs"/>
      </a:defRPr>
    </a:lvl1pPr>
    <a:lvl2pPr marL="921715" algn="l" defTabSz="1843431" rtl="0" eaLnBrk="1" latinLnBrk="0" hangingPunct="1">
      <a:defRPr sz="3629" kern="1200">
        <a:solidFill>
          <a:schemeClr val="tx1"/>
        </a:solidFill>
        <a:latin typeface="+mn-lt"/>
        <a:ea typeface="+mn-ea"/>
        <a:cs typeface="+mn-cs"/>
      </a:defRPr>
    </a:lvl2pPr>
    <a:lvl3pPr marL="1843431" algn="l" defTabSz="1843431" rtl="0" eaLnBrk="1" latinLnBrk="0" hangingPunct="1">
      <a:defRPr sz="3629" kern="1200">
        <a:solidFill>
          <a:schemeClr val="tx1"/>
        </a:solidFill>
        <a:latin typeface="+mn-lt"/>
        <a:ea typeface="+mn-ea"/>
        <a:cs typeface="+mn-cs"/>
      </a:defRPr>
    </a:lvl3pPr>
    <a:lvl4pPr marL="2765146" algn="l" defTabSz="1843431" rtl="0" eaLnBrk="1" latinLnBrk="0" hangingPunct="1">
      <a:defRPr sz="3629" kern="1200">
        <a:solidFill>
          <a:schemeClr val="tx1"/>
        </a:solidFill>
        <a:latin typeface="+mn-lt"/>
        <a:ea typeface="+mn-ea"/>
        <a:cs typeface="+mn-cs"/>
      </a:defRPr>
    </a:lvl4pPr>
    <a:lvl5pPr marL="3686861" algn="l" defTabSz="1843431" rtl="0" eaLnBrk="1" latinLnBrk="0" hangingPunct="1">
      <a:defRPr sz="3629" kern="1200">
        <a:solidFill>
          <a:schemeClr val="tx1"/>
        </a:solidFill>
        <a:latin typeface="+mn-lt"/>
        <a:ea typeface="+mn-ea"/>
        <a:cs typeface="+mn-cs"/>
      </a:defRPr>
    </a:lvl5pPr>
    <a:lvl6pPr marL="4608576" algn="l" defTabSz="1843431" rtl="0" eaLnBrk="1" latinLnBrk="0" hangingPunct="1">
      <a:defRPr sz="3629" kern="1200">
        <a:solidFill>
          <a:schemeClr val="tx1"/>
        </a:solidFill>
        <a:latin typeface="+mn-lt"/>
        <a:ea typeface="+mn-ea"/>
        <a:cs typeface="+mn-cs"/>
      </a:defRPr>
    </a:lvl6pPr>
    <a:lvl7pPr marL="5530291" algn="l" defTabSz="1843431" rtl="0" eaLnBrk="1" latinLnBrk="0" hangingPunct="1">
      <a:defRPr sz="3629" kern="1200">
        <a:solidFill>
          <a:schemeClr val="tx1"/>
        </a:solidFill>
        <a:latin typeface="+mn-lt"/>
        <a:ea typeface="+mn-ea"/>
        <a:cs typeface="+mn-cs"/>
      </a:defRPr>
    </a:lvl7pPr>
    <a:lvl8pPr marL="6452007" algn="l" defTabSz="1843431" rtl="0" eaLnBrk="1" latinLnBrk="0" hangingPunct="1">
      <a:defRPr sz="3629" kern="1200">
        <a:solidFill>
          <a:schemeClr val="tx1"/>
        </a:solidFill>
        <a:latin typeface="+mn-lt"/>
        <a:ea typeface="+mn-ea"/>
        <a:cs typeface="+mn-cs"/>
      </a:defRPr>
    </a:lvl8pPr>
    <a:lvl9pPr marL="7373722" algn="l" defTabSz="1843431" rtl="0" eaLnBrk="1" latinLnBrk="0" hangingPunct="1">
      <a:defRPr sz="362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184" userDrawn="1">
          <p15:clr>
            <a:srgbClr val="A4A3A4"/>
          </p15:clr>
        </p15:guide>
        <p15:guide id="2" pos="6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95"/>
    <p:restoredTop sz="94655"/>
  </p:normalViewPr>
  <p:slideViewPr>
    <p:cSldViewPr snapToGrid="0" snapToObjects="1">
      <p:cViewPr>
        <p:scale>
          <a:sx n="61" d="100"/>
          <a:sy n="61" d="100"/>
        </p:scale>
        <p:origin x="2048" y="440"/>
      </p:cViewPr>
      <p:guideLst>
        <p:guide orient="horz" pos="5184"/>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E9724D-6106-B84D-AD73-88AB3BCE741D}" type="datetimeFigureOut">
              <a:rPr lang="en-US" smtClean="0"/>
              <a:t>4/18/26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A78A6-91B1-A94B-8013-D04A98434E6D}" type="slidenum">
              <a:rPr lang="en-US" smtClean="0"/>
              <a:t>‹#›</a:t>
            </a:fld>
            <a:endParaRPr lang="en-US"/>
          </a:p>
        </p:txBody>
      </p:sp>
    </p:spTree>
    <p:extLst>
      <p:ext uri="{BB962C8B-B14F-4D97-AF65-F5344CB8AC3E}">
        <p14:creationId xmlns:p14="http://schemas.microsoft.com/office/powerpoint/2010/main" val="1644038077"/>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F8A78A6-91B1-A94B-8013-D04A98434E6D}" type="slidenum">
              <a:rPr lang="en-US" smtClean="0"/>
              <a:t>1</a:t>
            </a:fld>
            <a:endParaRPr lang="en-US"/>
          </a:p>
        </p:txBody>
      </p:sp>
    </p:spTree>
    <p:extLst>
      <p:ext uri="{BB962C8B-B14F-4D97-AF65-F5344CB8AC3E}">
        <p14:creationId xmlns:p14="http://schemas.microsoft.com/office/powerpoint/2010/main" val="1823357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earch Poster Template">
    <p:spTree>
      <p:nvGrpSpPr>
        <p:cNvPr id="1" name=""/>
        <p:cNvGrpSpPr/>
        <p:nvPr/>
      </p:nvGrpSpPr>
      <p:grpSpPr>
        <a:xfrm>
          <a:off x="0" y="0"/>
          <a:ext cx="0" cy="0"/>
          <a:chOff x="0" y="0"/>
          <a:chExt cx="0" cy="0"/>
        </a:xfrm>
      </p:grpSpPr>
      <p:cxnSp>
        <p:nvCxnSpPr>
          <p:cNvPr id="8" name="Straight Connector 7" descr="Vertical Divider"/>
          <p:cNvCxnSpPr/>
          <p:nvPr userDrawn="1"/>
        </p:nvCxnSpPr>
        <p:spPr bwMode="auto">
          <a:xfrm>
            <a:off x="5592763" y="3371190"/>
            <a:ext cx="0" cy="11430000"/>
          </a:xfrm>
          <a:prstGeom prst="line">
            <a:avLst/>
          </a:prstGeom>
          <a:noFill/>
          <a:ln w="15875" cap="flat" cmpd="sng" algn="ctr">
            <a:solidFill>
              <a:schemeClr val="tx1"/>
            </a:solidFill>
            <a:prstDash val="dash"/>
            <a:round/>
            <a:headEnd type="oval" w="med" len="med"/>
            <a:tailEnd type="oval" w="med" len="med"/>
          </a:ln>
          <a:effectLst/>
        </p:spPr>
      </p:cxnSp>
      <p:cxnSp>
        <p:nvCxnSpPr>
          <p:cNvPr id="9" name="Straight Connector 9"/>
          <p:cNvCxnSpPr>
            <a:cxnSpLocks noChangeShapeType="1"/>
          </p:cNvCxnSpPr>
          <p:nvPr userDrawn="1"/>
        </p:nvCxnSpPr>
        <p:spPr bwMode="auto">
          <a:xfrm>
            <a:off x="5653882" y="4496148"/>
            <a:ext cx="457200" cy="45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cxnSp>
        <p:nvCxnSpPr>
          <p:cNvPr id="10" name="Straight Connector 9" descr="Vertical Divider"/>
          <p:cNvCxnSpPr/>
          <p:nvPr userDrawn="1"/>
        </p:nvCxnSpPr>
        <p:spPr bwMode="auto">
          <a:xfrm>
            <a:off x="10972800" y="3371190"/>
            <a:ext cx="0" cy="11430000"/>
          </a:xfrm>
          <a:prstGeom prst="line">
            <a:avLst/>
          </a:prstGeom>
          <a:noFill/>
          <a:ln w="15875" cap="flat" cmpd="sng" algn="ctr">
            <a:solidFill>
              <a:schemeClr val="tx1"/>
            </a:solidFill>
            <a:prstDash val="dash"/>
            <a:round/>
            <a:headEnd type="oval" w="med" len="med"/>
            <a:tailEnd type="oval" w="med" len="med"/>
          </a:ln>
          <a:effectLst/>
        </p:spPr>
      </p:cxnSp>
      <p:cxnSp>
        <p:nvCxnSpPr>
          <p:cNvPr id="11" name="Straight Connector 10" descr="Vertical Divider"/>
          <p:cNvCxnSpPr/>
          <p:nvPr userDrawn="1"/>
        </p:nvCxnSpPr>
        <p:spPr bwMode="auto">
          <a:xfrm>
            <a:off x="16352838" y="3371190"/>
            <a:ext cx="0" cy="11430000"/>
          </a:xfrm>
          <a:prstGeom prst="line">
            <a:avLst/>
          </a:prstGeom>
          <a:noFill/>
          <a:ln w="15875" cap="flat" cmpd="sng" algn="ctr">
            <a:solidFill>
              <a:schemeClr val="tx1"/>
            </a:solidFill>
            <a:prstDash val="dash"/>
            <a:round/>
            <a:headEnd type="oval" w="med" len="med"/>
            <a:tailEnd type="oval" w="med" len="med"/>
          </a:ln>
          <a:effectLst/>
        </p:spPr>
      </p:cxnSp>
      <p:sp>
        <p:nvSpPr>
          <p:cNvPr id="12" name="Content Placeholder 9"/>
          <p:cNvSpPr>
            <a:spLocks noGrp="1"/>
          </p:cNvSpPr>
          <p:nvPr>
            <p:ph sz="quarter" idx="10" hasCustomPrompt="1"/>
          </p:nvPr>
        </p:nvSpPr>
        <p:spPr>
          <a:xfrm>
            <a:off x="457200" y="3429830"/>
            <a:ext cx="4899025" cy="7364069"/>
          </a:xfrm>
          <a:prstGeom prst="rect">
            <a:avLst/>
          </a:prstGeom>
        </p:spPr>
        <p:txBody>
          <a:bodyPr/>
          <a:lstStyle>
            <a:lvl1pPr marL="0" indent="-228600">
              <a:lnSpc>
                <a:spcPts val="2300"/>
              </a:lnSpc>
              <a:spcBef>
                <a:spcPts val="0"/>
              </a:spcBef>
              <a:buFontTx/>
              <a:buNone/>
              <a:defRPr sz="1400" baseline="0">
                <a:solidFill>
                  <a:schemeClr val="tx1"/>
                </a:solidFill>
                <a:latin typeface="Arial" charset="0"/>
              </a:defRPr>
            </a:lvl1pPr>
            <a:lvl2pPr marL="457200" indent="-228600">
              <a:lnSpc>
                <a:spcPts val="2300"/>
              </a:lnSpc>
              <a:spcBef>
                <a:spcPts val="0"/>
              </a:spcBef>
              <a:buClr>
                <a:schemeClr val="tx2"/>
              </a:buClr>
              <a:buSzPct val="100000"/>
              <a:defRPr sz="1400" baseline="0">
                <a:solidFill>
                  <a:schemeClr val="tx1"/>
                </a:solidFill>
                <a:latin typeface="Arial" charset="0"/>
              </a:defRPr>
            </a:lvl2pPr>
            <a:lvl3pPr marL="68580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3pPr>
            <a:lvl4pPr marL="82296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4pPr>
            <a:lvl5pPr marL="960120" indent="-137160">
              <a:lnSpc>
                <a:spcPts val="2300"/>
              </a:lnSpc>
              <a:spcBef>
                <a:spcPts val="0"/>
              </a:spcBef>
              <a:buClr>
                <a:schemeClr val="tx1"/>
              </a:buClr>
              <a:buSzPct val="120000"/>
              <a:buFont typeface="System Font Regular"/>
              <a:buChar char="-"/>
              <a:tabLst/>
              <a:defRPr sz="14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3" name="Picture Placeholder 2" descr="Photo alt tag goes here"/>
          <p:cNvSpPr>
            <a:spLocks noGrp="1"/>
          </p:cNvSpPr>
          <p:nvPr>
            <p:ph type="pic" sz="quarter" idx="16"/>
          </p:nvPr>
        </p:nvSpPr>
        <p:spPr>
          <a:xfrm>
            <a:off x="457200" y="11043369"/>
            <a:ext cx="4899025" cy="3726180"/>
          </a:xfrm>
          <a:prstGeom prst="rect">
            <a:avLst/>
          </a:prstGeom>
          <a:solidFill>
            <a:schemeClr val="bg2">
              <a:lumMod val="85000"/>
            </a:schemeClr>
          </a:solidFill>
        </p:spPr>
        <p:txBody>
          <a:bodyPr>
            <a:normAutofit/>
          </a:bodyPr>
          <a:lstStyle>
            <a:lvl1pPr marL="0" indent="0" algn="ctr">
              <a:buNone/>
              <a:defRPr/>
            </a:lvl1pPr>
          </a:lstStyle>
          <a:p>
            <a:pPr marL="0" indent="0" algn="ctr">
              <a:buNone/>
            </a:pPr>
            <a:r>
              <a:rPr lang="en-US"/>
              <a:t>Click icon to add picture</a:t>
            </a:r>
            <a:endParaRPr lang="en-US" dirty="0"/>
          </a:p>
        </p:txBody>
      </p:sp>
      <p:sp>
        <p:nvSpPr>
          <p:cNvPr id="14" name="Picture Placeholder 2" descr="Photo alt tag goes here"/>
          <p:cNvSpPr>
            <a:spLocks noGrp="1"/>
          </p:cNvSpPr>
          <p:nvPr>
            <p:ph type="pic" sz="quarter" idx="17"/>
          </p:nvPr>
        </p:nvSpPr>
        <p:spPr>
          <a:xfrm>
            <a:off x="16597312" y="8940663"/>
            <a:ext cx="4899025" cy="3726180"/>
          </a:xfrm>
          <a:prstGeom prst="rect">
            <a:avLst/>
          </a:prstGeom>
          <a:solidFill>
            <a:schemeClr val="bg2">
              <a:lumMod val="85000"/>
            </a:schemeClr>
          </a:solidFill>
        </p:spPr>
        <p:txBody>
          <a:bodyPr/>
          <a:lstStyle>
            <a:lvl1pPr marL="0" indent="0" algn="ctr">
              <a:buNone/>
              <a:defRPr/>
            </a:lvl1pPr>
          </a:lstStyle>
          <a:p>
            <a:pPr marL="0" indent="0" algn="ctr">
              <a:buNone/>
            </a:pPr>
            <a:r>
              <a:rPr lang="en-US"/>
              <a:t>Click icon to add picture</a:t>
            </a:r>
            <a:endParaRPr lang="en-US" dirty="0"/>
          </a:p>
        </p:txBody>
      </p:sp>
      <p:sp>
        <p:nvSpPr>
          <p:cNvPr id="15" name="Content Placeholder 9"/>
          <p:cNvSpPr>
            <a:spLocks noGrp="1"/>
          </p:cNvSpPr>
          <p:nvPr>
            <p:ph sz="quarter" idx="18" hasCustomPrompt="1"/>
          </p:nvPr>
        </p:nvSpPr>
        <p:spPr>
          <a:xfrm>
            <a:off x="5837237" y="3429829"/>
            <a:ext cx="4899025" cy="11339721"/>
          </a:xfrm>
          <a:prstGeom prst="rect">
            <a:avLst/>
          </a:prstGeom>
        </p:spPr>
        <p:txBody>
          <a:bodyPr/>
          <a:lstStyle>
            <a:lvl1pPr marL="0" indent="0">
              <a:lnSpc>
                <a:spcPts val="2300"/>
              </a:lnSpc>
              <a:spcBef>
                <a:spcPts val="0"/>
              </a:spcBef>
              <a:buFontTx/>
              <a:buNone/>
              <a:defRPr sz="1400" baseline="0">
                <a:solidFill>
                  <a:schemeClr val="tx1"/>
                </a:solidFill>
                <a:latin typeface="Arial" charset="0"/>
              </a:defRPr>
            </a:lvl1pPr>
            <a:lvl2pPr marL="457200" indent="-228600">
              <a:lnSpc>
                <a:spcPts val="2300"/>
              </a:lnSpc>
              <a:spcBef>
                <a:spcPts val="0"/>
              </a:spcBef>
              <a:buClr>
                <a:schemeClr val="tx2"/>
              </a:buClr>
              <a:defRPr sz="1400" baseline="0">
                <a:solidFill>
                  <a:schemeClr val="tx1"/>
                </a:solidFill>
                <a:latin typeface="Arial" charset="0"/>
              </a:defRPr>
            </a:lvl2pPr>
            <a:lvl3pPr marL="68580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3pPr>
            <a:lvl4pPr marL="800100" indent="-114300">
              <a:lnSpc>
                <a:spcPts val="2300"/>
              </a:lnSpc>
              <a:spcBef>
                <a:spcPts val="0"/>
              </a:spcBef>
              <a:buClr>
                <a:schemeClr val="tx1"/>
              </a:buClr>
              <a:buSzPct val="120000"/>
              <a:buFont typeface="System Font Regular"/>
              <a:buChar char="-"/>
              <a:defRPr sz="1400" baseline="0">
                <a:solidFill>
                  <a:schemeClr val="tx1"/>
                </a:solidFill>
                <a:latin typeface="Arial" charset="0"/>
              </a:defRPr>
            </a:lvl4pPr>
            <a:lvl5pPr marL="1143000" indent="-228600">
              <a:lnSpc>
                <a:spcPts val="2300"/>
              </a:lnSpc>
              <a:spcBef>
                <a:spcPts val="0"/>
              </a:spcBef>
              <a:buClr>
                <a:schemeClr val="tx1"/>
              </a:buClr>
              <a:buSzPct val="120000"/>
              <a:buFont typeface="System Font Regular"/>
              <a:buChar char="-"/>
              <a:defRPr sz="14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6" name="Content Placeholder 9"/>
          <p:cNvSpPr>
            <a:spLocks noGrp="1"/>
          </p:cNvSpPr>
          <p:nvPr>
            <p:ph sz="quarter" idx="19" hasCustomPrompt="1"/>
          </p:nvPr>
        </p:nvSpPr>
        <p:spPr>
          <a:xfrm>
            <a:off x="11209339" y="3431561"/>
            <a:ext cx="4899025" cy="3487882"/>
          </a:xfrm>
          <a:prstGeom prst="rect">
            <a:avLst/>
          </a:prstGeom>
        </p:spPr>
        <p:txBody>
          <a:bodyPr/>
          <a:lstStyle>
            <a:lvl1pPr>
              <a:lnSpc>
                <a:spcPts val="2300"/>
              </a:lnSpc>
              <a:spcBef>
                <a:spcPts val="0"/>
              </a:spcBef>
              <a:defRPr sz="1400" baseline="0">
                <a:solidFill>
                  <a:schemeClr val="bg1">
                    <a:lumMod val="50000"/>
                  </a:schemeClr>
                </a:solidFill>
                <a:latin typeface="Arial" charset="0"/>
              </a:defRPr>
            </a:lvl1pPr>
            <a:lvl2pPr marL="457200" indent="-228600">
              <a:lnSpc>
                <a:spcPts val="2300"/>
              </a:lnSpc>
              <a:spcBef>
                <a:spcPts val="0"/>
              </a:spcBef>
              <a:buClr>
                <a:schemeClr val="accent1"/>
              </a:buClr>
              <a:defRPr sz="1400" baseline="0">
                <a:solidFill>
                  <a:schemeClr val="tx1"/>
                </a:solidFill>
                <a:latin typeface="Arial" charset="0"/>
              </a:defRPr>
            </a:lvl2pPr>
            <a:lvl3pPr marL="68580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3pPr>
            <a:lvl4pPr marL="82296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4pPr>
            <a:lvl5pPr marL="96012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7" name="Content Placeholder 9"/>
          <p:cNvSpPr>
            <a:spLocks noGrp="1"/>
          </p:cNvSpPr>
          <p:nvPr>
            <p:ph sz="quarter" idx="20" hasCustomPrompt="1"/>
          </p:nvPr>
        </p:nvSpPr>
        <p:spPr>
          <a:xfrm>
            <a:off x="16597312" y="3429830"/>
            <a:ext cx="4899025" cy="5097947"/>
          </a:xfrm>
          <a:prstGeom prst="rect">
            <a:avLst/>
          </a:prstGeom>
        </p:spPr>
        <p:txBody>
          <a:bodyPr/>
          <a:lstStyle>
            <a:lvl1pPr>
              <a:lnSpc>
                <a:spcPts val="2300"/>
              </a:lnSpc>
              <a:spcBef>
                <a:spcPts val="0"/>
              </a:spcBef>
              <a:defRPr sz="1400" baseline="0">
                <a:solidFill>
                  <a:schemeClr val="bg1">
                    <a:lumMod val="50000"/>
                  </a:schemeClr>
                </a:solidFill>
                <a:latin typeface="Arial" charset="0"/>
              </a:defRPr>
            </a:lvl1pPr>
            <a:lvl2pPr marL="457200" indent="-228600">
              <a:lnSpc>
                <a:spcPts val="2300"/>
              </a:lnSpc>
              <a:spcBef>
                <a:spcPts val="0"/>
              </a:spcBef>
              <a:buClr>
                <a:schemeClr val="tx2"/>
              </a:buClr>
              <a:defRPr sz="1400" baseline="0">
                <a:solidFill>
                  <a:schemeClr val="tx1"/>
                </a:solidFill>
                <a:latin typeface="Arial" charset="0"/>
              </a:defRPr>
            </a:lvl2pPr>
            <a:lvl3pPr marL="68580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3pPr>
            <a:lvl4pPr marL="82296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4pPr>
            <a:lvl5pPr marL="96012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8" name="Content Placeholder 9"/>
          <p:cNvSpPr>
            <a:spLocks noGrp="1"/>
          </p:cNvSpPr>
          <p:nvPr>
            <p:ph sz="quarter" idx="21" hasCustomPrompt="1"/>
          </p:nvPr>
        </p:nvSpPr>
        <p:spPr>
          <a:xfrm>
            <a:off x="16597312" y="12904441"/>
            <a:ext cx="4899025" cy="1924743"/>
          </a:xfrm>
          <a:prstGeom prst="rect">
            <a:avLst/>
          </a:prstGeom>
        </p:spPr>
        <p:txBody>
          <a:bodyPr/>
          <a:lstStyle>
            <a:lvl1pPr>
              <a:lnSpc>
                <a:spcPts val="2300"/>
              </a:lnSpc>
              <a:spcBef>
                <a:spcPts val="0"/>
              </a:spcBef>
              <a:defRPr sz="1400" baseline="0">
                <a:solidFill>
                  <a:schemeClr val="bg1">
                    <a:lumMod val="50000"/>
                  </a:schemeClr>
                </a:solidFill>
                <a:latin typeface="Arial" charset="0"/>
              </a:defRPr>
            </a:lvl1pPr>
            <a:lvl2pPr marL="457200" indent="-228600">
              <a:lnSpc>
                <a:spcPts val="2300"/>
              </a:lnSpc>
              <a:spcBef>
                <a:spcPts val="0"/>
              </a:spcBef>
              <a:buClr>
                <a:schemeClr val="tx2"/>
              </a:buClr>
              <a:defRPr sz="1400" baseline="0">
                <a:solidFill>
                  <a:schemeClr val="tx1"/>
                </a:solidFill>
                <a:latin typeface="Arial" charset="0"/>
              </a:defRPr>
            </a:lvl2pPr>
            <a:lvl3pPr marL="68580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3pPr>
            <a:lvl4pPr marL="82296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4pPr>
            <a:lvl5pPr marL="96012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
        <p:nvSpPr>
          <p:cNvPr id="19" name="Chart Placeholder 23"/>
          <p:cNvSpPr>
            <a:spLocks noGrp="1"/>
          </p:cNvSpPr>
          <p:nvPr>
            <p:ph type="chart" sz="quarter" idx="22" hasCustomPrompt="1"/>
          </p:nvPr>
        </p:nvSpPr>
        <p:spPr>
          <a:xfrm>
            <a:off x="11275218" y="7345217"/>
            <a:ext cx="4833146" cy="3471069"/>
          </a:xfrm>
          <a:prstGeom prst="rect">
            <a:avLst/>
          </a:prstGeom>
        </p:spPr>
        <p:txBody>
          <a:bodyPr/>
          <a:lstStyle>
            <a:lvl1pPr marL="0" indent="0">
              <a:buNone/>
              <a:defRPr/>
            </a:lvl1pPr>
            <a:lvl2pPr marL="457200" indent="-228600">
              <a:lnSpc>
                <a:spcPts val="2300"/>
              </a:lnSpc>
              <a:spcBef>
                <a:spcPts val="0"/>
              </a:spcBef>
              <a:buClr>
                <a:schemeClr val="tx2"/>
              </a:buClr>
              <a:defRPr sz="1400">
                <a:solidFill>
                  <a:schemeClr val="tx1"/>
                </a:solidFill>
              </a:defRPr>
            </a:lvl2pPr>
            <a:lvl3pPr marL="685800" indent="-137160">
              <a:lnSpc>
                <a:spcPts val="2300"/>
              </a:lnSpc>
              <a:spcBef>
                <a:spcPts val="0"/>
              </a:spcBef>
              <a:buClr>
                <a:schemeClr val="tx1"/>
              </a:buClr>
              <a:buSzPct val="120000"/>
              <a:buFont typeface="System Font Regular"/>
              <a:buChar char="-"/>
              <a:defRPr sz="1400">
                <a:solidFill>
                  <a:schemeClr val="tx1"/>
                </a:solidFill>
              </a:defRPr>
            </a:lvl3pPr>
            <a:lvl4pPr marL="822960" indent="-137160">
              <a:lnSpc>
                <a:spcPts val="2300"/>
              </a:lnSpc>
              <a:spcBef>
                <a:spcPts val="0"/>
              </a:spcBef>
              <a:buClr>
                <a:schemeClr val="tx1"/>
              </a:buClr>
              <a:buSzPct val="120000"/>
              <a:buFont typeface="System Font Regular"/>
              <a:buChar char="-"/>
              <a:defRPr sz="1400">
                <a:solidFill>
                  <a:schemeClr val="tx1"/>
                </a:solidFill>
              </a:defRPr>
            </a:lvl4pPr>
            <a:lvl5pPr marL="960120" indent="-137160">
              <a:lnSpc>
                <a:spcPts val="2300"/>
              </a:lnSpc>
              <a:spcBef>
                <a:spcPts val="0"/>
              </a:spcBef>
              <a:buClr>
                <a:schemeClr val="tx1"/>
              </a:buClr>
              <a:buSzPct val="120000"/>
              <a:buFont typeface="System Font Regular"/>
              <a:buChar char="-"/>
              <a:defRPr sz="1400">
                <a:solidFill>
                  <a:schemeClr val="tx1"/>
                </a:solidFill>
              </a:defRPr>
            </a:lvl5pPr>
          </a:lstStyle>
          <a:p>
            <a:pPr lvl="1"/>
            <a:r>
              <a:rPr lang="en-US" dirty="0"/>
              <a:t>First level</a:t>
            </a:r>
          </a:p>
          <a:p>
            <a:pPr lvl="2"/>
            <a:r>
              <a:rPr lang="en-US" dirty="0"/>
              <a:t>Second level</a:t>
            </a:r>
          </a:p>
          <a:p>
            <a:pPr lvl="3"/>
            <a:r>
              <a:rPr lang="en-US" dirty="0"/>
              <a:t>Fourth level</a:t>
            </a:r>
          </a:p>
          <a:p>
            <a:pPr lvl="4"/>
            <a:r>
              <a:rPr lang="en-US" dirty="0"/>
              <a:t>Fourth level</a:t>
            </a:r>
          </a:p>
          <a:p>
            <a:endParaRPr lang="en-US" dirty="0"/>
          </a:p>
        </p:txBody>
      </p:sp>
      <p:sp>
        <p:nvSpPr>
          <p:cNvPr id="20" name="Content Placeholder 9"/>
          <p:cNvSpPr>
            <a:spLocks noGrp="1"/>
          </p:cNvSpPr>
          <p:nvPr>
            <p:ph sz="quarter" idx="23" hasCustomPrompt="1"/>
          </p:nvPr>
        </p:nvSpPr>
        <p:spPr>
          <a:xfrm>
            <a:off x="11275218" y="11278949"/>
            <a:ext cx="4899025" cy="3570115"/>
          </a:xfrm>
          <a:prstGeom prst="rect">
            <a:avLst/>
          </a:prstGeom>
        </p:spPr>
        <p:txBody>
          <a:bodyPr/>
          <a:lstStyle>
            <a:lvl1pPr>
              <a:lnSpc>
                <a:spcPts val="2300"/>
              </a:lnSpc>
              <a:spcBef>
                <a:spcPts val="0"/>
              </a:spcBef>
              <a:defRPr sz="1400" baseline="0">
                <a:solidFill>
                  <a:schemeClr val="bg1">
                    <a:lumMod val="50000"/>
                  </a:schemeClr>
                </a:solidFill>
                <a:latin typeface="Arial" charset="0"/>
              </a:defRPr>
            </a:lvl1pPr>
            <a:lvl2pPr marL="457200" indent="-228600">
              <a:lnSpc>
                <a:spcPts val="2300"/>
              </a:lnSpc>
              <a:spcBef>
                <a:spcPts val="0"/>
              </a:spcBef>
              <a:buClr>
                <a:schemeClr val="tx2"/>
              </a:buClr>
              <a:defRPr sz="1400" baseline="0">
                <a:solidFill>
                  <a:schemeClr val="tx1"/>
                </a:solidFill>
                <a:latin typeface="Arial" charset="0"/>
              </a:defRPr>
            </a:lvl2pPr>
            <a:lvl3pPr marL="68580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3pPr>
            <a:lvl4pPr marL="82296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4pPr>
            <a:lvl5pPr marL="960120" indent="-137160">
              <a:lnSpc>
                <a:spcPts val="2300"/>
              </a:lnSpc>
              <a:spcBef>
                <a:spcPts val="0"/>
              </a:spcBef>
              <a:buClr>
                <a:schemeClr val="tx1"/>
              </a:buClr>
              <a:buSzPct val="120000"/>
              <a:buFont typeface="System Font Regular"/>
              <a:buChar char="-"/>
              <a:defRPr sz="1400" baseline="0">
                <a:solidFill>
                  <a:schemeClr val="tx1"/>
                </a:solidFill>
                <a:latin typeface="Arial" charset="0"/>
              </a:defRPr>
            </a:lvl5pPr>
          </a:lstStyle>
          <a:p>
            <a:pPr lvl="1"/>
            <a:r>
              <a:rPr lang="en-US" dirty="0"/>
              <a:t>First level</a:t>
            </a:r>
          </a:p>
          <a:p>
            <a:pPr lvl="2"/>
            <a:r>
              <a:rPr lang="en-US" dirty="0"/>
              <a:t>Second level</a:t>
            </a:r>
          </a:p>
          <a:p>
            <a:pPr lvl="3"/>
            <a:r>
              <a:rPr lang="en-US" dirty="0"/>
              <a:t>Third level</a:t>
            </a:r>
          </a:p>
          <a:p>
            <a:pPr lvl="4"/>
            <a:r>
              <a:rPr lang="en-US" dirty="0"/>
              <a:t>Fourth level</a:t>
            </a:r>
          </a:p>
        </p:txBody>
      </p:sp>
    </p:spTree>
    <p:extLst>
      <p:ext uri="{BB962C8B-B14F-4D97-AF65-F5344CB8AC3E}">
        <p14:creationId xmlns:p14="http://schemas.microsoft.com/office/powerpoint/2010/main" val="1587378594"/>
      </p:ext>
    </p:extLst>
  </p:cSld>
  <p:clrMapOvr>
    <a:masterClrMapping/>
  </p:clrMapOvr>
  <p:extLst>
    <p:ext uri="{DCECCB84-F9BA-43D5-87BE-67443E8EF086}">
      <p15:sldGuideLst xmlns:p15="http://schemas.microsoft.com/office/powerpoint/2012/main">
        <p15:guide id="1" orient="horz" pos="5184" userDrawn="1">
          <p15:clr>
            <a:srgbClr val="FBAE40"/>
          </p15:clr>
        </p15:guide>
        <p15:guide id="2" pos="691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41715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36" descr="alt=&quot;&quot;"/>
          <p:cNvSpPr>
            <a:spLocks noChangeArrowheads="1"/>
          </p:cNvSpPr>
          <p:nvPr userDrawn="1"/>
        </p:nvSpPr>
        <p:spPr bwMode="auto">
          <a:xfrm>
            <a:off x="0" y="15204831"/>
            <a:ext cx="21945600" cy="1254369"/>
          </a:xfrm>
          <a:prstGeom prst="rect">
            <a:avLst/>
          </a:prstGeom>
          <a:solidFill>
            <a:srgbClr val="C00000"/>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sz="1450" b="0" i="0" baseline="0" dirty="0">
              <a:solidFill>
                <a:schemeClr val="tx1"/>
              </a:solidFill>
              <a:latin typeface="Arial" charset="0"/>
              <a:ea typeface="Arial" charset="0"/>
            </a:endParaRPr>
          </a:p>
        </p:txBody>
      </p:sp>
      <p:sp>
        <p:nvSpPr>
          <p:cNvPr id="8" name="Rectangle 36" descr="alt=&quot;&quot;"/>
          <p:cNvSpPr>
            <a:spLocks noChangeArrowheads="1"/>
          </p:cNvSpPr>
          <p:nvPr userDrawn="1"/>
        </p:nvSpPr>
        <p:spPr bwMode="auto">
          <a:xfrm>
            <a:off x="0" y="0"/>
            <a:ext cx="21945600" cy="2743200"/>
          </a:xfrm>
          <a:prstGeom prst="rect">
            <a:avLst/>
          </a:prstGeom>
          <a:solidFill>
            <a:srgbClr val="C00000"/>
          </a:solidFill>
          <a:ln w="9525">
            <a:no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sz="1450" b="0" i="0" baseline="0" dirty="0">
              <a:solidFill>
                <a:schemeClr val="tx1"/>
              </a:solidFill>
              <a:latin typeface="Arial" charset="0"/>
              <a:ea typeface="Arial" charset="0"/>
            </a:endParaRPr>
          </a:p>
        </p:txBody>
      </p:sp>
      <p:sp>
        <p:nvSpPr>
          <p:cNvPr id="2" name="Rectangle 1" descr="alt=&quot;&quot;"/>
          <p:cNvSpPr/>
          <p:nvPr userDrawn="1"/>
        </p:nvSpPr>
        <p:spPr>
          <a:xfrm>
            <a:off x="-1" y="2628900"/>
            <a:ext cx="21945601" cy="13062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15"/>
          </a:p>
        </p:txBody>
      </p:sp>
      <p:cxnSp>
        <p:nvCxnSpPr>
          <p:cNvPr id="7" name="Straight Connector 6" descr="alt=&quot;&quot;"/>
          <p:cNvCxnSpPr/>
          <p:nvPr userDrawn="1"/>
        </p:nvCxnSpPr>
        <p:spPr>
          <a:xfrm>
            <a:off x="16348432" y="15418732"/>
            <a:ext cx="0" cy="794085"/>
          </a:xfrm>
          <a:prstGeom prst="line">
            <a:avLst/>
          </a:prstGeom>
          <a:ln w="15875">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6" name="Picture 5" descr="A black and white logo&#10;&#10;AI-generated content may be incorrect.">
            <a:extLst>
              <a:ext uri="{FF2B5EF4-FFF2-40B4-BE49-F238E27FC236}">
                <a16:creationId xmlns:a16="http://schemas.microsoft.com/office/drawing/2014/main" id="{D8A94C5E-8356-5101-7C48-D2A464C394DD}"/>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90888" y="15615139"/>
            <a:ext cx="1486790" cy="440748"/>
          </a:xfrm>
          <a:prstGeom prst="rect">
            <a:avLst/>
          </a:prstGeom>
        </p:spPr>
      </p:pic>
    </p:spTree>
    <p:extLst>
      <p:ext uri="{BB962C8B-B14F-4D97-AF65-F5344CB8AC3E}">
        <p14:creationId xmlns:p14="http://schemas.microsoft.com/office/powerpoint/2010/main" val="1101499162"/>
      </p:ext>
    </p:extLst>
  </p:cSld>
  <p:clrMap bg1="lt1" tx1="dk1" bg2="lt2" tx2="dk2" accent1="accent1" accent2="accent2" accent3="accent3" accent4="accent4" accent5="accent5" accent6="accent6" hlink="hlink" folHlink="folHlink"/>
  <p:sldLayoutIdLst>
    <p:sldLayoutId id="2147483673" r:id="rId1"/>
    <p:sldLayoutId id="2147483674" r:id="rId2"/>
  </p:sldLayoutIdLst>
  <p:txStyles>
    <p:titleStyle>
      <a:lvl1pPr algn="l" defTabSz="4572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Interactive%20Dashboard:%20https:/venettov.github.io/CAPSTONE_DATA_SCIENCE_RIVERARUIZ/dashboards.html" TargetMode="External"/><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0F9D0F-15E6-B8A0-2261-F511C272D7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4275" y="11040196"/>
            <a:ext cx="4835583" cy="3540940"/>
          </a:xfrm>
          <a:prstGeom prst="rect">
            <a:avLst/>
          </a:prstGeom>
        </p:spPr>
      </p:pic>
      <p:pic>
        <p:nvPicPr>
          <p:cNvPr id="13" name="Picture 12">
            <a:extLst>
              <a:ext uri="{FF2B5EF4-FFF2-40B4-BE49-F238E27FC236}">
                <a16:creationId xmlns:a16="http://schemas.microsoft.com/office/drawing/2014/main" id="{06284587-425C-8DE4-EC7D-710625E3FF72}"/>
              </a:ext>
            </a:extLst>
          </p:cNvPr>
          <p:cNvPicPr>
            <a:picLocks noChangeAspect="1"/>
          </p:cNvPicPr>
          <p:nvPr/>
        </p:nvPicPr>
        <p:blipFill>
          <a:blip r:embed="rId4">
            <a:extLst>
              <a:ext uri="{28A0092B-C50C-407E-A947-70E740481C1C}">
                <a14:useLocalDpi xmlns:a14="http://schemas.microsoft.com/office/drawing/2010/main" val="0"/>
              </a:ext>
            </a:extLst>
          </a:blip>
          <a:srcRect t="5630"/>
          <a:stretch>
            <a:fillRect/>
          </a:stretch>
        </p:blipFill>
        <p:spPr>
          <a:xfrm>
            <a:off x="11183520" y="8520067"/>
            <a:ext cx="4724051" cy="2803169"/>
          </a:xfrm>
          <a:prstGeom prst="rect">
            <a:avLst/>
          </a:prstGeom>
        </p:spPr>
      </p:pic>
      <p:sp>
        <p:nvSpPr>
          <p:cNvPr id="88" name="Poster Title"/>
          <p:cNvSpPr>
            <a:spLocks noChangeArrowheads="1"/>
          </p:cNvSpPr>
          <p:nvPr/>
        </p:nvSpPr>
        <p:spPr bwMode="auto">
          <a:xfrm>
            <a:off x="499969" y="775261"/>
            <a:ext cx="20612100" cy="181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622" tIns="22807" rIns="45622" bIns="22807">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defRPr/>
            </a:pPr>
            <a:r>
              <a:rPr lang="en-US" altLang="en-US" sz="4400" dirty="0">
                <a:solidFill>
                  <a:srgbClr val="FFFFFF"/>
                </a:solidFill>
                <a:latin typeface="+mn-lt"/>
                <a:ea typeface="Arial" charset="0"/>
              </a:rPr>
              <a:t>Population &amp; Migration Forecasting in Puerto Rico</a:t>
            </a:r>
          </a:p>
          <a:p>
            <a:pPr>
              <a:defRPr/>
            </a:pPr>
            <a:r>
              <a:rPr lang="en-US" altLang="en-US" sz="2200" dirty="0">
                <a:solidFill>
                  <a:srgbClr val="FFFFFF"/>
                </a:solidFill>
                <a:latin typeface="+mn-lt"/>
                <a:ea typeface="Arial" charset="0"/>
              </a:rPr>
              <a:t>Machine Learning, Scenario Analysis, and Disaster Impacts</a:t>
            </a:r>
          </a:p>
          <a:p>
            <a:pPr>
              <a:spcBef>
                <a:spcPts val="900"/>
              </a:spcBef>
              <a:defRPr/>
            </a:pPr>
            <a:r>
              <a:rPr lang="en-US" altLang="en-US" sz="1600" dirty="0">
                <a:solidFill>
                  <a:srgbClr val="FFFFFF"/>
                </a:solidFill>
                <a:latin typeface="+mn-lt"/>
                <a:ea typeface="Arial" charset="0"/>
              </a:rPr>
              <a:t>Jose Andres Rivera Ruiz</a:t>
            </a:r>
          </a:p>
          <a:p>
            <a:pPr>
              <a:spcBef>
                <a:spcPts val="900"/>
              </a:spcBef>
              <a:defRPr/>
            </a:pPr>
            <a:endParaRPr lang="en-US" altLang="en-US" sz="1600" dirty="0">
              <a:solidFill>
                <a:srgbClr val="FFFFFF"/>
              </a:solidFill>
              <a:latin typeface="+mn-lt"/>
              <a:ea typeface="Arial" charset="0"/>
            </a:endParaRPr>
          </a:p>
        </p:txBody>
      </p:sp>
      <p:sp>
        <p:nvSpPr>
          <p:cNvPr id="7" name="Introduction Textbox"/>
          <p:cNvSpPr txBox="1">
            <a:spLocks noChangeArrowheads="1"/>
          </p:cNvSpPr>
          <p:nvPr/>
        </p:nvSpPr>
        <p:spPr bwMode="auto">
          <a:xfrm>
            <a:off x="505327" y="3466488"/>
            <a:ext cx="4914900" cy="4773102"/>
          </a:xfrm>
          <a:prstGeom prst="rect">
            <a:avLst/>
          </a:prstGeom>
          <a:solidFill>
            <a:schemeClr val="bg1">
              <a:alpha val="63000"/>
            </a:schemeClr>
          </a:solidFill>
          <a:ln>
            <a:noFill/>
          </a:ln>
          <a:effectLst/>
        </p:spPr>
        <p:txBody>
          <a:bodyPr>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2300"/>
              </a:lnSpc>
              <a:spcAft>
                <a:spcPts val="600"/>
              </a:spcAft>
            </a:pPr>
            <a:r>
              <a:rPr lang="en-US" sz="2400" b="1" dirty="0">
                <a:solidFill>
                  <a:srgbClr val="000000"/>
                </a:solidFill>
                <a:latin typeface="+mj-lt"/>
              </a:rPr>
              <a:t>Introduction</a:t>
            </a:r>
          </a:p>
          <a:p>
            <a:r>
              <a:rPr lang="en-US" sz="2000" dirty="0">
                <a:solidFill>
                  <a:srgbClr val="000000"/>
                </a:solidFill>
              </a:rPr>
              <a:t>Puerto Rico has experienced sustained population decline driven by economic conditions, migration, and natural disasters. This project analyzes municipal-level population change using machine learning models and integrated socioeconomic and disaster data. </a:t>
            </a:r>
          </a:p>
          <a:p>
            <a:endParaRPr lang="en-US" sz="2000" dirty="0">
              <a:solidFill>
                <a:srgbClr val="000000"/>
              </a:solidFill>
            </a:endParaRPr>
          </a:p>
          <a:p>
            <a:r>
              <a:rPr lang="en-US" sz="2000" b="1" dirty="0">
                <a:solidFill>
                  <a:srgbClr val="000000"/>
                </a:solidFill>
              </a:rPr>
              <a:t>Objective: </a:t>
            </a:r>
            <a:r>
              <a:rPr lang="en-US" sz="2000" dirty="0">
                <a:solidFill>
                  <a:srgbClr val="000000"/>
                </a:solidFill>
              </a:rPr>
              <a:t>Identify key drivers of population dynamics and evaluate how future trends may evolve under different conditions. Provide customer with Interactive Dashboard: </a:t>
            </a:r>
            <a:r>
              <a:rPr lang="en-US" sz="1800" dirty="0">
                <a:solidFill>
                  <a:srgbClr val="000000"/>
                </a:solidFill>
                <a:hlinkClick r:id="rId5"/>
              </a:rPr>
              <a:t>https://</a:t>
            </a:r>
            <a:r>
              <a:rPr lang="en-US" sz="1800" dirty="0" err="1">
                <a:solidFill>
                  <a:srgbClr val="000000"/>
                </a:solidFill>
                <a:hlinkClick r:id="rId5"/>
              </a:rPr>
              <a:t>venettov.github.io</a:t>
            </a:r>
            <a:r>
              <a:rPr lang="en-US" sz="1800" dirty="0">
                <a:solidFill>
                  <a:srgbClr val="000000"/>
                </a:solidFill>
                <a:hlinkClick r:id="rId5"/>
              </a:rPr>
              <a:t>/CAPSTONE_DATA_SCIENCE_RIVERARUIZ/</a:t>
            </a:r>
            <a:r>
              <a:rPr lang="en-US" sz="1800" dirty="0" err="1">
                <a:solidFill>
                  <a:srgbClr val="000000"/>
                </a:solidFill>
                <a:hlinkClick r:id="rId5"/>
              </a:rPr>
              <a:t>dashboards.html</a:t>
            </a:r>
            <a:endParaRPr lang="en-US" sz="1800" dirty="0">
              <a:solidFill>
                <a:srgbClr val="000000"/>
              </a:solidFill>
            </a:endParaRPr>
          </a:p>
          <a:p>
            <a:endParaRPr lang="en-US" sz="2000" dirty="0">
              <a:solidFill>
                <a:srgbClr val="000000"/>
              </a:solidFill>
            </a:endParaRPr>
          </a:p>
        </p:txBody>
      </p:sp>
      <p:cxnSp>
        <p:nvCxnSpPr>
          <p:cNvPr id="31" name="Horizontal Section Divider" descr="Horizontal Divider"/>
          <p:cNvCxnSpPr/>
          <p:nvPr/>
        </p:nvCxnSpPr>
        <p:spPr bwMode="auto">
          <a:xfrm>
            <a:off x="448502" y="8021894"/>
            <a:ext cx="4794664" cy="0"/>
          </a:xfrm>
          <a:prstGeom prst="line">
            <a:avLst/>
          </a:prstGeom>
          <a:noFill/>
          <a:ln w="15875" cap="flat" cmpd="sng" algn="ctr">
            <a:solidFill>
              <a:schemeClr val="tx1"/>
            </a:solidFill>
            <a:prstDash val="dash"/>
            <a:round/>
            <a:headEnd type="none" w="med" len="med"/>
            <a:tailEnd type="none" w="med" len="med"/>
          </a:ln>
          <a:effectLst/>
        </p:spPr>
      </p:cxnSp>
      <p:sp>
        <p:nvSpPr>
          <p:cNvPr id="9" name="Methods Textbox"/>
          <p:cNvSpPr txBox="1"/>
          <p:nvPr/>
        </p:nvSpPr>
        <p:spPr>
          <a:xfrm>
            <a:off x="5846946" y="3357666"/>
            <a:ext cx="4914900" cy="7389202"/>
          </a:xfrm>
          <a:prstGeom prst="rect">
            <a:avLst/>
          </a:prstGeom>
          <a:solidFill>
            <a:schemeClr val="bg1">
              <a:alpha val="63000"/>
            </a:schemeClr>
          </a:solidFill>
          <a:effectLst/>
        </p:spPr>
        <p:txBody>
          <a:bodyPr>
            <a:spAutoFit/>
          </a:bodyPr>
          <a:lstStyle/>
          <a:p>
            <a:pPr>
              <a:lnSpc>
                <a:spcPts val="2300"/>
              </a:lnSpc>
              <a:spcAft>
                <a:spcPts val="600"/>
              </a:spcAft>
              <a:defRPr/>
            </a:pPr>
            <a:r>
              <a:rPr lang="en-US" sz="2400" b="1" dirty="0">
                <a:solidFill>
                  <a:srgbClr val="000000"/>
                </a:solidFill>
                <a:latin typeface="+mj-lt"/>
              </a:rPr>
              <a:t>Methods</a:t>
            </a:r>
          </a:p>
          <a:p>
            <a:r>
              <a:rPr lang="en-US" sz="1800" dirty="0">
                <a:solidFill>
                  <a:srgbClr val="000000"/>
                </a:solidFill>
              </a:rPr>
              <a:t>Municipal population change is modeled using a 3-year forward target to capture longer-term dynamics. A chronological split (train ≤2018, validation=2019, test ≥2020) preserves temporal structure and avoids data leakage. A Lasso model is trained on lagged population, economic, demographic, and vulnerability features, with interpretability assessed using coefficients and SHAP analysis.</a:t>
            </a:r>
          </a:p>
          <a:p>
            <a:endParaRPr lang="en-US" sz="1800" dirty="0">
              <a:solidFill>
                <a:srgbClr val="000000"/>
              </a:solidFill>
            </a:endParaRPr>
          </a:p>
          <a:p>
            <a:r>
              <a:rPr lang="en-US" sz="1800" b="1" dirty="0">
                <a:solidFill>
                  <a:srgbClr val="000000"/>
                </a:solidFill>
              </a:rPr>
              <a:t>MODEL DEVELOPMENT AND FEATURES</a:t>
            </a:r>
            <a:endParaRPr lang="en-US" sz="1800" dirty="0">
              <a:solidFill>
                <a:srgbClr val="000000"/>
              </a:solidFill>
            </a:endParaRPr>
          </a:p>
          <a:p>
            <a:pPr marL="285750" indent="-285750">
              <a:buFont typeface="Arial" panose="020B0604020202020204" pitchFamily="34" charset="0"/>
              <a:buChar char="•"/>
            </a:pPr>
            <a:r>
              <a:rPr lang="en-US" sz="1800" dirty="0">
                <a:solidFill>
                  <a:srgbClr val="000000"/>
                </a:solidFill>
              </a:rPr>
              <a:t>Lagged population change to capture persistence </a:t>
            </a:r>
          </a:p>
          <a:p>
            <a:pPr marL="285750" indent="-285750">
              <a:buFont typeface="Arial" panose="020B0604020202020204" pitchFamily="34" charset="0"/>
              <a:buChar char="•"/>
            </a:pPr>
            <a:r>
              <a:rPr lang="en-US" sz="1800" dirty="0">
                <a:solidFill>
                  <a:srgbClr val="000000"/>
                </a:solidFill>
              </a:rPr>
              <a:t>Disaster exposure ( cumulative wind and seismic activity) </a:t>
            </a:r>
          </a:p>
          <a:p>
            <a:pPr marL="285750" indent="-285750">
              <a:buFont typeface="Arial" panose="020B0604020202020204" pitchFamily="34" charset="0"/>
              <a:buChar char="•"/>
            </a:pPr>
            <a:r>
              <a:rPr lang="en-US" sz="1800" dirty="0">
                <a:solidFill>
                  <a:srgbClr val="000000"/>
                </a:solidFill>
              </a:rPr>
              <a:t>Crime Activity at municipal and island levels</a:t>
            </a:r>
          </a:p>
          <a:p>
            <a:pPr marL="285750" indent="-285750">
              <a:buFont typeface="Arial" panose="020B0604020202020204" pitchFamily="34" charset="0"/>
              <a:buChar char="•"/>
            </a:pPr>
            <a:r>
              <a:rPr lang="en-US" sz="1800" dirty="0">
                <a:solidFill>
                  <a:srgbClr val="000000"/>
                </a:solidFill>
              </a:rPr>
              <a:t>Socioeconomic indicators </a:t>
            </a:r>
          </a:p>
          <a:p>
            <a:endParaRPr lang="en-US" sz="1800" dirty="0">
              <a:solidFill>
                <a:srgbClr val="000000"/>
              </a:solidFill>
            </a:endParaRPr>
          </a:p>
          <a:p>
            <a:r>
              <a:rPr lang="en-US" sz="1800" b="1" dirty="0">
                <a:solidFill>
                  <a:srgbClr val="000000"/>
                </a:solidFill>
              </a:rPr>
              <a:t>MODEL SELECTION AND EVALUATION</a:t>
            </a:r>
            <a:endParaRPr lang="en-US" sz="1800" dirty="0">
              <a:solidFill>
                <a:srgbClr val="000000"/>
              </a:solidFill>
            </a:endParaRPr>
          </a:p>
          <a:p>
            <a:r>
              <a:rPr lang="en-US" sz="1800" dirty="0">
                <a:solidFill>
                  <a:srgbClr val="000000"/>
                </a:solidFill>
              </a:rPr>
              <a:t>Compared linear and nonlinear models.</a:t>
            </a:r>
          </a:p>
          <a:p>
            <a:r>
              <a:rPr lang="en-US" sz="1800" dirty="0">
                <a:solidFill>
                  <a:srgbClr val="000000"/>
                </a:solidFill>
              </a:rPr>
              <a:t>Selected Lasso based on strongest out-of-sample performance under a chronological split, providing a stable and interpretable model aligned with lag-driven population dynamics.</a:t>
            </a:r>
          </a:p>
        </p:txBody>
      </p:sp>
      <p:sp>
        <p:nvSpPr>
          <p:cNvPr id="19" name="Data Analysis Textbox"/>
          <p:cNvSpPr txBox="1"/>
          <p:nvPr/>
        </p:nvSpPr>
        <p:spPr>
          <a:xfrm>
            <a:off x="425604" y="8030424"/>
            <a:ext cx="4914900" cy="3216265"/>
          </a:xfrm>
          <a:prstGeom prst="rect">
            <a:avLst/>
          </a:prstGeom>
          <a:solidFill>
            <a:schemeClr val="bg1">
              <a:alpha val="63000"/>
            </a:schemeClr>
          </a:solidFill>
          <a:effectLst/>
        </p:spPr>
        <p:txBody>
          <a:bodyPr>
            <a:spAutoFit/>
          </a:bodyPr>
          <a:lstStyle/>
          <a:p>
            <a:pPr>
              <a:lnSpc>
                <a:spcPct val="150000"/>
              </a:lnSpc>
              <a:spcAft>
                <a:spcPts val="600"/>
              </a:spcAft>
              <a:defRPr/>
            </a:pPr>
            <a:r>
              <a:rPr lang="en-US" sz="2400" b="1" dirty="0">
                <a:solidFill>
                  <a:srgbClr val="000000"/>
                </a:solidFill>
                <a:latin typeface="+mj-lt"/>
              </a:rPr>
              <a:t>Data Analysis </a:t>
            </a:r>
          </a:p>
          <a:p>
            <a:r>
              <a:rPr lang="en-US" sz="1800" dirty="0">
                <a:solidFill>
                  <a:srgbClr val="000000"/>
                </a:solidFill>
              </a:rPr>
              <a:t>Municipal-level data (2010–2023) integrates population, socioeconomic, and disaster variables [See Figure A].</a:t>
            </a:r>
          </a:p>
          <a:p>
            <a:pPr marL="342900" indent="-342900">
              <a:buFont typeface="+mj-lt"/>
              <a:buAutoNum type="alphaUcPeriod"/>
            </a:pPr>
            <a:r>
              <a:rPr lang="en-US" sz="1800" dirty="0">
                <a:solidFill>
                  <a:srgbClr val="000000"/>
                </a:solidFill>
              </a:rPr>
              <a:t>Widespread population decline across municipalities</a:t>
            </a:r>
          </a:p>
          <a:p>
            <a:pPr marL="342900" indent="-342900">
              <a:buFont typeface="+mj-lt"/>
              <a:buAutoNum type="alphaUcPeriod"/>
            </a:pPr>
            <a:r>
              <a:rPr lang="en-US" sz="1800" dirty="0">
                <a:solidFill>
                  <a:srgbClr val="000000"/>
                </a:solidFill>
              </a:rPr>
              <a:t>Strong regional disparities (South and East most affected)</a:t>
            </a:r>
          </a:p>
          <a:p>
            <a:pPr marL="342900" indent="-342900">
              <a:buFont typeface="+mj-lt"/>
              <a:buAutoNum type="alphaUcPeriod"/>
            </a:pPr>
            <a:r>
              <a:rPr lang="en-US" sz="1800" dirty="0">
                <a:solidFill>
                  <a:srgbClr val="000000"/>
                </a:solidFill>
              </a:rPr>
              <a:t>Increased volatility following disaster events</a:t>
            </a:r>
          </a:p>
        </p:txBody>
      </p:sp>
      <p:sp>
        <p:nvSpPr>
          <p:cNvPr id="37" name="Results Textbox"/>
          <p:cNvSpPr txBox="1"/>
          <p:nvPr/>
        </p:nvSpPr>
        <p:spPr>
          <a:xfrm>
            <a:off x="11183756" y="3246826"/>
            <a:ext cx="4892040" cy="4982774"/>
          </a:xfrm>
          <a:prstGeom prst="rect">
            <a:avLst/>
          </a:prstGeom>
          <a:solidFill>
            <a:schemeClr val="bg1">
              <a:alpha val="63000"/>
            </a:schemeClr>
          </a:solidFill>
          <a:effectLst/>
        </p:spPr>
        <p:txBody>
          <a:bodyPr wrap="square">
            <a:spAutoFit/>
          </a:bodyPr>
          <a:lstStyle/>
          <a:p>
            <a:pPr>
              <a:lnSpc>
                <a:spcPts val="2300"/>
              </a:lnSpc>
              <a:spcAft>
                <a:spcPts val="600"/>
              </a:spcAft>
              <a:defRPr/>
            </a:pPr>
            <a:r>
              <a:rPr lang="en-US" sz="2400" b="1" dirty="0">
                <a:solidFill>
                  <a:srgbClr val="000000"/>
                </a:solidFill>
              </a:rPr>
              <a:t>Results</a:t>
            </a:r>
          </a:p>
          <a:p>
            <a:pPr>
              <a:lnSpc>
                <a:spcPts val="2300"/>
              </a:lnSpc>
              <a:spcAft>
                <a:spcPts val="900"/>
              </a:spcAft>
              <a:defRPr/>
            </a:pPr>
            <a:r>
              <a:rPr lang="en-US" sz="1800" dirty="0">
                <a:solidFill>
                  <a:srgbClr val="000000"/>
                </a:solidFill>
                <a:latin typeface="Arial" charset="0"/>
                <a:ea typeface="Arial" charset="0"/>
                <a:cs typeface="Arial" charset="0"/>
              </a:rPr>
              <a:t>Nonlinear models significantly improve performance compared to linear baselines, capturing structure in a high-noise outcome. Extra Trees achieves the strongest and most stable results, improving test performance from ~0.17 to ~0.23 and establishing a reliable forecasting backbone.</a:t>
            </a:r>
          </a:p>
          <a:p>
            <a:pPr>
              <a:lnSpc>
                <a:spcPts val="2300"/>
              </a:lnSpc>
              <a:spcAft>
                <a:spcPts val="900"/>
              </a:spcAft>
              <a:defRPr/>
            </a:pPr>
            <a:r>
              <a:rPr lang="en-US" sz="1800" dirty="0">
                <a:solidFill>
                  <a:srgbClr val="000000"/>
                </a:solidFill>
                <a:latin typeface="Arial" charset="0"/>
                <a:ea typeface="Arial" charset="0"/>
                <a:cs typeface="Arial" charset="0"/>
              </a:rPr>
              <a:t>Key patterns show strong temporal persistence in population change, with disaster and socioeconomic variables contributing meaningful signal. Model outputs highlight regional disparities and increased volatility following major events, supporting the importance of structural and delayed effects in population dynamics.</a:t>
            </a:r>
          </a:p>
        </p:txBody>
      </p:sp>
      <p:sp>
        <p:nvSpPr>
          <p:cNvPr id="40" name="Conclusion Analysis Textbox"/>
          <p:cNvSpPr txBox="1"/>
          <p:nvPr/>
        </p:nvSpPr>
        <p:spPr>
          <a:xfrm>
            <a:off x="16573222" y="3466488"/>
            <a:ext cx="4914900" cy="5982985"/>
          </a:xfrm>
          <a:prstGeom prst="rect">
            <a:avLst/>
          </a:prstGeom>
          <a:solidFill>
            <a:schemeClr val="bg1">
              <a:alpha val="63000"/>
            </a:schemeClr>
          </a:solidFill>
          <a:effectLst/>
        </p:spPr>
        <p:txBody>
          <a:bodyPr>
            <a:spAutoFit/>
          </a:bodyPr>
          <a:lstStyle/>
          <a:p>
            <a:pPr>
              <a:lnSpc>
                <a:spcPts val="2300"/>
              </a:lnSpc>
              <a:spcAft>
                <a:spcPts val="600"/>
              </a:spcAft>
              <a:defRPr/>
            </a:pPr>
            <a:r>
              <a:rPr lang="en-US" sz="2400" b="1" dirty="0">
                <a:solidFill>
                  <a:srgbClr val="000000"/>
                </a:solidFill>
                <a:latin typeface="+mj-lt"/>
              </a:rPr>
              <a:t>Conclusion</a:t>
            </a:r>
          </a:p>
          <a:p>
            <a:pPr>
              <a:lnSpc>
                <a:spcPts val="2300"/>
              </a:lnSpc>
              <a:spcAft>
                <a:spcPts val="600"/>
              </a:spcAft>
              <a:defRPr/>
            </a:pPr>
            <a:r>
              <a:rPr lang="en-US" sz="1800" dirty="0">
                <a:solidFill>
                  <a:srgbClr val="000000"/>
                </a:solidFill>
                <a:latin typeface="Arial" charset="0"/>
                <a:ea typeface="Arial" charset="0"/>
                <a:cs typeface="Arial" charset="0"/>
              </a:rPr>
              <a:t>Population dynamics in Puerto Rico are shaped by structural persistence, regional disparities, and external shocks such as natural disasters. Machine learning models reveal that, despite high variability, meaningful patterns can be identified and used to understand population change.</a:t>
            </a:r>
          </a:p>
          <a:p>
            <a:pPr marL="285750" indent="-285750">
              <a:lnSpc>
                <a:spcPts val="2300"/>
              </a:lnSpc>
              <a:spcAft>
                <a:spcPts val="600"/>
              </a:spcAft>
              <a:buFont typeface="Arial" panose="020B0604020202020204" pitchFamily="34" charset="0"/>
              <a:buChar char="•"/>
              <a:defRPr/>
            </a:pPr>
            <a:r>
              <a:rPr lang="en-US" sz="1800" dirty="0">
                <a:solidFill>
                  <a:srgbClr val="000000"/>
                </a:solidFill>
                <a:latin typeface="Arial" charset="0"/>
                <a:ea typeface="Arial" charset="0"/>
                <a:cs typeface="Arial" charset="0"/>
              </a:rPr>
              <a:t>Temporal Persistence: Population trends are strongly influenced by past changes, indicating path-dependent dynamics.</a:t>
            </a:r>
          </a:p>
          <a:p>
            <a:pPr marL="285750" indent="-285750">
              <a:lnSpc>
                <a:spcPts val="2300"/>
              </a:lnSpc>
              <a:spcAft>
                <a:spcPts val="600"/>
              </a:spcAft>
              <a:buFont typeface="Arial" panose="020B0604020202020204" pitchFamily="34" charset="0"/>
              <a:buChar char="•"/>
              <a:defRPr/>
            </a:pPr>
            <a:r>
              <a:rPr lang="en-US" sz="1800" dirty="0">
                <a:solidFill>
                  <a:srgbClr val="000000"/>
                </a:solidFill>
                <a:latin typeface="Arial" charset="0"/>
                <a:ea typeface="Arial" charset="0"/>
                <a:cs typeface="Arial" charset="0"/>
              </a:rPr>
              <a:t>Delayed Disaster Effects: Hurricane and seismic impacts emerge with a lag, reflecting gradual migration and recovery processes.</a:t>
            </a:r>
          </a:p>
          <a:p>
            <a:pPr marL="285750" indent="-285750">
              <a:lnSpc>
                <a:spcPts val="2300"/>
              </a:lnSpc>
              <a:spcAft>
                <a:spcPts val="600"/>
              </a:spcAft>
              <a:buFont typeface="Arial" panose="020B0604020202020204" pitchFamily="34" charset="0"/>
              <a:buChar char="•"/>
              <a:defRPr/>
            </a:pPr>
            <a:r>
              <a:rPr lang="en-US" sz="1800" dirty="0">
                <a:solidFill>
                  <a:srgbClr val="000000"/>
                </a:solidFill>
                <a:latin typeface="Arial" charset="0"/>
                <a:ea typeface="Arial" charset="0"/>
                <a:cs typeface="Arial" charset="0"/>
              </a:rPr>
              <a:t>Regional Vulnerability: Certain regions experience greater long-term effects, highlighting uneven exposure and resilience across municipalities.</a:t>
            </a:r>
          </a:p>
        </p:txBody>
      </p:sp>
      <p:sp>
        <p:nvSpPr>
          <p:cNvPr id="23" name="References Textbox"/>
          <p:cNvSpPr txBox="1"/>
          <p:nvPr/>
        </p:nvSpPr>
        <p:spPr>
          <a:xfrm>
            <a:off x="16573222" y="13287449"/>
            <a:ext cx="4868756" cy="1631216"/>
          </a:xfrm>
          <a:prstGeom prst="rect">
            <a:avLst/>
          </a:prstGeom>
          <a:solidFill>
            <a:schemeClr val="bg1">
              <a:alpha val="63000"/>
            </a:schemeClr>
          </a:solidFill>
          <a:effectLst/>
        </p:spPr>
        <p:txBody>
          <a:bodyPr wrap="square">
            <a:spAutoFit/>
          </a:bodyPr>
          <a:lstStyle/>
          <a:p>
            <a:pPr>
              <a:lnSpc>
                <a:spcPts val="1900"/>
              </a:lnSpc>
              <a:spcAft>
                <a:spcPts val="600"/>
              </a:spcAft>
              <a:buClr>
                <a:schemeClr val="tx2"/>
              </a:buClr>
              <a:defRPr/>
            </a:pPr>
            <a:r>
              <a:rPr lang="en-US" sz="2400" b="1" dirty="0">
                <a:solidFill>
                  <a:srgbClr val="000000"/>
                </a:solidFill>
                <a:latin typeface="+mj-lt"/>
              </a:rPr>
              <a:t>References</a:t>
            </a:r>
            <a:endParaRPr lang="en-US" sz="1200" dirty="0">
              <a:solidFill>
                <a:srgbClr val="000000"/>
              </a:solidFill>
              <a:latin typeface="Arial" charset="0"/>
              <a:ea typeface="Arial" charset="0"/>
              <a:cs typeface="Arial" charset="0"/>
            </a:endParaRPr>
          </a:p>
          <a:p>
            <a:pPr>
              <a:lnSpc>
                <a:spcPts val="1900"/>
              </a:lnSpc>
              <a:buClr>
                <a:schemeClr val="tx2"/>
              </a:buClr>
              <a:buFont typeface="+mj-lt"/>
              <a:buAutoNum type="arabicPeriod"/>
              <a:defRPr/>
            </a:pPr>
            <a:r>
              <a:rPr lang="en-US" sz="1200" dirty="0">
                <a:solidFill>
                  <a:srgbClr val="000000"/>
                </a:solidFill>
                <a:latin typeface="Arial" charset="0"/>
                <a:ea typeface="Arial" charset="0"/>
                <a:cs typeface="Arial" charset="0"/>
              </a:rPr>
              <a:t>  U.S. Census Bureau. American Community Survey (ACS)</a:t>
            </a:r>
          </a:p>
          <a:p>
            <a:pPr>
              <a:lnSpc>
                <a:spcPts val="1900"/>
              </a:lnSpc>
              <a:buClr>
                <a:schemeClr val="tx2"/>
              </a:buClr>
              <a:buFont typeface="+mj-lt"/>
              <a:buAutoNum type="arabicPeriod"/>
              <a:defRPr/>
            </a:pPr>
            <a:r>
              <a:rPr lang="en-US" sz="1200" dirty="0">
                <a:solidFill>
                  <a:srgbClr val="000000"/>
                </a:solidFill>
                <a:latin typeface="Arial" charset="0"/>
                <a:ea typeface="Arial" charset="0"/>
                <a:cs typeface="Arial" charset="0"/>
              </a:rPr>
              <a:t>  U.S. Census Bureau. Population Estimates Program (PEP): Puerto Rico Municipal Population Estimates, Vintage 2024.</a:t>
            </a:r>
          </a:p>
          <a:p>
            <a:pPr>
              <a:lnSpc>
                <a:spcPts val="1900"/>
              </a:lnSpc>
              <a:buClr>
                <a:schemeClr val="tx2"/>
              </a:buClr>
              <a:buFont typeface="+mj-lt"/>
              <a:buAutoNum type="arabicPeriod"/>
              <a:defRPr/>
            </a:pPr>
            <a:r>
              <a:rPr lang="en-US" sz="1200" dirty="0">
                <a:solidFill>
                  <a:srgbClr val="000000"/>
                </a:solidFill>
                <a:latin typeface="Arial" charset="0"/>
                <a:ea typeface="Arial" charset="0"/>
                <a:cs typeface="Arial" charset="0"/>
              </a:rPr>
              <a:t>  NOAA National Hurricane Center</a:t>
            </a:r>
          </a:p>
          <a:p>
            <a:pPr>
              <a:lnSpc>
                <a:spcPts val="1900"/>
              </a:lnSpc>
              <a:buClr>
                <a:schemeClr val="tx2"/>
              </a:buClr>
              <a:buFont typeface="+mj-lt"/>
              <a:buAutoNum type="arabicPeriod"/>
              <a:defRPr/>
            </a:pPr>
            <a:r>
              <a:rPr lang="en-US" sz="1200" dirty="0">
                <a:solidFill>
                  <a:srgbClr val="000000"/>
                </a:solidFill>
                <a:latin typeface="Arial" charset="0"/>
                <a:ea typeface="Arial" charset="0"/>
                <a:cs typeface="Arial" charset="0"/>
              </a:rPr>
              <a:t>  USGS (United States Geological Survey).</a:t>
            </a:r>
          </a:p>
        </p:txBody>
      </p:sp>
      <p:sp>
        <p:nvSpPr>
          <p:cNvPr id="94" name="Contact Information Textbox"/>
          <p:cNvSpPr/>
          <p:nvPr/>
        </p:nvSpPr>
        <p:spPr>
          <a:xfrm>
            <a:off x="16598215" y="15420317"/>
            <a:ext cx="4890186" cy="748050"/>
          </a:xfrm>
          <a:prstGeom prst="rect">
            <a:avLst/>
          </a:prstGeom>
        </p:spPr>
        <p:txBody>
          <a:bodyPr wrap="square">
            <a:noAutofit/>
          </a:bodyPr>
          <a:lstStyle/>
          <a:p>
            <a:pPr>
              <a:spcAft>
                <a:spcPts val="400"/>
              </a:spcAft>
              <a:defRPr/>
            </a:pPr>
            <a:r>
              <a:rPr lang="en-US" altLang="en-US" sz="1400" dirty="0">
                <a:solidFill>
                  <a:schemeClr val="bg1"/>
                </a:solidFill>
                <a:ea typeface="Arial" charset="0"/>
              </a:rPr>
              <a:t>Graduate School of Arts and Sciences </a:t>
            </a:r>
            <a:endParaRPr lang="en-US" sz="1700" b="1" dirty="0">
              <a:solidFill>
                <a:schemeClr val="bg1"/>
              </a:solidFill>
            </a:endParaRPr>
          </a:p>
          <a:p>
            <a:pPr>
              <a:spcAft>
                <a:spcPts val="40"/>
              </a:spcAft>
              <a:defRPr/>
            </a:pPr>
            <a:r>
              <a:rPr lang="en-US" altLang="en-US" sz="1400" dirty="0">
                <a:solidFill>
                  <a:schemeClr val="bg1"/>
                </a:solidFill>
                <a:ea typeface="Arial" charset="0"/>
              </a:rPr>
              <a:t>M.S. Data Science</a:t>
            </a:r>
          </a:p>
        </p:txBody>
      </p:sp>
      <p:pic>
        <p:nvPicPr>
          <p:cNvPr id="15" name="Picture 14">
            <a:extLst>
              <a:ext uri="{FF2B5EF4-FFF2-40B4-BE49-F238E27FC236}">
                <a16:creationId xmlns:a16="http://schemas.microsoft.com/office/drawing/2014/main" id="{4114021F-1244-F31A-0DFF-A724D27EED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169830" y="11828127"/>
            <a:ext cx="4591925" cy="2186033"/>
          </a:xfrm>
          <a:prstGeom prst="rect">
            <a:avLst/>
          </a:prstGeom>
          <a:ln>
            <a:solidFill>
              <a:schemeClr val="tx1"/>
            </a:solidFill>
          </a:ln>
        </p:spPr>
      </p:pic>
      <p:pic>
        <p:nvPicPr>
          <p:cNvPr id="22" name="Picture 21" descr="A map of puerto rico with a graph and a chart&#10;&#10;AI-generated content may be incorrect.">
            <a:extLst>
              <a:ext uri="{FF2B5EF4-FFF2-40B4-BE49-F238E27FC236}">
                <a16:creationId xmlns:a16="http://schemas.microsoft.com/office/drawing/2014/main" id="{C83B42A8-EDA1-ABE8-89E6-C5E68CE50E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604" y="11205879"/>
            <a:ext cx="4810863" cy="3531439"/>
          </a:xfrm>
          <a:prstGeom prst="rect">
            <a:avLst/>
          </a:prstGeom>
        </p:spPr>
      </p:pic>
      <p:cxnSp>
        <p:nvCxnSpPr>
          <p:cNvPr id="42" name="Horizontal Section Divider" descr="Horizontal Divider">
            <a:extLst>
              <a:ext uri="{FF2B5EF4-FFF2-40B4-BE49-F238E27FC236}">
                <a16:creationId xmlns:a16="http://schemas.microsoft.com/office/drawing/2014/main" id="{460D738E-6EE7-B8A5-A56D-B63291C7CFE6}"/>
              </a:ext>
            </a:extLst>
          </p:cNvPr>
          <p:cNvCxnSpPr/>
          <p:nvPr/>
        </p:nvCxnSpPr>
        <p:spPr bwMode="auto">
          <a:xfrm>
            <a:off x="16540490" y="13134942"/>
            <a:ext cx="4892040" cy="0"/>
          </a:xfrm>
          <a:prstGeom prst="line">
            <a:avLst/>
          </a:prstGeom>
          <a:noFill/>
          <a:ln w="15875" cap="flat" cmpd="sng" algn="ctr">
            <a:solidFill>
              <a:schemeClr val="tx1"/>
            </a:solidFill>
            <a:prstDash val="dash"/>
            <a:round/>
            <a:headEnd type="none" w="med" len="med"/>
            <a:tailEnd type="none" w="med" len="med"/>
          </a:ln>
          <a:effectLst/>
        </p:spPr>
      </p:cxnSp>
      <p:pic>
        <p:nvPicPr>
          <p:cNvPr id="5" name="Picture 4">
            <a:extLst>
              <a:ext uri="{FF2B5EF4-FFF2-40B4-BE49-F238E27FC236}">
                <a16:creationId xmlns:a16="http://schemas.microsoft.com/office/drawing/2014/main" id="{64149C1A-060A-C3F3-A377-5AD0429AD11F}"/>
              </a:ext>
            </a:extLst>
          </p:cNvPr>
          <p:cNvPicPr>
            <a:picLocks noChangeAspect="1"/>
          </p:cNvPicPr>
          <p:nvPr/>
        </p:nvPicPr>
        <p:blipFill>
          <a:blip r:embed="rId8"/>
          <a:stretch>
            <a:fillRect/>
          </a:stretch>
        </p:blipFill>
        <p:spPr>
          <a:xfrm>
            <a:off x="16482874" y="10018583"/>
            <a:ext cx="4809405" cy="2571655"/>
          </a:xfrm>
          <a:prstGeom prst="rect">
            <a:avLst/>
          </a:prstGeom>
        </p:spPr>
      </p:pic>
      <p:pic>
        <p:nvPicPr>
          <p:cNvPr id="2" name="Picture 9">
            <a:extLst>
              <a:ext uri="{FF2B5EF4-FFF2-40B4-BE49-F238E27FC236}">
                <a16:creationId xmlns:a16="http://schemas.microsoft.com/office/drawing/2014/main" id="{E754C0C9-0440-89F8-BD44-90AA4D9CCB9D}"/>
              </a:ext>
            </a:extLst>
          </p:cNvPr>
          <p:cNvPicPr>
            <a:picLocks noChangeAspect="1" noChangeArrowheads="1"/>
          </p:cNvPicPr>
          <p:nvPr/>
        </p:nvPicPr>
        <p:blipFill>
          <a:blip r:embed="rId9"/>
          <a:srcRect/>
          <a:stretch/>
        </p:blipFill>
        <p:spPr bwMode="auto">
          <a:xfrm>
            <a:off x="15907571" y="603008"/>
            <a:ext cx="5073790" cy="1504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65799"/>
      </p:ext>
    </p:extLst>
  </p:cSld>
  <p:clrMapOvr>
    <a:masterClrMapping/>
  </p:clrMapOvr>
</p:sld>
</file>

<file path=ppt/theme/theme1.xml><?xml version="1.0" encoding="utf-8"?>
<a:theme xmlns:a="http://schemas.openxmlformats.org/drawingml/2006/main" name="Research Poster Template">
  <a:themeElements>
    <a:clrScheme name="UB Color Palette">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 Accessible" id="{BC02AB42-924F-614D-9F02-5DAD031142A4}" vid="{CEC2668D-C73A-D648-809C-2002B42E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Poster Template</Template>
  <TotalTime>299</TotalTime>
  <Words>518</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System Font Regular</vt:lpstr>
      <vt:lpstr>Research Poster Template</vt:lpstr>
      <vt:lpstr>PowerPoint Presentation</vt:lpstr>
    </vt:vector>
  </TitlesOfParts>
  <Manager/>
  <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Andres Ruiz</cp:lastModifiedBy>
  <cp:revision>26</cp:revision>
  <cp:lastPrinted>2018-07-27T15:05:13Z</cp:lastPrinted>
  <dcterms:created xsi:type="dcterms:W3CDTF">2019-03-28T18:35:19Z</dcterms:created>
  <dcterms:modified xsi:type="dcterms:W3CDTF">2026-04-18T22:02:13Z</dcterms:modified>
  <cp:category/>
</cp:coreProperties>
</file>