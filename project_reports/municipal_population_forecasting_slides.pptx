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32"/>
    <p:restoredTop sz="88883"/>
  </p:normalViewPr>
  <p:slideViewPr>
    <p:cSldViewPr snapToGrid="0" snapToObjects="1">
      <p:cViewPr varScale="1">
        <p:scale>
          <a:sx n="122" d="100"/>
          <a:sy n="122" d="100"/>
        </p:scale>
        <p:origin x="90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06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Ordinary Least Squares (OLS) is a non-parametric method used in statistics and machine learning to estimate the relationship between one or more independent variables (predictors) and a dependent variable (target).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E96A4"/>
          </a:solidFill>
          <a:ln w="12700">
            <a:solidFill>
              <a:srgbClr val="7E9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&amp; Economic Dynamics in Puerto Rico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149840" y="1097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AF0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slides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2DA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13C7714-F981-DF92-F755-C3C403D1F203}"/>
              </a:ext>
            </a:extLst>
          </p:cNvPr>
          <p:cNvGrpSpPr/>
          <p:nvPr/>
        </p:nvGrpSpPr>
        <p:grpSpPr>
          <a:xfrm>
            <a:off x="364776" y="899517"/>
            <a:ext cx="11204372" cy="5511222"/>
            <a:chOff x="493985" y="1452851"/>
            <a:chExt cx="10313630" cy="5058965"/>
          </a:xfrm>
        </p:grpSpPr>
        <p:pic>
          <p:nvPicPr>
            <p:cNvPr id="37" name="Picture 36" descr="A diagram of a municipal population&#10;&#10;AI-generated content may be incorrect.">
              <a:extLst>
                <a:ext uri="{FF2B5EF4-FFF2-40B4-BE49-F238E27FC236}">
                  <a16:creationId xmlns:a16="http://schemas.microsoft.com/office/drawing/2014/main" id="{392E0DC8-7840-C5D7-566B-959CC4942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072"/>
            <a:stretch>
              <a:fillRect/>
            </a:stretch>
          </p:blipFill>
          <p:spPr>
            <a:xfrm>
              <a:off x="493985" y="1452851"/>
              <a:ext cx="10313630" cy="505896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2A0A273-C7CF-DF3D-C1CA-88F49D176C67}"/>
                </a:ext>
              </a:extLst>
            </p:cNvPr>
            <p:cNvSpPr/>
            <p:nvPr/>
          </p:nvSpPr>
          <p:spPr>
            <a:xfrm>
              <a:off x="2011994" y="4857692"/>
              <a:ext cx="923027" cy="310550"/>
            </a:xfrm>
            <a:prstGeom prst="rect">
              <a:avLst/>
            </a:prstGeom>
            <a:solidFill>
              <a:srgbClr val="F0F4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pipeline slide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115568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high-level figure I can iterate on. It foregrounds leakage control, baseline benchmarking, and the deterministic-to-probabilistic transition.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9184" y="1463040"/>
            <a:ext cx="2221992" cy="233172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3776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E96A4"/>
          </a:solidFill>
          <a:ln w="12700">
            <a:solidFill>
              <a:srgbClr val="7E9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668780"/>
            <a:ext cx="31089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16002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1.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1847088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</a:rPr>
              <a:t>Raw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" y="2084832"/>
            <a:ext cx="1947672" cy="0"/>
          </a:xfrm>
          <a:prstGeom prst="line">
            <a:avLst/>
          </a:prstGeom>
          <a:noFill/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212848"/>
            <a:ext cx="19293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Master historical profile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78 municipios x 14 years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Target y = annual % population change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1463040"/>
            <a:ext cx="2221992" cy="233172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62072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E96A4"/>
          </a:solidFill>
          <a:ln w="12700">
            <a:solidFill>
              <a:srgbClr val="7E9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2072" y="1668780"/>
            <a:ext cx="31089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1527048" cy="178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2. 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1847088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2084832"/>
            <a:ext cx="1947672" cy="0"/>
          </a:xfrm>
          <a:prstGeom prst="line">
            <a:avLst/>
          </a:prstGeom>
          <a:noFill/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43784" y="2212848"/>
            <a:ext cx="19293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Clean + numeric coercion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80/20 split first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Scaler + PCA fit on train 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Transform test with trained params only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65776" y="1463040"/>
            <a:ext cx="2221992" cy="233172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30368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E96A4"/>
          </a:solidFill>
          <a:ln w="12700">
            <a:solidFill>
              <a:srgbClr val="7E9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30368" y="1668780"/>
            <a:ext cx="31089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14416" y="1600200"/>
            <a:ext cx="1527048" cy="201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3. Modeling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14416" y="1847088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</a:rPr>
              <a:t>Methods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02936" y="2084832"/>
            <a:ext cx="1947672" cy="0"/>
          </a:xfrm>
          <a:prstGeom prst="line">
            <a:avLst/>
          </a:prstGeom>
          <a:noFill/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2212848"/>
            <a:ext cx="19293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Phase 1: OLS baseline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Phase 2: Random Forest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GridSearchCV for tuning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Phase 3: simulation model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34072" y="1463040"/>
            <a:ext cx="2221992" cy="233172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98664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E96A4"/>
          </a:solidFill>
          <a:ln w="12700">
            <a:solidFill>
              <a:srgbClr val="7E9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98664" y="1668780"/>
            <a:ext cx="31089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82712" y="1600199"/>
            <a:ext cx="1380744" cy="246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4. Prediction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82712" y="1847088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</a:rPr>
              <a:t>Hypothesis testing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571232" y="2084832"/>
            <a:ext cx="1947672" cy="0"/>
          </a:xfrm>
          <a:prstGeom prst="line">
            <a:avLst/>
          </a:prstGeom>
          <a:noFill/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80376" y="2212848"/>
            <a:ext cx="19293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What-if scenarios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Wind and seismic sweeps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Threshold / tipping-point inspection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02368" y="1463040"/>
            <a:ext cx="2221992" cy="233172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966960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E96A4"/>
          </a:solidFill>
          <a:ln w="12700">
            <a:solidFill>
              <a:srgbClr val="7E9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966960" y="1668780"/>
            <a:ext cx="31089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351008" y="160020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5. Output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51008" y="1847088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5"/>
                </a:solidFill>
              </a:rPr>
              <a:t>Decision support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939528" y="2084832"/>
            <a:ext cx="1947672" cy="0"/>
          </a:xfrm>
          <a:prstGeom prst="line">
            <a:avLst/>
          </a:prstGeom>
          <a:noFill/>
          <a:ln w="1270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48672" y="2212848"/>
            <a:ext cx="19293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Expected forecast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5th and 95th percentiles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2424B"/>
                </a:solidFill>
              </a:rPr>
              <a:t>Risk envelope + dashboard-ready plots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43025" y="4325112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FC0C7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43025" y="4325112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52753" y="4398264"/>
            <a:ext cx="2660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2"/>
                </a:solidFill>
              </a:rPr>
              <a:t>Baseline benchmark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71041" y="4818888"/>
            <a:ext cx="2624328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4A"/>
                </a:solidFill>
              </a:rPr>
              <a:t>OLS gives the reference floor on unseen data: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3414A"/>
                </a:solidFill>
              </a:rPr>
              <a:t>R² = 0.0137  |  MAE = 1.1702%  |  RMSE = 2.1122%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960545" y="432511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AFC0C7"/>
            </a:solidFill>
            <a:prstDash val="solid"/>
          </a:ln>
          <a:effectLst>
            <a:outerShdw blurRad="1905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960545" y="4325112"/>
            <a:ext cx="3886200" cy="402336"/>
          </a:xfrm>
          <a:prstGeom prst="roundRect">
            <a:avLst>
              <a:gd name="adj" fmla="val 18182"/>
            </a:avLst>
          </a:prstGeom>
          <a:solidFill>
            <a:srgbClr val="F4ECEB"/>
          </a:solidFill>
          <a:ln w="12700">
            <a:solidFill>
              <a:srgbClr val="F4E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070273" y="4398264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2"/>
                </a:solidFill>
              </a:rPr>
              <a:t>How to frame the advanced model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088561" y="4818888"/>
            <a:ext cx="3630168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4A"/>
                </a:solidFill>
              </a:rPr>
              <a:t>Use the Random Forest as the mechanism for feature importance, scenario simulation, and threshold discovery. That is the strongest story even before the model clearly beats the baseline on R².</a:t>
            </a:r>
            <a:endParaRPr lang="en-US" sz="10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 and the non-leaked baseline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115568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slides answer the Week 6 requirement directly: what goes in, how it is processed, and how the baseline benchmark is created.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508760"/>
            <a:ext cx="2880360" cy="46177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099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What Phase 1 establishes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10127"/>
            <a:ext cx="24231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33414A"/>
                </a:solidFill>
              </a:rPr>
              <a:t>• Master panel merges population, vital stats, establishments, SVI metrics, and disaster shocks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4A"/>
                </a:solidFill>
              </a:rPr>
              <a:t>• Target y is annualized population change by municipio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4A"/>
                </a:solidFill>
              </a:rPr>
              <a:t>• Fifteen highly collinear SVI indicators are compressed into one PCA-based vulnerability_index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4A"/>
                </a:solidFill>
              </a:rPr>
              <a:t>• Train/test split happens before scaler or PCA fitting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4A"/>
                </a:solidFill>
              </a:rPr>
              <a:t>• Baseline OLS is trained on the engineered training set only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58952" y="548640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7F0F5"/>
          </a:solidFill>
          <a:ln w="12700">
            <a:solidFill>
              <a:srgbClr val="E7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1508760"/>
            <a:ext cx="379476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22192" y="170078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Reality check on shock features</a:t>
            </a:r>
            <a:endParaRPr lang="en-US" sz="1600" dirty="0"/>
          </a:p>
        </p:txBody>
      </p:sp>
      <p:pic>
        <p:nvPicPr>
          <p:cNvPr id="11" name="Image 0" descr="/mnt/data/notebook_imgs/Phase1_Feature_Engineering_and_Baseline_cell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977173"/>
            <a:ext cx="3584448" cy="147719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07808" y="1508760"/>
            <a:ext cx="405079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27264" y="17007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Baseline coefficients</a:t>
            </a:r>
            <a:endParaRPr lang="en-US" sz="1600" dirty="0"/>
          </a:p>
        </p:txBody>
      </p:sp>
      <p:pic>
        <p:nvPicPr>
          <p:cNvPr id="14" name="Image 1" descr="/mnt/data/notebook_imgs/Phase1_Feature_Engineering_and_Baseline_cell1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985" y="1892808"/>
            <a:ext cx="3296998" cy="16276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611880" y="3950208"/>
            <a:ext cx="804672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822192" y="4160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Baseline takeaways for presentation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822192" y="45262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895344" y="4581144"/>
            <a:ext cx="950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5363"/>
                </a:solidFill>
              </a:rPr>
              <a:t>R² = 0.0137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0" y="452628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102352" y="4581144"/>
            <a:ext cx="1179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5363"/>
                </a:solidFill>
              </a:rPr>
              <a:t>MAE = 1.1702%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73952" y="45262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547104" y="4581144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5363"/>
                </a:solidFill>
              </a:rPr>
              <a:t>RMSE = 2.1122%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840480" y="4956048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4A"/>
                </a:solidFill>
              </a:rPr>
              <a:t>The baseline is intentionally simple and quick to implement. Its real value is that it gives us a leak-free benchmark and a disciplined starting point before we move to more expressive models.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3840480" y="548640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0" dirty="0">
                <a:solidFill>
                  <a:srgbClr val="33414A"/>
                </a:solidFill>
              </a:rPr>
              <a:t>Why the next step is justified: the shock distributions are sparse and extreme, and the linear coefficients already suggest that disaster intensity and aging structure matter. That is why Phase 2 turns to a non-linear ensemble.</a:t>
            </a:r>
            <a:endParaRPr lang="en-US" sz="121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94660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2: the non-linear model is useful even before it wins on R²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115568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the Random Forest: it strengthens structural interpretation, feature ranking, and downstream simulation capability.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2743200" cy="4663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What Phase 2 adds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1993392"/>
            <a:ext cx="2240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3414A"/>
                </a:solidFill>
              </a:rPr>
              <a:t>• Random Forest handles non-linear relationships and feature interactions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33414A"/>
                </a:solidFill>
              </a:rPr>
              <a:t>• GridSearchCV tests  various parameter settings with 5-fold CV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33414A"/>
                </a:solidFill>
              </a:rPr>
              <a:t>• Best documented tuned model in the notebook: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33414A"/>
                </a:solidFill>
              </a:rPr>
              <a:t>bootstrap=True, max_depth=10, min_samples_split=10, n_estimators=300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33414A"/>
                </a:solidFill>
              </a:rPr>
              <a:t>• The optimized R² in the notebook remains modest (0.0044), so the model should be framed as a threshold-discovery engine rather than a headline accuracy winner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786384" y="55961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7F0F5"/>
          </a:solidFill>
          <a:ln w="12700">
            <a:solidFill>
              <a:srgbClr val="E7F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47872" y="1508760"/>
            <a:ext cx="38404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67328" y="17099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Feature importance</a:t>
            </a:r>
            <a:endParaRPr lang="en-US" sz="1600" dirty="0"/>
          </a:p>
        </p:txBody>
      </p:sp>
      <p:pic>
        <p:nvPicPr>
          <p:cNvPr id="11" name="Image 0" descr="/mnt/data/notebook_imgs/Phase2_Non_Linear_Modeling_cell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731" y="1993392"/>
            <a:ext cx="2710762" cy="15361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16952" y="1508760"/>
            <a:ext cx="404164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547872" y="3968496"/>
            <a:ext cx="8110728" cy="2139696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767328" y="41696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Analysis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67328" y="452628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33414A"/>
                </a:solidFill>
              </a:rPr>
              <a:t>1) The baseline remains the benchmark for straightforward predictive accuracy.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4A"/>
                </a:solidFill>
              </a:rPr>
              <a:t>2) The Random Forest is valuable because it uncovers which inputs matter most and creates the foundation for scenario simulation.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530352" y="6510528"/>
            <a:ext cx="8046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8D"/>
                </a:solidFill>
              </a:rPr>
              <a:t>Phase 2 charts: feature importance and predicted-vs-actual scatter from the uploaded notebook.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9" name="Picture 18" descr="A screenshot of a graph&#10;&#10;AI-generated content may be incorrect.">
            <a:extLst>
              <a:ext uri="{FF2B5EF4-FFF2-40B4-BE49-F238E27FC236}">
                <a16:creationId xmlns:a16="http://schemas.microsoft.com/office/drawing/2014/main" id="{639DFDE5-9ACD-2935-DD14-B26D52877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035" y="1627632"/>
            <a:ext cx="2283941" cy="199774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1C12D6-6787-0052-DAA0-00C55BBB99E8}"/>
              </a:ext>
            </a:extLst>
          </p:cNvPr>
          <p:cNvSpPr txBox="1"/>
          <p:nvPr/>
        </p:nvSpPr>
        <p:spPr>
          <a:xfrm>
            <a:off x="10115976" y="1750821"/>
            <a:ext cx="141341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/>
            <a:r>
              <a:rPr lang="en-US" sz="500" b="1" dirty="0">
                <a:latin typeface="Merriweather" pitchFamily="2" charset="77"/>
              </a:rPr>
              <a:t>15 Vulnerability Indicators</a:t>
            </a:r>
          </a:p>
          <a:p>
            <a:pPr marL="114300" indent="-114300"/>
            <a:endParaRPr lang="en-US" sz="500" dirty="0">
              <a:latin typeface="Merriweather" pitchFamily="2" charset="77"/>
            </a:endParaRP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Poverty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Unemployment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Per Capita Income (USD)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No High School Diploma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Population under 18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Population 65+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Persons with a Disability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Single Parent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Minority Population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Speaks Limited English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Population in Multi-Unit Dwellings (10+ units)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Mobile Homes Estimate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Crowding - Households with More People than Rooms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No Vehicle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500" dirty="0">
                <a:latin typeface="Merriweather" pitchFamily="2" charset="77"/>
              </a:rPr>
              <a:t>Persons Living in Group Quarters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3: Sensitivity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115568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Phase 3 notebook already contains the key plots: vary one shock feature while holding the rest of the profile fixed, then measure how predicted population change responds.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Wind-speed sensitivity sweep</a:t>
            </a:r>
            <a:endParaRPr lang="en-US" sz="1600" dirty="0"/>
          </a:p>
        </p:txBody>
      </p:sp>
      <p:pic>
        <p:nvPicPr>
          <p:cNvPr id="6" name="Image 0" descr="/mnt/data/notebook_imgs/Phase3_Hypothesis_Testing_and_Forecasting_cell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6331"/>
            <a:ext cx="5102352" cy="27750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481328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65392" y="170078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Earthquake-magnitude sensitivity sweep</a:t>
            </a:r>
            <a:endParaRPr lang="en-US" sz="1600" dirty="0"/>
          </a:p>
        </p:txBody>
      </p:sp>
      <p:pic>
        <p:nvPicPr>
          <p:cNvPr id="9" name="Image 1" descr="/mnt/data/notebook_imgs/Phase3_Hypothesis_Testing_and_Forecasting_cell1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146063"/>
            <a:ext cx="4919472" cy="26756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9808" y="6062472"/>
            <a:ext cx="2880360" cy="292608"/>
          </a:xfrm>
          <a:prstGeom prst="roundRect">
            <a:avLst>
              <a:gd name="adj" fmla="val 25000"/>
            </a:avLst>
          </a:prstGeom>
          <a:solidFill>
            <a:srgbClr val="DCEAE4"/>
          </a:solidFill>
          <a:ln w="12700">
            <a:solidFill>
              <a:srgbClr val="DCE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858768" y="601675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4A"/>
                </a:solidFill>
              </a:rPr>
              <a:t>These curves show that the model is not treating shock variables as linear. Population response changes non-uniformly as intensity increases, which is exactly the threshold behavior we hoped to surface.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analysis: from point prediction to a risk envelope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1115568"/>
            <a:ext cx="10241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answers the second explicit expectation from Prof. </a:t>
            </a:r>
            <a:r>
              <a:rPr lang="en-US" sz="1150" dirty="0" err="1">
                <a:solidFill>
                  <a:srgbClr val="5B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Altundas</a:t>
            </a:r>
            <a:r>
              <a:rPr lang="en-US" sz="1150" dirty="0">
                <a:solidFill>
                  <a:srgbClr val="5B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The ensemble itself becomes the uncertainty engine by exposing per-tree prediction variability.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063240" cy="46634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How the probabilistic step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23317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33414A"/>
                </a:solidFill>
              </a:rPr>
              <a:t>• Extract predictions from every tree in the Random Forest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33414A"/>
                </a:solidFill>
              </a:rPr>
              <a:t>• Aggregate them into a mean forecast plus 5th and 95th percentiles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33414A"/>
                </a:solidFill>
              </a:rPr>
              <a:t>• Present the spread as a risk envelope rather than a single point estimate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33414A"/>
                </a:solidFill>
              </a:rPr>
              <a:t>• This is what makes the dashboard decision-support oriented rather than merely descriptive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768096" y="5605272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F4ECEB"/>
          </a:solidFill>
          <a:ln w="12700">
            <a:solidFill>
              <a:srgbClr val="F4E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13048" y="150876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41648" y="17373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Notebook output: uncertainty distribution</a:t>
            </a:r>
            <a:endParaRPr lang="en-US" sz="1600" dirty="0"/>
          </a:p>
        </p:txBody>
      </p:sp>
      <p:pic>
        <p:nvPicPr>
          <p:cNvPr id="11" name="Image 0" descr="/mnt/data/notebook_imgs/Phase3_Hypothesis_Testing_and_Forecasting_cell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2426179"/>
            <a:ext cx="4882896" cy="267315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354312" y="1508760"/>
            <a:ext cx="2267712" cy="46634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4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582912" y="17373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2"/>
                </a:solidFill>
              </a:rPr>
              <a:t>How to frame the payoff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73768" y="2084832"/>
            <a:ext cx="1691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30" dirty="0">
                <a:solidFill>
                  <a:srgbClr val="33414A"/>
                </a:solidFill>
              </a:rPr>
              <a:t>Expected forecast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33414A"/>
                </a:solidFill>
              </a:rPr>
              <a:t>= blue mean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33414A"/>
                </a:solidFill>
              </a:rPr>
              <a:t>Worst case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33414A"/>
                </a:solidFill>
              </a:rPr>
              <a:t>= red 5th percentile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33414A"/>
                </a:solidFill>
              </a:rPr>
              <a:t>Best case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33414A"/>
                </a:solidFill>
              </a:rPr>
              <a:t>= green 95th percentile</a:t>
            </a:r>
            <a:endParaRPr lang="en-US" sz="1130" dirty="0"/>
          </a:p>
          <a:p>
            <a:pPr marL="0" indent="0" algn="l">
              <a:buNone/>
            </a:pP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33414A"/>
                </a:solidFill>
              </a:rPr>
              <a:t>This satisfies the request for a probabilistic extension while keeping the deterministic baseline intact.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967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9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864</Words>
  <Application>Microsoft Macintosh PowerPoint</Application>
  <PresentationFormat>Widescreen</PresentationFormat>
  <Paragraphs>131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Municipal Population Forecasting - Slide Charts</dc:title>
  <dc:subject>Municipal population forecasting presentation</dc:subject>
  <dc:creator>OpenAI</dc:creator>
  <cp:lastModifiedBy>Andres Ruiz</cp:lastModifiedBy>
  <cp:revision>4</cp:revision>
  <dcterms:created xsi:type="dcterms:W3CDTF">2026-03-06T19:48:03Z</dcterms:created>
  <dcterms:modified xsi:type="dcterms:W3CDTF">2026-03-06T20:46:18Z</dcterms:modified>
</cp:coreProperties>
</file>