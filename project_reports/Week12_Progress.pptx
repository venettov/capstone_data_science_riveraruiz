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30"/>
  </p:notesMasterIdLst>
  <p:handoutMasterIdLst>
    <p:handoutMasterId r:id="rId31"/>
  </p:handoutMasterIdLst>
  <p:sldIdLst>
    <p:sldId id="408" r:id="rId5"/>
    <p:sldId id="407" r:id="rId6"/>
    <p:sldId id="448" r:id="rId7"/>
    <p:sldId id="431" r:id="rId8"/>
    <p:sldId id="449" r:id="rId9"/>
    <p:sldId id="454" r:id="rId10"/>
    <p:sldId id="435" r:id="rId11"/>
    <p:sldId id="436" r:id="rId12"/>
    <p:sldId id="437" r:id="rId13"/>
    <p:sldId id="446" r:id="rId14"/>
    <p:sldId id="444" r:id="rId15"/>
    <p:sldId id="445" r:id="rId16"/>
    <p:sldId id="450" r:id="rId17"/>
    <p:sldId id="452" r:id="rId18"/>
    <p:sldId id="451" r:id="rId19"/>
    <p:sldId id="453" r:id="rId20"/>
    <p:sldId id="438" r:id="rId21"/>
    <p:sldId id="439" r:id="rId22"/>
    <p:sldId id="430" r:id="rId23"/>
    <p:sldId id="442" r:id="rId24"/>
    <p:sldId id="275" r:id="rId25"/>
    <p:sldId id="276" r:id="rId26"/>
    <p:sldId id="277" r:id="rId27"/>
    <p:sldId id="279" r:id="rId28"/>
    <p:sldId id="281" r:id="rId29"/>
  </p:sldIdLst>
  <p:sldSz cx="12192000" cy="6858000"/>
  <p:notesSz cx="9296400" cy="7010400"/>
  <p:embeddedFontLst>
    <p:embeddedFont>
      <p:font typeface="Cambria Math" panose="02040503050406030204" pitchFamily="18" charset="0"/>
      <p:regular r:id="rId32"/>
    </p:embeddedFont>
    <p:embeddedFont>
      <p:font typeface="Merriweather" pitchFamily="2" charset="77"/>
      <p:regular r:id="rId33"/>
      <p:bold r:id="rId34"/>
      <p:italic r:id="rId35"/>
      <p:boldItalic r:id="rId36"/>
    </p:embeddedFont>
    <p:embeddedFont>
      <p:font typeface="PT serif" panose="020A0603040505020204" pitchFamily="18" charset="77"/>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Source sans 3" panose="020B030303040302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D59"/>
    <a:srgbClr val="71B2C4"/>
    <a:srgbClr val="649EC7"/>
    <a:srgbClr val="5576B9"/>
    <a:srgbClr val="405C84"/>
    <a:srgbClr val="00B050"/>
    <a:srgbClr val="00FACA"/>
    <a:srgbClr val="F9E289"/>
    <a:srgbClr val="F3D169"/>
    <a:srgbClr val="E8B51F"/>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48"/>
    <p:restoredTop sz="82379"/>
  </p:normalViewPr>
  <p:slideViewPr>
    <p:cSldViewPr snapToGrid="0">
      <p:cViewPr varScale="1">
        <p:scale>
          <a:sx n="112" d="100"/>
          <a:sy n="112" d="100"/>
        </p:scale>
        <p:origin x="1448" y="496"/>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6.xml"/><Relationship Id="rId41" Type="http://schemas.openxmlformats.org/officeDocument/2006/relationships/font" Target="fonts/font10.fntdata"/><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4/17/26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4/17/26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1361-1CC0-2B63-9BF6-7E4F56988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A4D96-1BB5-C6F3-CAAB-610887B5A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FE08-7911-0FB3-29C6-6DA31F1B057A}"/>
              </a:ext>
            </a:extLst>
          </p:cNvPr>
          <p:cNvSpPr>
            <a:spLocks noGrp="1"/>
          </p:cNvSpPr>
          <p:nvPr>
            <p:ph type="body" idx="1"/>
          </p:nvPr>
        </p:nvSpPr>
        <p:spPr/>
        <p:txBody>
          <a:bodyPr/>
          <a:lstStyle/>
          <a:p>
            <a:r>
              <a:rPr lang="en-US" dirty="0"/>
              <a:t>This slide shows the full pipeline. We start with municipal-level structural, economic, and shock data. In Phase 2, we build a predictive model and select Lasso with strong out-of-sample performance. We then interpret the model using SHAP and lead–lag analysis, which reveals that population dynamics are highly persistent. In Phase 3, we generate scenario forecasts, and in Phase 4 we translate those into policy simulations to identify strategies that can reduce population loss.</a:t>
            </a:r>
          </a:p>
        </p:txBody>
      </p:sp>
      <p:sp>
        <p:nvSpPr>
          <p:cNvPr id="4" name="Slide Number Placeholder 3">
            <a:extLst>
              <a:ext uri="{FF2B5EF4-FFF2-40B4-BE49-F238E27FC236}">
                <a16:creationId xmlns:a16="http://schemas.microsoft.com/office/drawing/2014/main" id="{D76D7624-92AE-3978-053F-F621021FE661}"/>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2610477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DD09-BB55-281C-2B14-A8ACF16F8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046E6-D34B-02FB-7487-746D08C62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71936-83C1-5ABC-0C85-37052FCCE2B5}"/>
              </a:ext>
            </a:extLst>
          </p:cNvPr>
          <p:cNvSpPr>
            <a:spLocks noGrp="1"/>
          </p:cNvSpPr>
          <p:nvPr>
            <p:ph type="body" idx="1"/>
          </p:nvPr>
        </p:nvSpPr>
        <p:spPr/>
        <p:txBody>
          <a:bodyPr/>
          <a:lstStyle/>
          <a:p>
            <a:r>
              <a:rPr lang="en-US" dirty="0"/>
              <a:t>This slide shows how we split the data for modeling using a </a:t>
            </a:r>
            <a:r>
              <a:rPr lang="en-US" b="1" dirty="0"/>
              <a:t>chronological 80/20 framework</a:t>
            </a:r>
            <a:r>
              <a:rPr lang="en-US" dirty="0"/>
              <a:t>.</a:t>
            </a:r>
          </a:p>
          <a:p>
            <a:r>
              <a:rPr lang="en-US" dirty="0"/>
              <a:t>Instead of randomly splitting the data, we preserve the time structure.</a:t>
            </a:r>
            <a:br>
              <a:rPr lang="en-US" dirty="0"/>
            </a:br>
            <a:r>
              <a:rPr lang="en-US" dirty="0"/>
              <a:t>We train the model only on </a:t>
            </a:r>
            <a:r>
              <a:rPr lang="en-US" b="1" dirty="0"/>
              <a:t>earlier years (2010–2018)</a:t>
            </a:r>
            <a:r>
              <a:rPr lang="en-US" dirty="0"/>
              <a:t>, reserve </a:t>
            </a:r>
            <a:r>
              <a:rPr lang="en-US" b="1" dirty="0"/>
              <a:t>2019 as a validation year</a:t>
            </a:r>
            <a:r>
              <a:rPr lang="en-US" dirty="0"/>
              <a:t>, and then evaluate performance on </a:t>
            </a:r>
            <a:r>
              <a:rPr lang="en-US" b="1" dirty="0"/>
              <a:t>completely unseen future years (2020–2021)</a:t>
            </a:r>
            <a:r>
              <a:rPr lang="en-US" dirty="0"/>
              <a:t>.</a:t>
            </a:r>
          </a:p>
          <a:p>
            <a:r>
              <a:rPr lang="en-US" dirty="0"/>
              <a:t>Each year contributes </a:t>
            </a:r>
            <a:r>
              <a:rPr lang="en-US" b="1" dirty="0"/>
              <a:t>78 municipality-level observations</a:t>
            </a:r>
            <a:r>
              <a:rPr lang="en-US" dirty="0"/>
              <a:t>, so the split is balanced across time.</a:t>
            </a:r>
          </a:p>
          <a:p>
            <a:r>
              <a:rPr lang="en-US" dirty="0"/>
              <a:t>The key idea here is that we are mimicking a </a:t>
            </a:r>
            <a:r>
              <a:rPr lang="en-US" b="1" dirty="0"/>
              <a:t>real forecasting setup</a:t>
            </a:r>
            <a:r>
              <a:rPr lang="en-US" dirty="0"/>
              <a:t>:</a:t>
            </a:r>
          </a:p>
          <a:p>
            <a:r>
              <a:rPr lang="en-US" dirty="0"/>
              <a:t>the model learns from the past </a:t>
            </a:r>
          </a:p>
          <a:p>
            <a:r>
              <a:rPr lang="en-US" dirty="0"/>
              <a:t>it is tuned on a later holdout year </a:t>
            </a:r>
          </a:p>
          <a:p>
            <a:r>
              <a:rPr lang="en-US" dirty="0"/>
              <a:t>and it is tested on future data it has never seen </a:t>
            </a:r>
          </a:p>
          <a:p>
            <a:r>
              <a:rPr lang="en-US"/>
              <a:t>This avoids </a:t>
            </a:r>
            <a:r>
              <a:rPr lang="en-US" b="1"/>
              <a:t>data leakage</a:t>
            </a:r>
            <a:r>
              <a:rPr lang="en-US"/>
              <a:t>, meaning we never use future information to predict the past.</a:t>
            </a:r>
          </a:p>
          <a:p>
            <a:endParaRPr lang="en-US" dirty="0"/>
          </a:p>
        </p:txBody>
      </p:sp>
      <p:sp>
        <p:nvSpPr>
          <p:cNvPr id="4" name="Slide Number Placeholder 3">
            <a:extLst>
              <a:ext uri="{FF2B5EF4-FFF2-40B4-BE49-F238E27FC236}">
                <a16:creationId xmlns:a16="http://schemas.microsoft.com/office/drawing/2014/main" id="{A9518824-9364-DB73-9829-09F87B1DC587}"/>
              </a:ext>
            </a:extLst>
          </p:cNvPr>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43793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from this analysis is that population dynamics in Puerto Rico are highly persistent and path-dependent.</a:t>
            </a:r>
            <a:br>
              <a:rPr lang="en-US" dirty="0"/>
            </a:br>
            <a:r>
              <a:rPr lang="en-US" dirty="0"/>
              <a:t>What happens in one period strongly influences what happens next.</a:t>
            </a:r>
            <a:br>
              <a:rPr lang="en-US" dirty="0"/>
            </a:br>
            <a:r>
              <a:rPr lang="en-US" dirty="0"/>
              <a:t>While shocks like hurricanes and earthquakes do matter, their effects are not immediate, they accumulate over time and are reflected through longer-term trends.</a:t>
            </a:r>
            <a:br>
              <a:rPr lang="en-US" dirty="0"/>
            </a:br>
            <a:r>
              <a:rPr lang="en-US" dirty="0"/>
              <a:t>So ultimately, population change is less about single events and more about the gradual buildup of structural conditions.</a:t>
            </a:r>
          </a:p>
        </p:txBody>
      </p:sp>
      <p:sp>
        <p:nvSpPr>
          <p:cNvPr id="4" name="Slide Number Placeholder 3"/>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2059832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prediction, what we see is that population dynamics are not random, they’re spatially structured.</a:t>
            </a:r>
            <a:br>
              <a:rPr lang="en-US" dirty="0"/>
            </a:br>
            <a:r>
              <a:rPr lang="en-US" dirty="0"/>
              <a:t>Municipalities cluster into distinct typologies, and these clusters align strongly with geographic regions.</a:t>
            </a:r>
            <a:br>
              <a:rPr lang="en-US" dirty="0"/>
            </a:br>
            <a:r>
              <a:rPr lang="en-US" dirty="0"/>
              <a:t>This means similar places behave similarly over time.</a:t>
            </a:r>
            <a:br>
              <a:rPr lang="en-US" dirty="0"/>
            </a:br>
            <a:r>
              <a:rPr lang="en-US" dirty="0"/>
              <a:t>The key insight is that decline is not evenly distributed, it’s concentrated in specific regions and tied to underlying structural conditions like economic activity and vulnerability.</a:t>
            </a:r>
            <a:br>
              <a:rPr lang="en-US" dirty="0"/>
            </a:br>
            <a:r>
              <a:rPr lang="en-US" dirty="0"/>
              <a:t>So overall, population change reflects persistent regional structures rather than isolated local variation.</a:t>
            </a:r>
          </a:p>
        </p:txBody>
      </p:sp>
      <p:sp>
        <p:nvSpPr>
          <p:cNvPr id="4" name="Slide Number Placeholder 3"/>
          <p:cNvSpPr>
            <a:spLocks noGrp="1"/>
          </p:cNvSpPr>
          <p:nvPr>
            <p:ph type="sldNum" sz="quarter" idx="5"/>
          </p:nvPr>
        </p:nvSpPr>
        <p:spPr/>
        <p:txBody>
          <a:bodyPr/>
          <a:lstStyle/>
          <a:p>
            <a:fld id="{5068C1A6-6C9C-C342-8E0F-AE9AC9AFD13B}" type="slidenum">
              <a:rPr lang="en-US" smtClean="0"/>
              <a:t>7</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island level, Puerto Rico shows a persistent population decline of about 0.6% per year, or roughly 20,000 people annually.</a:t>
            </a:r>
            <a:br>
              <a:rPr lang="en-US" dirty="0"/>
            </a:br>
            <a:r>
              <a:rPr lang="en-US" dirty="0"/>
              <a:t>Importantly, this decline is not uniform, it’s concentrated in specific regions, particularly the South and West.</a:t>
            </a:r>
            <a:br>
              <a:rPr lang="en-US" dirty="0"/>
            </a:br>
            <a:r>
              <a:rPr lang="en-US" dirty="0"/>
              <a:t>What the model confirms is that this pattern is systematic and predictable, not random. Regional location plays a major role, and these differences remain stable over time. So the key takeaway is that population decline is spatially structured and persistent, driven by long-term regional dynamics rather than short-term fluctuations.</a:t>
            </a:r>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BB172-3F24-3E94-A5DE-DBFF22636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4CCE8-3D2F-7AA0-9B10-2F363DF45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3E17D-A98F-69D5-013C-E0A67996AF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BBAA54-B176-F39C-3CFF-6E7B899142BB}"/>
              </a:ext>
            </a:extLst>
          </p:cNvPr>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1381555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C211-7FD4-82EB-FB58-FE463015F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6E33D-00B6-FB9C-1548-6554AB87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B1E5-C0C5-D8C2-DE97-00FDF2B7D79A}"/>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C98D717C-2CE1-A6ED-31E3-1DF7106F5466}"/>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3480380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F2AA8-ECEA-E732-FC01-1E089DD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E15F4-1306-EB85-E903-41BF9837C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75522-70CF-AD90-ABD8-B833DD828D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C5038E-CA49-0058-2D63-713C9A608039}"/>
              </a:ext>
            </a:extLst>
          </p:cNvPr>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1899868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6C1F-3692-A97E-B268-AA59DA162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DA91B-C2FF-3602-A806-D05CC653B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1EA65-77C7-68DF-4361-6D963E5E475C}"/>
              </a:ext>
            </a:extLst>
          </p:cNvPr>
          <p:cNvSpPr>
            <a:spLocks noGrp="1"/>
          </p:cNvSpPr>
          <p:nvPr>
            <p:ph type="body" idx="1"/>
          </p:nvPr>
        </p:nvSpPr>
        <p:spPr/>
        <p:txBody>
          <a:bodyPr/>
          <a:lstStyle/>
          <a:p>
            <a:r>
              <a:rPr lang="en-US" dirty="0"/>
              <a:t>Mechanically, the framework does:</a:t>
            </a:r>
          </a:p>
          <a:p>
            <a:r>
              <a:rPr lang="en-US" dirty="0"/>
              <a:t>Take latest municipal data </a:t>
            </a:r>
          </a:p>
          <a:p>
            <a:r>
              <a:rPr lang="en-US" dirty="0"/>
              <a:t>Apply </a:t>
            </a:r>
            <a:r>
              <a:rPr lang="en-US" b="1" dirty="0"/>
              <a:t>feature adjustments (policy shocks)</a:t>
            </a:r>
            <a:r>
              <a:rPr lang="en-US" dirty="0"/>
              <a:t> </a:t>
            </a:r>
          </a:p>
          <a:p>
            <a:r>
              <a:rPr lang="en-US" dirty="0"/>
              <a:t>Feed into </a:t>
            </a:r>
            <a:r>
              <a:rPr lang="en-US" b="1" dirty="0"/>
              <a:t>trained Lasso model</a:t>
            </a:r>
            <a:r>
              <a:rPr lang="en-US" dirty="0"/>
              <a:t> </a:t>
            </a:r>
          </a:p>
          <a:p>
            <a:r>
              <a:rPr lang="en-US" dirty="0"/>
              <a:t>Generate new predicted population paths </a:t>
            </a:r>
          </a:p>
          <a:p>
            <a:endParaRPr lang="en-US" dirty="0"/>
          </a:p>
          <a:p>
            <a:r>
              <a:rPr lang="en-US" dirty="0"/>
              <a:t>So:</a:t>
            </a:r>
          </a:p>
          <a:p>
            <a:r>
              <a:rPr lang="en-US" dirty="0"/>
              <a:t>policies → change features </a:t>
            </a:r>
          </a:p>
          <a:p>
            <a:r>
              <a:rPr lang="en-US" dirty="0"/>
              <a:t>features → change predictions </a:t>
            </a:r>
          </a:p>
          <a:p>
            <a:endParaRPr lang="en-US" dirty="0"/>
          </a:p>
          <a:p>
            <a:r>
              <a:rPr lang="en-US" dirty="0"/>
              <a:t>Important </a:t>
            </a:r>
          </a:p>
          <a:p>
            <a:r>
              <a:rPr lang="en-US" dirty="0"/>
              <a:t>These are </a:t>
            </a:r>
            <a:r>
              <a:rPr lang="en-US" b="1" dirty="0"/>
              <a:t>model-based counterfactuals, not causal estimates</a:t>
            </a:r>
            <a:endParaRPr lang="en-US" dirty="0"/>
          </a:p>
          <a:p>
            <a:endParaRPr lang="en-US" dirty="0"/>
          </a:p>
        </p:txBody>
      </p:sp>
      <p:sp>
        <p:nvSpPr>
          <p:cNvPr id="4" name="Slide Number Placeholder 3">
            <a:extLst>
              <a:ext uri="{FF2B5EF4-FFF2-40B4-BE49-F238E27FC236}">
                <a16:creationId xmlns:a16="http://schemas.microsoft.com/office/drawing/2014/main" id="{1158C983-D6E5-3C0B-780C-A94D0EC35CC9}"/>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31072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83EE-BD4C-21F8-3DC9-67BBF823A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0831F-73CB-D30C-046A-15479FB4A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D500A-05E9-F762-9470-E5DCFD7D1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37E72-4A92-E906-1EF7-1BD0A0C8FD98}"/>
              </a:ext>
            </a:extLst>
          </p:cNvPr>
          <p:cNvSpPr>
            <a:spLocks noGrp="1"/>
          </p:cNvSpPr>
          <p:nvPr>
            <p:ph type="sldNum" sz="quarter" idx="5"/>
          </p:nvPr>
        </p:nvSpPr>
        <p:spPr/>
        <p:txBody>
          <a:bodyPr/>
          <a:lstStyle/>
          <a:p>
            <a:fld id="{5068C1A6-6C9C-C342-8E0F-AE9AC9AFD13B}" type="slidenum">
              <a:rPr lang="en-US" smtClean="0"/>
              <a:t>14</a:t>
            </a:fld>
            <a:endParaRPr lang="en-US" dirty="0"/>
          </a:p>
        </p:txBody>
      </p:sp>
    </p:spTree>
    <p:extLst>
      <p:ext uri="{BB962C8B-B14F-4D97-AF65-F5344CB8AC3E}">
        <p14:creationId xmlns:p14="http://schemas.microsoft.com/office/powerpoint/2010/main" val="1268917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B2A4-A14E-7D1F-D2C2-A7CA27623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93C8D-F028-8C77-00D9-43FFBFAB6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F26B0-E18B-6A44-3338-F0166ED80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D4051-2C92-6894-79BA-CCC4179E6DAD}"/>
              </a:ext>
            </a:extLst>
          </p:cNvPr>
          <p:cNvSpPr>
            <a:spLocks noGrp="1"/>
          </p:cNvSpPr>
          <p:nvPr>
            <p:ph type="sldNum" sz="quarter" idx="5"/>
          </p:nvPr>
        </p:nvSpPr>
        <p:spPr/>
        <p:txBody>
          <a:bodyPr/>
          <a:lstStyle/>
          <a:p>
            <a:fld id="{5068C1A6-6C9C-C342-8E0F-AE9AC9AFD13B}" type="slidenum">
              <a:rPr lang="en-US" smtClean="0"/>
              <a:t>15</a:t>
            </a:fld>
            <a:endParaRPr lang="en-US" dirty="0"/>
          </a:p>
        </p:txBody>
      </p:sp>
    </p:spTree>
    <p:extLst>
      <p:ext uri="{BB962C8B-B14F-4D97-AF65-F5344CB8AC3E}">
        <p14:creationId xmlns:p14="http://schemas.microsoft.com/office/powerpoint/2010/main" val="314260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next step, I’m extending this work into a policy simulation framework.</a:t>
            </a:r>
            <a:br>
              <a:rPr lang="en-US" dirty="0"/>
            </a:br>
            <a:r>
              <a:rPr lang="en-US" dirty="0"/>
              <a:t>The goal is to move beyond forecasting and evaluate how different interventions, such as job growth or retention strategies, could influence population trends.</a:t>
            </a:r>
            <a:br>
              <a:rPr lang="en-US" dirty="0"/>
            </a:br>
            <a:br>
              <a:rPr lang="en-US" dirty="0"/>
            </a:br>
            <a:r>
              <a:rPr lang="en-US" dirty="0"/>
              <a:t>Ultimately, this allows to assess which strategies are most effective at slowing population decline and translate those insights into an interactive dashboard.</a:t>
            </a:r>
          </a:p>
        </p:txBody>
      </p:sp>
      <p:sp>
        <p:nvSpPr>
          <p:cNvPr id="4" name="Slide Number Placeholder 3"/>
          <p:cNvSpPr>
            <a:spLocks noGrp="1"/>
          </p:cNvSpPr>
          <p:nvPr>
            <p:ph type="sldNum" sz="quarter" idx="5"/>
          </p:nvPr>
        </p:nvSpPr>
        <p:spPr/>
        <p:txBody>
          <a:bodyPr/>
          <a:lstStyle/>
          <a:p>
            <a:fld id="{5068C1A6-6C9C-C342-8E0F-AE9AC9AFD13B}" type="slidenum">
              <a:rPr lang="en-US" smtClean="0"/>
              <a:t>16</a:t>
            </a:fld>
            <a:endParaRPr lang="en-US" dirty="0"/>
          </a:p>
        </p:txBody>
      </p:sp>
    </p:spTree>
    <p:extLst>
      <p:ext uri="{BB962C8B-B14F-4D97-AF65-F5344CB8AC3E}">
        <p14:creationId xmlns:p14="http://schemas.microsoft.com/office/powerpoint/2010/main" val="3658011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population decline in Puerto Rico is not random, it’s structured, spatial, and persistent.</a:t>
            </a:r>
            <a:br>
              <a:rPr lang="en-US" dirty="0"/>
            </a:br>
            <a:r>
              <a:rPr lang="en-US" dirty="0"/>
              <a:t>In the short run, changes are noisy and difficult to predict, but the model shows strong momentum and path dependence.</a:t>
            </a:r>
            <a:br>
              <a:rPr lang="en-US" dirty="0"/>
            </a:br>
            <a:r>
              <a:rPr lang="en-US" dirty="0"/>
              <a:t>When we look at longer horizons, clear structural patterns emerge, especially across regions.</a:t>
            </a:r>
            <a:br>
              <a:rPr lang="en-US" dirty="0"/>
            </a:br>
            <a:r>
              <a:rPr lang="en-US" dirty="0"/>
              <a:t>So the key takeaway is that population dynamics follow stable, long-term patterns that are spatially organized and persistent.</a:t>
            </a:r>
          </a:p>
        </p:txBody>
      </p:sp>
      <p:sp>
        <p:nvSpPr>
          <p:cNvPr id="4" name="Slide Number Placeholder 3"/>
          <p:cNvSpPr>
            <a:spLocks noGrp="1"/>
          </p:cNvSpPr>
          <p:nvPr>
            <p:ph type="sldNum" sz="quarter" idx="5"/>
          </p:nvPr>
        </p:nvSpPr>
        <p:spPr/>
        <p:txBody>
          <a:bodyPr/>
          <a:lstStyle/>
          <a:p>
            <a:fld id="{5068C1A6-6C9C-C342-8E0F-AE9AC9AFD13B}" type="slidenum">
              <a:rPr lang="en-US" smtClean="0"/>
              <a:t>17</a:t>
            </a:fld>
            <a:endParaRPr lang="en-US" dirty="0"/>
          </a:p>
        </p:txBody>
      </p:sp>
    </p:spTree>
    <p:extLst>
      <p:ext uri="{BB962C8B-B14F-4D97-AF65-F5344CB8AC3E}">
        <p14:creationId xmlns:p14="http://schemas.microsoft.com/office/powerpoint/2010/main" val="970356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18</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10 Progress: 17 April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0323-1844-7C93-9703-4C215B003E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9E6EEC-5C00-9AAB-71E1-B82D418B3429}"/>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14C5B44-61A0-1E95-DD47-EC743B64F4D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pic>
        <p:nvPicPr>
          <p:cNvPr id="6" name="Picture 5">
            <a:extLst>
              <a:ext uri="{FF2B5EF4-FFF2-40B4-BE49-F238E27FC236}">
                <a16:creationId xmlns:a16="http://schemas.microsoft.com/office/drawing/2014/main" id="{7D048859-A022-27ED-A44B-061CED15932A}"/>
              </a:ext>
            </a:extLst>
          </p:cNvPr>
          <p:cNvPicPr>
            <a:picLocks noChangeAspect="1"/>
          </p:cNvPicPr>
          <p:nvPr/>
        </p:nvPicPr>
        <p:blipFill>
          <a:blip r:embed="rId3">
            <a:extLst>
              <a:ext uri="{28A0092B-C50C-407E-A947-70E740481C1C}">
                <a14:useLocalDpi xmlns:a14="http://schemas.microsoft.com/office/drawing/2010/main" val="0"/>
              </a:ext>
            </a:extLst>
          </a:blip>
          <a:srcRect l="1851" t="9543" r="1842" b="2875"/>
          <a:stretch>
            <a:fillRect/>
          </a:stretch>
        </p:blipFill>
        <p:spPr>
          <a:xfrm>
            <a:off x="127590" y="1368962"/>
            <a:ext cx="10339372" cy="4851085"/>
          </a:xfrm>
          <a:prstGeom prst="rect">
            <a:avLst/>
          </a:prstGeom>
        </p:spPr>
      </p:pic>
      <p:sp>
        <p:nvSpPr>
          <p:cNvPr id="8" name="TextBox 7">
            <a:extLst>
              <a:ext uri="{FF2B5EF4-FFF2-40B4-BE49-F238E27FC236}">
                <a16:creationId xmlns:a16="http://schemas.microsoft.com/office/drawing/2014/main" id="{2A9A73D0-F7D2-F587-EDF7-8E63A684CAEA}"/>
              </a:ext>
            </a:extLst>
          </p:cNvPr>
          <p:cNvSpPr txBox="1"/>
          <p:nvPr/>
        </p:nvSpPr>
        <p:spPr>
          <a:xfrm>
            <a:off x="358216" y="1954222"/>
            <a:ext cx="1364476" cy="307777"/>
          </a:xfrm>
          <a:prstGeom prst="rect">
            <a:avLst/>
          </a:prstGeom>
          <a:noFill/>
        </p:spPr>
        <p:txBody>
          <a:bodyPr wrap="none" rtlCol="0">
            <a:spAutoFit/>
          </a:bodyPr>
          <a:lstStyle/>
          <a:p>
            <a:pPr algn="ctr"/>
            <a:r>
              <a:rPr lang="en-US" sz="1400" b="1" dirty="0">
                <a:solidFill>
                  <a:schemeClr val="bg1"/>
                </a:solidFill>
              </a:rPr>
              <a:t>Municipal Data</a:t>
            </a:r>
          </a:p>
        </p:txBody>
      </p:sp>
      <p:sp>
        <p:nvSpPr>
          <p:cNvPr id="10" name="TextBox 9">
            <a:extLst>
              <a:ext uri="{FF2B5EF4-FFF2-40B4-BE49-F238E27FC236}">
                <a16:creationId xmlns:a16="http://schemas.microsoft.com/office/drawing/2014/main" id="{DDD52949-EDDD-1CA1-204E-60B7C50EF47B}"/>
              </a:ext>
            </a:extLst>
          </p:cNvPr>
          <p:cNvSpPr txBox="1"/>
          <p:nvPr/>
        </p:nvSpPr>
        <p:spPr>
          <a:xfrm>
            <a:off x="2623083" y="1831705"/>
            <a:ext cx="1034257" cy="523220"/>
          </a:xfrm>
          <a:prstGeom prst="rect">
            <a:avLst/>
          </a:prstGeom>
          <a:noFill/>
        </p:spPr>
        <p:txBody>
          <a:bodyPr wrap="none" rtlCol="0">
            <a:spAutoFit/>
          </a:bodyPr>
          <a:lstStyle/>
          <a:p>
            <a:pPr algn="ctr"/>
            <a:r>
              <a:rPr lang="en-US" sz="1400" b="1" dirty="0">
                <a:solidFill>
                  <a:schemeClr val="bg1"/>
                </a:solidFill>
              </a:rPr>
              <a:t>Predictive </a:t>
            </a:r>
          </a:p>
          <a:p>
            <a:pPr algn="ctr"/>
            <a:r>
              <a:rPr lang="en-US" sz="1400" b="1" dirty="0">
                <a:solidFill>
                  <a:schemeClr val="bg1"/>
                </a:solidFill>
              </a:rPr>
              <a:t>Modeling</a:t>
            </a:r>
          </a:p>
        </p:txBody>
      </p:sp>
      <p:sp>
        <p:nvSpPr>
          <p:cNvPr id="12" name="TextBox 11">
            <a:extLst>
              <a:ext uri="{FF2B5EF4-FFF2-40B4-BE49-F238E27FC236}">
                <a16:creationId xmlns:a16="http://schemas.microsoft.com/office/drawing/2014/main" id="{92C0E1C7-8D70-41A0-26B0-A2C2732FB6DF}"/>
              </a:ext>
            </a:extLst>
          </p:cNvPr>
          <p:cNvSpPr txBox="1"/>
          <p:nvPr/>
        </p:nvSpPr>
        <p:spPr>
          <a:xfrm>
            <a:off x="4417174" y="1839759"/>
            <a:ext cx="1119217"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Forecasting</a:t>
            </a:r>
          </a:p>
        </p:txBody>
      </p:sp>
      <p:sp>
        <p:nvSpPr>
          <p:cNvPr id="14" name="TextBox 13">
            <a:extLst>
              <a:ext uri="{FF2B5EF4-FFF2-40B4-BE49-F238E27FC236}">
                <a16:creationId xmlns:a16="http://schemas.microsoft.com/office/drawing/2014/main" id="{472D061B-39D6-C605-E409-26E4F74032C2}"/>
              </a:ext>
            </a:extLst>
          </p:cNvPr>
          <p:cNvSpPr txBox="1"/>
          <p:nvPr/>
        </p:nvSpPr>
        <p:spPr>
          <a:xfrm>
            <a:off x="6406491" y="1843439"/>
            <a:ext cx="914032"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Analysis</a:t>
            </a:r>
          </a:p>
        </p:txBody>
      </p:sp>
      <p:sp>
        <p:nvSpPr>
          <p:cNvPr id="15" name="TextBox 14">
            <a:extLst>
              <a:ext uri="{FF2B5EF4-FFF2-40B4-BE49-F238E27FC236}">
                <a16:creationId xmlns:a16="http://schemas.microsoft.com/office/drawing/2014/main" id="{62816890-A548-402D-CFF6-486DF77FDEFB}"/>
              </a:ext>
            </a:extLst>
          </p:cNvPr>
          <p:cNvSpPr txBox="1"/>
          <p:nvPr/>
        </p:nvSpPr>
        <p:spPr>
          <a:xfrm>
            <a:off x="8399056" y="1836772"/>
            <a:ext cx="1091966" cy="523220"/>
          </a:xfrm>
          <a:prstGeom prst="rect">
            <a:avLst/>
          </a:prstGeom>
          <a:noFill/>
        </p:spPr>
        <p:txBody>
          <a:bodyPr wrap="none" rtlCol="0">
            <a:spAutoFit/>
          </a:bodyPr>
          <a:lstStyle/>
          <a:p>
            <a:pPr algn="ctr"/>
            <a:r>
              <a:rPr lang="en-US" sz="1400" b="1" dirty="0">
                <a:solidFill>
                  <a:schemeClr val="bg1"/>
                </a:solidFill>
              </a:rPr>
              <a:t>Policy</a:t>
            </a:r>
          </a:p>
          <a:p>
            <a:pPr algn="ctr"/>
            <a:r>
              <a:rPr lang="en-US" sz="1400" b="1" dirty="0">
                <a:solidFill>
                  <a:schemeClr val="bg1"/>
                </a:solidFill>
              </a:rPr>
              <a:t>Simulation </a:t>
            </a:r>
          </a:p>
        </p:txBody>
      </p:sp>
      <p:sp>
        <p:nvSpPr>
          <p:cNvPr id="16" name="TextBox 15">
            <a:extLst>
              <a:ext uri="{FF2B5EF4-FFF2-40B4-BE49-F238E27FC236}">
                <a16:creationId xmlns:a16="http://schemas.microsoft.com/office/drawing/2014/main" id="{1549B984-1CA9-1F36-24B5-5D11AEF34BFB}"/>
              </a:ext>
            </a:extLst>
          </p:cNvPr>
          <p:cNvSpPr txBox="1"/>
          <p:nvPr/>
        </p:nvSpPr>
        <p:spPr>
          <a:xfrm>
            <a:off x="234344" y="2482066"/>
            <a:ext cx="1757869" cy="646331"/>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Structural</a:t>
            </a:r>
            <a:r>
              <a:rPr lang="en-US" sz="1200" dirty="0"/>
              <a:t>:</a:t>
            </a:r>
          </a:p>
          <a:p>
            <a:pPr lvl="1"/>
            <a:r>
              <a:rPr lang="en-US" sz="1200" dirty="0"/>
              <a:t>Births,</a:t>
            </a:r>
          </a:p>
          <a:p>
            <a:pPr lvl="1"/>
            <a:r>
              <a:rPr lang="en-US" sz="1200" dirty="0"/>
              <a:t>Age Structure</a:t>
            </a:r>
          </a:p>
        </p:txBody>
      </p:sp>
      <p:sp>
        <p:nvSpPr>
          <p:cNvPr id="17" name="TextBox 16">
            <a:extLst>
              <a:ext uri="{FF2B5EF4-FFF2-40B4-BE49-F238E27FC236}">
                <a16:creationId xmlns:a16="http://schemas.microsoft.com/office/drawing/2014/main" id="{D473B47D-6B03-C410-5065-C9550C932214}"/>
              </a:ext>
            </a:extLst>
          </p:cNvPr>
          <p:cNvSpPr txBox="1"/>
          <p:nvPr/>
        </p:nvSpPr>
        <p:spPr>
          <a:xfrm>
            <a:off x="234344" y="3293593"/>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Economic</a:t>
            </a:r>
            <a:r>
              <a:rPr lang="en-US" sz="1200" dirty="0"/>
              <a:t>:</a:t>
            </a:r>
          </a:p>
          <a:p>
            <a:pPr lvl="1"/>
            <a:r>
              <a:rPr lang="en-US" sz="1200" dirty="0"/>
              <a:t>Employment,</a:t>
            </a:r>
          </a:p>
          <a:p>
            <a:pPr lvl="1"/>
            <a:r>
              <a:rPr lang="en-US" sz="1200" dirty="0"/>
              <a:t>Payroll,</a:t>
            </a:r>
          </a:p>
          <a:p>
            <a:pPr lvl="1"/>
            <a:r>
              <a:rPr lang="en-US" sz="1200" dirty="0"/>
              <a:t>Establishments</a:t>
            </a:r>
          </a:p>
        </p:txBody>
      </p:sp>
      <p:sp>
        <p:nvSpPr>
          <p:cNvPr id="18" name="TextBox 17">
            <a:extLst>
              <a:ext uri="{FF2B5EF4-FFF2-40B4-BE49-F238E27FC236}">
                <a16:creationId xmlns:a16="http://schemas.microsoft.com/office/drawing/2014/main" id="{513CB562-80C7-AFEE-0B69-C8DC8EAC2DD3}"/>
              </a:ext>
            </a:extLst>
          </p:cNvPr>
          <p:cNvSpPr txBox="1"/>
          <p:nvPr/>
        </p:nvSpPr>
        <p:spPr>
          <a:xfrm>
            <a:off x="234344" y="4254350"/>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b="1" dirty="0"/>
              <a:t>Vulnerability</a:t>
            </a:r>
            <a:r>
              <a:rPr lang="en-US" sz="1200" dirty="0"/>
              <a:t>:</a:t>
            </a:r>
          </a:p>
          <a:p>
            <a:pPr lvl="1"/>
            <a:r>
              <a:rPr lang="en-US" sz="1200" dirty="0"/>
              <a:t>CDC SVIs</a:t>
            </a:r>
          </a:p>
          <a:p>
            <a:pPr lvl="1"/>
            <a:r>
              <a:rPr lang="en-US" sz="1200" dirty="0"/>
              <a:t>(Property,</a:t>
            </a:r>
          </a:p>
          <a:p>
            <a:pPr lvl="1"/>
            <a:r>
              <a:rPr lang="en-US" sz="1200" dirty="0"/>
              <a:t>Housing, </a:t>
            </a:r>
          </a:p>
          <a:p>
            <a:pPr lvl="1"/>
            <a:r>
              <a:rPr lang="en-US" sz="1200" dirty="0"/>
              <a:t>Transport) </a:t>
            </a:r>
          </a:p>
        </p:txBody>
      </p:sp>
      <p:sp>
        <p:nvSpPr>
          <p:cNvPr id="19" name="TextBox 18">
            <a:extLst>
              <a:ext uri="{FF2B5EF4-FFF2-40B4-BE49-F238E27FC236}">
                <a16:creationId xmlns:a16="http://schemas.microsoft.com/office/drawing/2014/main" id="{85BC329A-FF45-F333-6CF0-281438926B30}"/>
              </a:ext>
            </a:extLst>
          </p:cNvPr>
          <p:cNvSpPr txBox="1"/>
          <p:nvPr/>
        </p:nvSpPr>
        <p:spPr>
          <a:xfrm>
            <a:off x="234344" y="5326139"/>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Shocks</a:t>
            </a:r>
            <a:r>
              <a:rPr lang="en-US" sz="1200" dirty="0"/>
              <a:t>:</a:t>
            </a:r>
          </a:p>
          <a:p>
            <a:pPr lvl="1"/>
            <a:r>
              <a:rPr lang="en-US" sz="1200" dirty="0"/>
              <a:t>Hurricane &amp;</a:t>
            </a:r>
          </a:p>
          <a:p>
            <a:pPr lvl="1"/>
            <a:r>
              <a:rPr lang="en-US" sz="1200" dirty="0"/>
              <a:t>Earthquake exposure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AD2BA4E-43D6-4E42-C894-54135CC0220E}"/>
                  </a:ext>
                </a:extLst>
              </p:cNvPr>
              <p:cNvSpPr txBox="1"/>
              <p:nvPr/>
            </p:nvSpPr>
            <p:spPr>
              <a:xfrm>
                <a:off x="2250634" y="2417052"/>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Chronological Split</a:t>
                </a:r>
              </a:p>
              <a:p>
                <a:pPr marL="115888" indent="-115888">
                  <a:buFont typeface="Arial" panose="020B0604020202020204" pitchFamily="34" charset="0"/>
                  <a:buChar char="•"/>
                </a:pPr>
                <a:r>
                  <a:rPr lang="en-US" sz="1200" dirty="0"/>
                  <a:t>80/20 train-test</a:t>
                </a:r>
              </a:p>
              <a:p>
                <a:pPr marL="115888" indent="-115888">
                  <a:buFont typeface="Arial" panose="020B0604020202020204" pitchFamily="34" charset="0"/>
                  <a:buChar char="•"/>
                </a:pPr>
                <a:r>
                  <a:rPr lang="en-US" sz="1200" dirty="0"/>
                  <a:t>Final Model: Lasso</a:t>
                </a:r>
              </a:p>
              <a:p>
                <a:r>
                  <a:rPr lang="en-US" sz="1200" dirty="0"/>
                  <a:t>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oMath>
                </a14:m>
                <a:r>
                  <a:rPr lang="en-US" sz="120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oMath>
                </a14:m>
                <a:r>
                  <a:rPr lang="en-US" sz="1200" dirty="0"/>
                  <a:t>0.91</a:t>
                </a:r>
              </a:p>
            </p:txBody>
          </p:sp>
        </mc:Choice>
        <mc:Fallback xmlns="">
          <p:sp>
            <p:nvSpPr>
              <p:cNvPr id="20" name="TextBox 19">
                <a:extLst>
                  <a:ext uri="{FF2B5EF4-FFF2-40B4-BE49-F238E27FC236}">
                    <a16:creationId xmlns:a16="http://schemas.microsoft.com/office/drawing/2014/main" id="{4AD2BA4E-43D6-4E42-C894-54135CC0220E}"/>
                  </a:ext>
                </a:extLst>
              </p:cNvPr>
              <p:cNvSpPr txBox="1">
                <a:spLocks noRot="1" noChangeAspect="1" noMove="1" noResize="1" noEditPoints="1" noAdjustHandles="1" noChangeArrowheads="1" noChangeShapeType="1" noTextEdit="1"/>
              </p:cNvSpPr>
              <p:nvPr/>
            </p:nvSpPr>
            <p:spPr>
              <a:xfrm>
                <a:off x="2250634" y="2417052"/>
                <a:ext cx="1757869" cy="830997"/>
              </a:xfrm>
              <a:prstGeom prst="rect">
                <a:avLst/>
              </a:prstGeom>
              <a:blipFill>
                <a:blip r:embed="rId4"/>
                <a:stretch>
                  <a:fillRect t="-1515" b="-6061"/>
                </a:stretch>
              </a:blipFill>
            </p:spPr>
            <p:txBody>
              <a:bodyPr/>
              <a:lstStyle/>
              <a:p>
                <a:r>
                  <a:rPr lang="en-US">
                    <a:noFill/>
                  </a:rPr>
                  <a:t> </a:t>
                </a:r>
              </a:p>
            </p:txBody>
          </p:sp>
        </mc:Fallback>
      </mc:AlternateContent>
      <p:sp>
        <p:nvSpPr>
          <p:cNvPr id="24" name="Right Arrow 23">
            <a:extLst>
              <a:ext uri="{FF2B5EF4-FFF2-40B4-BE49-F238E27FC236}">
                <a16:creationId xmlns:a16="http://schemas.microsoft.com/office/drawing/2014/main" id="{9C6AABE8-CF26-B11B-C5F6-FF503286A706}"/>
              </a:ext>
            </a:extLst>
          </p:cNvPr>
          <p:cNvSpPr/>
          <p:nvPr/>
        </p:nvSpPr>
        <p:spPr>
          <a:xfrm>
            <a:off x="2064200" y="346536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25" name="TextBox 24">
            <a:extLst>
              <a:ext uri="{FF2B5EF4-FFF2-40B4-BE49-F238E27FC236}">
                <a16:creationId xmlns:a16="http://schemas.microsoft.com/office/drawing/2014/main" id="{3CEB55BB-4A46-206E-C2DA-85CFDF367777}"/>
              </a:ext>
            </a:extLst>
          </p:cNvPr>
          <p:cNvSpPr txBox="1"/>
          <p:nvPr/>
        </p:nvSpPr>
        <p:spPr>
          <a:xfrm>
            <a:off x="4101598" y="2417052"/>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dirty="0"/>
              <a:t>Baseline &amp; disaster scenarios</a:t>
            </a:r>
          </a:p>
          <a:p>
            <a:pPr marL="115888" indent="-115888">
              <a:buFont typeface="Arial" panose="020B0604020202020204" pitchFamily="34" charset="0"/>
              <a:buChar char="•"/>
            </a:pPr>
            <a:r>
              <a:rPr lang="en-US" sz="1200" dirty="0"/>
              <a:t>Stress tests to 2030</a:t>
            </a:r>
          </a:p>
          <a:p>
            <a:pPr marL="115888" indent="-115888">
              <a:buFont typeface="Arial" panose="020B0604020202020204" pitchFamily="34" charset="0"/>
              <a:buChar char="•"/>
            </a:pPr>
            <a:r>
              <a:rPr lang="en-US" sz="1200" dirty="0"/>
              <a:t>Municipal, regional, island-scale</a:t>
            </a:r>
          </a:p>
        </p:txBody>
      </p:sp>
      <p:sp>
        <p:nvSpPr>
          <p:cNvPr id="26" name="TextBox 25">
            <a:extLst>
              <a:ext uri="{FF2B5EF4-FFF2-40B4-BE49-F238E27FC236}">
                <a16:creationId xmlns:a16="http://schemas.microsoft.com/office/drawing/2014/main" id="{60594C52-32B4-7FF4-6237-7B5A82840939}"/>
              </a:ext>
            </a:extLst>
          </p:cNvPr>
          <p:cNvSpPr txBox="1"/>
          <p:nvPr/>
        </p:nvSpPr>
        <p:spPr>
          <a:xfrm>
            <a:off x="6051051" y="2398100"/>
            <a:ext cx="166298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Counterfactual population paths</a:t>
            </a:r>
          </a:p>
        </p:txBody>
      </p:sp>
      <p:sp>
        <p:nvSpPr>
          <p:cNvPr id="27" name="TextBox 26">
            <a:extLst>
              <a:ext uri="{FF2B5EF4-FFF2-40B4-BE49-F238E27FC236}">
                <a16:creationId xmlns:a16="http://schemas.microsoft.com/office/drawing/2014/main" id="{CB3A7886-B442-7696-B7C5-BA3F0B4A6E17}"/>
              </a:ext>
            </a:extLst>
          </p:cNvPr>
          <p:cNvSpPr txBox="1"/>
          <p:nvPr/>
        </p:nvSpPr>
        <p:spPr>
          <a:xfrm>
            <a:off x="7875757" y="2417052"/>
            <a:ext cx="200215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Identifies policies that reduce population loss</a:t>
            </a:r>
          </a:p>
        </p:txBody>
      </p:sp>
      <p:pic>
        <p:nvPicPr>
          <p:cNvPr id="28" name="Picture 27" descr="A map of the caribbean&#10;&#10;AI-generated content may be incorrect.">
            <a:extLst>
              <a:ext uri="{FF2B5EF4-FFF2-40B4-BE49-F238E27FC236}">
                <a16:creationId xmlns:a16="http://schemas.microsoft.com/office/drawing/2014/main" id="{767D336D-C14C-D4E7-E86A-2BC4CC62B579}"/>
              </a:ext>
            </a:extLst>
          </p:cNvPr>
          <p:cNvPicPr>
            <a:picLocks noChangeAspect="1"/>
          </p:cNvPicPr>
          <p:nvPr/>
        </p:nvPicPr>
        <p:blipFill>
          <a:blip r:embed="rId5">
            <a:alphaModFix amt="35000"/>
            <a:extLst>
              <a:ext uri="{28A0092B-C50C-407E-A947-70E740481C1C}">
                <a14:useLocalDpi xmlns:a14="http://schemas.microsoft.com/office/drawing/2010/main" val="0"/>
              </a:ext>
            </a:extLst>
          </a:blip>
          <a:stretch>
            <a:fillRect/>
          </a:stretch>
        </p:blipFill>
        <p:spPr>
          <a:xfrm>
            <a:off x="4363258" y="3597911"/>
            <a:ext cx="1258028" cy="714936"/>
          </a:xfrm>
          <a:prstGeom prst="rect">
            <a:avLst/>
          </a:prstGeom>
          <a:effectLst>
            <a:softEdge rad="63500"/>
          </a:effectLst>
        </p:spPr>
      </p:pic>
      <p:pic>
        <p:nvPicPr>
          <p:cNvPr id="29" name="Picture 28" descr="A graph with a line and a point&#10;&#10;AI-generated content may be incorrect.">
            <a:extLst>
              <a:ext uri="{FF2B5EF4-FFF2-40B4-BE49-F238E27FC236}">
                <a16:creationId xmlns:a16="http://schemas.microsoft.com/office/drawing/2014/main" id="{B3E89C11-4034-0939-8354-BD3D3274B897}"/>
              </a:ext>
            </a:extLst>
          </p:cNvPr>
          <p:cNvPicPr>
            <a:picLocks noChangeAspect="1"/>
          </p:cNvPicPr>
          <p:nvPr/>
        </p:nvPicPr>
        <p:blipFill>
          <a:blip r:embed="rId6">
            <a:alphaModFix amt="50000"/>
            <a:extLst>
              <a:ext uri="{28A0092B-C50C-407E-A947-70E740481C1C}">
                <a14:useLocalDpi xmlns:a14="http://schemas.microsoft.com/office/drawing/2010/main" val="0"/>
              </a:ext>
            </a:extLst>
          </a:blip>
          <a:stretch>
            <a:fillRect/>
          </a:stretch>
        </p:blipFill>
        <p:spPr>
          <a:xfrm>
            <a:off x="6221587" y="3346344"/>
            <a:ext cx="1278464" cy="696053"/>
          </a:xfrm>
          <a:prstGeom prst="rect">
            <a:avLst/>
          </a:prstGeom>
          <a:effectLst>
            <a:softEdge rad="63500"/>
          </a:effectLst>
        </p:spPr>
      </p:pic>
      <p:pic>
        <p:nvPicPr>
          <p:cNvPr id="30" name="Picture 29" descr="A graph with a line and a line graph&#10;&#10;AI-generated content may be incorrect.">
            <a:extLst>
              <a:ext uri="{FF2B5EF4-FFF2-40B4-BE49-F238E27FC236}">
                <a16:creationId xmlns:a16="http://schemas.microsoft.com/office/drawing/2014/main" id="{6DEF51A7-A78B-B511-59A5-187A43C1E694}"/>
              </a:ext>
            </a:extLst>
          </p:cNvPr>
          <p:cNvPicPr>
            <a:picLocks noChangeAspect="1"/>
          </p:cNvPicPr>
          <p:nvPr/>
        </p:nvPicPr>
        <p:blipFill>
          <a:blip r:embed="rId7">
            <a:alphaModFix amt="70000"/>
            <a:extLst>
              <a:ext uri="{28A0092B-C50C-407E-A947-70E740481C1C}">
                <a14:useLocalDpi xmlns:a14="http://schemas.microsoft.com/office/drawing/2010/main" val="0"/>
              </a:ext>
            </a:extLst>
          </a:blip>
          <a:stretch>
            <a:fillRect/>
          </a:stretch>
        </p:blipFill>
        <p:spPr>
          <a:xfrm>
            <a:off x="8190478" y="3465142"/>
            <a:ext cx="1509122" cy="830997"/>
          </a:xfrm>
          <a:prstGeom prst="rect">
            <a:avLst/>
          </a:prstGeom>
          <a:effectLst>
            <a:softEdge rad="63500"/>
          </a:effectLst>
        </p:spPr>
      </p:pic>
      <p:sp>
        <p:nvSpPr>
          <p:cNvPr id="31" name="TextBox 30">
            <a:extLst>
              <a:ext uri="{FF2B5EF4-FFF2-40B4-BE49-F238E27FC236}">
                <a16:creationId xmlns:a16="http://schemas.microsoft.com/office/drawing/2014/main" id="{17E4EC9C-3146-CFF2-34C6-894555207D07}"/>
              </a:ext>
            </a:extLst>
          </p:cNvPr>
          <p:cNvSpPr txBox="1"/>
          <p:nvPr/>
        </p:nvSpPr>
        <p:spPr>
          <a:xfrm>
            <a:off x="4097848" y="4500539"/>
            <a:ext cx="1757868"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Shocks amplify existing demographic trends</a:t>
            </a:r>
          </a:p>
          <a:p>
            <a:pPr marL="171450" indent="-171450">
              <a:buFont typeface="Arial" panose="020B0604020202020204" pitchFamily="34" charset="0"/>
              <a:buChar char="•"/>
            </a:pPr>
            <a:endParaRPr lang="en-US" sz="1200" dirty="0"/>
          </a:p>
        </p:txBody>
      </p:sp>
      <p:sp>
        <p:nvSpPr>
          <p:cNvPr id="32" name="TextBox 31">
            <a:extLst>
              <a:ext uri="{FF2B5EF4-FFF2-40B4-BE49-F238E27FC236}">
                <a16:creationId xmlns:a16="http://schemas.microsoft.com/office/drawing/2014/main" id="{BE6AF9A2-CBDE-9CCF-7B7B-9AD7A02132D9}"/>
              </a:ext>
            </a:extLst>
          </p:cNvPr>
          <p:cNvSpPr txBox="1"/>
          <p:nvPr/>
        </p:nvSpPr>
        <p:spPr>
          <a:xfrm>
            <a:off x="6034245" y="4500539"/>
            <a:ext cx="1662983"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Population responds gradually, not instantly</a:t>
            </a:r>
          </a:p>
          <a:p>
            <a:pPr marL="171450" indent="-171450">
              <a:buFont typeface="Arial" panose="020B0604020202020204" pitchFamily="34" charset="0"/>
              <a:buChar char="•"/>
            </a:pPr>
            <a:endParaRPr lang="en-US" sz="1200" dirty="0"/>
          </a:p>
        </p:txBody>
      </p:sp>
      <p:sp>
        <p:nvSpPr>
          <p:cNvPr id="33" name="TextBox 32">
            <a:extLst>
              <a:ext uri="{FF2B5EF4-FFF2-40B4-BE49-F238E27FC236}">
                <a16:creationId xmlns:a16="http://schemas.microsoft.com/office/drawing/2014/main" id="{EF60ED56-DF16-DF7B-A513-9E4042DA0C89}"/>
              </a:ext>
            </a:extLst>
          </p:cNvPr>
          <p:cNvSpPr txBox="1"/>
          <p:nvPr/>
        </p:nvSpPr>
        <p:spPr>
          <a:xfrm>
            <a:off x="7864149" y="4495142"/>
            <a:ext cx="2002152" cy="830997"/>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Coordinated policies outperform isolated interventions</a:t>
            </a:r>
          </a:p>
        </p:txBody>
      </p:sp>
      <p:sp>
        <p:nvSpPr>
          <p:cNvPr id="34" name="Right Arrow 33">
            <a:extLst>
              <a:ext uri="{FF2B5EF4-FFF2-40B4-BE49-F238E27FC236}">
                <a16:creationId xmlns:a16="http://schemas.microsoft.com/office/drawing/2014/main" id="{1C5E44BF-262A-A7C2-66DA-3AA274C63780}"/>
              </a:ext>
            </a:extLst>
          </p:cNvPr>
          <p:cNvSpPr/>
          <p:nvPr/>
        </p:nvSpPr>
        <p:spPr>
          <a:xfrm>
            <a:off x="3968975" y="3462682"/>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5" name="Right Arrow 34">
            <a:extLst>
              <a:ext uri="{FF2B5EF4-FFF2-40B4-BE49-F238E27FC236}">
                <a16:creationId xmlns:a16="http://schemas.microsoft.com/office/drawing/2014/main" id="{20AD12C7-BC1F-F82B-FF7D-543776EC5EE9}"/>
              </a:ext>
            </a:extLst>
          </p:cNvPr>
          <p:cNvSpPr/>
          <p:nvPr/>
        </p:nvSpPr>
        <p:spPr>
          <a:xfrm>
            <a:off x="5804066"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6" name="Right Arrow 35">
            <a:extLst>
              <a:ext uri="{FF2B5EF4-FFF2-40B4-BE49-F238E27FC236}">
                <a16:creationId xmlns:a16="http://schemas.microsoft.com/office/drawing/2014/main" id="{9B75B2E2-5625-B3D2-B30F-60B29FEB7017}"/>
              </a:ext>
            </a:extLst>
          </p:cNvPr>
          <p:cNvSpPr/>
          <p:nvPr/>
        </p:nvSpPr>
        <p:spPr>
          <a:xfrm>
            <a:off x="7716278"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7" name="TextBox 36">
            <a:extLst>
              <a:ext uri="{FF2B5EF4-FFF2-40B4-BE49-F238E27FC236}">
                <a16:creationId xmlns:a16="http://schemas.microsoft.com/office/drawing/2014/main" id="{9096AA7F-2216-F4F6-3A38-909C684DE4FE}"/>
              </a:ext>
            </a:extLst>
          </p:cNvPr>
          <p:cNvSpPr txBox="1"/>
          <p:nvPr/>
        </p:nvSpPr>
        <p:spPr>
          <a:xfrm>
            <a:off x="2256977" y="4495142"/>
            <a:ext cx="1699753" cy="646331"/>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Lagged population dynamics predictions</a:t>
            </a:r>
          </a:p>
        </p:txBody>
      </p:sp>
      <p:sp>
        <p:nvSpPr>
          <p:cNvPr id="38" name="Rounded Rectangle 37">
            <a:extLst>
              <a:ext uri="{FF2B5EF4-FFF2-40B4-BE49-F238E27FC236}">
                <a16:creationId xmlns:a16="http://schemas.microsoft.com/office/drawing/2014/main" id="{65C15933-D3C2-192C-FF8A-861B207A3D4F}"/>
              </a:ext>
            </a:extLst>
          </p:cNvPr>
          <p:cNvSpPr/>
          <p:nvPr/>
        </p:nvSpPr>
        <p:spPr>
          <a:xfrm>
            <a:off x="2365754" y="5351488"/>
            <a:ext cx="7843879" cy="9144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BF6BFF7-3304-BE0B-8EC1-3973CA968501}"/>
              </a:ext>
            </a:extLst>
          </p:cNvPr>
          <p:cNvSpPr txBox="1"/>
          <p:nvPr/>
        </p:nvSpPr>
        <p:spPr>
          <a:xfrm>
            <a:off x="2498879" y="5485522"/>
            <a:ext cx="4400163" cy="646331"/>
          </a:xfrm>
          <a:prstGeom prst="rect">
            <a:avLst/>
          </a:prstGeom>
          <a:noFill/>
        </p:spPr>
        <p:txBody>
          <a:bodyPr wrap="square" rtlCol="0">
            <a:spAutoFit/>
          </a:bodyPr>
          <a:lstStyle/>
          <a:p>
            <a:r>
              <a:rPr lang="en-US" sz="1200" b="1" dirty="0"/>
              <a:t>Goal: Translate modeling into policy insights</a:t>
            </a:r>
          </a:p>
          <a:p>
            <a:pPr marL="115888" indent="-115888">
              <a:buFont typeface="Arial" panose="020B0604020202020204" pitchFamily="34" charset="0"/>
              <a:buChar char="•"/>
            </a:pPr>
            <a:r>
              <a:rPr lang="en-US" sz="1200" dirty="0"/>
              <a:t>Understand Puerto Rico’s population dynamics</a:t>
            </a:r>
          </a:p>
          <a:p>
            <a:pPr marL="115888" indent="-115888">
              <a:buFont typeface="Arial" panose="020B0604020202020204" pitchFamily="34" charset="0"/>
              <a:buChar char="•"/>
            </a:pPr>
            <a:r>
              <a:rPr lang="en-US" sz="1200" dirty="0"/>
              <a:t>Identify policies that mitigate population loss</a:t>
            </a:r>
          </a:p>
        </p:txBody>
      </p:sp>
      <p:pic>
        <p:nvPicPr>
          <p:cNvPr id="41" name="Picture 40">
            <a:extLst>
              <a:ext uri="{FF2B5EF4-FFF2-40B4-BE49-F238E27FC236}">
                <a16:creationId xmlns:a16="http://schemas.microsoft.com/office/drawing/2014/main" id="{1691DC86-46AF-F80C-C7CB-800022EA8171}"/>
              </a:ext>
            </a:extLst>
          </p:cNvPr>
          <p:cNvPicPr>
            <a:picLocks noChangeAspect="1"/>
          </p:cNvPicPr>
          <p:nvPr/>
        </p:nvPicPr>
        <p:blipFill>
          <a:blip r:embed="rId8">
            <a:alphaModFix amt="50000"/>
            <a:extLst>
              <a:ext uri="{28A0092B-C50C-407E-A947-70E740481C1C}">
                <a14:useLocalDpi xmlns:a14="http://schemas.microsoft.com/office/drawing/2010/main" val="0"/>
              </a:ext>
            </a:extLst>
          </a:blip>
          <a:stretch>
            <a:fillRect/>
          </a:stretch>
        </p:blipFill>
        <p:spPr>
          <a:xfrm>
            <a:off x="6678106" y="5376362"/>
            <a:ext cx="2566490" cy="856722"/>
          </a:xfrm>
          <a:prstGeom prst="rect">
            <a:avLst/>
          </a:prstGeom>
          <a:effectLst>
            <a:softEdge rad="127000"/>
          </a:effectLst>
        </p:spPr>
      </p:pic>
      <p:pic>
        <p:nvPicPr>
          <p:cNvPr id="1026" name="Picture 2" descr="Signo De Análisis De Datos De Lupa PNG ,dibujos Análisis, Datos, Gráfico  PNG Imagen para Descarga Gratuita | Pngtree">
            <a:extLst>
              <a:ext uri="{FF2B5EF4-FFF2-40B4-BE49-F238E27FC236}">
                <a16:creationId xmlns:a16="http://schemas.microsoft.com/office/drawing/2014/main" id="{DD0DA978-5092-39E9-4FBE-98021EEF6C7A}"/>
              </a:ext>
            </a:extLst>
          </p:cNvPr>
          <p:cNvPicPr>
            <a:picLocks noChangeAspect="1" noChangeArrowheads="1"/>
          </p:cNvPicPr>
          <p:nvPr/>
        </p:nvPicPr>
        <p:blipFill>
          <a:blip r:embed="rId9">
            <a:alphaModFix amt="50000"/>
            <a:extLst>
              <a:ext uri="{28A0092B-C50C-407E-A947-70E740481C1C}">
                <a14:useLocalDpi xmlns:a14="http://schemas.microsoft.com/office/drawing/2010/main" val="0"/>
              </a:ext>
            </a:extLst>
          </a:blip>
          <a:srcRect/>
          <a:stretch>
            <a:fillRect/>
          </a:stretch>
        </p:blipFill>
        <p:spPr bwMode="auto">
          <a:xfrm flipH="1">
            <a:off x="8853536" y="5326139"/>
            <a:ext cx="1115961" cy="1115961"/>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55D1D4C-3D6F-EAE5-67D7-545BC96B1357}"/>
              </a:ext>
            </a:extLst>
          </p:cNvPr>
          <p:cNvSpPr txBox="1"/>
          <p:nvPr/>
        </p:nvSpPr>
        <p:spPr>
          <a:xfrm>
            <a:off x="2228786" y="3851182"/>
            <a:ext cx="1699753" cy="461665"/>
          </a:xfrm>
          <a:prstGeom prst="rect">
            <a:avLst/>
          </a:prstGeom>
          <a:noFill/>
        </p:spPr>
        <p:txBody>
          <a:bodyPr wrap="square" rtlCol="0">
            <a:spAutoFit/>
          </a:bodyPr>
          <a:lstStyle/>
          <a:p>
            <a:r>
              <a:rPr lang="en-US" sz="1200" b="1" dirty="0"/>
              <a:t>Interpretable:</a:t>
            </a:r>
          </a:p>
          <a:p>
            <a:pPr marL="115888" indent="-115888">
              <a:buFont typeface="Arial" panose="020B0604020202020204" pitchFamily="34" charset="0"/>
              <a:buChar char="•"/>
            </a:pPr>
            <a:r>
              <a:rPr lang="en-US" sz="1200" dirty="0"/>
              <a:t>SHAP Analysis</a:t>
            </a:r>
          </a:p>
        </p:txBody>
      </p:sp>
      <p:pic>
        <p:nvPicPr>
          <p:cNvPr id="44" name="Picture 43">
            <a:extLst>
              <a:ext uri="{FF2B5EF4-FFF2-40B4-BE49-F238E27FC236}">
                <a16:creationId xmlns:a16="http://schemas.microsoft.com/office/drawing/2014/main" id="{241077B7-234A-CD01-62FE-DE08983E93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8741" y="2712129"/>
            <a:ext cx="381232" cy="368934"/>
          </a:xfrm>
          <a:prstGeom prst="rect">
            <a:avLst/>
          </a:prstGeom>
        </p:spPr>
      </p:pic>
      <p:pic>
        <p:nvPicPr>
          <p:cNvPr id="46" name="Picture 45">
            <a:extLst>
              <a:ext uri="{FF2B5EF4-FFF2-40B4-BE49-F238E27FC236}">
                <a16:creationId xmlns:a16="http://schemas.microsoft.com/office/drawing/2014/main" id="{8CDDA542-195C-7B0D-5EA6-A3BF3366D1F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93" y="3521655"/>
            <a:ext cx="381232" cy="368933"/>
          </a:xfrm>
          <a:prstGeom prst="rect">
            <a:avLst/>
          </a:prstGeom>
        </p:spPr>
      </p:pic>
      <p:pic>
        <p:nvPicPr>
          <p:cNvPr id="48" name="Picture 47">
            <a:extLst>
              <a:ext uri="{FF2B5EF4-FFF2-40B4-BE49-F238E27FC236}">
                <a16:creationId xmlns:a16="http://schemas.microsoft.com/office/drawing/2014/main" id="{2C3132D1-D1AC-4743-FDC3-68EC2C61DA1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6193" y="4548434"/>
            <a:ext cx="381232" cy="427494"/>
          </a:xfrm>
          <a:prstGeom prst="rect">
            <a:avLst/>
          </a:prstGeom>
        </p:spPr>
      </p:pic>
      <p:pic>
        <p:nvPicPr>
          <p:cNvPr id="50" name="Picture 49">
            <a:extLst>
              <a:ext uri="{FF2B5EF4-FFF2-40B4-BE49-F238E27FC236}">
                <a16:creationId xmlns:a16="http://schemas.microsoft.com/office/drawing/2014/main" id="{19466369-9CEA-EBD5-3EE1-020AEB8A00F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66193" y="5567347"/>
            <a:ext cx="413080" cy="450414"/>
          </a:xfrm>
          <a:prstGeom prst="rect">
            <a:avLst/>
          </a:prstGeom>
        </p:spPr>
      </p:pic>
      <p:sp>
        <p:nvSpPr>
          <p:cNvPr id="2" name="Oval 1">
            <a:extLst>
              <a:ext uri="{FF2B5EF4-FFF2-40B4-BE49-F238E27FC236}">
                <a16:creationId xmlns:a16="http://schemas.microsoft.com/office/drawing/2014/main" id="{0E7FAB82-AD50-6FE3-7CDF-48A66E7809F5}"/>
              </a:ext>
            </a:extLst>
          </p:cNvPr>
          <p:cNvSpPr/>
          <p:nvPr/>
        </p:nvSpPr>
        <p:spPr>
          <a:xfrm>
            <a:off x="8700117" y="1465666"/>
            <a:ext cx="490075" cy="339152"/>
          </a:xfrm>
          <a:prstGeom prst="ellipse">
            <a:avLst/>
          </a:prstGeom>
          <a:solidFill>
            <a:srgbClr val="FFA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 name="Oval 2">
            <a:extLst>
              <a:ext uri="{FF2B5EF4-FFF2-40B4-BE49-F238E27FC236}">
                <a16:creationId xmlns:a16="http://schemas.microsoft.com/office/drawing/2014/main" id="{71E2C969-3039-8A43-84ED-14C3ABF44D43}"/>
              </a:ext>
            </a:extLst>
          </p:cNvPr>
          <p:cNvSpPr/>
          <p:nvPr/>
        </p:nvSpPr>
        <p:spPr>
          <a:xfrm>
            <a:off x="6615781" y="1465699"/>
            <a:ext cx="490075" cy="339152"/>
          </a:xfrm>
          <a:prstGeom prst="ellipse">
            <a:avLst/>
          </a:prstGeom>
          <a:solidFill>
            <a:srgbClr val="71B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 name="Oval 6">
            <a:extLst>
              <a:ext uri="{FF2B5EF4-FFF2-40B4-BE49-F238E27FC236}">
                <a16:creationId xmlns:a16="http://schemas.microsoft.com/office/drawing/2014/main" id="{6C200304-F471-462F-C61C-2C6A6E4DF94D}"/>
              </a:ext>
            </a:extLst>
          </p:cNvPr>
          <p:cNvSpPr/>
          <p:nvPr/>
        </p:nvSpPr>
        <p:spPr>
          <a:xfrm>
            <a:off x="4783851" y="1457353"/>
            <a:ext cx="490075" cy="339152"/>
          </a:xfrm>
          <a:prstGeom prst="ellipse">
            <a:avLst/>
          </a:prstGeom>
          <a:solidFill>
            <a:srgbClr val="649E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a:extLst>
              <a:ext uri="{FF2B5EF4-FFF2-40B4-BE49-F238E27FC236}">
                <a16:creationId xmlns:a16="http://schemas.microsoft.com/office/drawing/2014/main" id="{852B82BC-BA73-BD0C-F0DC-9E03FE4F51D2}"/>
              </a:ext>
            </a:extLst>
          </p:cNvPr>
          <p:cNvSpPr/>
          <p:nvPr/>
        </p:nvSpPr>
        <p:spPr>
          <a:xfrm>
            <a:off x="2914258" y="1464904"/>
            <a:ext cx="490075" cy="339152"/>
          </a:xfrm>
          <a:prstGeom prst="ellipse">
            <a:avLst/>
          </a:prstGeom>
          <a:solidFill>
            <a:srgbClr val="5576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 name="Oval 10">
            <a:extLst>
              <a:ext uri="{FF2B5EF4-FFF2-40B4-BE49-F238E27FC236}">
                <a16:creationId xmlns:a16="http://schemas.microsoft.com/office/drawing/2014/main" id="{33DD2C54-CD19-4DFF-8290-AB99C49805B0}"/>
              </a:ext>
            </a:extLst>
          </p:cNvPr>
          <p:cNvSpPr/>
          <p:nvPr/>
        </p:nvSpPr>
        <p:spPr>
          <a:xfrm>
            <a:off x="1033630" y="1465360"/>
            <a:ext cx="490075" cy="339152"/>
          </a:xfrm>
          <a:prstGeom prst="ellipse">
            <a:avLst/>
          </a:prstGeom>
          <a:solidFill>
            <a:srgbClr val="405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110399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9897766" cy="4801314"/>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Lasso, Random Forest, </a:t>
            </a:r>
            <a:r>
              <a:rPr lang="en-US" dirty="0" err="1"/>
              <a:t>HistGradientBoosting</a:t>
            </a:r>
            <a:r>
              <a:rPr lang="en-US" dirty="0"/>
              <a:t>, and Extra Trees </a:t>
            </a:r>
          </a:p>
          <a:p>
            <a:pPr marL="742950" lvl="1" indent="-285750">
              <a:buFont typeface="Arial" panose="020B0604020202020204" pitchFamily="34" charset="0"/>
              <a:buChar char="•"/>
            </a:pPr>
            <a:r>
              <a:rPr lang="en-US" dirty="0"/>
              <a:t>Selected Lasso as the final model based on the strongest out-of-sample performance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lvl="1"/>
            <a:endParaRPr lang="en-US" b="1" dirty="0"/>
          </a:p>
          <a:p>
            <a:endParaRPr lang="en-US" b="1" dirty="0"/>
          </a:p>
          <a:p>
            <a:endParaRPr lang="en-US" b="1" dirty="0"/>
          </a:p>
          <a:p>
            <a:endParaRPr lang="en-US" b="1" dirty="0"/>
          </a:p>
          <a:p>
            <a:endParaRPr lang="en-US" b="1" dirty="0"/>
          </a:p>
          <a:p>
            <a:endParaRPr lang="en-US" b="1" dirty="0"/>
          </a:p>
          <a:p>
            <a:pPr marL="285750" indent="-285750">
              <a:buFont typeface="Arial" panose="020B0604020202020204" pitchFamily="34" charset="0"/>
              <a:buChar char="•"/>
            </a:pPr>
            <a:r>
              <a:rPr lang="en-US" b="1" dirty="0"/>
              <a:t>Selected: </a:t>
            </a:r>
            <a:r>
              <a:rPr lang="en-US" dirty="0"/>
              <a:t>Lasso</a:t>
            </a:r>
          </a:p>
          <a:p>
            <a:pPr marL="285750" indent="-285750">
              <a:buFont typeface="Arial" panose="020B0604020202020204" pitchFamily="34" charset="0"/>
              <a:buChar char="•"/>
            </a:pPr>
            <a:r>
              <a:rPr lang="en-US" b="1" dirty="0"/>
              <a:t>Key Result:  </a:t>
            </a:r>
            <a:r>
              <a:rPr lang="en-US" dirty="0"/>
              <a:t>Test R² ≈ </a:t>
            </a:r>
            <a:r>
              <a:rPr lang="en-US" b="1" dirty="0"/>
              <a:t>0.91</a:t>
            </a:r>
            <a:endParaRPr lang="en-US" dirty="0"/>
          </a:p>
        </p:txBody>
      </p:sp>
      <p:pic>
        <p:nvPicPr>
          <p:cNvPr id="6" name="Picture 5">
            <a:extLst>
              <a:ext uri="{FF2B5EF4-FFF2-40B4-BE49-F238E27FC236}">
                <a16:creationId xmlns:a16="http://schemas.microsoft.com/office/drawing/2014/main" id="{2F138C60-C22C-D590-D67D-5C4FCD08C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22" y="2722105"/>
            <a:ext cx="6878993" cy="2670770"/>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C861-E33F-C09B-EB02-1B9C8104DF5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E3B622-C2B6-15C0-6840-4EA0170A6E8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75EDC21E-BFC6-1CCE-93E2-8AB394250B5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000" b="1" dirty="0">
                <a:solidFill>
                  <a:schemeClr val="bg1"/>
                </a:solidFill>
              </a:rPr>
              <a:t>Chronological 80/20 Split</a:t>
            </a:r>
          </a:p>
        </p:txBody>
      </p:sp>
      <p:pic>
        <p:nvPicPr>
          <p:cNvPr id="3" name="Picture 2">
            <a:extLst>
              <a:ext uri="{FF2B5EF4-FFF2-40B4-BE49-F238E27FC236}">
                <a16:creationId xmlns:a16="http://schemas.microsoft.com/office/drawing/2014/main" id="{75392B15-D454-FF9B-9377-3BDDDE70F33B}"/>
              </a:ext>
            </a:extLst>
          </p:cNvPr>
          <p:cNvPicPr>
            <a:picLocks noChangeAspect="1"/>
          </p:cNvPicPr>
          <p:nvPr/>
        </p:nvPicPr>
        <p:blipFill>
          <a:blip r:embed="rId3"/>
          <a:stretch>
            <a:fillRect/>
          </a:stretch>
        </p:blipFill>
        <p:spPr>
          <a:xfrm>
            <a:off x="0" y="1246298"/>
            <a:ext cx="8788400" cy="4469314"/>
          </a:xfrm>
          <a:prstGeom prst="rect">
            <a:avLst/>
          </a:prstGeom>
        </p:spPr>
      </p:pic>
      <p:sp>
        <p:nvSpPr>
          <p:cNvPr id="8" name="TextBox 7">
            <a:extLst>
              <a:ext uri="{FF2B5EF4-FFF2-40B4-BE49-F238E27FC236}">
                <a16:creationId xmlns:a16="http://schemas.microsoft.com/office/drawing/2014/main" id="{7DC07DDB-1C42-8E82-B79B-75567BBEA860}"/>
              </a:ext>
            </a:extLst>
          </p:cNvPr>
          <p:cNvSpPr txBox="1"/>
          <p:nvPr/>
        </p:nvSpPr>
        <p:spPr>
          <a:xfrm>
            <a:off x="0" y="5933249"/>
            <a:ext cx="12192000" cy="369332"/>
          </a:xfrm>
          <a:prstGeom prst="rect">
            <a:avLst/>
          </a:prstGeom>
          <a:noFill/>
        </p:spPr>
        <p:txBody>
          <a:bodyPr wrap="square">
            <a:spAutoFit/>
          </a:bodyPr>
          <a:lstStyle/>
          <a:p>
            <a:r>
              <a:rPr lang="en-US" b="1" dirty="0"/>
              <a:t>Key takeaway: </a:t>
            </a:r>
            <a:r>
              <a:rPr lang="en-US" dirty="0"/>
              <a:t>The model is trained only on past data and evaluated on future years, ensuring a realistic forecasting setup</a:t>
            </a:r>
          </a:p>
        </p:txBody>
      </p:sp>
    </p:spTree>
    <p:extLst>
      <p:ext uri="{BB962C8B-B14F-4D97-AF65-F5344CB8AC3E}">
        <p14:creationId xmlns:p14="http://schemas.microsoft.com/office/powerpoint/2010/main" val="2143126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sz="1600" b="1" dirty="0"/>
              <a:t>Key Findings:</a:t>
            </a:r>
          </a:p>
          <a:p>
            <a:pPr marL="342900" indent="-342900">
              <a:buFont typeface="Arial" panose="020B0604020202020204" pitchFamily="34" charset="0"/>
              <a:buChar char="•"/>
            </a:pPr>
            <a:r>
              <a:rPr lang="en-US" sz="1600" dirty="0"/>
              <a:t>Hurricanes (wind exposure) have the strongest impact at lag 1 </a:t>
            </a:r>
          </a:p>
          <a:p>
            <a:pPr marL="342900" indent="-342900">
              <a:buFont typeface="Arial" panose="020B0604020202020204" pitchFamily="34" charset="0"/>
              <a:buChar char="•"/>
            </a:pPr>
            <a:r>
              <a:rPr lang="en-US" sz="1600" dirty="0"/>
              <a:t>Earthquake effects are both immediate and short-term persistent </a:t>
            </a:r>
          </a:p>
          <a:p>
            <a:pPr marL="342900" indent="-342900">
              <a:buFont typeface="Arial" panose="020B0604020202020204" pitchFamily="34" charset="0"/>
              <a:buChar char="•"/>
            </a:pPr>
            <a:r>
              <a:rPr lang="en-US" sz="1600" dirty="0"/>
              <a:t>Vulnerability (SVI) influences population change consistently over time </a:t>
            </a:r>
          </a:p>
          <a:p>
            <a:pPr marL="342900" indent="-342900">
              <a:buFont typeface="Arial" panose="020B0604020202020204" pitchFamily="34" charset="0"/>
              <a:buChar char="•"/>
            </a:pPr>
            <a:r>
              <a:rPr lang="en-US" sz="1600" dirty="0"/>
              <a:t>Economic variables contribute modest but stable effects </a:t>
            </a:r>
          </a:p>
          <a:p>
            <a:br>
              <a:rPr lang="en-US" sz="1600" dirty="0"/>
            </a:br>
            <a:endParaRPr lang="en-US" sz="1600" dirty="0"/>
          </a:p>
          <a:p>
            <a:endParaRPr lang="en-US" sz="1600" dirty="0"/>
          </a:p>
          <a:p>
            <a:r>
              <a:rPr lang="en-US" sz="1600" b="1" dirty="0"/>
              <a:t>Interpretation:</a:t>
            </a:r>
          </a:p>
          <a:p>
            <a:pPr marL="342900" indent="-342900">
              <a:buFont typeface="Arial" panose="020B0604020202020204" pitchFamily="34" charset="0"/>
              <a:buChar char="•"/>
            </a:pPr>
            <a:r>
              <a:rPr lang="en-US" sz="1600" dirty="0"/>
              <a:t>Population responses to disasters are delayed, not immediate </a:t>
            </a:r>
          </a:p>
          <a:p>
            <a:pPr marL="342900" indent="-342900">
              <a:buFont typeface="Arial" panose="020B0604020202020204" pitchFamily="34" charset="0"/>
              <a:buChar char="•"/>
            </a:pPr>
            <a:r>
              <a:rPr lang="en-US" sz="1600" dirty="0"/>
              <a:t>Migration and recovery processes likely drive lagged effects </a:t>
            </a:r>
          </a:p>
          <a:p>
            <a:pPr marL="342900" indent="-342900">
              <a:buFont typeface="Arial" panose="020B0604020202020204" pitchFamily="34" charset="0"/>
              <a:buChar char="•"/>
            </a:pPr>
            <a:r>
              <a:rPr lang="en-US" sz="1600" dirty="0"/>
              <a:t>Structural factors shape baseline vulnerability across time </a:t>
            </a:r>
          </a:p>
          <a:p>
            <a:br>
              <a:rPr lang="en-US" sz="1600" dirty="0"/>
            </a:br>
            <a:endParaRPr lang="en-US" sz="1600" dirty="0"/>
          </a:p>
          <a:p>
            <a:endParaRPr lang="en-US" sz="1600" dirty="0"/>
          </a:p>
          <a:p>
            <a:r>
              <a:rPr lang="en-US" sz="1600" b="1" dirty="0"/>
              <a:t>Key Insight: </a:t>
            </a:r>
            <a:r>
              <a:rPr lang="en-US" sz="1600" dirty="0"/>
              <a:t>Timing matters — not just magnitude</a:t>
            </a:r>
            <a:br>
              <a:rPr lang="en-US" sz="1600" dirty="0"/>
            </a:br>
            <a:r>
              <a:rPr lang="en-US" sz="1600" dirty="0"/>
              <a:t>Population change is driven by </a:t>
            </a:r>
            <a:r>
              <a:rPr lang="en-US" sz="1600" b="1" dirty="0"/>
              <a:t>delayed responses to shocks and persistent structural conditions</a:t>
            </a:r>
            <a:endParaRPr lang="en-US" sz="1600"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spTree>
    <p:extLst>
      <p:ext uri="{BB962C8B-B14F-4D97-AF65-F5344CB8AC3E}">
        <p14:creationId xmlns:p14="http://schemas.microsoft.com/office/powerpoint/2010/main" val="4004191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4801314"/>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 </a:t>
            </a:r>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Persistent population momentum (path dependence)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Time trends reflecting broader structural shifts</a:t>
            </a:r>
          </a:p>
          <a:p>
            <a:pPr marL="742950" lvl="1" indent="-285750">
              <a:buFont typeface="Arial" panose="020B0604020202020204" pitchFamily="34" charset="0"/>
              <a:buChar char="•"/>
            </a:pPr>
            <a:r>
              <a:rPr lang="en-US" dirty="0"/>
              <a:t>Economic and demographic context</a:t>
            </a:r>
          </a:p>
          <a:p>
            <a:pPr marL="742950" lvl="1" indent="-285750">
              <a:buFont typeface="Arial" panose="020B0604020202020204" pitchFamily="34" charset="0"/>
              <a:buChar char="•"/>
            </a:pPr>
            <a:r>
              <a:rPr lang="en-US" dirty="0"/>
              <a:t>Regional differences (secondary role)</a:t>
            </a:r>
            <a:br>
              <a:rPr lang="en-US" dirty="0"/>
            </a:br>
            <a:endParaRPr lang="en-US" dirty="0"/>
          </a:p>
          <a:p>
            <a:r>
              <a:rPr lang="en-US" b="1" dirty="0"/>
              <a:t>Key Takeaway: </a:t>
            </a:r>
            <a:r>
              <a:rPr lang="en-US" dirty="0"/>
              <a:t>Population change reflects strong persistence and path dependence, while shocks influence outcomes primarily through cumulative long-term effects.</a:t>
            </a:r>
          </a:p>
        </p:txBody>
      </p:sp>
    </p:spTree>
    <p:extLst>
      <p:ext uri="{BB962C8B-B14F-4D97-AF65-F5344CB8AC3E}">
        <p14:creationId xmlns:p14="http://schemas.microsoft.com/office/powerpoint/2010/main" val="2050642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5016758"/>
          </a:xfrm>
          <a:prstGeom prst="rect">
            <a:avLst/>
          </a:prstGeom>
          <a:noFill/>
        </p:spPr>
        <p:txBody>
          <a:bodyPr wrap="square">
            <a:spAutoFit/>
          </a:bodyPr>
          <a:lstStyle/>
          <a:p>
            <a:r>
              <a:rPr lang="en-US" sz="2000" b="1" dirty="0"/>
              <a:t>What emerges</a:t>
            </a:r>
          </a:p>
          <a:p>
            <a:pPr marL="342900" indent="-342900">
              <a:buFont typeface="Arial" panose="020B0604020202020204" pitchFamily="34" charset="0"/>
              <a:buChar char="•"/>
            </a:pPr>
            <a:r>
              <a:rPr lang="en-US" sz="2000" dirty="0"/>
              <a:t>Distinct municipal typologies across Puerto Rico </a:t>
            </a:r>
          </a:p>
          <a:p>
            <a:pPr marL="342900" indent="-342900">
              <a:buFont typeface="Arial" panose="020B0604020202020204" pitchFamily="34" charset="0"/>
              <a:buChar char="•"/>
            </a:pPr>
            <a:r>
              <a:rPr lang="en-US" sz="2000" dirty="0"/>
              <a:t>Clear and persistent regional clustering </a:t>
            </a:r>
          </a:p>
          <a:p>
            <a:pPr marL="342900" indent="-342900">
              <a:buFont typeface="Arial" panose="020B0604020202020204" pitchFamily="34" charset="0"/>
              <a:buChar char="•"/>
            </a:pPr>
            <a:r>
              <a:rPr lang="en-US" sz="2000" dirty="0"/>
              <a:t>Strong spatial organization of population dynamics</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exhibit consistent trajectories </a:t>
            </a:r>
          </a:p>
          <a:p>
            <a:pPr marL="285750" indent="-285750">
              <a:buFont typeface="Arial" panose="020B0604020202020204" pitchFamily="34" charset="0"/>
              <a:buChar char="•"/>
            </a:pPr>
            <a:r>
              <a:rPr lang="en-US" sz="2000" dirty="0"/>
              <a:t>Geographic proximity aligns with structural similarity </a:t>
            </a:r>
          </a:p>
          <a:p>
            <a:pPr marL="285750" indent="-285750">
              <a:buFont typeface="Arial" panose="020B0604020202020204" pitchFamily="34" charset="0"/>
              <a:buChar char="•"/>
            </a:pPr>
            <a:r>
              <a:rPr lang="en-US" sz="2000" dirty="0"/>
              <a:t>Results persist across modeling approaches and specifications</a:t>
            </a:r>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change is structurally and spatially organized, not random </a:t>
            </a:r>
          </a:p>
          <a:p>
            <a:pPr marL="285750" indent="-285750">
              <a:buFont typeface="Arial" panose="020B0604020202020204" pitchFamily="34" charset="0"/>
              <a:buChar char="•"/>
            </a:pPr>
            <a:r>
              <a:rPr lang="en-US" sz="2000" dirty="0"/>
              <a:t>Decline is concentrated in specific regions, not evenly distributed </a:t>
            </a:r>
          </a:p>
          <a:p>
            <a:pPr marL="285750" indent="-285750">
              <a:buFont typeface="Arial" panose="020B0604020202020204" pitchFamily="34" charset="0"/>
              <a:buChar char="•"/>
            </a:pPr>
            <a:r>
              <a:rPr lang="en-US" sz="2000" dirty="0"/>
              <a:t>Economic conditions and vulnerability align geographically </a:t>
            </a:r>
          </a:p>
          <a:p>
            <a:pPr marL="285750" indent="-285750">
              <a:buFont typeface="Arial" panose="020B0604020202020204" pitchFamily="34" charset="0"/>
              <a:buChar char="•"/>
            </a:pPr>
            <a:r>
              <a:rPr lang="en-US" sz="2000" dirty="0"/>
              <a:t>Spatial structure reflects long-term underlying conditions, not short-term shocks</a:t>
            </a:r>
          </a:p>
        </p:txBody>
      </p:sp>
    </p:spTree>
    <p:extLst>
      <p:ext uri="{BB962C8B-B14F-4D97-AF65-F5344CB8AC3E}">
        <p14:creationId xmlns:p14="http://schemas.microsoft.com/office/powerpoint/2010/main" val="62841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4" y="1368962"/>
            <a:ext cx="7408330" cy="4524315"/>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persistent population decline (~0.6% per year) </a:t>
            </a:r>
            <a:br>
              <a:rPr lang="en-US" dirty="0"/>
            </a:br>
            <a:r>
              <a:rPr lang="en-US" dirty="0"/>
              <a:t>≈ ~20,000 people lost annually </a:t>
            </a:r>
          </a:p>
          <a:p>
            <a:endParaRPr lang="en-US" dirty="0"/>
          </a:p>
          <a:p>
            <a:pPr marL="285750" indent="-285750">
              <a:buFont typeface="Arial" panose="020B0604020202020204" pitchFamily="34" charset="0"/>
              <a:buChar char="•"/>
            </a:pPr>
            <a:r>
              <a:rPr lang="en-US" dirty="0"/>
              <a:t>Decline is not uniform across the island </a:t>
            </a:r>
          </a:p>
          <a:p>
            <a:pPr marL="285750" indent="-285750">
              <a:buFont typeface="Arial" panose="020B0604020202020204" pitchFamily="34" charset="0"/>
              <a:buChar char="•"/>
            </a:pPr>
            <a:r>
              <a:rPr lang="en-US" dirty="0"/>
              <a:t>Largest losses in South and West regions </a:t>
            </a:r>
          </a:p>
          <a:p>
            <a:pPr marL="285750" indent="-285750">
              <a:buFont typeface="Arial" panose="020B0604020202020204" pitchFamily="34" charset="0"/>
              <a:buChar char="•"/>
            </a:pPr>
            <a:r>
              <a:rPr lang="en-US" dirty="0"/>
              <a:t>Regional differences remain stable over time</a:t>
            </a:r>
            <a:br>
              <a:rPr lang="en-US" dirty="0"/>
            </a:br>
            <a:endParaRPr lang="en-US" dirty="0"/>
          </a:p>
          <a:p>
            <a:r>
              <a:rPr lang="en-US" b="1" dirty="0"/>
              <a:t>Model Insight</a:t>
            </a:r>
          </a:p>
          <a:p>
            <a:pPr marL="285750" indent="-285750">
              <a:buFont typeface="Arial" panose="020B0604020202020204" pitchFamily="34" charset="0"/>
              <a:buChar char="•"/>
            </a:pPr>
            <a:r>
              <a:rPr lang="en-US" dirty="0"/>
              <a:t>Population decline is systematic and predictable </a:t>
            </a:r>
          </a:p>
          <a:p>
            <a:pPr marL="285750" indent="-285750">
              <a:buFont typeface="Arial" panose="020B0604020202020204" pitchFamily="34" charset="0"/>
              <a:buChar char="•"/>
            </a:pPr>
            <a:r>
              <a:rPr lang="en-US" dirty="0"/>
              <a:t>Regional location strongly influences outcomes </a:t>
            </a:r>
          </a:p>
          <a:p>
            <a:pPr marL="285750" indent="-285750">
              <a:buFont typeface="Arial" panose="020B0604020202020204" pitchFamily="34" charset="0"/>
              <a:buChar char="•"/>
            </a:pPr>
            <a:r>
              <a:rPr lang="en-US" dirty="0"/>
              <a:t>Decline is spatially concentrated, not random</a:t>
            </a:r>
            <a:br>
              <a:rPr lang="en-US" dirty="0"/>
            </a:br>
            <a:endParaRPr lang="en-US" dirty="0"/>
          </a:p>
          <a:p>
            <a:r>
              <a:rPr lang="en-US" b="1" dirty="0"/>
              <a:t>Key Insight: </a:t>
            </a:r>
            <a:r>
              <a:rPr lang="en-US" dirty="0"/>
              <a:t>Population decline in Puerto Rico is spatially structured and persistent, with long-term regional patterns driving outcomes more than short-term fluctuations</a:t>
            </a:r>
          </a:p>
        </p:txBody>
      </p:sp>
      <p:sp>
        <p:nvSpPr>
          <p:cNvPr id="2" name="Rectangle 1">
            <a:extLst>
              <a:ext uri="{FF2B5EF4-FFF2-40B4-BE49-F238E27FC236}">
                <a16:creationId xmlns:a16="http://schemas.microsoft.com/office/drawing/2014/main" id="{AB0A0A53-C08A-8CF6-2CA4-43ACDEE0AD90}"/>
              </a:ext>
            </a:extLst>
          </p:cNvPr>
          <p:cNvSpPr/>
          <p:nvPr/>
        </p:nvSpPr>
        <p:spPr>
          <a:xfrm flipH="1">
            <a:off x="9996298" y="3741650"/>
            <a:ext cx="60325"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257CEC4-6F2C-8ECC-12C3-45B2C85C508B}"/>
              </a:ext>
            </a:extLst>
          </p:cNvPr>
          <p:cNvSpPr/>
          <p:nvPr/>
        </p:nvSpPr>
        <p:spPr>
          <a:xfrm flipH="1">
            <a:off x="100680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D25DF4-5DF8-F96E-0138-F8EA589E13D1}"/>
              </a:ext>
            </a:extLst>
          </p:cNvPr>
          <p:cNvSpPr/>
          <p:nvPr/>
        </p:nvSpPr>
        <p:spPr>
          <a:xfrm flipH="1">
            <a:off x="10166478" y="3741650"/>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3B7663-3D63-68BB-2952-42010C173F4C}"/>
              </a:ext>
            </a:extLst>
          </p:cNvPr>
          <p:cNvSpPr/>
          <p:nvPr/>
        </p:nvSpPr>
        <p:spPr>
          <a:xfrm flipH="1">
            <a:off x="100934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graph of earthquake and earthquake&#10;&#10;AI-generated content may be incorrect.">
            <a:extLst>
              <a:ext uri="{FF2B5EF4-FFF2-40B4-BE49-F238E27FC236}">
                <a16:creationId xmlns:a16="http://schemas.microsoft.com/office/drawing/2014/main" id="{E832074F-0E6B-0735-113E-B5184D60CB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6570" y="1179741"/>
            <a:ext cx="3619456" cy="5142868"/>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ACEB-1722-88D8-B95E-8240E932C5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414B29-6E64-67DF-0F80-8F8B88C89F4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4CDF8FC6-9195-2AC0-E464-BF6773D0F89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23850934-A93C-C08E-997D-C535CB36B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79625"/>
            <a:ext cx="4530034" cy="2150372"/>
          </a:xfrm>
          <a:prstGeom prst="rect">
            <a:avLst/>
          </a:prstGeom>
          <a:ln>
            <a:solidFill>
              <a:schemeClr val="bg1"/>
            </a:solidFill>
          </a:ln>
        </p:spPr>
      </p:pic>
      <p:pic>
        <p:nvPicPr>
          <p:cNvPr id="7" name="Picture 6">
            <a:extLst>
              <a:ext uri="{FF2B5EF4-FFF2-40B4-BE49-F238E27FC236}">
                <a16:creationId xmlns:a16="http://schemas.microsoft.com/office/drawing/2014/main" id="{0813A7E1-52A3-7A13-10F0-4FF402090E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6236" y="4179625"/>
            <a:ext cx="4492852" cy="2150372"/>
          </a:xfrm>
          <a:prstGeom prst="rect">
            <a:avLst/>
          </a:prstGeom>
          <a:ln>
            <a:solidFill>
              <a:schemeClr val="bg1"/>
            </a:solidFill>
          </a:ln>
        </p:spPr>
      </p:pic>
      <p:pic>
        <p:nvPicPr>
          <p:cNvPr id="9" name="Picture 8">
            <a:extLst>
              <a:ext uri="{FF2B5EF4-FFF2-40B4-BE49-F238E27FC236}">
                <a16:creationId xmlns:a16="http://schemas.microsoft.com/office/drawing/2014/main" id="{290417C2-B2F3-1C4D-AF70-1BABFA946C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90" y="1368962"/>
            <a:ext cx="4492854" cy="2150372"/>
          </a:xfrm>
          <a:prstGeom prst="rect">
            <a:avLst/>
          </a:prstGeom>
          <a:ln>
            <a:solidFill>
              <a:schemeClr val="bg1"/>
            </a:solidFill>
          </a:ln>
        </p:spPr>
      </p:pic>
      <p:pic>
        <p:nvPicPr>
          <p:cNvPr id="11" name="Picture 10">
            <a:extLst>
              <a:ext uri="{FF2B5EF4-FFF2-40B4-BE49-F238E27FC236}">
                <a16:creationId xmlns:a16="http://schemas.microsoft.com/office/drawing/2014/main" id="{93FEF1C9-C665-F74C-8B8B-95287B7858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6236" y="1368962"/>
            <a:ext cx="4530036" cy="2150372"/>
          </a:xfrm>
          <a:prstGeom prst="rect">
            <a:avLst/>
          </a:prstGeom>
          <a:ln>
            <a:solidFill>
              <a:schemeClr val="bg1"/>
            </a:solidFill>
          </a:ln>
        </p:spPr>
      </p:pic>
    </p:spTree>
    <p:extLst>
      <p:ext uri="{BB962C8B-B14F-4D97-AF65-F5344CB8AC3E}">
        <p14:creationId xmlns:p14="http://schemas.microsoft.com/office/powerpoint/2010/main" val="2007246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F3E640DB-B139-20C3-110C-47BE0BCE1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1" y="1725108"/>
            <a:ext cx="7772400" cy="4231640"/>
          </a:xfrm>
          <a:prstGeom prst="rect">
            <a:avLst/>
          </a:prstGeom>
        </p:spPr>
      </p:pic>
    </p:spTree>
    <p:extLst>
      <p:ext uri="{BB962C8B-B14F-4D97-AF65-F5344CB8AC3E}">
        <p14:creationId xmlns:p14="http://schemas.microsoft.com/office/powerpoint/2010/main" val="2328801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D8DA-71F8-5252-E92B-F07096EA89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C24D0-FE60-EE0C-AD18-F6F6AF226A3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8CDDF6D-0977-8F9C-1E29-8906F64C30C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82016559-3C92-77D3-1BD1-9AC6D2981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68962"/>
            <a:ext cx="8708661" cy="4741382"/>
          </a:xfrm>
          <a:prstGeom prst="rect">
            <a:avLst/>
          </a:prstGeom>
        </p:spPr>
      </p:pic>
    </p:spTree>
    <p:extLst>
      <p:ext uri="{BB962C8B-B14F-4D97-AF65-F5344CB8AC3E}">
        <p14:creationId xmlns:p14="http://schemas.microsoft.com/office/powerpoint/2010/main" val="368844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9974-DA9B-1BDB-4213-6CFAC82AA8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82FF56E-E59A-FD79-029D-F15A477A02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9B74BF2-2043-D925-13F0-D6B86598330F}"/>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bg1"/>
                </a:solidFill>
              </a:rPr>
              <a:t>Policy Response &amp; Retention Strategies </a:t>
            </a:r>
            <a:endParaRPr lang="en-US" sz="2400" dirty="0">
              <a:solidFill>
                <a:schemeClr val="bg1"/>
              </a:solidFill>
            </a:endParaRPr>
          </a:p>
        </p:txBody>
      </p:sp>
      <p:sp>
        <p:nvSpPr>
          <p:cNvPr id="12" name="TextBox 11">
            <a:extLst>
              <a:ext uri="{FF2B5EF4-FFF2-40B4-BE49-F238E27FC236}">
                <a16:creationId xmlns:a16="http://schemas.microsoft.com/office/drawing/2014/main" id="{B47823D1-EA69-E409-B8BD-E52E1C7E7F94}"/>
              </a:ext>
            </a:extLst>
          </p:cNvPr>
          <p:cNvSpPr txBox="1"/>
          <p:nvPr/>
        </p:nvSpPr>
        <p:spPr>
          <a:xfrm>
            <a:off x="248855" y="1368962"/>
            <a:ext cx="10608197" cy="4861587"/>
          </a:xfrm>
          <a:prstGeom prst="rect">
            <a:avLst/>
          </a:prstGeom>
          <a:noFill/>
        </p:spPr>
        <p:txBody>
          <a:bodyPr wrap="square">
            <a:spAutoFit/>
          </a:bodyPr>
          <a:lstStyle/>
          <a:p>
            <a:pPr>
              <a:lnSpc>
                <a:spcPts val="1350"/>
              </a:lnSpc>
              <a:buNone/>
            </a:pPr>
            <a:r>
              <a:rPr lang="en-US" b="1" dirty="0">
                <a:effectLst/>
              </a:rPr>
              <a:t>Key idea: </a:t>
            </a:r>
            <a:r>
              <a:rPr lang="en-US" dirty="0">
                <a:effectLst/>
              </a:rPr>
              <a:t>Natural disasters themselves are not preventable, but governments can still influence whether people </a:t>
            </a:r>
            <a:r>
              <a:rPr lang="en-US" dirty="0"/>
              <a:t> </a:t>
            </a:r>
            <a:r>
              <a:rPr lang="en-US" dirty="0">
                <a:effectLst/>
              </a:rPr>
              <a:t>stay, return, or leave by changing conditions such as:</a:t>
            </a:r>
          </a:p>
          <a:p>
            <a:pPr>
              <a:lnSpc>
                <a:spcPts val="1350"/>
              </a:lnSpc>
              <a:buNone/>
            </a:pPr>
            <a:br>
              <a:rPr lang="en-US" dirty="0">
                <a:effectLst/>
              </a:rPr>
            </a:br>
            <a:endParaRPr lang="en-US" dirty="0">
              <a:effectLst/>
            </a:endParaRPr>
          </a:p>
          <a:p>
            <a:pPr marL="285750" indent="-285750">
              <a:lnSpc>
                <a:spcPts val="1350"/>
              </a:lnSpc>
              <a:buFont typeface="Arial" panose="020B0604020202020204" pitchFamily="34" charset="0"/>
              <a:buChar char="•"/>
            </a:pPr>
            <a:r>
              <a:rPr lang="en-US" dirty="0">
                <a:effectLst/>
              </a:rPr>
              <a:t>economic opportunity</a:t>
            </a:r>
          </a:p>
          <a:p>
            <a:pPr marL="285750" indent="-285750">
              <a:lnSpc>
                <a:spcPts val="1350"/>
              </a:lnSpc>
              <a:buFont typeface="Arial" panose="020B0604020202020204" pitchFamily="34" charset="0"/>
              <a:buChar char="•"/>
            </a:pPr>
            <a:r>
              <a:rPr lang="en-US" dirty="0">
                <a:effectLst/>
              </a:rPr>
              <a:t>business activity</a:t>
            </a:r>
          </a:p>
          <a:p>
            <a:pPr marL="285750" indent="-285750">
              <a:lnSpc>
                <a:spcPts val="1350"/>
              </a:lnSpc>
              <a:buFont typeface="Arial" panose="020B0604020202020204" pitchFamily="34" charset="0"/>
              <a:buChar char="•"/>
            </a:pPr>
            <a:r>
              <a:rPr lang="en-US" dirty="0">
                <a:effectLst/>
              </a:rPr>
              <a:t>public safety</a:t>
            </a:r>
          </a:p>
          <a:p>
            <a:pPr marL="285750" indent="-285750">
              <a:lnSpc>
                <a:spcPts val="1350"/>
              </a:lnSpc>
              <a:buFont typeface="Arial" panose="020B0604020202020204" pitchFamily="34" charset="0"/>
              <a:buChar char="•"/>
            </a:pPr>
            <a:r>
              <a:rPr lang="en-US" dirty="0">
                <a:effectLst/>
              </a:rPr>
              <a:t>social vulnerability</a:t>
            </a:r>
          </a:p>
          <a:p>
            <a:pPr marL="285750" indent="-285750">
              <a:lnSpc>
                <a:spcPts val="1350"/>
              </a:lnSpc>
              <a:buFont typeface="Arial" panose="020B0604020202020204" pitchFamily="34" charset="0"/>
              <a:buChar char="•"/>
            </a:pPr>
            <a:r>
              <a:rPr lang="en-US" dirty="0">
                <a:effectLst/>
              </a:rPr>
              <a:t>demographic and family-support conditions</a:t>
            </a:r>
          </a:p>
          <a:p>
            <a:pPr marL="285750" indent="-285750">
              <a:lnSpc>
                <a:spcPts val="1350"/>
              </a:lnSpc>
              <a:buFont typeface="Arial" panose="020B0604020202020204" pitchFamily="34" charset="0"/>
              <a:buChar char="•"/>
            </a:pPr>
            <a:endParaRPr lang="en-US" dirty="0"/>
          </a:p>
          <a:p>
            <a:r>
              <a:rPr lang="en-US" dirty="0"/>
              <a:t>These are the </a:t>
            </a:r>
            <a:r>
              <a:rPr lang="en-US" b="1" dirty="0"/>
              <a:t>actionable levers</a:t>
            </a:r>
            <a:r>
              <a:rPr lang="en-US" dirty="0"/>
              <a:t> used in our policy simulations:</a:t>
            </a:r>
          </a:p>
          <a:p>
            <a:pPr marL="285750" indent="-285750">
              <a:buFont typeface="Arial" panose="020B0604020202020204" pitchFamily="34" charset="0"/>
              <a:buChar char="•"/>
            </a:pPr>
            <a:r>
              <a:rPr lang="en-US" b="1" dirty="0"/>
              <a:t>Economic</a:t>
            </a:r>
            <a:r>
              <a:rPr lang="en-US" dirty="0"/>
              <a:t> </a:t>
            </a:r>
          </a:p>
          <a:p>
            <a:pPr lvl="1"/>
            <a:r>
              <a:rPr lang="en-US" dirty="0"/>
              <a:t>	</a:t>
            </a:r>
            <a:r>
              <a:rPr lang="en-US" dirty="0" err="1"/>
              <a:t>establishment_growth</a:t>
            </a:r>
            <a:r>
              <a:rPr lang="en-US" dirty="0"/>
              <a:t> </a:t>
            </a:r>
          </a:p>
          <a:p>
            <a:pPr lvl="1"/>
            <a:r>
              <a:rPr lang="en-US" dirty="0"/>
              <a:t>	</a:t>
            </a:r>
            <a:r>
              <a:rPr lang="en-US" dirty="0" err="1"/>
              <a:t>income_growth</a:t>
            </a:r>
            <a:r>
              <a:rPr lang="en-US" dirty="0"/>
              <a:t> </a:t>
            </a:r>
          </a:p>
          <a:p>
            <a:pPr marL="285750" indent="-285750">
              <a:buFont typeface="Arial" panose="020B0604020202020204" pitchFamily="34" charset="0"/>
              <a:buChar char="•"/>
            </a:pPr>
            <a:r>
              <a:rPr lang="en-US" b="1" dirty="0"/>
              <a:t>Public safety</a:t>
            </a:r>
            <a:r>
              <a:rPr lang="en-US" dirty="0"/>
              <a:t> </a:t>
            </a:r>
          </a:p>
          <a:p>
            <a:pPr lvl="1"/>
            <a:r>
              <a:rPr lang="en-US" dirty="0"/>
              <a:t>	</a:t>
            </a:r>
            <a:r>
              <a:rPr lang="en-US" dirty="0" err="1"/>
              <a:t>total_crime_rate</a:t>
            </a:r>
            <a:r>
              <a:rPr lang="en-US" dirty="0"/>
              <a:t> (lagged) </a:t>
            </a:r>
          </a:p>
          <a:p>
            <a:pPr marL="285750" indent="-285750">
              <a:buFont typeface="Arial" panose="020B0604020202020204" pitchFamily="34" charset="0"/>
              <a:buChar char="•"/>
            </a:pPr>
            <a:r>
              <a:rPr lang="en-US" b="1" dirty="0"/>
              <a:t>Demographic / structural</a:t>
            </a:r>
            <a:r>
              <a:rPr lang="en-US" dirty="0"/>
              <a:t> </a:t>
            </a:r>
          </a:p>
          <a:p>
            <a:pPr lvl="1"/>
            <a:r>
              <a:rPr lang="en-US" dirty="0"/>
              <a:t>	</a:t>
            </a:r>
            <a:r>
              <a:rPr lang="en-US" dirty="0" err="1"/>
              <a:t>natural_change_rate</a:t>
            </a:r>
            <a:r>
              <a:rPr lang="en-US" dirty="0"/>
              <a:t> (births – deaths) </a:t>
            </a:r>
          </a:p>
          <a:p>
            <a:pPr marL="285750" indent="-285750">
              <a:buFont typeface="Arial" panose="020B0604020202020204" pitchFamily="34" charset="0"/>
              <a:buChar char="•"/>
            </a:pPr>
            <a:r>
              <a:rPr lang="en-US" b="1" dirty="0"/>
              <a:t>Vulnerability / resilience</a:t>
            </a:r>
            <a:r>
              <a:rPr lang="en-US" dirty="0"/>
              <a:t> </a:t>
            </a:r>
          </a:p>
          <a:p>
            <a:pPr lvl="1"/>
            <a:r>
              <a:rPr lang="en-US" dirty="0"/>
              <a:t>	svi_pca_1 (social vulnerability index)</a:t>
            </a:r>
          </a:p>
          <a:p>
            <a:pPr>
              <a:lnSpc>
                <a:spcPts val="1350"/>
              </a:lnSpc>
            </a:pPr>
            <a:endParaRPr lang="en-US" dirty="0">
              <a:effectLst/>
            </a:endParaRPr>
          </a:p>
        </p:txBody>
      </p:sp>
    </p:spTree>
    <p:extLst>
      <p:ext uri="{BB962C8B-B14F-4D97-AF65-F5344CB8AC3E}">
        <p14:creationId xmlns:p14="http://schemas.microsoft.com/office/powerpoint/2010/main" val="4270778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936C6-5F15-29F6-17AC-9BD0838BE4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E08779-09CE-C644-CA15-0F182CB2ADA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F929E5D-31BD-8409-EB48-CF0FE1455ED2}"/>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bg1"/>
                </a:solidFill>
              </a:rPr>
              <a:t>Counterfactual Policy Packages</a:t>
            </a:r>
          </a:p>
        </p:txBody>
      </p:sp>
      <p:sp>
        <p:nvSpPr>
          <p:cNvPr id="12" name="TextBox 11">
            <a:extLst>
              <a:ext uri="{FF2B5EF4-FFF2-40B4-BE49-F238E27FC236}">
                <a16:creationId xmlns:a16="http://schemas.microsoft.com/office/drawing/2014/main" id="{62B49666-7F45-B191-2793-394E00C60369}"/>
              </a:ext>
            </a:extLst>
          </p:cNvPr>
          <p:cNvSpPr txBox="1"/>
          <p:nvPr/>
        </p:nvSpPr>
        <p:spPr>
          <a:xfrm>
            <a:off x="243069" y="1368962"/>
            <a:ext cx="10613984" cy="5005216"/>
          </a:xfrm>
          <a:prstGeom prst="rect">
            <a:avLst/>
          </a:prstGeom>
          <a:noFill/>
        </p:spPr>
        <p:txBody>
          <a:bodyPr wrap="square">
            <a:spAutoFit/>
          </a:bodyPr>
          <a:lstStyle/>
          <a:p>
            <a:r>
              <a:rPr lang="en-US" dirty="0"/>
              <a:t>I grouped features into </a:t>
            </a:r>
            <a:r>
              <a:rPr lang="en-US" b="1" dirty="0"/>
              <a:t>realistic policy bundles</a:t>
            </a:r>
            <a:r>
              <a:rPr lang="en-US" dirty="0"/>
              <a:t>:</a:t>
            </a:r>
          </a:p>
          <a:p>
            <a:pPr lvl="1"/>
            <a:r>
              <a:rPr lang="en-US" b="1" dirty="0"/>
              <a:t>1. Jobs push</a:t>
            </a:r>
          </a:p>
          <a:p>
            <a:pPr lvl="2"/>
            <a:r>
              <a:rPr lang="en-US" dirty="0"/>
              <a:t>↑ establishment growth </a:t>
            </a:r>
          </a:p>
          <a:p>
            <a:pPr lvl="2"/>
            <a:r>
              <a:rPr lang="en-US" dirty="0"/>
              <a:t>↑ income growth </a:t>
            </a:r>
          </a:p>
          <a:p>
            <a:pPr lvl="1"/>
            <a:endParaRPr lang="en-US" dirty="0"/>
          </a:p>
          <a:p>
            <a:pPr lvl="1"/>
            <a:r>
              <a:rPr lang="en-US" b="1" dirty="0"/>
              <a:t>2. Public safety</a:t>
            </a:r>
          </a:p>
          <a:p>
            <a:pPr lvl="1"/>
            <a:r>
              <a:rPr lang="en-US" dirty="0"/>
              <a:t>	↓ crime rates </a:t>
            </a:r>
          </a:p>
          <a:p>
            <a:pPr lvl="1"/>
            <a:endParaRPr lang="en-US" dirty="0"/>
          </a:p>
          <a:p>
            <a:pPr lvl="1"/>
            <a:r>
              <a:rPr lang="en-US" b="1" dirty="0"/>
              <a:t>3. Resilience &amp; vulnerability</a:t>
            </a:r>
          </a:p>
          <a:p>
            <a:pPr lvl="1"/>
            <a:r>
              <a:rPr lang="en-US" dirty="0"/>
              <a:t>	↓ SVI (reduce vulnerability exposure) </a:t>
            </a:r>
          </a:p>
          <a:p>
            <a:pPr lvl="1"/>
            <a:br>
              <a:rPr lang="en-US" dirty="0"/>
            </a:br>
            <a:endParaRPr lang="en-US" dirty="0"/>
          </a:p>
          <a:p>
            <a:pPr lvl="1"/>
            <a:r>
              <a:rPr lang="en-US" b="1" dirty="0"/>
              <a:t>4. Family &amp; demographic support</a:t>
            </a:r>
          </a:p>
          <a:p>
            <a:pPr lvl="1"/>
            <a:r>
              <a:rPr lang="en-US" dirty="0"/>
              <a:t>	↑ natural change rate </a:t>
            </a:r>
          </a:p>
          <a:p>
            <a:pPr lvl="1"/>
            <a:endParaRPr lang="en-US" dirty="0"/>
          </a:p>
          <a:p>
            <a:pPr lvl="1"/>
            <a:r>
              <a:rPr lang="en-US" b="1" dirty="0"/>
              <a:t>5. Retention bundle (most important)</a:t>
            </a:r>
          </a:p>
          <a:p>
            <a:pPr lvl="1"/>
            <a:r>
              <a:rPr lang="en-US" dirty="0"/>
              <a:t>	Combination of jobs, safety, resilience &amp; demographics</a:t>
            </a:r>
          </a:p>
          <a:p>
            <a:pPr>
              <a:lnSpc>
                <a:spcPts val="1350"/>
              </a:lnSpc>
            </a:pPr>
            <a:endParaRPr lang="en-US" dirty="0">
              <a:effectLst/>
            </a:endParaRPr>
          </a:p>
        </p:txBody>
      </p:sp>
    </p:spTree>
    <p:extLst>
      <p:ext uri="{BB962C8B-B14F-4D97-AF65-F5344CB8AC3E}">
        <p14:creationId xmlns:p14="http://schemas.microsoft.com/office/powerpoint/2010/main" val="174853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0179-0DB9-2D0B-5773-D25FCC68DB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369159-7478-E673-F740-3CDD6E42143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B150FF2-0660-699A-8832-D5A9E0C0AA9D}"/>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eaLnBrk="0" fontAlgn="base" hangingPunct="0">
              <a:spcAft>
                <a:spcPct val="0"/>
              </a:spcAft>
            </a:pPr>
            <a:r>
              <a:rPr lang="en-US" altLang="en-US" sz="3600" b="1" dirty="0">
                <a:solidFill>
                  <a:schemeClr val="bg1"/>
                </a:solidFill>
              </a:rPr>
              <a:t>Actionable Policy Insights</a:t>
            </a:r>
          </a:p>
        </p:txBody>
      </p:sp>
      <p:pic>
        <p:nvPicPr>
          <p:cNvPr id="10" name="Picture 9" descr="A graph of different colored bars&#10;&#10;AI-generated content may be incorrect.">
            <a:extLst>
              <a:ext uri="{FF2B5EF4-FFF2-40B4-BE49-F238E27FC236}">
                <a16:creationId xmlns:a16="http://schemas.microsoft.com/office/drawing/2014/main" id="{B7024AA7-2E13-2554-A6E7-EAAEDCE52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624" y="1368962"/>
            <a:ext cx="8426663" cy="4557276"/>
          </a:xfrm>
          <a:prstGeom prst="rect">
            <a:avLst/>
          </a:prstGeom>
        </p:spPr>
      </p:pic>
    </p:spTree>
    <p:extLst>
      <p:ext uri="{BB962C8B-B14F-4D97-AF65-F5344CB8AC3E}">
        <p14:creationId xmlns:p14="http://schemas.microsoft.com/office/powerpoint/2010/main" val="658175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C3A81-AA87-3908-006D-6032611734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C5401F-459E-4B3E-3886-882BA58E497F}"/>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99DAB5F5-4FDD-783D-5234-D2CB050C01B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eaLnBrk="0" fontAlgn="base" hangingPunct="0">
              <a:spcAft>
                <a:spcPct val="0"/>
              </a:spcAft>
            </a:pPr>
            <a:r>
              <a:rPr lang="en-US" altLang="en-US" sz="3600" b="1" dirty="0">
                <a:solidFill>
                  <a:schemeClr val="bg1"/>
                </a:solidFill>
              </a:rPr>
              <a:t>Actionable Policy Insights</a:t>
            </a:r>
          </a:p>
        </p:txBody>
      </p:sp>
      <p:pic>
        <p:nvPicPr>
          <p:cNvPr id="3" name="Picture 2" descr="A graph of a line graph&#10;&#10;AI-generated content may be incorrect.">
            <a:extLst>
              <a:ext uri="{FF2B5EF4-FFF2-40B4-BE49-F238E27FC236}">
                <a16:creationId xmlns:a16="http://schemas.microsoft.com/office/drawing/2014/main" id="{386A9B98-CF86-62A9-70E2-532D02FA8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113" y="1503874"/>
            <a:ext cx="8429150" cy="4507182"/>
          </a:xfrm>
          <a:prstGeom prst="rect">
            <a:avLst/>
          </a:prstGeom>
        </p:spPr>
      </p:pic>
    </p:spTree>
    <p:extLst>
      <p:ext uri="{BB962C8B-B14F-4D97-AF65-F5344CB8AC3E}">
        <p14:creationId xmlns:p14="http://schemas.microsoft.com/office/powerpoint/2010/main" val="1771775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Next Steps</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246298"/>
            <a:ext cx="11673769" cy="4524315"/>
          </a:xfrm>
          <a:prstGeom prst="rect">
            <a:avLst/>
          </a:prstGeom>
          <a:noFill/>
        </p:spPr>
        <p:txBody>
          <a:bodyPr wrap="square">
            <a:spAutoFit/>
          </a:bodyPr>
          <a:lstStyle/>
          <a:p>
            <a:pPr lvl="0" eaLnBrk="0" fontAlgn="base" hangingPunct="0">
              <a:spcBef>
                <a:spcPct val="0"/>
              </a:spcBef>
              <a:spcAft>
                <a:spcPct val="0"/>
              </a:spcAft>
            </a:pPr>
            <a:r>
              <a:rPr lang="en-US" sz="2400" b="1" dirty="0"/>
              <a:t>Policy Simulation &amp; Scenario Analysis</a:t>
            </a:r>
          </a:p>
          <a:p>
            <a:pPr lvl="0" eaLnBrk="0" fontAlgn="base" hangingPunct="0">
              <a:spcBef>
                <a:spcPct val="0"/>
              </a:spcBef>
              <a:spcAft>
                <a:spcPct val="0"/>
              </a:spcAft>
            </a:pPr>
            <a:endParaRPr lang="en-US" sz="2400" dirty="0"/>
          </a:p>
          <a:p>
            <a:pPr lvl="0" eaLnBrk="0" fontAlgn="base" hangingPunct="0">
              <a:spcBef>
                <a:spcPct val="0"/>
              </a:spcBef>
              <a:spcAft>
                <a:spcPct val="0"/>
              </a:spcAft>
            </a:pPr>
            <a:r>
              <a:rPr lang="en-US" altLang="en-US" sz="2400" b="1" dirty="0"/>
              <a:t>Goal: </a:t>
            </a:r>
            <a:r>
              <a:rPr lang="en-US" altLang="en-US" sz="2400" dirty="0"/>
              <a:t>Translate predictive modeling into actionable policy insights</a:t>
            </a:r>
          </a:p>
          <a:p>
            <a:pPr lvl="0" eaLnBrk="0" fontAlgn="base" hangingPunct="0">
              <a:spcBef>
                <a:spcPct val="0"/>
              </a:spcBef>
              <a:spcAft>
                <a:spcPct val="0"/>
              </a:spcAft>
            </a:pPr>
            <a:endParaRPr lang="en-US" sz="2400" dirty="0"/>
          </a:p>
          <a:p>
            <a:pPr marL="285750" lvl="0" indent="-285750" eaLnBrk="0" fontAlgn="base" hangingPunct="0">
              <a:spcBef>
                <a:spcPct val="0"/>
              </a:spcBef>
              <a:spcAft>
                <a:spcPct val="0"/>
              </a:spcAft>
              <a:buFont typeface="Arial" panose="020B0604020202020204" pitchFamily="34" charset="0"/>
              <a:buChar char="•"/>
            </a:pPr>
            <a:r>
              <a:rPr lang="en-US" sz="2400" dirty="0"/>
              <a:t>Extend forecasting into policy-driven scenarios </a:t>
            </a:r>
          </a:p>
          <a:p>
            <a:pPr marL="742950" lvl="1" indent="-285750" eaLnBrk="0" fontAlgn="base" hangingPunct="0">
              <a:spcBef>
                <a:spcPct val="0"/>
              </a:spcBef>
              <a:spcAft>
                <a:spcPct val="0"/>
              </a:spcAft>
              <a:buFont typeface="Arial" panose="020B0604020202020204" pitchFamily="34" charset="0"/>
              <a:buChar char="•"/>
            </a:pPr>
            <a:r>
              <a:rPr lang="en-US" sz="2400" dirty="0"/>
              <a:t>Simulate interventions (jobs, retention, resilience strategies) </a:t>
            </a:r>
          </a:p>
          <a:p>
            <a:pPr marL="285750" indent="-285750" eaLnBrk="0" fontAlgn="base" hangingPunct="0">
              <a:spcBef>
                <a:spcPct val="0"/>
              </a:spcBef>
              <a:spcAft>
                <a:spcPct val="0"/>
              </a:spcAft>
              <a:buFont typeface="Arial" panose="020B0604020202020204" pitchFamily="34" charset="0"/>
              <a:buChar char="•"/>
            </a:pPr>
            <a:endParaRPr lang="en-US" sz="2400" dirty="0"/>
          </a:p>
          <a:p>
            <a:pPr marL="285750" indent="-285750" eaLnBrk="0" fontAlgn="base" hangingPunct="0">
              <a:spcBef>
                <a:spcPct val="0"/>
              </a:spcBef>
              <a:spcAft>
                <a:spcPct val="0"/>
              </a:spcAft>
              <a:buFont typeface="Arial" panose="020B0604020202020204" pitchFamily="34" charset="0"/>
              <a:buChar char="•"/>
            </a:pPr>
            <a:r>
              <a:rPr lang="en-US" sz="2400" dirty="0"/>
              <a:t>Evaluate policy effectiveness </a:t>
            </a:r>
          </a:p>
          <a:p>
            <a:pPr marL="742950" lvl="1" indent="-285750" eaLnBrk="0" fontAlgn="base" hangingPunct="0">
              <a:spcBef>
                <a:spcPct val="0"/>
              </a:spcBef>
              <a:spcAft>
                <a:spcPct val="0"/>
              </a:spcAft>
              <a:buFont typeface="Arial" panose="020B0604020202020204" pitchFamily="34" charset="0"/>
              <a:buChar char="•"/>
            </a:pPr>
            <a:r>
              <a:rPr lang="en-US" sz="2400" dirty="0"/>
              <a:t>Identify which strategies slow population decline </a:t>
            </a:r>
          </a:p>
          <a:p>
            <a:pPr marL="285750" indent="-285750" eaLnBrk="0" fontAlgn="base" hangingPunct="0">
              <a:spcBef>
                <a:spcPct val="0"/>
              </a:spcBef>
              <a:spcAft>
                <a:spcPct val="0"/>
              </a:spcAft>
              <a:buFont typeface="Arial" panose="020B0604020202020204" pitchFamily="34" charset="0"/>
              <a:buChar char="•"/>
            </a:pPr>
            <a:endParaRPr lang="en-US" sz="2400" dirty="0"/>
          </a:p>
          <a:p>
            <a:pPr marL="285750" indent="-285750" eaLnBrk="0" fontAlgn="base" hangingPunct="0">
              <a:spcBef>
                <a:spcPct val="0"/>
              </a:spcBef>
              <a:spcAft>
                <a:spcPct val="0"/>
              </a:spcAft>
              <a:buFont typeface="Arial" panose="020B0604020202020204" pitchFamily="34" charset="0"/>
              <a:buChar char="•"/>
            </a:pPr>
            <a:r>
              <a:rPr lang="en-US" sz="2400" dirty="0"/>
              <a:t>Integrate results into interactive dashboard </a:t>
            </a:r>
          </a:p>
          <a:p>
            <a:pPr marL="742950" lvl="1" indent="-285750" eaLnBrk="0" fontAlgn="base" hangingPunct="0">
              <a:spcBef>
                <a:spcPct val="0"/>
              </a:spcBef>
              <a:spcAft>
                <a:spcPct val="0"/>
              </a:spcAft>
              <a:buFont typeface="Arial" panose="020B0604020202020204" pitchFamily="34" charset="0"/>
              <a:buChar char="•"/>
            </a:pPr>
            <a:r>
              <a:rPr lang="en-US" sz="2400" dirty="0"/>
              <a:t>Expand website with scenario exploration tools </a:t>
            </a:r>
            <a:r>
              <a:rPr lang="en-US" altLang="en-US" sz="2400" dirty="0"/>
              <a:t> </a:t>
            </a:r>
          </a:p>
        </p:txBody>
      </p:sp>
    </p:spTree>
    <p:extLst>
      <p:ext uri="{BB962C8B-B14F-4D97-AF65-F5344CB8AC3E}">
        <p14:creationId xmlns:p14="http://schemas.microsoft.com/office/powerpoint/2010/main" val="884264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524315"/>
          </a:xfrm>
          <a:prstGeom prst="rect">
            <a:avLst/>
          </a:prstGeom>
          <a:noFill/>
        </p:spPr>
        <p:txBody>
          <a:bodyPr wrap="square">
            <a:spAutoFit/>
          </a:bodyPr>
          <a:lstStyle/>
          <a:p>
            <a:r>
              <a:rPr lang="en-US" sz="2400" b="1" dirty="0"/>
              <a:t>Population decline in Puerto Rico is not random:</a:t>
            </a:r>
          </a:p>
          <a:p>
            <a:pPr marL="342900" indent="-342900">
              <a:buFont typeface="Arial" panose="020B0604020202020204" pitchFamily="34" charset="0"/>
              <a:buChar char="•"/>
            </a:pPr>
            <a:r>
              <a:rPr lang="en-US" sz="2400" b="1" dirty="0"/>
              <a:t>Structured </a:t>
            </a:r>
            <a:r>
              <a:rPr lang="en-US" sz="2400" dirty="0"/>
              <a:t>— driven by economic and social conditions </a:t>
            </a:r>
          </a:p>
          <a:p>
            <a:pPr marL="342900" indent="-342900">
              <a:buFont typeface="Arial" panose="020B0604020202020204" pitchFamily="34" charset="0"/>
              <a:buChar char="•"/>
            </a:pPr>
            <a:r>
              <a:rPr lang="en-US" sz="2400" b="1" dirty="0"/>
              <a:t>Spatial </a:t>
            </a:r>
            <a:r>
              <a:rPr lang="en-US" sz="2400" dirty="0"/>
              <a:t>— concentrated in specific regions </a:t>
            </a:r>
          </a:p>
          <a:p>
            <a:pPr marL="342900" indent="-342900">
              <a:buFont typeface="Arial" panose="020B0604020202020204" pitchFamily="34" charset="0"/>
              <a:buChar char="•"/>
            </a:pPr>
            <a:r>
              <a:rPr lang="en-US" sz="2400" b="1" dirty="0"/>
              <a:t>Persistent </a:t>
            </a:r>
            <a:r>
              <a:rPr lang="en-US" sz="2400" dirty="0"/>
              <a:t>— consistent over time </a:t>
            </a:r>
            <a:br>
              <a:rPr lang="en-US" sz="2400" dirty="0"/>
            </a:br>
            <a:endParaRPr lang="en-US" sz="2400" dirty="0"/>
          </a:p>
          <a:p>
            <a:r>
              <a:rPr lang="en-US" sz="2400" b="1" dirty="0"/>
              <a:t>What the Model Revealed</a:t>
            </a:r>
          </a:p>
          <a:p>
            <a:pPr marL="285750" indent="-285750">
              <a:buFont typeface="Arial" panose="020B0604020202020204" pitchFamily="34" charset="0"/>
              <a:buChar char="•"/>
            </a:pPr>
            <a:r>
              <a:rPr lang="en-US" sz="2400" dirty="0"/>
              <a:t>Short-term population change is highly unpredictable </a:t>
            </a:r>
          </a:p>
          <a:p>
            <a:pPr marL="285750" indent="-285750">
              <a:buFont typeface="Arial" panose="020B0604020202020204" pitchFamily="34" charset="0"/>
              <a:buChar char="•"/>
            </a:pPr>
            <a:r>
              <a:rPr lang="en-US" sz="2400" dirty="0"/>
              <a:t>But underlying structural patterns are stable and detectable </a:t>
            </a:r>
          </a:p>
          <a:p>
            <a:pPr marL="285750" indent="-285750">
              <a:buFont typeface="Arial" panose="020B0604020202020204" pitchFamily="34" charset="0"/>
              <a:buChar char="•"/>
            </a:pPr>
            <a:r>
              <a:rPr lang="en-US" sz="2400" dirty="0"/>
              <a:t>Structural patterns become clear at longer horizons (3-year target) </a:t>
            </a:r>
            <a:br>
              <a:rPr lang="en-US" sz="2400" dirty="0"/>
            </a:br>
            <a:endParaRPr lang="en-US" sz="2400" dirty="0"/>
          </a:p>
          <a:p>
            <a:r>
              <a:rPr lang="en-US" sz="2400" b="1" dirty="0"/>
              <a:t>Conclusion: </a:t>
            </a:r>
            <a:r>
              <a:rPr lang="en-US" sz="2400" dirty="0"/>
              <a:t>Even when prediction is difficult, the data reveals strong, stable, and spatially coherent patterns across Puerto Rico</a:t>
            </a:r>
          </a:p>
        </p:txBody>
      </p:sp>
    </p:spTree>
    <p:extLst>
      <p:ext uri="{BB962C8B-B14F-4D97-AF65-F5344CB8AC3E}">
        <p14:creationId xmlns:p14="http://schemas.microsoft.com/office/powerpoint/2010/main" val="3664533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Props1.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3.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Rutgers Theme</Template>
  <TotalTime>28954</TotalTime>
  <Words>3108</Words>
  <Application>Microsoft Macintosh PowerPoint</Application>
  <PresentationFormat>Widescreen</PresentationFormat>
  <Paragraphs>373</Paragraphs>
  <Slides>25</Slides>
  <Notes>24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Roboto</vt:lpstr>
      <vt:lpstr>Wingdings</vt:lpstr>
      <vt:lpstr>Merriweather</vt:lpstr>
      <vt:lpstr>Source sans 3</vt:lpstr>
      <vt:lpstr>Arial</vt:lpstr>
      <vt:lpstr>Symbol</vt:lpstr>
      <vt:lpstr>Cambria Math</vt:lpstr>
      <vt:lpstr>Calibri</vt:lpstr>
      <vt:lpstr>PT serif</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Andres Ruiz</cp:lastModifiedBy>
  <cp:revision>389</cp:revision>
  <cp:lastPrinted>2025-12-23T15:43:13Z</cp:lastPrinted>
  <dcterms:created xsi:type="dcterms:W3CDTF">2018-07-12T14:29:14Z</dcterms:created>
  <dcterms:modified xsi:type="dcterms:W3CDTF">2026-04-17T20:31:06Z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