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58" r:id="rId5"/>
    <p:sldId id="257" r:id="rId6"/>
  </p:sldIdLst>
  <p:sldSz cx="43891200" cy="32918400"/>
  <p:notesSz cx="6858000" cy="9144000"/>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C0033"/>
    <a:srgbClr val="E5E5E5"/>
    <a:srgbClr val="5AD918"/>
    <a:srgbClr val="C70032"/>
    <a:srgbClr val="4EBE15"/>
    <a:srgbClr val="2FD912"/>
    <a:srgbClr val="E7FFCE"/>
    <a:srgbClr val="CEFF9D"/>
    <a:srgbClr val="ABFF56"/>
    <a:srgbClr val="D4B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p:restoredTop sz="96235"/>
  </p:normalViewPr>
  <p:slideViewPr>
    <p:cSldViewPr snapToGrid="0" snapToObjects="1">
      <p:cViewPr>
        <p:scale>
          <a:sx n="143" d="100"/>
          <a:sy n="143" d="100"/>
        </p:scale>
        <p:origin x="-48" y="-22760"/>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B1F554-8471-F74E-95A3-3E7FC8AE6388}" type="datetimeFigureOut">
              <a:rPr lang="en-US" smtClean="0"/>
              <a:pPr/>
              <a:t>4/29/26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5E2536-F949-A046-9408-77F5280C62D9}" type="slidenum">
              <a:rPr lang="en-US" smtClean="0"/>
              <a:pPr/>
              <a:t>‹#›</a:t>
            </a:fld>
            <a:endParaRPr lang="en-US"/>
          </a:p>
        </p:txBody>
      </p:sp>
    </p:spTree>
    <p:extLst>
      <p:ext uri="{BB962C8B-B14F-4D97-AF65-F5344CB8AC3E}">
        <p14:creationId xmlns:p14="http://schemas.microsoft.com/office/powerpoint/2010/main" val="19200910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041BF-B953-651E-BAEA-105560454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F29C8-A8E9-8144-3FCB-E9E0C3CEE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F6AA9-E149-6381-7353-8DE78EB44CD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687D6AE-A6A8-3CBF-7438-75673F6A9AE1}"/>
              </a:ext>
            </a:extLst>
          </p:cNvPr>
          <p:cNvSpPr>
            <a:spLocks noGrp="1"/>
          </p:cNvSpPr>
          <p:nvPr>
            <p:ph type="sldNum" sz="quarter" idx="10"/>
          </p:nvPr>
        </p:nvSpPr>
        <p:spPr/>
        <p:txBody>
          <a:bodyPr/>
          <a:lstStyle/>
          <a:p>
            <a:fld id="{EC5E2536-F949-A046-9408-77F5280C62D9}" type="slidenum">
              <a:rPr lang="en-US" smtClean="0"/>
              <a:pPr/>
              <a:t>1</a:t>
            </a:fld>
            <a:endParaRPr lang="en-US"/>
          </a:p>
        </p:txBody>
      </p:sp>
    </p:spTree>
    <p:extLst>
      <p:ext uri="{BB962C8B-B14F-4D97-AF65-F5344CB8AC3E}">
        <p14:creationId xmlns:p14="http://schemas.microsoft.com/office/powerpoint/2010/main" val="126203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2C9624-8537-344B-A181-774C3CF89A66}"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C9624-8537-344B-A181-774C3CF89A66}"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2C9624-8537-344B-A181-774C3CF89A66}"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2C9624-8537-344B-A181-774C3CF89A66}" type="datetimeFigureOut">
              <a:rPr lang="en-US" smtClean="0"/>
              <a:pPr/>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2C9624-8537-344B-A181-774C3CF89A66}" type="datetimeFigureOut">
              <a:rPr lang="en-US" smtClean="0"/>
              <a:pPr/>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C9624-8537-344B-A181-774C3CF89A66}" type="datetimeFigureOut">
              <a:rPr lang="en-US" smtClean="0"/>
              <a:pPr/>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0C2C9624-8537-344B-A181-774C3CF89A66}" type="datetimeFigureOut">
              <a:rPr lang="en-US" smtClean="0"/>
              <a:pPr/>
              <a:t>4/29/26</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4AF12122-570C-394B-A3C0-8A0DA37D738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4A59F-0470-FFCA-0863-F632AB0A9BCB}"/>
            </a:ext>
          </a:extLst>
        </p:cNvPr>
        <p:cNvGrpSpPr/>
        <p:nvPr/>
      </p:nvGrpSpPr>
      <p:grpSpPr>
        <a:xfrm>
          <a:off x="0" y="0"/>
          <a:ext cx="0" cy="0"/>
          <a:chOff x="0" y="0"/>
          <a:chExt cx="0" cy="0"/>
        </a:xfrm>
      </p:grpSpPr>
      <p:sp>
        <p:nvSpPr>
          <p:cNvPr id="264" name="TextBox 263">
            <a:extLst>
              <a:ext uri="{FF2B5EF4-FFF2-40B4-BE49-F238E27FC236}">
                <a16:creationId xmlns:a16="http://schemas.microsoft.com/office/drawing/2014/main" id="{637B8B1E-DCCE-2BEE-9561-E7059FCDBEA0}"/>
              </a:ext>
            </a:extLst>
          </p:cNvPr>
          <p:cNvSpPr txBox="1"/>
          <p:nvPr/>
        </p:nvSpPr>
        <p:spPr>
          <a:xfrm>
            <a:off x="15227629" y="537046"/>
            <a:ext cx="27470821" cy="4785926"/>
          </a:xfrm>
          <a:prstGeom prst="rect">
            <a:avLst/>
          </a:prstGeom>
          <a:solidFill>
            <a:schemeClr val="bg1"/>
          </a:solidFill>
          <a:ln>
            <a:noFill/>
          </a:ln>
          <a:effectLst/>
        </p:spPr>
        <p:txBody>
          <a:bodyPr wrap="square" rtlCol="0" anchor="ctr">
            <a:spAutoFit/>
          </a:bodyPr>
          <a:lstStyle/>
          <a:p>
            <a:pPr algn="ctr"/>
            <a:r>
              <a:rPr lang="en-US" sz="9900" b="1" dirty="0">
                <a:solidFill>
                  <a:sysClr val="windowText" lastClr="000000"/>
                </a:solidFill>
              </a:rPr>
              <a:t>Population &amp; Migration Predictions in Puerto Rico</a:t>
            </a:r>
          </a:p>
          <a:p>
            <a:pPr algn="ctr"/>
            <a:r>
              <a:rPr lang="en-US" sz="5400" dirty="0">
                <a:solidFill>
                  <a:sysClr val="windowText" lastClr="000000"/>
                </a:solidFill>
                <a:latin typeface="Arial"/>
                <a:cs typeface="Arial"/>
              </a:rPr>
              <a:t>Jose Andres RiveraRuiz</a:t>
            </a:r>
          </a:p>
          <a:p>
            <a:pPr algn="ctr"/>
            <a:r>
              <a:rPr lang="en-US" sz="5400" dirty="0">
                <a:solidFill>
                  <a:sysClr val="windowText" lastClr="000000"/>
                </a:solidFill>
                <a:latin typeface="Arial"/>
                <a:cs typeface="Arial"/>
              </a:rPr>
              <a:t>Graduate School of Arts and Sciences </a:t>
            </a:r>
          </a:p>
          <a:p>
            <a:pPr algn="ctr"/>
            <a:r>
              <a:rPr lang="en-US" sz="5400" dirty="0">
                <a:solidFill>
                  <a:sysClr val="windowText" lastClr="000000"/>
                </a:solidFill>
                <a:latin typeface="Arial"/>
                <a:cs typeface="Arial"/>
              </a:rPr>
              <a:t>Dr. Bilgin </a:t>
            </a:r>
            <a:r>
              <a:rPr lang="en-US" sz="5400" dirty="0" err="1">
                <a:solidFill>
                  <a:sysClr val="windowText" lastClr="000000"/>
                </a:solidFill>
                <a:latin typeface="Arial"/>
                <a:cs typeface="Arial"/>
              </a:rPr>
              <a:t>Altundas</a:t>
            </a:r>
            <a:r>
              <a:rPr lang="en-US" sz="5400" dirty="0">
                <a:solidFill>
                  <a:sysClr val="windowText" lastClr="000000"/>
                </a:solidFill>
                <a:latin typeface="Arial"/>
                <a:cs typeface="Arial"/>
              </a:rPr>
              <a:t>, Faculty Advisor</a:t>
            </a:r>
          </a:p>
          <a:p>
            <a:pPr algn="ctr"/>
            <a:endParaRPr lang="en-US" sz="2000" dirty="0">
              <a:solidFill>
                <a:sysClr val="windowText" lastClr="000000"/>
              </a:solidFill>
              <a:latin typeface="Arial"/>
              <a:cs typeface="Arial"/>
            </a:endParaRPr>
          </a:p>
          <a:p>
            <a:pPr algn="ctr"/>
            <a:endParaRPr lang="en-US" sz="1200" dirty="0">
              <a:solidFill>
                <a:sysClr val="windowText" lastClr="000000"/>
              </a:solidFill>
              <a:latin typeface="Arial"/>
              <a:cs typeface="Arial"/>
            </a:endParaRPr>
          </a:p>
          <a:p>
            <a:pPr algn="ctr"/>
            <a:endParaRPr lang="en-US" sz="1200" dirty="0">
              <a:solidFill>
                <a:sysClr val="windowText" lastClr="000000"/>
              </a:solidFill>
              <a:latin typeface="Arial"/>
              <a:cs typeface="Arial"/>
            </a:endParaRPr>
          </a:p>
        </p:txBody>
      </p:sp>
      <p:pic>
        <p:nvPicPr>
          <p:cNvPr id="4" name="Picture 9">
            <a:extLst>
              <a:ext uri="{FF2B5EF4-FFF2-40B4-BE49-F238E27FC236}">
                <a16:creationId xmlns:a16="http://schemas.microsoft.com/office/drawing/2014/main" id="{682EB3CA-F403-531E-9189-B9EDB3DC5ED5}"/>
              </a:ext>
            </a:extLst>
          </p:cNvPr>
          <p:cNvPicPr>
            <a:picLocks noChangeAspect="1" noChangeArrowheads="1"/>
          </p:cNvPicPr>
          <p:nvPr/>
        </p:nvPicPr>
        <p:blipFill>
          <a:blip r:embed="rId3"/>
          <a:srcRect/>
          <a:stretch/>
        </p:blipFill>
        <p:spPr bwMode="auto">
          <a:xfrm>
            <a:off x="4118609" y="1962291"/>
            <a:ext cx="7634153" cy="226308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31">
            <a:extLst>
              <a:ext uri="{FF2B5EF4-FFF2-40B4-BE49-F238E27FC236}">
                <a16:creationId xmlns:a16="http://schemas.microsoft.com/office/drawing/2014/main" id="{156090CD-4E63-042D-0CC6-99EEC26ED3E5}"/>
              </a:ext>
            </a:extLst>
          </p:cNvPr>
          <p:cNvSpPr>
            <a:spLocks noChangeArrowheads="1"/>
          </p:cNvSpPr>
          <p:nvPr/>
        </p:nvSpPr>
        <p:spPr bwMode="auto">
          <a:xfrm>
            <a:off x="15227630" y="5486833"/>
            <a:ext cx="13461027" cy="6105399"/>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16" name="Rectangle 69">
            <a:extLst>
              <a:ext uri="{FF2B5EF4-FFF2-40B4-BE49-F238E27FC236}">
                <a16:creationId xmlns:a16="http://schemas.microsoft.com/office/drawing/2014/main" id="{D42F93EE-F8C4-6D75-F3B7-83E500DC88DC}"/>
              </a:ext>
            </a:extLst>
          </p:cNvPr>
          <p:cNvSpPr/>
          <p:nvPr/>
        </p:nvSpPr>
        <p:spPr>
          <a:xfrm>
            <a:off x="15227630" y="5486833"/>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Objectives</a:t>
            </a:r>
          </a:p>
        </p:txBody>
      </p:sp>
      <p:sp>
        <p:nvSpPr>
          <p:cNvPr id="17" name="Rectangle 31">
            <a:extLst>
              <a:ext uri="{FF2B5EF4-FFF2-40B4-BE49-F238E27FC236}">
                <a16:creationId xmlns:a16="http://schemas.microsoft.com/office/drawing/2014/main" id="{06CBFD45-5183-CB26-44CD-7E21D5186D19}"/>
              </a:ext>
            </a:extLst>
          </p:cNvPr>
          <p:cNvSpPr>
            <a:spLocks noChangeArrowheads="1"/>
          </p:cNvSpPr>
          <p:nvPr/>
        </p:nvSpPr>
        <p:spPr bwMode="auto">
          <a:xfrm>
            <a:off x="1168034" y="5486833"/>
            <a:ext cx="13461027" cy="13965503"/>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18" name="Rectangle 69">
            <a:extLst>
              <a:ext uri="{FF2B5EF4-FFF2-40B4-BE49-F238E27FC236}">
                <a16:creationId xmlns:a16="http://schemas.microsoft.com/office/drawing/2014/main" id="{44F72D77-A633-F80F-824C-B5AE8A1FB3AE}"/>
              </a:ext>
            </a:extLst>
          </p:cNvPr>
          <p:cNvSpPr/>
          <p:nvPr/>
        </p:nvSpPr>
        <p:spPr>
          <a:xfrm>
            <a:off x="1168034" y="5486833"/>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Abstract</a:t>
            </a:r>
          </a:p>
        </p:txBody>
      </p:sp>
      <p:sp>
        <p:nvSpPr>
          <p:cNvPr id="19" name="Rectangle 31">
            <a:extLst>
              <a:ext uri="{FF2B5EF4-FFF2-40B4-BE49-F238E27FC236}">
                <a16:creationId xmlns:a16="http://schemas.microsoft.com/office/drawing/2014/main" id="{75DAC0F8-9D41-86F1-CF97-CC9769021598}"/>
              </a:ext>
            </a:extLst>
          </p:cNvPr>
          <p:cNvSpPr>
            <a:spLocks noChangeArrowheads="1"/>
          </p:cNvSpPr>
          <p:nvPr/>
        </p:nvSpPr>
        <p:spPr bwMode="auto">
          <a:xfrm>
            <a:off x="1210706" y="20314886"/>
            <a:ext cx="13461027" cy="11579386"/>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0" name="Rectangle 69">
            <a:extLst>
              <a:ext uri="{FF2B5EF4-FFF2-40B4-BE49-F238E27FC236}">
                <a16:creationId xmlns:a16="http://schemas.microsoft.com/office/drawing/2014/main" id="{AB0C0C56-834B-81CF-BCE9-135664D34295}"/>
              </a:ext>
            </a:extLst>
          </p:cNvPr>
          <p:cNvSpPr/>
          <p:nvPr/>
        </p:nvSpPr>
        <p:spPr>
          <a:xfrm>
            <a:off x="1210706" y="20210954"/>
            <a:ext cx="13461027" cy="1544888"/>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Background</a:t>
            </a:r>
          </a:p>
        </p:txBody>
      </p:sp>
      <p:sp>
        <p:nvSpPr>
          <p:cNvPr id="21" name="Rectangle 31">
            <a:extLst>
              <a:ext uri="{FF2B5EF4-FFF2-40B4-BE49-F238E27FC236}">
                <a16:creationId xmlns:a16="http://schemas.microsoft.com/office/drawing/2014/main" id="{1B964F3D-7847-3F4D-A8DF-195306A20E86}"/>
              </a:ext>
            </a:extLst>
          </p:cNvPr>
          <p:cNvSpPr>
            <a:spLocks noChangeArrowheads="1"/>
          </p:cNvSpPr>
          <p:nvPr/>
        </p:nvSpPr>
        <p:spPr bwMode="auto">
          <a:xfrm>
            <a:off x="29237423" y="5486833"/>
            <a:ext cx="13461028" cy="20836862"/>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22" name="Rectangle 69">
            <a:extLst>
              <a:ext uri="{FF2B5EF4-FFF2-40B4-BE49-F238E27FC236}">
                <a16:creationId xmlns:a16="http://schemas.microsoft.com/office/drawing/2014/main" id="{37F52C5B-17F0-B202-3117-8791FBC974EB}"/>
              </a:ext>
            </a:extLst>
          </p:cNvPr>
          <p:cNvSpPr/>
          <p:nvPr/>
        </p:nvSpPr>
        <p:spPr>
          <a:xfrm>
            <a:off x="29224224" y="5486833"/>
            <a:ext cx="13498942"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Results &amp; Discussion</a:t>
            </a:r>
          </a:p>
        </p:txBody>
      </p:sp>
      <p:sp>
        <p:nvSpPr>
          <p:cNvPr id="23" name="Rectangle 31">
            <a:extLst>
              <a:ext uri="{FF2B5EF4-FFF2-40B4-BE49-F238E27FC236}">
                <a16:creationId xmlns:a16="http://schemas.microsoft.com/office/drawing/2014/main" id="{0490F8C2-56E1-DCDE-E350-31B98A55FEBB}"/>
              </a:ext>
            </a:extLst>
          </p:cNvPr>
          <p:cNvSpPr>
            <a:spLocks noChangeArrowheads="1"/>
          </p:cNvSpPr>
          <p:nvPr/>
        </p:nvSpPr>
        <p:spPr bwMode="auto">
          <a:xfrm>
            <a:off x="29262139" y="26432966"/>
            <a:ext cx="13461027" cy="5461305"/>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4" name="Rectangle 69">
            <a:extLst>
              <a:ext uri="{FF2B5EF4-FFF2-40B4-BE49-F238E27FC236}">
                <a16:creationId xmlns:a16="http://schemas.microsoft.com/office/drawing/2014/main" id="{9B28EADF-ACA6-002B-D54B-F6404F64BACB}"/>
              </a:ext>
            </a:extLst>
          </p:cNvPr>
          <p:cNvSpPr/>
          <p:nvPr/>
        </p:nvSpPr>
        <p:spPr>
          <a:xfrm>
            <a:off x="29262139" y="26465855"/>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Future Direction</a:t>
            </a:r>
          </a:p>
        </p:txBody>
      </p:sp>
      <p:sp>
        <p:nvSpPr>
          <p:cNvPr id="25" name="Rectangle 31">
            <a:extLst>
              <a:ext uri="{FF2B5EF4-FFF2-40B4-BE49-F238E27FC236}">
                <a16:creationId xmlns:a16="http://schemas.microsoft.com/office/drawing/2014/main" id="{E40EA548-122A-260E-C7EC-938F5EE94F7C}"/>
              </a:ext>
            </a:extLst>
          </p:cNvPr>
          <p:cNvSpPr>
            <a:spLocks noChangeArrowheads="1"/>
          </p:cNvSpPr>
          <p:nvPr/>
        </p:nvSpPr>
        <p:spPr bwMode="auto">
          <a:xfrm>
            <a:off x="15227630" y="11908682"/>
            <a:ext cx="13461027" cy="19985590"/>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6" name="Rectangle 69">
            <a:extLst>
              <a:ext uri="{FF2B5EF4-FFF2-40B4-BE49-F238E27FC236}">
                <a16:creationId xmlns:a16="http://schemas.microsoft.com/office/drawing/2014/main" id="{EFC88810-577E-07A2-2765-E4A9F9B7C94A}"/>
              </a:ext>
            </a:extLst>
          </p:cNvPr>
          <p:cNvSpPr/>
          <p:nvPr/>
        </p:nvSpPr>
        <p:spPr>
          <a:xfrm>
            <a:off x="15227630" y="11908681"/>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Methods</a:t>
            </a:r>
          </a:p>
        </p:txBody>
      </p:sp>
      <p:sp>
        <p:nvSpPr>
          <p:cNvPr id="3" name="TextBox 2">
            <a:extLst>
              <a:ext uri="{FF2B5EF4-FFF2-40B4-BE49-F238E27FC236}">
                <a16:creationId xmlns:a16="http://schemas.microsoft.com/office/drawing/2014/main" id="{2F63CE07-925F-94AA-71BF-758D751E7407}"/>
              </a:ext>
            </a:extLst>
          </p:cNvPr>
          <p:cNvSpPr txBox="1"/>
          <p:nvPr/>
        </p:nvSpPr>
        <p:spPr>
          <a:xfrm>
            <a:off x="1527472" y="7311605"/>
            <a:ext cx="12750799" cy="6974916"/>
          </a:xfrm>
          <a:prstGeom prst="rect">
            <a:avLst/>
          </a:prstGeom>
          <a:noFill/>
        </p:spPr>
        <p:txBody>
          <a:bodyPr wrap="square" lIns="79925" tIns="39970" rIns="79925" bIns="39970" rtlCol="0">
            <a:spAutoFit/>
          </a:bodyPr>
          <a:lstStyle/>
          <a:p>
            <a:r>
              <a:rPr lang="en-US" sz="3400" b="0" baseline="0" dirty="0">
                <a:latin typeface="Calibri" panose="020F0502020204030204" pitchFamily="34" charset="0"/>
              </a:rPr>
              <a:t>Puerto Rico has experienced sustained population decline driven by </a:t>
            </a:r>
            <a:r>
              <a:rPr lang="en-US" sz="3400" dirty="0">
                <a:latin typeface="Calibri" panose="020F0502020204030204" pitchFamily="34" charset="0"/>
              </a:rPr>
              <a:t>natural disasters, social</a:t>
            </a:r>
            <a:r>
              <a:rPr lang="en-US" sz="3400" b="0" baseline="0" dirty="0">
                <a:latin typeface="Calibri" panose="020F0502020204030204" pitchFamily="34" charset="0"/>
              </a:rPr>
              <a:t> conditions, and resources allocation.</a:t>
            </a:r>
            <a:r>
              <a:rPr lang="en-US" sz="3400" dirty="0">
                <a:latin typeface="Calibri" panose="020F0502020204030204" pitchFamily="34" charset="0"/>
              </a:rPr>
              <a:t> </a:t>
            </a:r>
            <a:r>
              <a:rPr lang="en-US" sz="3400" b="0" baseline="0" dirty="0">
                <a:latin typeface="Calibri" panose="020F0502020204030204" pitchFamily="34" charset="0"/>
              </a:rPr>
              <a:t>Understanding how these forces interact is critical for:</a:t>
            </a:r>
          </a:p>
          <a:p>
            <a:endParaRPr lang="en-US" sz="3400" b="0" baseline="0" dirty="0">
              <a:latin typeface="Calibri" panose="020F0502020204030204" pitchFamily="34" charset="0"/>
            </a:endParaRPr>
          </a:p>
          <a:p>
            <a:pPr marL="915988" indent="-500063">
              <a:buFont typeface="Arial" panose="020B0604020202020204" pitchFamily="34" charset="0"/>
              <a:buChar char="•"/>
            </a:pPr>
            <a:r>
              <a:rPr lang="en-US" sz="3400" dirty="0">
                <a:latin typeface="Calibri" panose="020F0502020204030204" pitchFamily="34" charset="0"/>
              </a:rPr>
              <a:t>predicting</a:t>
            </a:r>
            <a:r>
              <a:rPr lang="en-US" sz="3400" b="0" baseline="0" dirty="0">
                <a:latin typeface="Calibri" panose="020F0502020204030204" pitchFamily="34" charset="0"/>
              </a:rPr>
              <a:t> future population trends </a:t>
            </a:r>
          </a:p>
          <a:p>
            <a:pPr marL="915988" indent="-500063">
              <a:buFont typeface="Arial" panose="020B0604020202020204" pitchFamily="34" charset="0"/>
              <a:buChar char="•"/>
            </a:pPr>
            <a:r>
              <a:rPr lang="en-US" sz="3400" b="0" baseline="0" dirty="0">
                <a:latin typeface="Calibri" panose="020F0502020204030204" pitchFamily="34" charset="0"/>
              </a:rPr>
              <a:t>identifying vulnerable regions </a:t>
            </a:r>
          </a:p>
          <a:p>
            <a:pPr marL="915988" indent="-500063">
              <a:buFont typeface="Arial" panose="020B0604020202020204" pitchFamily="34" charset="0"/>
              <a:buChar char="•"/>
            </a:pPr>
            <a:r>
              <a:rPr lang="en-US" sz="3400" b="0" baseline="0" dirty="0">
                <a:latin typeface="Calibri" panose="020F0502020204030204" pitchFamily="34" charset="0"/>
              </a:rPr>
              <a:t>informing government policy responses</a:t>
            </a:r>
          </a:p>
          <a:p>
            <a:r>
              <a:rPr lang="en-US" sz="3400" b="0" baseline="0" dirty="0">
                <a:latin typeface="Calibri" panose="020F0502020204030204" pitchFamily="34" charset="0"/>
              </a:rPr>
              <a:t> </a:t>
            </a:r>
          </a:p>
          <a:p>
            <a:r>
              <a:rPr lang="en-US" sz="3400" dirty="0">
                <a:latin typeface="Calibri" panose="020F0502020204030204" pitchFamily="34" charset="0"/>
              </a:rPr>
              <a:t>This project applies machine learning and scenario analysis to model regional-level population change and evaluate how </a:t>
            </a:r>
            <a:r>
              <a:rPr lang="en-US" sz="3600" dirty="0"/>
              <a:t>structural dynamics dominate long-term population change, with natural disasters acting as amplifiers</a:t>
            </a:r>
            <a:r>
              <a:rPr lang="en-US" sz="3400" dirty="0">
                <a:latin typeface="Calibri" panose="020F0502020204030204" pitchFamily="34" charset="0"/>
              </a:rPr>
              <a:t>.</a:t>
            </a:r>
            <a:endParaRPr lang="en-US" sz="3400" b="0" baseline="0" dirty="0">
              <a:latin typeface="Calibri" panose="020F0502020204030204" pitchFamily="34" charset="0"/>
            </a:endParaRPr>
          </a:p>
          <a:p>
            <a:endParaRPr lang="en-US" sz="3400" b="0" baseline="0" dirty="0">
              <a:latin typeface="Calibri" panose="020F0502020204030204" pitchFamily="34" charset="0"/>
            </a:endParaRPr>
          </a:p>
        </p:txBody>
      </p:sp>
      <p:sp>
        <p:nvSpPr>
          <p:cNvPr id="5" name="TextBox 4">
            <a:extLst>
              <a:ext uri="{FF2B5EF4-FFF2-40B4-BE49-F238E27FC236}">
                <a16:creationId xmlns:a16="http://schemas.microsoft.com/office/drawing/2014/main" id="{891530DF-8CFC-6616-82DF-36677D1A85B9}"/>
              </a:ext>
            </a:extLst>
          </p:cNvPr>
          <p:cNvSpPr txBox="1"/>
          <p:nvPr/>
        </p:nvSpPr>
        <p:spPr>
          <a:xfrm>
            <a:off x="15548272" y="7311605"/>
            <a:ext cx="12750799" cy="4512703"/>
          </a:xfrm>
          <a:prstGeom prst="rect">
            <a:avLst/>
          </a:prstGeom>
          <a:noFill/>
        </p:spPr>
        <p:txBody>
          <a:bodyPr wrap="square" lIns="79925" tIns="39970" rIns="79925" bIns="39970" rtlCol="0">
            <a:spAutoFit/>
          </a:bodyPr>
          <a:lstStyle/>
          <a:p>
            <a:pPr marL="457200" lvl="0" indent="-457200">
              <a:buFont typeface="Arial" panose="020B0604020202020204" pitchFamily="34" charset="0"/>
              <a:buChar char="•"/>
            </a:pPr>
            <a:r>
              <a:rPr lang="en-US" sz="3600" b="0" baseline="0" dirty="0">
                <a:latin typeface="Calibri" panose="020F0502020204030204" pitchFamily="34" charset="0"/>
              </a:rPr>
              <a:t>Identify key drivers of population change </a:t>
            </a:r>
          </a:p>
          <a:p>
            <a:pPr marL="457200" lvl="0" indent="-457200">
              <a:buFont typeface="Arial" panose="020B0604020202020204" pitchFamily="34" charset="0"/>
              <a:buChar char="•"/>
            </a:pPr>
            <a:r>
              <a:rPr lang="en-US" sz="3600" dirty="0">
                <a:latin typeface="Calibri" panose="020F0502020204030204" pitchFamily="34" charset="0"/>
              </a:rPr>
              <a:t>Evaluate the role of key drivers:</a:t>
            </a:r>
            <a:endParaRPr lang="en-US" sz="3600" b="0" baseline="0" dirty="0">
              <a:latin typeface="Calibri" panose="020F0502020204030204" pitchFamily="34" charset="0"/>
            </a:endParaRPr>
          </a:p>
          <a:p>
            <a:pPr marL="942975" lvl="1" indent="-487363">
              <a:buFont typeface="Arial" panose="020B0604020202020204" pitchFamily="34" charset="0"/>
              <a:buChar char="•"/>
            </a:pPr>
            <a:r>
              <a:rPr lang="en-US" sz="3600" dirty="0">
                <a:latin typeface="Calibri" panose="020F0502020204030204" pitchFamily="34" charset="0"/>
              </a:rPr>
              <a:t>n</a:t>
            </a:r>
            <a:r>
              <a:rPr lang="en-US" sz="3600" b="0" baseline="0" dirty="0">
                <a:latin typeface="Calibri" panose="020F0502020204030204" pitchFamily="34" charset="0"/>
              </a:rPr>
              <a:t>atural disasters (hurricanes &amp; earthquakes)</a:t>
            </a:r>
          </a:p>
          <a:p>
            <a:pPr marL="942975" lvl="1" indent="-487363">
              <a:buFont typeface="Arial" panose="020B0604020202020204" pitchFamily="34" charset="0"/>
              <a:buChar char="•"/>
            </a:pPr>
            <a:r>
              <a:rPr lang="en-US" sz="3600" b="0" baseline="0" dirty="0">
                <a:latin typeface="Calibri" panose="020F0502020204030204" pitchFamily="34" charset="0"/>
              </a:rPr>
              <a:t>economic conditions </a:t>
            </a:r>
          </a:p>
          <a:p>
            <a:pPr marL="942975" lvl="1" indent="-487363">
              <a:buFont typeface="Arial" panose="020B0604020202020204" pitchFamily="34" charset="0"/>
              <a:buChar char="•"/>
            </a:pPr>
            <a:r>
              <a:rPr lang="en-US" sz="3600" dirty="0">
                <a:latin typeface="Calibri" panose="020F0502020204030204" pitchFamily="34" charset="0"/>
              </a:rPr>
              <a:t>government migration </a:t>
            </a:r>
            <a:r>
              <a:rPr lang="en-US" sz="3600" b="0" baseline="0" dirty="0">
                <a:latin typeface="Calibri" panose="020F0502020204030204" pitchFamily="34" charset="0"/>
              </a:rPr>
              <a:t>strategies</a:t>
            </a:r>
          </a:p>
          <a:p>
            <a:pPr marL="457200" lvl="0" indent="-457200">
              <a:buFont typeface="Arial" panose="020B0604020202020204" pitchFamily="34" charset="0"/>
              <a:buChar char="•"/>
            </a:pPr>
            <a:r>
              <a:rPr lang="en-US" sz="3600" b="0" baseline="0" dirty="0">
                <a:latin typeface="Calibri" panose="020F0502020204030204" pitchFamily="34" charset="0"/>
              </a:rPr>
              <a:t>Develop scenario forecasts through 2030 </a:t>
            </a:r>
          </a:p>
          <a:p>
            <a:pPr marL="457200" lvl="0" indent="-457200">
              <a:buFont typeface="Arial" panose="020B0604020202020204" pitchFamily="34" charset="0"/>
              <a:buChar char="•"/>
            </a:pPr>
            <a:r>
              <a:rPr lang="en-US" sz="3600" b="0" baseline="0" dirty="0">
                <a:latin typeface="Calibri" panose="020F0502020204030204" pitchFamily="34" charset="0"/>
              </a:rPr>
              <a:t>Assess how policy-relevant factors influence outcomes</a:t>
            </a:r>
          </a:p>
          <a:p>
            <a:pPr lvl="0"/>
            <a:r>
              <a:rPr lang="en-US" sz="3600" b="0" baseline="0" dirty="0">
                <a:latin typeface="Calibri" panose="020F0502020204030204" pitchFamily="34" charset="0"/>
              </a:rPr>
              <a:t>  </a:t>
            </a:r>
          </a:p>
        </p:txBody>
      </p:sp>
      <p:sp>
        <p:nvSpPr>
          <p:cNvPr id="6" name="TextBox 5">
            <a:extLst>
              <a:ext uri="{FF2B5EF4-FFF2-40B4-BE49-F238E27FC236}">
                <a16:creationId xmlns:a16="http://schemas.microsoft.com/office/drawing/2014/main" id="{D123829E-411E-CDE8-6BC7-5B1C08E016A6}"/>
              </a:ext>
            </a:extLst>
          </p:cNvPr>
          <p:cNvSpPr txBox="1"/>
          <p:nvPr/>
        </p:nvSpPr>
        <p:spPr>
          <a:xfrm>
            <a:off x="29430755" y="7164120"/>
            <a:ext cx="13090715" cy="18855091"/>
          </a:xfrm>
          <a:prstGeom prst="rect">
            <a:avLst/>
          </a:prstGeom>
          <a:noFill/>
        </p:spPr>
        <p:txBody>
          <a:bodyPr wrap="square" lIns="79925" tIns="39970" rIns="79925" bIns="39970" rtlCol="0">
            <a:spAutoFit/>
          </a:bodyPr>
          <a:lstStyle/>
          <a:p>
            <a:r>
              <a:rPr lang="en-US" sz="3600" b="1" baseline="0" dirty="0">
                <a:latin typeface="Calibri" panose="020F0502020204030204" pitchFamily="34" charset="0"/>
              </a:rPr>
              <a:t>Key findings:</a:t>
            </a:r>
          </a:p>
          <a:p>
            <a:pPr marL="457200" indent="-457200">
              <a:buFont typeface="Arial" panose="020B0604020202020204" pitchFamily="34" charset="0"/>
              <a:buChar char="•"/>
            </a:pPr>
            <a:r>
              <a:rPr lang="en-US" sz="3600" dirty="0"/>
              <a:t>Population decline follows a persistent trajectory across the island </a:t>
            </a:r>
            <a:endParaRPr lang="en-US" sz="3600" b="0" baseline="0" dirty="0">
              <a:latin typeface="Calibri" panose="020F0502020204030204" pitchFamily="34" charset="0"/>
            </a:endParaRPr>
          </a:p>
          <a:p>
            <a:pPr marL="925513" indent="-503238">
              <a:buFont typeface="Arial" panose="020B0604020202020204" pitchFamily="34" charset="0"/>
              <a:buChar char="•"/>
            </a:pPr>
            <a:r>
              <a:rPr lang="en-US" sz="3600" dirty="0"/>
              <a:t>Without strong intervention, existing trends continue over time</a:t>
            </a:r>
            <a:endParaRPr lang="en-US" sz="3600" b="0" baseline="0" dirty="0">
              <a:latin typeface="Calibri" panose="020F0502020204030204" pitchFamily="34" charset="0"/>
            </a:endParaRPr>
          </a:p>
          <a:p>
            <a:pPr marL="457200" indent="-457200">
              <a:buFont typeface="Arial" panose="020B0604020202020204" pitchFamily="34" charset="0"/>
              <a:buChar char="•"/>
            </a:pPr>
            <a:r>
              <a:rPr lang="en-US" sz="3600" b="0" baseline="0" dirty="0">
                <a:latin typeface="Calibri" panose="020F0502020204030204" pitchFamily="34" charset="0"/>
              </a:rPr>
              <a:t>Disasters are strong direct predictors </a:t>
            </a:r>
          </a:p>
          <a:p>
            <a:pPr marL="457200" indent="-457200">
              <a:buFont typeface="Arial" panose="020B0604020202020204" pitchFamily="34" charset="0"/>
              <a:buChar char="•"/>
            </a:pPr>
            <a:r>
              <a:rPr lang="en-US" sz="3600" b="0" baseline="0" dirty="0">
                <a:latin typeface="Calibri" panose="020F0502020204030204" pitchFamily="34" charset="0"/>
              </a:rPr>
              <a:t>Strong regional disparities </a:t>
            </a:r>
          </a:p>
          <a:p>
            <a:pPr marL="922338" indent="-455613">
              <a:buFont typeface="Arial" panose="020B0604020202020204" pitchFamily="34" charset="0"/>
              <a:buChar char="•"/>
            </a:pPr>
            <a:r>
              <a:rPr lang="en-US" sz="3600" dirty="0">
                <a:latin typeface="Calibri" panose="020F0502020204030204" pitchFamily="34" charset="0"/>
              </a:rPr>
              <a:t>V</a:t>
            </a:r>
            <a:r>
              <a:rPr lang="en-US" sz="3600" b="0" baseline="0" dirty="0">
                <a:latin typeface="Calibri" panose="020F0502020204030204" pitchFamily="34" charset="0"/>
              </a:rPr>
              <a:t>ulnerability and exposure vary significantly </a:t>
            </a:r>
          </a:p>
          <a:p>
            <a:pPr marL="457200" indent="-457200">
              <a:buFont typeface="Arial" panose="020B0604020202020204" pitchFamily="34" charset="0"/>
              <a:buChar char="•"/>
            </a:pPr>
            <a:r>
              <a:rPr lang="en-US" sz="3600" b="0" baseline="0" dirty="0">
                <a:latin typeface="Calibri" panose="020F0502020204030204" pitchFamily="34" charset="0"/>
              </a:rPr>
              <a:t>Model performance:</a:t>
            </a:r>
          </a:p>
          <a:p>
            <a:pPr marL="922338" indent="-455613">
              <a:buFont typeface="Arial" panose="020B0604020202020204" pitchFamily="34" charset="0"/>
              <a:buChar char="•"/>
            </a:pPr>
            <a:r>
              <a:rPr lang="en-US" sz="3600" b="0" baseline="0" dirty="0">
                <a:latin typeface="Calibri" panose="020F0502020204030204" pitchFamily="34" charset="0"/>
              </a:rPr>
              <a:t>Lasso achieves strong out-of-sample results (R² ≈ 0.91) </a:t>
            </a:r>
          </a:p>
          <a:p>
            <a:pPr marL="922338" indent="-455613">
              <a:buFont typeface="Arial" panose="020B0604020202020204" pitchFamily="34" charset="0"/>
              <a:buChar char="•"/>
            </a:pPr>
            <a:r>
              <a:rPr lang="en-US" sz="3600" dirty="0">
                <a:latin typeface="Calibri" panose="020F0502020204030204" pitchFamily="34" charset="0"/>
              </a:rPr>
              <a:t>S</a:t>
            </a:r>
            <a:r>
              <a:rPr lang="en-US" sz="3600" b="0" baseline="0" dirty="0">
                <a:latin typeface="Calibri" panose="020F0502020204030204" pitchFamily="34" charset="0"/>
              </a:rPr>
              <a:t>table across temporal split </a:t>
            </a:r>
          </a:p>
          <a:p>
            <a:pPr marL="457200" indent="-457200">
              <a:buFont typeface="Arial" panose="020B0604020202020204" pitchFamily="34" charset="0"/>
              <a:buChar char="•"/>
            </a:pPr>
            <a:r>
              <a:rPr lang="en-US" sz="3600" b="0" baseline="0" dirty="0">
                <a:latin typeface="Calibri" panose="020F0502020204030204" pitchFamily="34" charset="0"/>
              </a:rPr>
              <a:t>Scenario insight:</a:t>
            </a:r>
          </a:p>
          <a:p>
            <a:pPr marL="922338" indent="-455613">
              <a:buFont typeface="Arial" panose="020B0604020202020204" pitchFamily="34" charset="0"/>
              <a:buChar char="•"/>
            </a:pPr>
            <a:r>
              <a:rPr lang="en-US" sz="3600" dirty="0">
                <a:latin typeface="Calibri" panose="020F0502020204030204" pitchFamily="34" charset="0"/>
              </a:rPr>
              <a:t>S</a:t>
            </a:r>
            <a:r>
              <a:rPr lang="en-US" sz="3600" b="0" baseline="0" dirty="0">
                <a:latin typeface="Calibri" panose="020F0502020204030204" pitchFamily="34" charset="0"/>
              </a:rPr>
              <a:t>hocks amplify existing trends, not create new ones </a:t>
            </a:r>
          </a:p>
          <a:p>
            <a:pPr marL="922338" indent="-455613">
              <a:buFont typeface="Arial" panose="020B0604020202020204" pitchFamily="34" charset="0"/>
              <a:buChar char="•"/>
            </a:pPr>
            <a:r>
              <a:rPr lang="en-US" sz="3600" dirty="0">
                <a:latin typeface="Calibri" panose="020F0502020204030204" pitchFamily="34" charset="0"/>
              </a:rPr>
              <a:t>Policy bundles can slow decline, but population increase requires strong, coordinated recovery that supports return migration and improves structural conditions</a:t>
            </a:r>
            <a:endParaRPr lang="en-US" sz="3600" b="0" baseline="0" dirty="0">
              <a:latin typeface="Calibri" panose="020F0502020204030204" pitchFamily="34" charset="0"/>
            </a:endParaRPr>
          </a:p>
          <a:p>
            <a:endParaRPr lang="en-US" sz="3600" b="0" baseline="0" dirty="0">
              <a:latin typeface="Calibri" panose="020F0502020204030204" pitchFamily="34" charset="0"/>
            </a:endParaRPr>
          </a:p>
          <a:p>
            <a:r>
              <a:rPr lang="en-US" sz="3600" b="1" baseline="0" dirty="0">
                <a:latin typeface="Calibri" panose="020F0502020204030204" pitchFamily="34" charset="0"/>
              </a:rPr>
              <a:t>Interpretation:</a:t>
            </a:r>
            <a:br>
              <a:rPr lang="en-US" sz="3600" b="0" baseline="0" dirty="0">
                <a:latin typeface="Calibri" panose="020F0502020204030204" pitchFamily="34" charset="0"/>
              </a:rPr>
            </a:br>
            <a:r>
              <a:rPr lang="en-US" sz="3600" b="0" baseline="0" dirty="0">
                <a:latin typeface="Calibri" panose="020F0502020204030204" pitchFamily="34" charset="0"/>
              </a:rPr>
              <a:t>Population decline is driven primarily by persistent structural dynamics, with disasters acting as accelerators rather than root causes</a:t>
            </a:r>
          </a:p>
          <a:p>
            <a:endParaRPr lang="en-US" sz="3600" dirty="0">
              <a:latin typeface="Calibri" panose="020F0502020204030204" pitchFamily="34" charset="0"/>
            </a:endParaRPr>
          </a:p>
          <a:p>
            <a:r>
              <a:rPr lang="en-US" sz="3600" b="1" dirty="0">
                <a:latin typeface="Calibri" panose="020F0502020204030204" pitchFamily="34" charset="0"/>
              </a:rPr>
              <a:t>Main takeaway:</a:t>
            </a:r>
          </a:p>
          <a:p>
            <a:r>
              <a:rPr lang="en-US" sz="3600" dirty="0"/>
              <a:t>Population decline in Puerto Rico is persistence-driven; reversing it requires a coordinated recovery strong enough to overcome demographic momentum</a:t>
            </a: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200" dirty="0">
              <a:latin typeface="Calibri" panose="020F0502020204030204" pitchFamily="34" charset="0"/>
            </a:endParaRPr>
          </a:p>
          <a:p>
            <a:endParaRPr lang="en-US" sz="3600" dirty="0">
              <a:latin typeface="Calibri" panose="020F0502020204030204" pitchFamily="34" charset="0"/>
            </a:endParaRPr>
          </a:p>
          <a:p>
            <a:r>
              <a:rPr lang="en-US" sz="3600" dirty="0">
                <a:latin typeface="Calibri" panose="020F0502020204030204" pitchFamily="34" charset="0"/>
              </a:rPr>
              <a:t>Policy scenarios slow decline, but only strong recovery + return migration produces stabilization</a:t>
            </a:r>
            <a:endParaRPr lang="en-US" sz="3600" b="0" baseline="0" dirty="0">
              <a:latin typeface="Calibri" panose="020F0502020204030204" pitchFamily="34" charset="0"/>
            </a:endParaRPr>
          </a:p>
        </p:txBody>
      </p:sp>
      <p:sp>
        <p:nvSpPr>
          <p:cNvPr id="7" name="TextBox 6">
            <a:extLst>
              <a:ext uri="{FF2B5EF4-FFF2-40B4-BE49-F238E27FC236}">
                <a16:creationId xmlns:a16="http://schemas.microsoft.com/office/drawing/2014/main" id="{31012C26-F0EB-A0F9-7EA7-19B5B1EBEE56}"/>
              </a:ext>
            </a:extLst>
          </p:cNvPr>
          <p:cNvSpPr txBox="1"/>
          <p:nvPr/>
        </p:nvSpPr>
        <p:spPr>
          <a:xfrm>
            <a:off x="1527472" y="22004467"/>
            <a:ext cx="12750799" cy="7251915"/>
          </a:xfrm>
          <a:prstGeom prst="rect">
            <a:avLst/>
          </a:prstGeom>
          <a:noFill/>
        </p:spPr>
        <p:txBody>
          <a:bodyPr wrap="square" lIns="79925" tIns="39970" rIns="79925" bIns="39970" rtlCol="0">
            <a:spAutoFit/>
          </a:bodyPr>
          <a:lstStyle/>
          <a:p>
            <a:pPr marL="457200" indent="-457200">
              <a:buFont typeface="Arial" panose="020B0604020202020204" pitchFamily="34" charset="0"/>
              <a:buChar char="•"/>
            </a:pPr>
            <a:r>
              <a:rPr lang="en-US" sz="3600" b="0" baseline="0" dirty="0">
                <a:latin typeface="Calibri" panose="020F0502020204030204" pitchFamily="34" charset="0"/>
              </a:rPr>
              <a:t>Puerto Rico has seen persistent population loss since ~2010 </a:t>
            </a:r>
          </a:p>
          <a:p>
            <a:pPr marL="457200" indent="-457200">
              <a:buFont typeface="Arial" panose="020B0604020202020204" pitchFamily="34" charset="0"/>
              <a:buChar char="•"/>
            </a:pPr>
            <a:r>
              <a:rPr lang="en-US" sz="3600" b="0" baseline="0" dirty="0">
                <a:latin typeface="Calibri" panose="020F0502020204030204" pitchFamily="34" charset="0"/>
              </a:rPr>
              <a:t>Decline is uneven across regions (South and East more affected) </a:t>
            </a:r>
          </a:p>
          <a:p>
            <a:pPr marL="457200" indent="-457200">
              <a:buFont typeface="Arial" panose="020B0604020202020204" pitchFamily="34" charset="0"/>
              <a:buChar char="•"/>
            </a:pPr>
            <a:r>
              <a:rPr lang="en-US" sz="3600" b="0" baseline="0" dirty="0">
                <a:latin typeface="Calibri" panose="020F0502020204030204" pitchFamily="34" charset="0"/>
              </a:rPr>
              <a:t>Hurricanes and earthquakes introduce </a:t>
            </a:r>
            <a:r>
              <a:rPr lang="en-US" sz="3600" dirty="0">
                <a:latin typeface="Calibri" panose="020F0502020204030204" pitchFamily="34" charset="0"/>
              </a:rPr>
              <a:t>long</a:t>
            </a:r>
            <a:r>
              <a:rPr lang="en-US" sz="3600" b="0" baseline="0" dirty="0">
                <a:latin typeface="Calibri" panose="020F0502020204030204" pitchFamily="34" charset="0"/>
              </a:rPr>
              <a:t>-term shocks and volatility </a:t>
            </a:r>
          </a:p>
          <a:p>
            <a:pPr marL="457200" indent="-457200">
              <a:buFont typeface="Arial" panose="020B0604020202020204" pitchFamily="34" charset="0"/>
              <a:buChar char="•"/>
            </a:pPr>
            <a:r>
              <a:rPr lang="en-US" sz="3600" b="0" baseline="0" dirty="0">
                <a:latin typeface="Calibri" panose="020F0502020204030204" pitchFamily="34" charset="0"/>
              </a:rPr>
              <a:t>Long-term dynamics are driven by: </a:t>
            </a:r>
          </a:p>
          <a:p>
            <a:pPr marL="920750" lvl="1" indent="-455613">
              <a:buFont typeface="Arial" panose="020B0604020202020204" pitchFamily="34" charset="0"/>
              <a:buChar char="•"/>
            </a:pPr>
            <a:r>
              <a:rPr lang="en-US" sz="3600" dirty="0">
                <a:latin typeface="Calibri" panose="020F0502020204030204" pitchFamily="34" charset="0"/>
              </a:rPr>
              <a:t>natural disasters </a:t>
            </a:r>
          </a:p>
          <a:p>
            <a:pPr marL="920750" lvl="1" indent="-455613">
              <a:buFont typeface="Arial" panose="020B0604020202020204" pitchFamily="34" charset="0"/>
              <a:buChar char="•"/>
            </a:pPr>
            <a:r>
              <a:rPr lang="en-US" sz="3600" b="0" baseline="0" dirty="0">
                <a:latin typeface="Calibri" panose="020F0502020204030204" pitchFamily="34" charset="0"/>
              </a:rPr>
              <a:t>migration patterns </a:t>
            </a:r>
          </a:p>
          <a:p>
            <a:pPr marL="920750" lvl="1" indent="-455613">
              <a:buFont typeface="Arial" panose="020B0604020202020204" pitchFamily="34" charset="0"/>
              <a:buChar char="•"/>
            </a:pPr>
            <a:r>
              <a:rPr lang="en-US" sz="3600" b="0" baseline="0" dirty="0">
                <a:latin typeface="Calibri" panose="020F0502020204030204" pitchFamily="34" charset="0"/>
              </a:rPr>
              <a:t>economic opportunity </a:t>
            </a:r>
          </a:p>
          <a:p>
            <a:pPr marL="920750" lvl="1" indent="-455613">
              <a:buFont typeface="Arial" panose="020B0604020202020204" pitchFamily="34" charset="0"/>
              <a:buChar char="•"/>
            </a:pPr>
            <a:r>
              <a:rPr lang="en-US" sz="3600" b="0" baseline="0" dirty="0">
                <a:latin typeface="Calibri" panose="020F0502020204030204" pitchFamily="34" charset="0"/>
              </a:rPr>
              <a:t>Safety and social vulnerability factors</a:t>
            </a:r>
          </a:p>
          <a:p>
            <a:endParaRPr lang="en-US" sz="3600" b="0" baseline="0" dirty="0">
              <a:latin typeface="Calibri" panose="020F0502020204030204" pitchFamily="34" charset="0"/>
            </a:endParaRPr>
          </a:p>
          <a:p>
            <a:r>
              <a:rPr lang="en-US" sz="3600" b="1" baseline="0" dirty="0">
                <a:latin typeface="Calibri" panose="020F0502020204030204" pitchFamily="34" charset="0"/>
              </a:rPr>
              <a:t>Key challenge: </a:t>
            </a:r>
            <a:r>
              <a:rPr lang="en-US" sz="3600" b="0" baseline="0" dirty="0">
                <a:latin typeface="Calibri" panose="020F0502020204030204" pitchFamily="34" charset="0"/>
              </a:rPr>
              <a:t>Separating short-term shocks vs long-term structural trends.</a:t>
            </a:r>
          </a:p>
          <a:p>
            <a:endParaRPr lang="en-US" sz="3400" b="0" baseline="0" dirty="0">
              <a:latin typeface="Calibri" panose="020F0502020204030204" pitchFamily="34" charset="0"/>
            </a:endParaRPr>
          </a:p>
        </p:txBody>
      </p:sp>
      <p:sp>
        <p:nvSpPr>
          <p:cNvPr id="8" name="TextBox 7">
            <a:extLst>
              <a:ext uri="{FF2B5EF4-FFF2-40B4-BE49-F238E27FC236}">
                <a16:creationId xmlns:a16="http://schemas.microsoft.com/office/drawing/2014/main" id="{27DE3511-51E9-8ACC-D825-D9D57C2245B3}"/>
              </a:ext>
            </a:extLst>
          </p:cNvPr>
          <p:cNvSpPr txBox="1"/>
          <p:nvPr/>
        </p:nvSpPr>
        <p:spPr>
          <a:xfrm>
            <a:off x="15358030" y="13535522"/>
            <a:ext cx="13131282" cy="14730885"/>
          </a:xfrm>
          <a:prstGeom prst="rect">
            <a:avLst/>
          </a:prstGeom>
          <a:noFill/>
        </p:spPr>
        <p:txBody>
          <a:bodyPr wrap="square" lIns="79925" tIns="39970" rIns="79925" bIns="39970" rtlCol="0">
            <a:spAutoFit/>
          </a:bodyPr>
          <a:lstStyle/>
          <a:p>
            <a:pPr marL="571500" indent="-571500">
              <a:buFont typeface="Arial" panose="020B0604020202020204" pitchFamily="34" charset="0"/>
              <a:buChar char="•"/>
            </a:pPr>
            <a:r>
              <a:rPr lang="en-US" altLang="en-US" sz="3400" b="1" dirty="0">
                <a:latin typeface="Arial" panose="020B0604020202020204" pitchFamily="34" charset="0"/>
              </a:rPr>
              <a:t>Exploratory Data Analysis: </a:t>
            </a:r>
          </a:p>
          <a:p>
            <a:pPr marL="942975" lvl="0" indent="-48736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Municipal-level (2010–2023) </a:t>
            </a:r>
          </a:p>
          <a:p>
            <a:pPr marL="942975" lvl="0" indent="-48736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Economic, safety, demographic, vulnerability, disaster features</a:t>
            </a:r>
          </a:p>
          <a:p>
            <a:pPr marL="942975" indent="-487363" defTabSz="914400" eaLnBrk="0" fontAlgn="base" hangingPunct="0">
              <a:spcBef>
                <a:spcPct val="0"/>
              </a:spcBef>
              <a:spcAft>
                <a:spcPct val="0"/>
              </a:spcAft>
              <a:buFont typeface="Arial" panose="020B0604020202020204" pitchFamily="34" charset="0"/>
              <a:buChar char="•"/>
            </a:pPr>
            <a:r>
              <a:rPr lang="en-US" sz="3400" dirty="0">
                <a:solidFill>
                  <a:srgbClr val="000000"/>
                </a:solidFill>
                <a:latin typeface="Arial" charset="0"/>
                <a:ea typeface="Arial" charset="0"/>
                <a:cs typeface="Arial" charset="0"/>
              </a:rPr>
              <a:t>Reference: U.S. Census Bureau. American Community Survey</a:t>
            </a:r>
            <a:r>
              <a:rPr lang="en-US" altLang="en-US" sz="3400" dirty="0">
                <a:latin typeface="Arial" panose="020B0604020202020204" pitchFamily="34" charset="0"/>
              </a:rPr>
              <a:t> </a:t>
            </a:r>
          </a:p>
          <a:p>
            <a:pPr lvl="0" defTabSz="914400" eaLnBrk="0" fontAlgn="base" hangingPunct="0">
              <a:spcBef>
                <a:spcPct val="0"/>
              </a:spcBef>
              <a:spcAft>
                <a:spcPct val="0"/>
              </a:spcAft>
              <a:buFontTx/>
              <a:buChar char="•"/>
            </a:pPr>
            <a:endParaRPr lang="en-US" altLang="en-US" sz="3400" dirty="0">
              <a:latin typeface="Arial" panose="020B060402020202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Arial" panose="020B0604020202020204" pitchFamily="34" charset="0"/>
              </a:rPr>
              <a:t>Split: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Train ≤ 2018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Validation = 2019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Test ≥ 2020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(chronological → no data leakage) </a:t>
            </a:r>
          </a:p>
          <a:p>
            <a:pPr lvl="0" defTabSz="914400" eaLnBrk="0" fontAlgn="base" hangingPunct="0">
              <a:spcBef>
                <a:spcPct val="0"/>
              </a:spcBef>
              <a:spcAft>
                <a:spcPct val="0"/>
              </a:spcAft>
              <a:buFontTx/>
              <a:buChar char="•"/>
            </a:pPr>
            <a:endParaRPr lang="en-US" altLang="en-US" sz="3400" dirty="0">
              <a:latin typeface="Arial" panose="020B060402020202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Arial" panose="020B0604020202020204" pitchFamily="34" charset="0"/>
              </a:rPr>
              <a:t>Final Model: </a:t>
            </a:r>
          </a:p>
          <a:p>
            <a:pPr marL="846138" lvl="0" indent="-390525"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Lasso (R² ≈ 0.91) selected for strong out-of-sample performance and interpretability</a:t>
            </a:r>
          </a:p>
          <a:p>
            <a:pPr marL="846138" lvl="0" indent="-390525" defTabSz="914400" eaLnBrk="0" fontAlgn="base" hangingPunct="0">
              <a:spcBef>
                <a:spcPct val="0"/>
              </a:spcBef>
              <a:spcAft>
                <a:spcPct val="0"/>
              </a:spcAft>
              <a:buFont typeface="Arial" panose="020B0604020202020204" pitchFamily="34" charset="0"/>
              <a:buChar char="•"/>
            </a:pPr>
            <a:endParaRPr lang="en-US" altLang="en-US" sz="3400" dirty="0">
              <a:latin typeface="Arial" panose="020B060402020202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Arial" panose="020B0604020202020204" pitchFamily="34" charset="0"/>
              </a:rPr>
              <a:t>Features: </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Hurricane and earthquake exposure</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Crime rates </a:t>
            </a:r>
          </a:p>
          <a:p>
            <a:pPr marL="911225" indent="-45561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Income &amp; establishment growth </a:t>
            </a:r>
          </a:p>
          <a:p>
            <a:pPr marL="911225" indent="-45561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Social vulnerability indicators (SVIs) </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Natural change (births–deaths) </a:t>
            </a:r>
          </a:p>
          <a:p>
            <a:pPr lvl="0" defTabSz="914400" eaLnBrk="0" fontAlgn="base" hangingPunct="0">
              <a:spcBef>
                <a:spcPct val="0"/>
              </a:spcBef>
              <a:spcAft>
                <a:spcPct val="0"/>
              </a:spcAft>
              <a:buFontTx/>
              <a:buChar char="•"/>
            </a:pPr>
            <a:endParaRPr lang="en-US" altLang="en-US" sz="3400" dirty="0">
              <a:latin typeface="Arial" panose="020B060402020202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Arial" panose="020B0604020202020204" pitchFamily="34" charset="0"/>
              </a:rPr>
              <a:t>Results Interpretation: </a:t>
            </a:r>
          </a:p>
          <a:p>
            <a:pPr marL="922338" lvl="0" indent="-461963" defTabSz="914400" eaLnBrk="0" fontAlgn="base" hangingPunct="0">
              <a:spcBef>
                <a:spcPct val="0"/>
              </a:spcBef>
              <a:spcAft>
                <a:spcPct val="0"/>
              </a:spcAft>
              <a:buFont typeface="Arial" panose="020B0604020202020204" pitchFamily="34" charset="0"/>
              <a:buChar char="•"/>
            </a:pPr>
            <a:r>
              <a:rPr lang="en-US" altLang="en-US" sz="3400" dirty="0">
                <a:latin typeface="Arial" panose="020B0604020202020204" pitchFamily="34" charset="0"/>
              </a:rPr>
              <a:t>Predictive population graphical representations</a:t>
            </a:r>
          </a:p>
          <a:p>
            <a:pPr lvl="0" defTabSz="914400" eaLnBrk="0" fontAlgn="base" hangingPunct="0">
              <a:spcBef>
                <a:spcPct val="0"/>
              </a:spcBef>
              <a:spcAft>
                <a:spcPct val="0"/>
              </a:spcAft>
            </a:pPr>
            <a:endParaRPr lang="en-US" altLang="en-US" sz="3400" dirty="0">
              <a:latin typeface="Arial" panose="020B0604020202020204" pitchFamily="34" charset="0"/>
            </a:endParaRPr>
          </a:p>
          <a:p>
            <a:endParaRPr lang="en-US" sz="3400" b="0" baseline="0" dirty="0">
              <a:latin typeface="Calibri" panose="020F0502020204030204" pitchFamily="34" charset="0"/>
            </a:endParaRPr>
          </a:p>
          <a:p>
            <a:endParaRPr lang="en-US" sz="3400" b="0" baseline="0" dirty="0">
              <a:latin typeface="Calibri" panose="020F0502020204030204" pitchFamily="34" charset="0"/>
            </a:endParaRPr>
          </a:p>
        </p:txBody>
      </p:sp>
      <p:sp>
        <p:nvSpPr>
          <p:cNvPr id="9" name="TextBox 8">
            <a:extLst>
              <a:ext uri="{FF2B5EF4-FFF2-40B4-BE49-F238E27FC236}">
                <a16:creationId xmlns:a16="http://schemas.microsoft.com/office/drawing/2014/main" id="{AA86D692-F09A-B6BC-0603-2A0E5E9543A9}"/>
              </a:ext>
            </a:extLst>
          </p:cNvPr>
          <p:cNvSpPr txBox="1"/>
          <p:nvPr/>
        </p:nvSpPr>
        <p:spPr>
          <a:xfrm>
            <a:off x="29449103" y="28340732"/>
            <a:ext cx="13090715" cy="3373930"/>
          </a:xfrm>
          <a:prstGeom prst="rect">
            <a:avLst/>
          </a:prstGeom>
          <a:noFill/>
        </p:spPr>
        <p:txBody>
          <a:bodyPr wrap="square" lIns="79925" tIns="39970" rIns="79925" bIns="39970" rtlCol="0">
            <a:spAutoFit/>
          </a:bodyPr>
          <a:lstStyle/>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rPr>
              <a:t>Identify policy combinations that can meaningfully alter long-term population trajectories</a:t>
            </a:r>
          </a:p>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rPr>
              <a:t>Incorporate uncertainty and scenario ranges to better communicate risk in population predictions</a:t>
            </a:r>
          </a:p>
          <a:p>
            <a:pPr marL="571500" lvl="0" indent="-571500" defTabSz="914400" eaLnBrk="0" fontAlgn="base" hangingPunct="0">
              <a:spcBef>
                <a:spcPct val="0"/>
              </a:spcBef>
              <a:spcAft>
                <a:spcPct val="0"/>
              </a:spcAft>
              <a:buFont typeface="Arial" panose="020B0604020202020204" pitchFamily="34" charset="0"/>
              <a:buChar char="•"/>
            </a:pPr>
            <a:r>
              <a:rPr lang="en-US" altLang="en-US" sz="3600" dirty="0">
                <a:latin typeface="Arial" panose="020B0604020202020204" pitchFamily="34" charset="0"/>
              </a:rPr>
              <a:t>Explore spatial models to better capture regional interactions</a:t>
            </a:r>
          </a:p>
          <a:p>
            <a:endParaRPr lang="en-US" sz="3400" b="0" baseline="0" dirty="0">
              <a:latin typeface="Calibri" panose="020F0502020204030204" pitchFamily="34" charset="0"/>
            </a:endParaRPr>
          </a:p>
        </p:txBody>
      </p:sp>
      <p:pic>
        <p:nvPicPr>
          <p:cNvPr id="2" name="Picture 1" descr="A map of puerto rico with a graph and a chart&#10;&#10;AI-generated content may be incorrect.">
            <a:extLst>
              <a:ext uri="{FF2B5EF4-FFF2-40B4-BE49-F238E27FC236}">
                <a16:creationId xmlns:a16="http://schemas.microsoft.com/office/drawing/2014/main" id="{ED5BEAAC-FD9E-7AAD-4B2C-7031B4E8F54B}"/>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3175432" y="13796336"/>
            <a:ext cx="9122463" cy="5656000"/>
          </a:xfrm>
          <a:prstGeom prst="rect">
            <a:avLst/>
          </a:prstGeom>
          <a:effectLst>
            <a:softEdge rad="127000"/>
          </a:effectLst>
        </p:spPr>
      </p:pic>
      <p:pic>
        <p:nvPicPr>
          <p:cNvPr id="12" name="Picture 11" descr="A graph with lines and numbers&#10;&#10;AI-generated content may be incorrect.">
            <a:extLst>
              <a:ext uri="{FF2B5EF4-FFF2-40B4-BE49-F238E27FC236}">
                <a16:creationId xmlns:a16="http://schemas.microsoft.com/office/drawing/2014/main" id="{B558D406-1AB8-4520-900D-F414515F7FB6}"/>
              </a:ext>
            </a:extLst>
          </p:cNvPr>
          <p:cNvPicPr>
            <a:picLocks noChangeAspect="1"/>
          </p:cNvPicPr>
          <p:nvPr/>
        </p:nvPicPr>
        <p:blipFill>
          <a:blip r:embed="rId5">
            <a:alphaModFix amt="85000"/>
            <a:extLst>
              <a:ext uri="{28A0092B-C50C-407E-A947-70E740481C1C}">
                <a14:useLocalDpi xmlns:a14="http://schemas.microsoft.com/office/drawing/2010/main" val="0"/>
              </a:ext>
            </a:extLst>
          </a:blip>
          <a:stretch>
            <a:fillRect/>
          </a:stretch>
        </p:blipFill>
        <p:spPr>
          <a:xfrm>
            <a:off x="36267000" y="21029145"/>
            <a:ext cx="6096728" cy="3271960"/>
          </a:xfrm>
          <a:prstGeom prst="rect">
            <a:avLst/>
          </a:prstGeom>
        </p:spPr>
      </p:pic>
      <p:pic>
        <p:nvPicPr>
          <p:cNvPr id="14" name="Picture 13" descr="A graph of a line graph&#10;&#10;AI-generated content may be incorrect.">
            <a:extLst>
              <a:ext uri="{FF2B5EF4-FFF2-40B4-BE49-F238E27FC236}">
                <a16:creationId xmlns:a16="http://schemas.microsoft.com/office/drawing/2014/main" id="{D3AF9EEC-EE28-26A8-8EA1-95527F6CCE40}"/>
              </a:ext>
            </a:extLst>
          </p:cNvPr>
          <p:cNvPicPr>
            <a:picLocks noChangeAspect="1"/>
          </p:cNvPicPr>
          <p:nvPr/>
        </p:nvPicPr>
        <p:blipFill>
          <a:blip r:embed="rId6">
            <a:alphaModFix amt="85000"/>
          </a:blip>
          <a:stretch>
            <a:fillRect/>
          </a:stretch>
        </p:blipFill>
        <p:spPr>
          <a:xfrm>
            <a:off x="29449103" y="21005943"/>
            <a:ext cx="6096728" cy="3295162"/>
          </a:xfrm>
          <a:prstGeom prst="rect">
            <a:avLst/>
          </a:prstGeom>
        </p:spPr>
      </p:pic>
      <p:pic>
        <p:nvPicPr>
          <p:cNvPr id="30" name="Picture 29" descr="A diagram of a model&#10;&#10;AI-generated content may be incorrect.">
            <a:extLst>
              <a:ext uri="{FF2B5EF4-FFF2-40B4-BE49-F238E27FC236}">
                <a16:creationId xmlns:a16="http://schemas.microsoft.com/office/drawing/2014/main" id="{C4FEA899-F5B5-0E74-6FBC-369EAE51CB54}"/>
              </a:ext>
            </a:extLst>
          </p:cNvPr>
          <p:cNvPicPr>
            <a:picLocks noChangeAspect="1"/>
          </p:cNvPicPr>
          <p:nvPr/>
        </p:nvPicPr>
        <p:blipFill>
          <a:blip r:embed="rId7">
            <a:alphaModFix amt="85000"/>
          </a:blip>
          <a:stretch>
            <a:fillRect/>
          </a:stretch>
        </p:blipFill>
        <p:spPr>
          <a:xfrm>
            <a:off x="16035554" y="26323695"/>
            <a:ext cx="11543930" cy="5419871"/>
          </a:xfrm>
          <a:prstGeom prst="rect">
            <a:avLst/>
          </a:prstGeom>
        </p:spPr>
      </p:pic>
      <p:pic>
        <p:nvPicPr>
          <p:cNvPr id="13" name="Picture 12" descr="A map of different colored areas&#10;&#10;AI-generated content may be incorrect.">
            <a:extLst>
              <a:ext uri="{FF2B5EF4-FFF2-40B4-BE49-F238E27FC236}">
                <a16:creationId xmlns:a16="http://schemas.microsoft.com/office/drawing/2014/main" id="{2A6A3490-1966-B4EA-6FE6-A7C5F29F22D5}"/>
              </a:ext>
            </a:extLst>
          </p:cNvPr>
          <p:cNvPicPr>
            <a:picLocks noChangeAspect="1"/>
          </p:cNvPicPr>
          <p:nvPr/>
        </p:nvPicPr>
        <p:blipFill>
          <a:blip r:embed="rId8"/>
          <a:stretch>
            <a:fillRect/>
          </a:stretch>
        </p:blipFill>
        <p:spPr>
          <a:xfrm>
            <a:off x="8329698" y="29256382"/>
            <a:ext cx="6040247" cy="2310284"/>
          </a:xfrm>
          <a:prstGeom prst="rect">
            <a:avLst/>
          </a:prstGeom>
          <a:ln>
            <a:noFill/>
          </a:ln>
        </p:spPr>
      </p:pic>
      <p:pic>
        <p:nvPicPr>
          <p:cNvPr id="28" name="Picture 27" descr="A map of different colored areas&#10;&#10;AI-generated content may be incorrect.">
            <a:extLst>
              <a:ext uri="{FF2B5EF4-FFF2-40B4-BE49-F238E27FC236}">
                <a16:creationId xmlns:a16="http://schemas.microsoft.com/office/drawing/2014/main" id="{0CE0FB28-63F6-F12B-A5C5-4A34C958E91D}"/>
              </a:ext>
            </a:extLst>
          </p:cNvPr>
          <p:cNvPicPr>
            <a:picLocks noChangeAspect="1"/>
          </p:cNvPicPr>
          <p:nvPr/>
        </p:nvPicPr>
        <p:blipFill>
          <a:blip r:embed="rId9"/>
          <a:stretch>
            <a:fillRect/>
          </a:stretch>
        </p:blipFill>
        <p:spPr>
          <a:xfrm>
            <a:off x="1435798" y="29256382"/>
            <a:ext cx="6031429" cy="2310284"/>
          </a:xfrm>
          <a:prstGeom prst="rect">
            <a:avLst/>
          </a:prstGeom>
          <a:ln>
            <a:noFill/>
          </a:ln>
        </p:spPr>
      </p:pic>
    </p:spTree>
    <p:extLst>
      <p:ext uri="{BB962C8B-B14F-4D97-AF65-F5344CB8AC3E}">
        <p14:creationId xmlns:p14="http://schemas.microsoft.com/office/powerpoint/2010/main" val="120462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3EC94-51C9-B381-F8F2-4EC9B03D6325}"/>
              </a:ext>
            </a:extLst>
          </p:cNvPr>
          <p:cNvSpPr txBox="1"/>
          <p:nvPr/>
        </p:nvSpPr>
        <p:spPr>
          <a:xfrm>
            <a:off x="4691269" y="3948082"/>
            <a:ext cx="30493253" cy="25022235"/>
          </a:xfrm>
          <a:prstGeom prst="rect">
            <a:avLst/>
          </a:prstGeom>
          <a:noFill/>
        </p:spPr>
        <p:txBody>
          <a:bodyPr wrap="square" rtlCol="0">
            <a:spAutoFit/>
          </a:bodyPr>
          <a:lstStyle/>
          <a:p>
            <a:pPr marL="0" marR="0">
              <a:spcBef>
                <a:spcPts val="0"/>
              </a:spcBef>
              <a:spcAft>
                <a:spcPts val="0"/>
              </a:spcAft>
            </a:pPr>
            <a:r>
              <a:rPr lang="en-US" sz="60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Poster Guidelines</a:t>
            </a:r>
          </a:p>
          <a:p>
            <a:pPr marL="0" marR="0">
              <a:spcBef>
                <a:spcPts val="0"/>
              </a:spcBef>
              <a:spcAft>
                <a:spcPts val="0"/>
              </a:spcAft>
            </a:pPr>
            <a:endParaRPr lang="en-US" sz="5400" b="1" kern="100" dirty="0">
              <a:solidFill>
                <a:srgbClr val="CD0033"/>
              </a:solidFill>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Poster Print Size: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This poster template is 36” high by 48” wide. It can be used to print any poster with a 3:4 aspect ratio.</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Placeholders:</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The various elements included in this poster are ones we often see in medical, research, and scientific posters. Feel free to edit, move, add, and delete items, or change the layout to suit your needs. Always check with your conference organizer for specific requirements.</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Image Quality:</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You can place digital photos or logo art in your poster file by selecting the Insert, Picture command, or by using standard copy &amp; paste. For best results, all graphic elements should be at least 150-200 pixels per inch in their final printed size. For instance, a 1600 x 1200 pixel photo will usually look fine up to 8“-10” wide on your printed poster.</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Please note that graphics from websites (such as the logo on your hospital's or university's home page) will only be 72dpi and not suitable for printing.</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Change Color Theme: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This template is designed to use the built-in color themes in the newer versions of PowerPoint.</a:t>
            </a:r>
          </a:p>
          <a:p>
            <a:pPr marL="0" marR="0">
              <a:spcBef>
                <a:spcPts val="0"/>
              </a:spcBef>
              <a:spcAft>
                <a:spcPts val="0"/>
              </a:spcAft>
            </a:pPr>
            <a:endParaRPr lang="en-US" sz="5400" kern="100" dirty="0">
              <a:effectLst/>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To change the color theme, select the Design tab, then select the Colors drop-down list.</a:t>
            </a:r>
          </a:p>
          <a:p>
            <a:pPr marL="0" marR="0">
              <a:spcBef>
                <a:spcPts val="0"/>
              </a:spcBef>
              <a:spcAft>
                <a:spcPts val="0"/>
              </a:spcAft>
            </a:pPr>
            <a:endParaRPr lang="en-US" sz="5400" kern="100" dirty="0">
              <a:effectLst/>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The default color theme for this template is “Office”, so you can always return to that after trying some of the alternatives.</a:t>
            </a:r>
          </a:p>
        </p:txBody>
      </p:sp>
    </p:spTree>
    <p:extLst>
      <p:ext uri="{BB962C8B-B14F-4D97-AF65-F5344CB8AC3E}">
        <p14:creationId xmlns:p14="http://schemas.microsoft.com/office/powerpoint/2010/main" val="3090964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02DA1231611544B7633ABC55414EFF" ma:contentTypeVersion="17" ma:contentTypeDescription="Create a new document." ma:contentTypeScope="" ma:versionID="5fa979140ce30341f4780377ce301feb">
  <xsd:schema xmlns:xsd="http://www.w3.org/2001/XMLSchema" xmlns:xs="http://www.w3.org/2001/XMLSchema" xmlns:p="http://schemas.microsoft.com/office/2006/metadata/properties" xmlns:ns2="113e35d5-149a-42d0-9759-7e4251ca70ae" xmlns:ns3="7ea28f75-b447-4008-abb1-f022e6a61489" targetNamespace="http://schemas.microsoft.com/office/2006/metadata/properties" ma:root="true" ma:fieldsID="47d8b4c5f05c57c39bcda140eb90ea8c" ns2:_="" ns3:_="">
    <xsd:import namespace="113e35d5-149a-42d0-9759-7e4251ca70ae"/>
    <xsd:import namespace="7ea28f75-b447-4008-abb1-f022e6a614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AutoTags" minOccurs="0"/>
                <xsd:element ref="ns2:MediaServiceOCR"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e35d5-149a-42d0-9759-7e4251ca70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48fd182-3af3-4b45-858c-95346ee1bc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a28f75-b447-4008-abb1-f022e6a614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4c75616-ecdf-4ec9-ad19-abf48ff25f01}" ma:internalName="TaxCatchAll" ma:showField="CatchAllData" ma:web="7ea28f75-b447-4008-abb1-f022e6a614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13e35d5-149a-42d0-9759-7e4251ca70ae">
      <Terms xmlns="http://schemas.microsoft.com/office/infopath/2007/PartnerControls"/>
    </lcf76f155ced4ddcb4097134ff3c332f>
    <TaxCatchAll xmlns="7ea28f75-b447-4008-abb1-f022e6a61489" xsi:nil="true"/>
    <SharedWithUsers xmlns="7ea28f75-b447-4008-abb1-f022e6a61489">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0D33F5-A399-4B4D-A3F4-58739A0332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3e35d5-149a-42d0-9759-7e4251ca70ae"/>
    <ds:schemaRef ds:uri="7ea28f75-b447-4008-abb1-f022e6a614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BD6F2F-D097-4693-BA4C-210A2E261A36}">
  <ds:schemaRefs>
    <ds:schemaRef ds:uri="http://schemas.microsoft.com/office/2006/metadata/properties"/>
    <ds:schemaRef ds:uri="http://schemas.microsoft.com/office/infopath/2007/PartnerControls"/>
    <ds:schemaRef ds:uri="113e35d5-149a-42d0-9759-7e4251ca70ae"/>
    <ds:schemaRef ds:uri="7ea28f75-b447-4008-abb1-f022e6a61489"/>
  </ds:schemaRefs>
</ds:datastoreItem>
</file>

<file path=customXml/itemProps3.xml><?xml version="1.0" encoding="utf-8"?>
<ds:datastoreItem xmlns:ds="http://schemas.openxmlformats.org/officeDocument/2006/customXml" ds:itemID="{4CC2D6B8-4129-4487-B8A1-A1EC5673B7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4755</TotalTime>
  <Words>796</Words>
  <Application>Microsoft Macintosh PowerPoint</Application>
  <PresentationFormat>Custom</PresentationFormat>
  <Paragraphs>111</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Rutgers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Julia Xia</dc:creator>
  <cp:lastModifiedBy>Andres Ruiz</cp:lastModifiedBy>
  <cp:revision>141</cp:revision>
  <cp:lastPrinted>2012-08-01T17:44:46Z</cp:lastPrinted>
  <dcterms:created xsi:type="dcterms:W3CDTF">2014-03-07T20:19:06Z</dcterms:created>
  <dcterms:modified xsi:type="dcterms:W3CDTF">2026-04-30T02:24:49Z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0x010100E102DA1231611544B7633ABC55414EFF</vt:lpwstr>
  </property>
  <property fmtid="{D5CDD505-2E9C-101B-9397-08002B2CF9AE}" pid="3" name="Order">
    <vt:r8>22600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