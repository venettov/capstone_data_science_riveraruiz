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26"/>
  </p:notesMasterIdLst>
  <p:handoutMasterIdLst>
    <p:handoutMasterId r:id="rId27"/>
  </p:handoutMasterIdLst>
  <p:sldIdLst>
    <p:sldId id="408" r:id="rId5"/>
    <p:sldId id="407" r:id="rId6"/>
    <p:sldId id="429" r:id="rId7"/>
    <p:sldId id="431" r:id="rId8"/>
    <p:sldId id="432" r:id="rId9"/>
    <p:sldId id="440" r:id="rId10"/>
    <p:sldId id="434" r:id="rId11"/>
    <p:sldId id="435" r:id="rId12"/>
    <p:sldId id="436" r:id="rId13"/>
    <p:sldId id="437" r:id="rId14"/>
    <p:sldId id="441" r:id="rId15"/>
    <p:sldId id="438" r:id="rId16"/>
    <p:sldId id="439" r:id="rId17"/>
    <p:sldId id="430" r:id="rId18"/>
    <p:sldId id="273" r:id="rId19"/>
    <p:sldId id="442" r:id="rId20"/>
    <p:sldId id="275" r:id="rId21"/>
    <p:sldId id="276" r:id="rId22"/>
    <p:sldId id="277" r:id="rId23"/>
    <p:sldId id="279" r:id="rId24"/>
    <p:sldId id="281" r:id="rId25"/>
  </p:sldIdLst>
  <p:sldSz cx="12192000" cy="6858000"/>
  <p:notesSz cx="9296400" cy="7010400"/>
  <p:embeddedFontLst>
    <p:embeddedFont>
      <p:font typeface="Cambria Math" panose="02040503050406030204" pitchFamily="18" charset="0"/>
      <p:regular r:id="rId28"/>
    </p:embeddedFont>
    <p:embeddedFont>
      <p:font typeface="Merriweather" pitchFamily="2" charset="77"/>
      <p:regular r:id="rId29"/>
      <p:bold r:id="rId30"/>
      <p:italic r:id="rId31"/>
      <p:boldItalic r:id="rId32"/>
    </p:embeddedFont>
    <p:embeddedFont>
      <p:font typeface="PT serif" panose="020A0603040505020204" pitchFamily="18" charset="77"/>
      <p:regular r:id="rId33"/>
      <p:bold r:id="rId34"/>
      <p:italic r:id="rId35"/>
      <p:boldItalic r:id="rId36"/>
    </p:embeddedFont>
    <p:embeddedFont>
      <p:font typeface="Roboto" panose="02000000000000000000" pitchFamily="2" charset="0"/>
      <p:regular r:id="rId37"/>
      <p:bold r:id="rId38"/>
      <p:italic r:id="rId39"/>
      <p:boldItalic r:id="rId40"/>
    </p:embeddedFont>
    <p:embeddedFont>
      <p:font typeface="Source sans 3" panose="020B0303030403020204" pitchFamily="34" charset="0"/>
      <p:regular r:id="rId41"/>
      <p:bold r:id="rId42"/>
      <p:italic r:id="rId43"/>
      <p:boldItalic r:id="rId4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289"/>
    <a:srgbClr val="F3D169"/>
    <a:srgbClr val="E8B51F"/>
    <a:srgbClr val="E0002B"/>
    <a:srgbClr val="D82042"/>
    <a:srgbClr val="ECC734"/>
    <a:srgbClr val="FFD579"/>
    <a:srgbClr val="988CB0"/>
    <a:srgbClr val="CC0033"/>
    <a:srgbClr val="62E8DD"/>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08"/>
    <p:restoredTop sz="82055"/>
  </p:normalViewPr>
  <p:slideViewPr>
    <p:cSldViewPr snapToGrid="0">
      <p:cViewPr varScale="1">
        <p:scale>
          <a:sx n="89" d="100"/>
          <a:sy n="89" d="100"/>
        </p:scale>
        <p:origin x="1816" y="472"/>
      </p:cViewPr>
      <p:guideLst>
        <p:guide pos="3040"/>
        <p:guide orient="horz" pos="2160"/>
      </p:guideLst>
    </p:cSldViewPr>
  </p:slideViewPr>
  <p:notesTextViewPr>
    <p:cViewPr>
      <p:scale>
        <a:sx n="110" d="100"/>
        <a:sy n="110" d="100"/>
      </p:scale>
      <p:origin x="0" y="-4024"/>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9" Type="http://schemas.openxmlformats.org/officeDocument/2006/relationships/font" Target="fonts/font12.fntdata"/><Relationship Id="rId21" Type="http://schemas.openxmlformats.org/officeDocument/2006/relationships/slide" Target="slides/slide17.xml"/><Relationship Id="rId34" Type="http://schemas.openxmlformats.org/officeDocument/2006/relationships/font" Target="fonts/font7.fntdata"/><Relationship Id="rId42" Type="http://schemas.openxmlformats.org/officeDocument/2006/relationships/font" Target="fonts/font15.fntdata"/><Relationship Id="rId47" Type="http://schemas.openxmlformats.org/officeDocument/2006/relationships/viewProps" Target="viewProps.xml"/><Relationship Id="rId50"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font" Target="fonts/font2.fntdata"/><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5.fntdata"/><Relationship Id="rId37" Type="http://schemas.openxmlformats.org/officeDocument/2006/relationships/font" Target="fonts/font10.fntdata"/><Relationship Id="rId40" Type="http://schemas.openxmlformats.org/officeDocument/2006/relationships/font" Target="fonts/font13.fntdata"/><Relationship Id="rId45"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font" Target="fonts/font1.fntdata"/><Relationship Id="rId36" Type="http://schemas.openxmlformats.org/officeDocument/2006/relationships/font" Target="fonts/font9.fntdata"/><Relationship Id="rId49"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4.fntdata"/><Relationship Id="rId44" Type="http://schemas.openxmlformats.org/officeDocument/2006/relationships/font" Target="fonts/font17.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font" Target="fonts/font3.fntdata"/><Relationship Id="rId35" Type="http://schemas.openxmlformats.org/officeDocument/2006/relationships/font" Target="fonts/font8.fntdata"/><Relationship Id="rId43" Type="http://schemas.openxmlformats.org/officeDocument/2006/relationships/font" Target="fonts/font16.fntdata"/><Relationship Id="rId48"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6.fntdata"/><Relationship Id="rId38" Type="http://schemas.openxmlformats.org/officeDocument/2006/relationships/font" Target="fonts/font11.fntdata"/><Relationship Id="rId46"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font" Target="fonts/font14.fntdata"/><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4/3/26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4/3/26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EFFB1-C4FB-1607-BF3C-978ECFD5B3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B9984A-BB3A-F8CC-018E-CA6906529F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787E3E-148A-8C84-E0F1-9A294744677B}"/>
              </a:ext>
            </a:extLst>
          </p:cNvPr>
          <p:cNvSpPr>
            <a:spLocks noGrp="1"/>
          </p:cNvSpPr>
          <p:nvPr>
            <p:ph type="body" idx="1"/>
          </p:nvPr>
        </p:nvSpPr>
        <p:spPr/>
        <p:txBody>
          <a:bodyPr/>
          <a:lstStyle/>
          <a:p>
            <a:endParaRPr lang="en-US" dirty="0"/>
          </a:p>
          <a:p>
            <a:r>
              <a:rPr lang="en-US" b="1" dirty="0"/>
              <a:t>Show (diagram or bullets):</a:t>
            </a:r>
          </a:p>
          <a:p>
            <a:r>
              <a:rPr lang="en-US" dirty="0"/>
              <a:t>Data sources (ACS, NOAA, USGS, Crime) </a:t>
            </a:r>
          </a:p>
          <a:p>
            <a:r>
              <a:rPr lang="en-US" dirty="0"/>
              <a:t>Feature engineering </a:t>
            </a:r>
          </a:p>
          <a:p>
            <a:r>
              <a:rPr lang="en-US" dirty="0"/>
              <a:t>Train/test split </a:t>
            </a:r>
          </a:p>
          <a:p>
            <a:r>
              <a:rPr lang="en-US" dirty="0"/>
              <a:t>Model training </a:t>
            </a:r>
          </a:p>
          <a:p>
            <a:r>
              <a:rPr lang="en-US" dirty="0"/>
              <a:t>Evaluation </a:t>
            </a:r>
          </a:p>
          <a:p>
            <a:r>
              <a:rPr lang="en-US" dirty="0"/>
              <a:t>Outputs (forecasts + summaries) </a:t>
            </a:r>
          </a:p>
          <a:p>
            <a:br>
              <a:rPr lang="en-US" dirty="0"/>
            </a:br>
            <a:endParaRPr lang="en-US" dirty="0"/>
          </a:p>
          <a:p>
            <a:r>
              <a:rPr lang="en-US" dirty="0"/>
              <a:t>***The pipeline now runs fully end-to-end without manual patching</a:t>
            </a:r>
          </a:p>
          <a:p>
            <a:endParaRPr lang="en-US" dirty="0"/>
          </a:p>
          <a:p>
            <a:endParaRPr lang="en-US" dirty="0"/>
          </a:p>
          <a:p>
            <a:endParaRPr lang="en-US" dirty="0"/>
          </a:p>
          <a:p>
            <a:endParaRPr lang="en-US" dirty="0"/>
          </a:p>
          <a:p>
            <a:r>
              <a:rPr lang="en-US" dirty="0"/>
              <a:t>The project uses both supervised and unsupervised methods. Supervised models such as Random </a:t>
            </a:r>
            <a:r>
              <a:rPr lang="en-US" dirty="0" err="1"/>
              <a:t>Forestand</a:t>
            </a:r>
            <a:r>
              <a:rPr lang="en-US" dirty="0"/>
              <a:t> Lasso  are used to predict population change. Unsupervised methods, including K-Means and hierarchical clustering, are then used to identify structural municipal typologies based on socioeconomic and environmental characteristics.</a:t>
            </a:r>
          </a:p>
          <a:p>
            <a:endParaRPr lang="en-US" dirty="0"/>
          </a:p>
          <a:p>
            <a:endParaRPr lang="en-US" dirty="0"/>
          </a:p>
          <a:p>
            <a:r>
              <a:rPr lang="en-US" b="1" dirty="0"/>
              <a:t>Why Clustering Comes After Prediction</a:t>
            </a:r>
          </a:p>
          <a:p>
            <a:r>
              <a:rPr lang="en-US" dirty="0"/>
              <a:t>Clustering works best </a:t>
            </a:r>
            <a:r>
              <a:rPr lang="en-US" b="1" dirty="0"/>
              <a:t>after you understand the data</a:t>
            </a:r>
            <a:r>
              <a:rPr lang="en-US" dirty="0"/>
              <a:t>.</a:t>
            </a:r>
          </a:p>
          <a:p>
            <a:r>
              <a:rPr lang="en-US" dirty="0"/>
              <a:t>By Phase 5 you already have:</a:t>
            </a:r>
          </a:p>
          <a:p>
            <a:r>
              <a:rPr lang="en-US" dirty="0"/>
              <a:t>engineered features</a:t>
            </a:r>
          </a:p>
          <a:p>
            <a:r>
              <a:rPr lang="en-US" dirty="0"/>
              <a:t>vulnerability index</a:t>
            </a:r>
          </a:p>
          <a:p>
            <a:r>
              <a:rPr lang="en-US" dirty="0"/>
              <a:t>population change</a:t>
            </a:r>
          </a:p>
          <a:p>
            <a:r>
              <a:rPr lang="en-US" dirty="0"/>
              <a:t>economic indicators</a:t>
            </a:r>
          </a:p>
          <a:p>
            <a:r>
              <a:rPr lang="en-US" dirty="0"/>
              <a:t>disaster exposure</a:t>
            </a:r>
          </a:p>
          <a:p>
            <a:r>
              <a:rPr lang="en-US" dirty="0"/>
              <a:t>Now clustering can identify </a:t>
            </a:r>
            <a:r>
              <a:rPr lang="en-US" b="1" dirty="0"/>
              <a:t>municipal typologies</a:t>
            </a:r>
            <a:r>
              <a:rPr lang="en-US" dirty="0"/>
              <a:t>.</a:t>
            </a:r>
          </a:p>
          <a:p>
            <a:r>
              <a:rPr lang="en-US" dirty="0"/>
              <a:t>Example clusters might represent:</a:t>
            </a:r>
          </a:p>
          <a:p>
            <a:r>
              <a:rPr lang="en-US" dirty="0" err="1"/>
              <a:t>ClusterInterpretationCluster</a:t>
            </a:r>
            <a:r>
              <a:rPr lang="en-US" dirty="0"/>
              <a:t> 1high-income stable </a:t>
            </a:r>
            <a:r>
              <a:rPr lang="en-US" dirty="0" err="1"/>
              <a:t>municipalitiesCluster</a:t>
            </a:r>
            <a:r>
              <a:rPr lang="en-US" dirty="0"/>
              <a:t> 2economically vulnerable </a:t>
            </a:r>
            <a:r>
              <a:rPr lang="en-US" dirty="0" err="1"/>
              <a:t>areasCluster</a:t>
            </a:r>
            <a:r>
              <a:rPr lang="en-US" dirty="0"/>
              <a:t> 3disaster-exposed municipalities</a:t>
            </a:r>
          </a:p>
          <a:p>
            <a:endParaRPr lang="en-US" dirty="0"/>
          </a:p>
        </p:txBody>
      </p:sp>
      <p:sp>
        <p:nvSpPr>
          <p:cNvPr id="4" name="Slide Number Placeholder 3">
            <a:extLst>
              <a:ext uri="{FF2B5EF4-FFF2-40B4-BE49-F238E27FC236}">
                <a16:creationId xmlns:a16="http://schemas.microsoft.com/office/drawing/2014/main" id="{0C794E44-F55F-7E5D-DE4B-38F748BE98D7}"/>
              </a:ext>
            </a:extLst>
          </p:cNvPr>
          <p:cNvSpPr>
            <a:spLocks noGrp="1"/>
          </p:cNvSpPr>
          <p:nvPr>
            <p:ph type="sldNum" sz="quarter" idx="5"/>
          </p:nvPr>
        </p:nvSpPr>
        <p:spPr/>
        <p:txBody>
          <a:bodyPr/>
          <a:lstStyle/>
          <a:p>
            <a:fld id="{5068C1A6-6C9C-C342-8E0F-AE9AC9AFD13B}" type="slidenum">
              <a:rPr lang="en-US" smtClean="0"/>
              <a:t>2</a:t>
            </a:fld>
            <a:endParaRPr lang="en-US" dirty="0"/>
          </a:p>
        </p:txBody>
      </p:sp>
    </p:spTree>
    <p:extLst>
      <p:ext uri="{BB962C8B-B14F-4D97-AF65-F5344CB8AC3E}">
        <p14:creationId xmlns:p14="http://schemas.microsoft.com/office/powerpoint/2010/main" val="13471689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all models had negative R². This week, after testing nonlinear models, Extra Trees achieved positive R², showing that population dynamics require nonlinear modeling.</a:t>
            </a:r>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R² = How well does my model explain the data?</a:t>
            </a:r>
          </a:p>
          <a:p>
            <a:r>
              <a:rPr lang="en-US" dirty="0"/>
              <a:t>More specifically:</a:t>
            </a:r>
          </a:p>
          <a:p>
            <a:r>
              <a:rPr lang="en-US" b="1" dirty="0"/>
              <a:t>R² measures how much of the variation in the outcome (population change) the model can explain</a:t>
            </a:r>
          </a:p>
          <a:p>
            <a:endParaRPr lang="en-US" b="1" dirty="0"/>
          </a:p>
          <a:p>
            <a:endParaRPr lang="en-US" dirty="0"/>
          </a:p>
          <a:p>
            <a:r>
              <a:rPr lang="en-US" b="1" dirty="0"/>
              <a:t>The problem is very hard, p</a:t>
            </a:r>
            <a:r>
              <a:rPr lang="en-US" dirty="0"/>
              <a:t>opulation change is </a:t>
            </a:r>
            <a:r>
              <a:rPr lang="en-US" b="1" dirty="0"/>
              <a:t>noisy</a:t>
            </a:r>
            <a:r>
              <a:rPr lang="en-US" dirty="0"/>
              <a:t> and driven by </a:t>
            </a:r>
            <a:r>
              <a:rPr lang="en-US" b="1" dirty="0"/>
              <a:t>unpredictable shocks</a:t>
            </a:r>
            <a:r>
              <a:rPr lang="en-US" dirty="0"/>
              <a:t> </a:t>
            </a:r>
          </a:p>
          <a:p>
            <a:pPr lvl="1"/>
            <a:r>
              <a:rPr lang="en-US" dirty="0"/>
              <a:t>migration </a:t>
            </a:r>
          </a:p>
          <a:p>
            <a:pPr lvl="1"/>
            <a:r>
              <a:rPr lang="en-US" dirty="0"/>
              <a:t>disasters </a:t>
            </a:r>
          </a:p>
          <a:p>
            <a:pPr lvl="1"/>
            <a:r>
              <a:rPr lang="en-US" dirty="0"/>
              <a:t>policy changes </a:t>
            </a:r>
          </a:p>
          <a:p>
            <a:br>
              <a:rPr lang="en-US" dirty="0"/>
            </a:br>
            <a:r>
              <a:rPr lang="en-US" dirty="0"/>
              <a:t>Prediction is possible with the right model</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5898038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SHAP to understand what the model is actually learning. What I found is that the model is dominated by past population trends and structural variables, while disaster effects are inconsistent. This explains why short-term prediction is difficult, but structural patterns still emerge.</a:t>
            </a:r>
          </a:p>
          <a:p>
            <a:endParaRPr lang="en-US" dirty="0"/>
          </a:p>
          <a:p>
            <a:r>
              <a:rPr lang="en-US" dirty="0"/>
              <a:t>SHAP shows consistent drivers </a:t>
            </a:r>
          </a:p>
          <a:p>
            <a:r>
              <a:rPr lang="en-US" dirty="0"/>
              <a:t>3-year target improves signal </a:t>
            </a:r>
          </a:p>
          <a:p>
            <a:r>
              <a:rPr lang="en-US" dirty="0"/>
              <a:t>spatial patterns are clear</a:t>
            </a:r>
          </a:p>
        </p:txBody>
      </p:sp>
      <p:sp>
        <p:nvSpPr>
          <p:cNvPr id="4" name="Slide Number Placeholder 3"/>
          <p:cNvSpPr>
            <a:spLocks noGrp="1"/>
          </p:cNvSpPr>
          <p:nvPr>
            <p:ph type="sldNum" sz="quarter" idx="5"/>
          </p:nvPr>
        </p:nvSpPr>
        <p:spPr/>
        <p:txBody>
          <a:bodyPr/>
          <a:lstStyle/>
          <a:p>
            <a:fld id="{5068C1A6-6C9C-C342-8E0F-AE9AC9AFD13B}" type="slidenum">
              <a:rPr lang="en-US" smtClean="0"/>
              <a:t>5</a:t>
            </a:fld>
            <a:endParaRPr lang="en-US" dirty="0"/>
          </a:p>
        </p:txBody>
      </p:sp>
    </p:spTree>
    <p:extLst>
      <p:ext uri="{BB962C8B-B14F-4D97-AF65-F5344CB8AC3E}">
        <p14:creationId xmlns:p14="http://schemas.microsoft.com/office/powerpoint/2010/main" val="31204306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t>
            </a:r>
            <a:r>
              <a:rPr lang="en-US" b="1" dirty="0"/>
              <a:t>Phase 5</a:t>
            </a:r>
            <a:r>
              <a:rPr lang="en-US" dirty="0"/>
              <a:t>, I used clustering to group municipios based on:</a:t>
            </a:r>
          </a:p>
          <a:p>
            <a:r>
              <a:rPr lang="en-US" dirty="0"/>
              <a:t>Economic conditions (income, employment) </a:t>
            </a:r>
          </a:p>
          <a:p>
            <a:r>
              <a:rPr lang="en-US" dirty="0"/>
              <a:t>Vulnerability (SVI, poverty, housing) </a:t>
            </a:r>
          </a:p>
          <a:p>
            <a:r>
              <a:rPr lang="en-US" dirty="0"/>
              <a:t>Demographics (age structure, etc.) </a:t>
            </a:r>
          </a:p>
          <a:p>
            <a:br>
              <a:rPr lang="en-US" dirty="0"/>
            </a:br>
            <a:endParaRPr lang="en-US" dirty="0"/>
          </a:p>
          <a:p>
            <a:r>
              <a:rPr lang="en-US" b="1" dirty="0"/>
              <a:t>Result:</a:t>
            </a:r>
          </a:p>
          <a:p>
            <a:r>
              <a:rPr lang="en-US" dirty="0"/>
              <a:t>I didn’t get random groups, but a </a:t>
            </a:r>
            <a:r>
              <a:rPr lang="en-US" b="1" dirty="0"/>
              <a:t>clear, repeatable patterns</a:t>
            </a:r>
          </a:p>
          <a:p>
            <a:endParaRPr lang="en-US" dirty="0"/>
          </a:p>
          <a:p>
            <a:r>
              <a:rPr lang="en-US" dirty="0"/>
              <a:t>So instead of 78 completely unique municipios, I found:</a:t>
            </a:r>
          </a:p>
          <a:p>
            <a:r>
              <a:rPr lang="en-US" dirty="0"/>
              <a:t>A </a:t>
            </a:r>
            <a:r>
              <a:rPr lang="en-US" b="1" dirty="0"/>
              <a:t>small number of types</a:t>
            </a:r>
            <a:r>
              <a:rPr lang="en-US" dirty="0"/>
              <a:t>, like:</a:t>
            </a:r>
          </a:p>
          <a:p>
            <a:r>
              <a:rPr lang="en-US" dirty="0"/>
              <a:t>High vulnerability / declining areas </a:t>
            </a:r>
          </a:p>
          <a:p>
            <a:r>
              <a:rPr lang="en-US" dirty="0"/>
              <a:t>More stable / economically resilient areas </a:t>
            </a:r>
          </a:p>
          <a:p>
            <a:r>
              <a:rPr lang="en-US" dirty="0"/>
              <a:t>Intermediate or mixed regions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 The "Anchor" (Historical vs. Forecast)</a:t>
            </a:r>
          </a:p>
          <a:p>
            <a:r>
              <a:rPr lang="en-US" b="1" dirty="0"/>
              <a:t>The Black Line (2014–2023):</a:t>
            </a:r>
            <a:r>
              <a:rPr lang="en-US" dirty="0"/>
              <a:t> This represents </a:t>
            </a:r>
            <a:r>
              <a:rPr lang="en-US" b="1" dirty="0"/>
              <a:t>Observed Data</a:t>
            </a:r>
            <a:r>
              <a:rPr lang="en-US" dirty="0"/>
              <a:t>. It establishes the baseline trend of population decline that the models are "learning" from.</a:t>
            </a:r>
          </a:p>
          <a:p>
            <a:r>
              <a:rPr lang="en-US" b="1" dirty="0"/>
              <a:t>The Red Dashed Line (Current: 2023):</a:t>
            </a:r>
            <a:r>
              <a:rPr lang="en-US" dirty="0"/>
              <a:t> This is the </a:t>
            </a:r>
            <a:r>
              <a:rPr lang="en-US" b="1" dirty="0"/>
              <a:t>Pivot Point</a:t>
            </a:r>
            <a:r>
              <a:rPr lang="en-US" dirty="0"/>
              <a:t>. Everything to the left is fact; everything to the right is a probabilistic projection based on Phase 6 modeling.</a:t>
            </a:r>
          </a:p>
          <a:p>
            <a:endParaRPr lang="en-US" dirty="0"/>
          </a:p>
          <a:p>
            <a:r>
              <a:rPr lang="en-US" b="1" dirty="0"/>
              <a:t>2. The "Median" (The Expected Path)</a:t>
            </a:r>
          </a:p>
          <a:p>
            <a:r>
              <a:rPr lang="en-US" dirty="0"/>
              <a:t>The center line represents the </a:t>
            </a:r>
            <a:r>
              <a:rPr lang="en-US" b="1" dirty="0"/>
              <a:t>P50 (Median) Forecast</a:t>
            </a:r>
            <a:r>
              <a:rPr lang="en-US" dirty="0"/>
              <a:t>.</a:t>
            </a:r>
          </a:p>
          <a:p>
            <a:r>
              <a:rPr lang="en-US" b="1" dirty="0"/>
              <a:t>The Insight:</a:t>
            </a:r>
            <a:r>
              <a:rPr lang="en-US" dirty="0"/>
              <a:t> Our analysis suggests that the most likely outcome is a continued, linear decline, bringing the population toward the </a:t>
            </a:r>
            <a:r>
              <a:rPr lang="en-US" b="1" dirty="0"/>
              <a:t>3.0M mark by 2030</a:t>
            </a:r>
            <a:r>
              <a:rPr lang="en-US" dirty="0"/>
              <a:t>.</a:t>
            </a:r>
          </a:p>
          <a:p>
            <a:endParaRPr lang="en-US" dirty="0"/>
          </a:p>
          <a:p>
            <a:r>
              <a:rPr lang="en-US" b="1" dirty="0"/>
              <a:t>3. Understanding the "Fan" (The Probability Bands)</a:t>
            </a:r>
          </a:p>
          <a:p>
            <a:r>
              <a:rPr lang="en-US" dirty="0"/>
              <a:t>Instead of giving a single "guess," the fan shows a range of possible futures:</a:t>
            </a:r>
          </a:p>
          <a:p>
            <a:r>
              <a:rPr lang="en-US" b="1" dirty="0"/>
              <a:t>The Core (Central Bands):</a:t>
            </a:r>
            <a:r>
              <a:rPr lang="en-US" dirty="0"/>
              <a:t> The green and teal areas represent the </a:t>
            </a:r>
            <a:r>
              <a:rPr lang="en-US" b="1" dirty="0"/>
              <a:t>50% probability interval</a:t>
            </a:r>
            <a:r>
              <a:rPr lang="en-US" dirty="0"/>
              <a:t>. If current structural conditions remain stable, the population will almost certainly land within this range.</a:t>
            </a:r>
          </a:p>
          <a:p>
            <a:r>
              <a:rPr lang="en-US" b="1" dirty="0"/>
              <a:t>The Tails (Outer Bands):</a:t>
            </a:r>
            <a:r>
              <a:rPr lang="en-US" dirty="0"/>
              <a:t> The dark purple and light orange areas represent </a:t>
            </a:r>
            <a:r>
              <a:rPr lang="en-US" b="1" dirty="0"/>
              <a:t>extreme scenarios</a:t>
            </a:r>
            <a:r>
              <a:rPr lang="en-US" dirty="0"/>
              <a:t> (Tail Risks).</a:t>
            </a:r>
          </a:p>
          <a:p>
            <a:pPr lvl="1"/>
            <a:r>
              <a:rPr lang="en-US" b="1" dirty="0"/>
              <a:t>Upper Tail (Orange):</a:t>
            </a:r>
            <a:r>
              <a:rPr lang="en-US" dirty="0"/>
              <a:t> Represents a "Favorable" scenario where decline slows significantly (e.g., due to economic stabilization or migration shifts).</a:t>
            </a:r>
          </a:p>
          <a:p>
            <a:pPr lvl="1"/>
            <a:r>
              <a:rPr lang="en-US" b="1" dirty="0"/>
              <a:t>Lower Tail (Dark Purple):</a:t>
            </a:r>
            <a:r>
              <a:rPr lang="en-US" dirty="0"/>
              <a:t> Represents an "Adverse" scenario where decline accelerates (e.g., due to external shocks or deepening structural vulnerability).</a:t>
            </a:r>
          </a:p>
          <a:p>
            <a:pPr lvl="1"/>
            <a:endParaRPr lang="en-US" dirty="0"/>
          </a:p>
          <a:p>
            <a:r>
              <a:rPr lang="en-US" b="1" dirty="0"/>
              <a:t>4. Key Takeaway for Policy</a:t>
            </a:r>
          </a:p>
          <a:p>
            <a:r>
              <a:rPr lang="en-US" b="1" dirty="0"/>
              <a:t>Systemic Persistence:</a:t>
            </a:r>
            <a:r>
              <a:rPr lang="en-US" dirty="0"/>
              <a:t> Even in the most "optimistic" scenario (the top of the fan), the island does not return to growth by 2030.</a:t>
            </a:r>
          </a:p>
          <a:p>
            <a:r>
              <a:rPr lang="en-US" b="1" dirty="0"/>
              <a:t>Widening Uncertainty:</a:t>
            </a:r>
            <a:r>
              <a:rPr lang="en-US" dirty="0"/>
              <a:t> The "width" of the fan at 2030 illustrates that while we are certain about the </a:t>
            </a:r>
            <a:r>
              <a:rPr lang="en-US" i="1" dirty="0"/>
              <a:t>direction</a:t>
            </a:r>
            <a:r>
              <a:rPr lang="en-US" dirty="0"/>
              <a:t> of the trend, the </a:t>
            </a:r>
            <a:r>
              <a:rPr lang="en-US" i="1" dirty="0"/>
              <a:t>magnitude</a:t>
            </a:r>
            <a:r>
              <a:rPr lang="en-US" dirty="0"/>
              <a:t> of the loss is subject to high volatility, requiring flexible regional planning.</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EA427-81D9-8638-B014-D7D6B66A8A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E92FA8-99E7-2249-4E33-7E00FACAE0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BEC3EC-A4BE-10D4-D5E9-5AA2177EBFB0}"/>
              </a:ext>
            </a:extLst>
          </p:cNvPr>
          <p:cNvSpPr>
            <a:spLocks noGrp="1"/>
          </p:cNvSpPr>
          <p:nvPr>
            <p:ph type="body" idx="1"/>
          </p:nvPr>
        </p:nvSpPr>
        <p:spPr/>
        <p:txBody>
          <a:bodyPr/>
          <a:lstStyle/>
          <a:p>
            <a:r>
              <a:rPr lang="en-US" b="1" dirty="0"/>
              <a:t>1. The "Anchor" (Historical vs. Forecast)</a:t>
            </a:r>
          </a:p>
          <a:p>
            <a:r>
              <a:rPr lang="en-US" b="1" dirty="0"/>
              <a:t>The Black Line (2014–2023):</a:t>
            </a:r>
            <a:r>
              <a:rPr lang="en-US" dirty="0"/>
              <a:t> This represents </a:t>
            </a:r>
            <a:r>
              <a:rPr lang="en-US" b="1" dirty="0"/>
              <a:t>Observed Data</a:t>
            </a:r>
            <a:r>
              <a:rPr lang="en-US" dirty="0"/>
              <a:t>. It establishes the baseline trend of population decline that the models are "learning" from.</a:t>
            </a:r>
          </a:p>
          <a:p>
            <a:r>
              <a:rPr lang="en-US" b="1" dirty="0"/>
              <a:t>The Red Dashed Line (Current: 2023):</a:t>
            </a:r>
            <a:r>
              <a:rPr lang="en-US" dirty="0"/>
              <a:t> This is the </a:t>
            </a:r>
            <a:r>
              <a:rPr lang="en-US" b="1" dirty="0"/>
              <a:t>Pivot Point</a:t>
            </a:r>
            <a:r>
              <a:rPr lang="en-US" dirty="0"/>
              <a:t>. Everything to the left is fact; everything to the right is a probabilistic projection based on Phase 6 modeling.</a:t>
            </a:r>
          </a:p>
          <a:p>
            <a:endParaRPr lang="en-US" dirty="0"/>
          </a:p>
          <a:p>
            <a:r>
              <a:rPr lang="en-US" b="1" dirty="0"/>
              <a:t>2. The "Median" (The Expected Path)</a:t>
            </a:r>
          </a:p>
          <a:p>
            <a:r>
              <a:rPr lang="en-US" dirty="0"/>
              <a:t>The center line represents the </a:t>
            </a:r>
            <a:r>
              <a:rPr lang="en-US" b="1" dirty="0"/>
              <a:t>P50 (Median) Forecast</a:t>
            </a:r>
            <a:r>
              <a:rPr lang="en-US" dirty="0"/>
              <a:t>.</a:t>
            </a:r>
          </a:p>
          <a:p>
            <a:r>
              <a:rPr lang="en-US" b="1" dirty="0"/>
              <a:t>The Insight:</a:t>
            </a:r>
            <a:r>
              <a:rPr lang="en-US" dirty="0"/>
              <a:t> Our analysis suggests that the most likely outcome is a continued, linear decline, bringing the population toward the </a:t>
            </a:r>
            <a:r>
              <a:rPr lang="en-US" b="1" dirty="0"/>
              <a:t>3.0M mark by 2030</a:t>
            </a:r>
            <a:r>
              <a:rPr lang="en-US" dirty="0"/>
              <a:t>.</a:t>
            </a:r>
          </a:p>
          <a:p>
            <a:endParaRPr lang="en-US" dirty="0"/>
          </a:p>
          <a:p>
            <a:r>
              <a:rPr lang="en-US" b="1" dirty="0"/>
              <a:t>3. Understanding the "Fan" (The Probability Bands)</a:t>
            </a:r>
          </a:p>
          <a:p>
            <a:r>
              <a:rPr lang="en-US" dirty="0"/>
              <a:t>Instead of giving a single "guess," the fan shows a range of possible futures:</a:t>
            </a:r>
          </a:p>
          <a:p>
            <a:r>
              <a:rPr lang="en-US" b="1" dirty="0"/>
              <a:t>The Core (Central Bands):</a:t>
            </a:r>
            <a:r>
              <a:rPr lang="en-US" dirty="0"/>
              <a:t> The green and teal areas represent the </a:t>
            </a:r>
            <a:r>
              <a:rPr lang="en-US" b="1" dirty="0"/>
              <a:t>50% probability interval</a:t>
            </a:r>
            <a:r>
              <a:rPr lang="en-US" dirty="0"/>
              <a:t>. If current structural conditions remain stable, the population will almost certainly land within this range.</a:t>
            </a:r>
          </a:p>
          <a:p>
            <a:r>
              <a:rPr lang="en-US" b="1" dirty="0"/>
              <a:t>The Tails (Outer Bands):</a:t>
            </a:r>
            <a:r>
              <a:rPr lang="en-US" dirty="0"/>
              <a:t> The dark purple and light orange areas represent </a:t>
            </a:r>
            <a:r>
              <a:rPr lang="en-US" b="1" dirty="0"/>
              <a:t>extreme scenarios</a:t>
            </a:r>
            <a:r>
              <a:rPr lang="en-US" dirty="0"/>
              <a:t> (Tail Risks).</a:t>
            </a:r>
          </a:p>
          <a:p>
            <a:pPr lvl="1"/>
            <a:r>
              <a:rPr lang="en-US" b="1" dirty="0"/>
              <a:t>Upper Tail (Orange):</a:t>
            </a:r>
            <a:r>
              <a:rPr lang="en-US" dirty="0"/>
              <a:t> Represents a "Favorable" scenario where decline slows significantly (e.g., due to economic stabilization or migration shifts).</a:t>
            </a:r>
          </a:p>
          <a:p>
            <a:pPr lvl="1"/>
            <a:r>
              <a:rPr lang="en-US" b="1" dirty="0"/>
              <a:t>Lower Tail (Dark Purple):</a:t>
            </a:r>
            <a:r>
              <a:rPr lang="en-US" dirty="0"/>
              <a:t> Represents an "Adverse" scenario where decline accelerates (e.g., due to external shocks or deepening structural vulnerability).</a:t>
            </a:r>
          </a:p>
          <a:p>
            <a:pPr lvl="1"/>
            <a:endParaRPr lang="en-US" dirty="0"/>
          </a:p>
          <a:p>
            <a:r>
              <a:rPr lang="en-US" b="1" dirty="0"/>
              <a:t>4. Key Takeaway for Policy</a:t>
            </a:r>
          </a:p>
          <a:p>
            <a:r>
              <a:rPr lang="en-US" b="1" dirty="0"/>
              <a:t>Systemic Persistence:</a:t>
            </a:r>
            <a:r>
              <a:rPr lang="en-US" dirty="0"/>
              <a:t> Even in the most "optimistic" scenario (the top of the fan), the island does not return to growth by 2030.</a:t>
            </a:r>
          </a:p>
          <a:p>
            <a:r>
              <a:rPr lang="en-US" b="1" dirty="0"/>
              <a:t>Widening Uncertainty:</a:t>
            </a:r>
            <a:r>
              <a:rPr lang="en-US" dirty="0"/>
              <a:t> The "width" of the fan at 2030 illustrates that while we are certain about the </a:t>
            </a:r>
            <a:r>
              <a:rPr lang="en-US" i="1" dirty="0"/>
              <a:t>direction</a:t>
            </a:r>
            <a:r>
              <a:rPr lang="en-US" dirty="0"/>
              <a:t> of the trend, the </a:t>
            </a:r>
            <a:r>
              <a:rPr lang="en-US" i="1" dirty="0"/>
              <a:t>magnitude</a:t>
            </a:r>
            <a:r>
              <a:rPr lang="en-US" dirty="0"/>
              <a:t> of the loss is subject to high volatility, requiring flexible regional planning.</a:t>
            </a:r>
          </a:p>
          <a:p>
            <a:endParaRPr lang="en-US" dirty="0"/>
          </a:p>
        </p:txBody>
      </p:sp>
      <p:sp>
        <p:nvSpPr>
          <p:cNvPr id="4" name="Slide Number Placeholder 3">
            <a:extLst>
              <a:ext uri="{FF2B5EF4-FFF2-40B4-BE49-F238E27FC236}">
                <a16:creationId xmlns:a16="http://schemas.microsoft.com/office/drawing/2014/main" id="{A7B3FB73-4168-D653-2B89-94D839E625D0}"/>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17462745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Step-by-Step Intuition (What the Model Does)</a:t>
            </a:r>
          </a:p>
          <a:p>
            <a:r>
              <a:rPr lang="en-US" dirty="0"/>
              <a:t>Start with training data (</a:t>
            </a:r>
            <a:r>
              <a:rPr lang="en-US" b="1" dirty="0" err="1"/>
              <a:t>X_train</a:t>
            </a:r>
            <a:r>
              <a:rPr lang="en-US" dirty="0"/>
              <a:t>) </a:t>
            </a:r>
          </a:p>
          <a:p>
            <a:r>
              <a:rPr lang="en-US" dirty="0"/>
              <a:t>Randomly select: </a:t>
            </a:r>
          </a:p>
          <a:p>
            <a:pPr lvl="1"/>
            <a:r>
              <a:rPr lang="en-US" dirty="0"/>
              <a:t>Features (e.g., income, windspeed, region) </a:t>
            </a:r>
          </a:p>
          <a:p>
            <a:pPr lvl="1"/>
            <a:r>
              <a:rPr lang="en-US" dirty="0"/>
              <a:t>Observations (rows) </a:t>
            </a:r>
          </a:p>
          <a:p>
            <a:r>
              <a:rPr lang="en-US" dirty="0"/>
              <a:t>Build many decision trees: </a:t>
            </a:r>
          </a:p>
          <a:p>
            <a:pPr lvl="1"/>
            <a:r>
              <a:rPr lang="en-US" dirty="0"/>
              <a:t>Each tree uses different random splits </a:t>
            </a:r>
          </a:p>
          <a:p>
            <a:r>
              <a:rPr lang="en-US" dirty="0"/>
              <a:t>Each tree makes a prediction </a:t>
            </a:r>
          </a:p>
          <a:p>
            <a:r>
              <a:rPr lang="en-US" dirty="0"/>
              <a:t>Final prediction = </a:t>
            </a:r>
            <a:r>
              <a:rPr lang="en-US" b="1" dirty="0"/>
              <a:t>average of all tree predictions</a:t>
            </a:r>
            <a:r>
              <a:rPr lang="en-US" dirty="0"/>
              <a:t> </a:t>
            </a:r>
          </a:p>
          <a:p>
            <a:br>
              <a:rPr lang="en-US" dirty="0"/>
            </a:br>
            <a:endParaRPr lang="en-US" dirty="0"/>
          </a:p>
          <a:p>
            <a:r>
              <a:rPr lang="en-US" b="1" dirty="0"/>
              <a:t>Example (Simple Intuition)</a:t>
            </a:r>
          </a:p>
          <a:p>
            <a:r>
              <a:rPr lang="en-US" dirty="0"/>
              <a:t>Tree predictions:</a:t>
            </a:r>
          </a:p>
          <a:p>
            <a:r>
              <a:rPr lang="en-US" dirty="0"/>
              <a:t>Tree 1 → </a:t>
            </a:r>
            <a:r>
              <a:rPr lang="en-US" b="1" dirty="0"/>
              <a:t>-1.2%</a:t>
            </a:r>
            <a:r>
              <a:rPr lang="en-US" dirty="0"/>
              <a:t> </a:t>
            </a:r>
          </a:p>
          <a:p>
            <a:r>
              <a:rPr lang="en-US" dirty="0"/>
              <a:t>Tree 2 → </a:t>
            </a:r>
            <a:r>
              <a:rPr lang="en-US" b="1" dirty="0"/>
              <a:t>-1.4%</a:t>
            </a:r>
            <a:r>
              <a:rPr lang="en-US" dirty="0"/>
              <a:t> </a:t>
            </a:r>
          </a:p>
          <a:p>
            <a:r>
              <a:rPr lang="en-US" dirty="0"/>
              <a:t>Tree 3 → </a:t>
            </a:r>
            <a:r>
              <a:rPr lang="en-US" b="1" dirty="0"/>
              <a:t>-1.2%</a:t>
            </a:r>
            <a:r>
              <a:rPr lang="en-US" dirty="0"/>
              <a:t> </a:t>
            </a:r>
          </a:p>
          <a:p>
            <a:endParaRPr lang="en-US" dirty="0"/>
          </a:p>
          <a:p>
            <a:r>
              <a:rPr lang="en-US" dirty="0"/>
              <a:t>Final prediction:</a:t>
            </a:r>
            <a:br>
              <a:rPr lang="en-US" dirty="0"/>
            </a:br>
            <a:r>
              <a:rPr lang="en-US" b="1" dirty="0"/>
              <a:t>(-1.2% - 1.4% - 1.2%) / 3 = -1.3%</a:t>
            </a:r>
            <a:endParaRPr lang="en-US" dirty="0"/>
          </a:p>
          <a:p>
            <a:br>
              <a:rPr lang="en-US" dirty="0"/>
            </a:br>
            <a:endParaRPr lang="en-US" dirty="0"/>
          </a:p>
          <a:p>
            <a:r>
              <a:rPr lang="en-US" b="1" dirty="0"/>
              <a:t>Final Output</a:t>
            </a:r>
          </a:p>
          <a:p>
            <a:r>
              <a:rPr lang="en-US" b="1" dirty="0"/>
              <a:t>Final Population Change Prediction: -1.3%</a:t>
            </a:r>
            <a:endParaRPr lang="en-US" dirty="0"/>
          </a:p>
          <a:p>
            <a:br>
              <a:rPr lang="en-US" dirty="0"/>
            </a:br>
            <a:endParaRPr lang="en-US" dirty="0"/>
          </a:p>
          <a:p>
            <a:r>
              <a:rPr lang="en-US" b="1" dirty="0"/>
              <a:t>Key Takeaway</a:t>
            </a:r>
          </a:p>
          <a:p>
            <a:r>
              <a:rPr lang="en-US" dirty="0"/>
              <a:t>More randomness → </a:t>
            </a:r>
            <a:r>
              <a:rPr lang="en-US" b="1" dirty="0"/>
              <a:t>less overfitting</a:t>
            </a:r>
            <a:r>
              <a:rPr lang="en-US" dirty="0"/>
              <a:t> </a:t>
            </a:r>
          </a:p>
          <a:p>
            <a:r>
              <a:rPr lang="en-US" dirty="0"/>
              <a:t>Ensemble averaging → </a:t>
            </a:r>
            <a:r>
              <a:rPr lang="en-US" b="1" dirty="0"/>
              <a:t>more stable predictions</a:t>
            </a:r>
            <a:r>
              <a:rPr lang="en-US" dirty="0"/>
              <a:t> </a:t>
            </a:r>
          </a:p>
          <a:p>
            <a:r>
              <a:rPr lang="en-US" dirty="0"/>
              <a:t>Captures </a:t>
            </a:r>
            <a:r>
              <a:rPr lang="en-US" b="1" dirty="0"/>
              <a:t>nonlinear relationships</a:t>
            </a:r>
            <a:r>
              <a:rPr lang="en-US" dirty="0"/>
              <a:t> in the data</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b="1" dirty="0"/>
              <a:t>Extra Trees</a:t>
            </a:r>
            <a:r>
              <a:rPr lang="en-US" dirty="0"/>
              <a:t> (Extremely Randomized Trees) is a strong candidate for predicting population changes and declines, especially when your dataset includes a wide variety of "noisy" or complex tabular features like migration rates, birth/death stats, economic indicators, and infrastructure data.</a:t>
            </a:r>
          </a:p>
          <a:p>
            <a:r>
              <a:rPr lang="en-US" dirty="0"/>
              <a:t>Because population dynamics are rarely linear and often influenced by sudden shifts in policy or environment, Extra Trees' ensemble nature makes it more resilient than a single decision tree.</a:t>
            </a:r>
          </a:p>
          <a:p>
            <a:r>
              <a:rPr lang="en-US" b="1" dirty="0"/>
              <a:t>Why Extra Trees Works Well for Demographic Data</a:t>
            </a:r>
          </a:p>
          <a:p>
            <a:r>
              <a:rPr lang="en-US" b="1" dirty="0"/>
              <a:t>Reduction of Variance:</a:t>
            </a:r>
            <a:r>
              <a:rPr lang="en-US" dirty="0"/>
              <a:t> Population data can be "noisy" due to reporting lags or census errors. Extra Trees reduces variance by using random split points for each feature, which helps prevent the model from over-fitting to specific anomalies in your historical data.</a:t>
            </a:r>
          </a:p>
          <a:p>
            <a:r>
              <a:rPr lang="en-US" b="1" dirty="0"/>
              <a:t>Handling Non-Linearity:</a:t>
            </a:r>
            <a:r>
              <a:rPr lang="en-US" dirty="0"/>
              <a:t> Unlike traditional linear regression models, Extra Trees can capture complex, non-linear relationships—such as the "tipping point" where a slight increase in out-migration leads to a sudden sharp decline in local services and further population loss.</a:t>
            </a:r>
          </a:p>
          <a:p>
            <a:r>
              <a:rPr lang="en-US" b="1" dirty="0"/>
              <a:t>Feature Importance:</a:t>
            </a:r>
            <a:r>
              <a:rPr lang="en-US" dirty="0"/>
              <a:t> It provides a clear ranking of which variables (e.g., unemployment vs. housing costs) are most predictive of a population decline, allowing for better "why" analysis rather than just "what" predictions.</a:t>
            </a:r>
          </a:p>
          <a:p>
            <a:r>
              <a:rPr lang="en-US" b="1" dirty="0"/>
              <a:t>Predicting "Declines" Specifically</a:t>
            </a:r>
          </a:p>
          <a:p>
            <a:r>
              <a:rPr lang="en-US" dirty="0"/>
              <a:t>If your goal is specifically to predict </a:t>
            </a:r>
            <a:r>
              <a:rPr lang="en-US" b="1" dirty="0"/>
              <a:t>declines</a:t>
            </a:r>
            <a:r>
              <a:rPr lang="en-US" dirty="0"/>
              <a:t> (a binary outcome of "decline" vs. "growth"), you can use the </a:t>
            </a:r>
            <a:r>
              <a:rPr lang="en-US" b="1" dirty="0"/>
              <a:t>Extra Trees Classifier</a:t>
            </a:r>
            <a:r>
              <a:rPr lang="en-US" dirty="0"/>
              <a:t>.</a:t>
            </a:r>
          </a:p>
          <a:p>
            <a:r>
              <a:rPr lang="en-US" b="1" dirty="0"/>
              <a:t>Addressing Imbalance:</a:t>
            </a:r>
            <a:r>
              <a:rPr lang="en-US" dirty="0"/>
              <a:t> If population declines are rare events in your dataset, the classifier can be tuned (using </a:t>
            </a:r>
            <a:r>
              <a:rPr lang="en-US" sz="1200" kern="1200" dirty="0" err="1">
                <a:solidFill>
                  <a:schemeClr val="tx1"/>
                </a:solidFill>
                <a:latin typeface="+mn-lt"/>
                <a:ea typeface="+mn-ea"/>
                <a:cs typeface="+mn-cs"/>
              </a:rPr>
              <a:t>class_weight</a:t>
            </a:r>
            <a:r>
              <a:rPr lang="en-US" sz="1200" kern="1200" dirty="0">
                <a:solidFill>
                  <a:schemeClr val="tx1"/>
                </a:solidFill>
                <a:latin typeface="+mn-lt"/>
                <a:ea typeface="+mn-ea"/>
                <a:cs typeface="+mn-cs"/>
              </a:rPr>
              <a:t>='balanced'</a:t>
            </a:r>
            <a:r>
              <a:rPr lang="en-US" dirty="0"/>
              <a:t>) to ensure the model doesn't ignore the "decline" signals in favor of more common growth patterns.</a:t>
            </a:r>
          </a:p>
          <a:p>
            <a:r>
              <a:rPr lang="en-US" b="1" dirty="0"/>
              <a:t>Probabilistic Output:</a:t>
            </a:r>
            <a:r>
              <a:rPr lang="en-US" dirty="0"/>
              <a:t> Instead of a simple "yes/no," it can give you the probability of a decline, which is often more useful for policy planning.</a:t>
            </a:r>
          </a:p>
          <a:p>
            <a:r>
              <a:rPr lang="en-US" b="1" dirty="0"/>
              <a:t>Considerations and Limitations</a:t>
            </a:r>
          </a:p>
          <a:p>
            <a:r>
              <a:rPr lang="en-US" dirty="0"/>
              <a:t>While powerful, there are a few technical hurdles to keep in mind:</a:t>
            </a:r>
          </a:p>
          <a:p>
            <a:r>
              <a:rPr lang="en-US" b="1" dirty="0"/>
              <a:t>Extrapolation Issues:</a:t>
            </a:r>
            <a:r>
              <a:rPr lang="en-US" dirty="0"/>
              <a:t> Tree-based models generally cannot predict values outside the range of their training data. If a future population decline is projected to be more severe than anything seen in the historical record, a tree-regressor might "cap" its prediction at the historical minimum.</a:t>
            </a:r>
          </a:p>
          <a:p>
            <a:r>
              <a:rPr lang="en-US" b="1" dirty="0"/>
              <a:t>Time-Series Sensitivity:</a:t>
            </a:r>
            <a:r>
              <a:rPr lang="en-US" dirty="0"/>
              <a:t> If you are treating this strictly as a time-series problem, you may need to engineer "lag features" (like the population from 1, 5, and 10 years ago) to help the trees understand the temporal trend.</a:t>
            </a:r>
          </a:p>
          <a:p>
            <a:r>
              <a:rPr lang="en-US" b="1" dirty="0"/>
              <a:t>Comparison to Boosting:</a:t>
            </a:r>
            <a:r>
              <a:rPr lang="en-US" dirty="0"/>
              <a:t> While Extra Trees is faster and often more robust to noise, models like </a:t>
            </a:r>
            <a:r>
              <a:rPr lang="en-US" b="1" dirty="0" err="1"/>
              <a:t>XGBoost</a:t>
            </a:r>
            <a:r>
              <a:rPr lang="en-US" dirty="0"/>
              <a:t> or </a:t>
            </a:r>
            <a:r>
              <a:rPr lang="en-US" b="1" dirty="0" err="1"/>
              <a:t>LightGBM</a:t>
            </a:r>
            <a:r>
              <a:rPr lang="en-US"/>
              <a:t> might achieve slightly higher accuracy if your data is very clean and you have the computational time to fine-tune hyperparameters.</a:t>
            </a:r>
          </a:p>
          <a:p>
            <a:pPr marL="0" lvl="0" indent="0" algn="l" rtl="0">
              <a:spcBef>
                <a:spcPts val="0"/>
              </a:spcBef>
              <a:spcAft>
                <a:spcPts val="0"/>
              </a:spcAft>
              <a:buNone/>
            </a:pPr>
            <a:endParaRPr lang="en-US"/>
          </a:p>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0.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66735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Week 8-9 Progress: 27 March 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58803-89E1-A3A6-58B1-7837B6A454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C17AFA3-99DB-660C-F47F-04C78C76469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95BF63C-F202-7159-03D4-D816AC91116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sp>
        <p:nvSpPr>
          <p:cNvPr id="11" name="TextBox 10">
            <a:extLst>
              <a:ext uri="{FF2B5EF4-FFF2-40B4-BE49-F238E27FC236}">
                <a16:creationId xmlns:a16="http://schemas.microsoft.com/office/drawing/2014/main" id="{A57A41CD-3A45-A1D2-8AD5-FFAA207C3169}"/>
              </a:ext>
            </a:extLst>
          </p:cNvPr>
          <p:cNvSpPr txBox="1"/>
          <p:nvPr/>
        </p:nvSpPr>
        <p:spPr>
          <a:xfrm>
            <a:off x="5836980" y="1269273"/>
            <a:ext cx="6087928" cy="307777"/>
          </a:xfrm>
          <a:prstGeom prst="rect">
            <a:avLst/>
          </a:prstGeom>
          <a:noFill/>
        </p:spPr>
        <p:txBody>
          <a:bodyPr wrap="square">
            <a:spAutoFit/>
          </a:bodyPr>
          <a:lstStyle/>
          <a:p>
            <a:pPr marL="285750" indent="-285750" fontAlgn="base">
              <a:buFont typeface="Arial" panose="020B0604020202020204" pitchFamily="34" charset="0"/>
              <a:buChar char="•"/>
            </a:pPr>
            <a:r>
              <a:rPr lang="en-US" sz="1400" dirty="0"/>
              <a:t>From raw data → Model v1 → evaluated outputs (no manual patching)</a:t>
            </a:r>
            <a:endParaRPr lang="en-US" sz="1400" dirty="0">
              <a:solidFill>
                <a:srgbClr val="000000"/>
              </a:solidFill>
              <a:latin typeface="Merriweather" pitchFamily="2" charset="77"/>
              <a:ea typeface="Arial"/>
              <a:cs typeface="Arial"/>
              <a:sym typeface="Arial"/>
            </a:endParaRPr>
          </a:p>
        </p:txBody>
      </p:sp>
      <p:grpSp>
        <p:nvGrpSpPr>
          <p:cNvPr id="53" name="Group 52">
            <a:extLst>
              <a:ext uri="{FF2B5EF4-FFF2-40B4-BE49-F238E27FC236}">
                <a16:creationId xmlns:a16="http://schemas.microsoft.com/office/drawing/2014/main" id="{7EDA0FEE-2860-319F-4DFC-9583849F3FD1}"/>
              </a:ext>
            </a:extLst>
          </p:cNvPr>
          <p:cNvGrpSpPr/>
          <p:nvPr/>
        </p:nvGrpSpPr>
        <p:grpSpPr>
          <a:xfrm>
            <a:off x="273808" y="1203766"/>
            <a:ext cx="10858217" cy="5088495"/>
            <a:chOff x="273808" y="1203766"/>
            <a:chExt cx="10858217" cy="5088495"/>
          </a:xfrm>
        </p:grpSpPr>
        <p:sp>
          <p:nvSpPr>
            <p:cNvPr id="3" name="Rounded Rectangle 2">
              <a:extLst>
                <a:ext uri="{FF2B5EF4-FFF2-40B4-BE49-F238E27FC236}">
                  <a16:creationId xmlns:a16="http://schemas.microsoft.com/office/drawing/2014/main" id="{78150EE3-04BB-A376-B9E0-E4BCC2783240}"/>
                </a:ext>
              </a:extLst>
            </p:cNvPr>
            <p:cNvSpPr/>
            <p:nvPr/>
          </p:nvSpPr>
          <p:spPr>
            <a:xfrm>
              <a:off x="699785" y="1518759"/>
              <a:ext cx="2074986" cy="4773502"/>
            </a:xfrm>
            <a:prstGeom prst="roundRect">
              <a:avLst>
                <a:gd name="adj" fmla="val 469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EFD4BFA2-EB82-5C06-8222-7186DF1983CA}"/>
                </a:ext>
              </a:extLst>
            </p:cNvPr>
            <p:cNvSpPr/>
            <p:nvPr/>
          </p:nvSpPr>
          <p:spPr>
            <a:xfrm>
              <a:off x="3231969" y="1984383"/>
              <a:ext cx="2379785" cy="4120083"/>
            </a:xfrm>
            <a:prstGeom prst="roundRect">
              <a:avLst>
                <a:gd name="adj" fmla="val 480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E1C25C73-5E1C-8F90-E170-0287F78995D1}"/>
                </a:ext>
              </a:extLst>
            </p:cNvPr>
            <p:cNvSpPr/>
            <p:nvPr/>
          </p:nvSpPr>
          <p:spPr>
            <a:xfrm>
              <a:off x="6031164" y="2614888"/>
              <a:ext cx="2841318" cy="2871511"/>
            </a:xfrm>
            <a:prstGeom prst="roundRect">
              <a:avLst>
                <a:gd name="adj" fmla="val 4485"/>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FD312F3E-1875-9202-355B-6D155D2E70BF}"/>
                </a:ext>
              </a:extLst>
            </p:cNvPr>
            <p:cNvSpPr/>
            <p:nvPr/>
          </p:nvSpPr>
          <p:spPr>
            <a:xfrm>
              <a:off x="9279779" y="2727039"/>
              <a:ext cx="1852246" cy="2512999"/>
            </a:xfrm>
            <a:prstGeom prst="roundRect">
              <a:avLst>
                <a:gd name="adj" fmla="val 5697"/>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9" name="Rounded Rectangle 8">
              <a:extLst>
                <a:ext uri="{FF2B5EF4-FFF2-40B4-BE49-F238E27FC236}">
                  <a16:creationId xmlns:a16="http://schemas.microsoft.com/office/drawing/2014/main" id="{23E4426D-7449-C9E2-515E-CF7B16CFF941}"/>
                </a:ext>
              </a:extLst>
            </p:cNvPr>
            <p:cNvSpPr/>
            <p:nvPr/>
          </p:nvSpPr>
          <p:spPr>
            <a:xfrm>
              <a:off x="788476" y="1591838"/>
              <a:ext cx="1881373" cy="975360"/>
            </a:xfrm>
            <a:prstGeom prst="roundRect">
              <a:avLst>
                <a:gd name="adj" fmla="val 740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9C1B199E-C60A-C0B1-FF33-18040B3BF916}"/>
                </a:ext>
              </a:extLst>
            </p:cNvPr>
            <p:cNvSpPr/>
            <p:nvPr/>
          </p:nvSpPr>
          <p:spPr>
            <a:xfrm>
              <a:off x="796591" y="2743686"/>
              <a:ext cx="1881373" cy="1057952"/>
            </a:xfrm>
            <a:prstGeom prst="roundRect">
              <a:avLst>
                <a:gd name="adj" fmla="val 4929"/>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3395138D-E2FA-345B-C5FF-AAA8BAF753F7}"/>
                </a:ext>
              </a:extLst>
            </p:cNvPr>
            <p:cNvSpPr/>
            <p:nvPr/>
          </p:nvSpPr>
          <p:spPr>
            <a:xfrm>
              <a:off x="788476" y="3965952"/>
              <a:ext cx="1881373" cy="1057952"/>
            </a:xfrm>
            <a:prstGeom prst="roundRect">
              <a:avLst>
                <a:gd name="adj" fmla="val 5996"/>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85A00947-4B3E-619C-C5CB-23B4454C2A96}"/>
                </a:ext>
              </a:extLst>
            </p:cNvPr>
            <p:cNvSpPr/>
            <p:nvPr/>
          </p:nvSpPr>
          <p:spPr>
            <a:xfrm>
              <a:off x="788475" y="5129106"/>
              <a:ext cx="1881373" cy="975360"/>
            </a:xfrm>
            <a:prstGeom prst="roundRect">
              <a:avLst>
                <a:gd name="adj" fmla="val 3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81FBD447-970D-298E-0497-A2BD0ACDFB50}"/>
                </a:ext>
              </a:extLst>
            </p:cNvPr>
            <p:cNvSpPr/>
            <p:nvPr/>
          </p:nvSpPr>
          <p:spPr>
            <a:xfrm>
              <a:off x="3356929" y="2066247"/>
              <a:ext cx="2132833" cy="2696694"/>
            </a:xfrm>
            <a:prstGeom prst="roundRect">
              <a:avLst>
                <a:gd name="adj" fmla="val 3864"/>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903B7CB3-2352-5E72-DC2C-DA89CFE17EE1}"/>
                </a:ext>
              </a:extLst>
            </p:cNvPr>
            <p:cNvSpPr/>
            <p:nvPr/>
          </p:nvSpPr>
          <p:spPr>
            <a:xfrm>
              <a:off x="6136948" y="2692787"/>
              <a:ext cx="2587775" cy="1120141"/>
            </a:xfrm>
            <a:prstGeom prst="roundRect">
              <a:avLst>
                <a:gd name="adj" fmla="val 255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8DBA8383-4171-D7A8-6D18-5FD4B03CB507}"/>
                </a:ext>
              </a:extLst>
            </p:cNvPr>
            <p:cNvSpPr/>
            <p:nvPr/>
          </p:nvSpPr>
          <p:spPr>
            <a:xfrm>
              <a:off x="6136948" y="3934857"/>
              <a:ext cx="2587775" cy="1233107"/>
            </a:xfrm>
            <a:prstGeom prst="roundRect">
              <a:avLst>
                <a:gd name="adj" fmla="val 2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188C7C4F-95EC-94B1-D2D6-F97A77D62E17}"/>
                </a:ext>
              </a:extLst>
            </p:cNvPr>
            <p:cNvSpPr/>
            <p:nvPr/>
          </p:nvSpPr>
          <p:spPr>
            <a:xfrm>
              <a:off x="9406208" y="2796402"/>
              <a:ext cx="1609759" cy="2322154"/>
            </a:xfrm>
            <a:prstGeom prst="roundRect">
              <a:avLst>
                <a:gd name="adj" fmla="val 334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203D34A-B49A-4510-8986-868CB1ADC2C3}"/>
                    </a:ext>
                  </a:extLst>
                </p:cNvPr>
                <p:cNvSpPr txBox="1"/>
                <p:nvPr/>
              </p:nvSpPr>
              <p:spPr>
                <a:xfrm>
                  <a:off x="632976" y="1203766"/>
                  <a:ext cx="1437125" cy="349326"/>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Inputs </a:t>
                  </a:r>
                  <a:r>
                    <a:rPr lang="en-US" sz="1600" b="1" dirty="0">
                      <a:solidFill>
                        <a:srgbClr val="1F1F1F"/>
                      </a:solidFill>
                      <a:latin typeface="Arial" panose="020B0604020202020204" pitchFamily="34" charset="0"/>
                      <a:cs typeface="Arial" panose="020B0604020202020204" pitchFamily="34" charset="0"/>
                    </a:rPr>
                    <a:t>(</a:t>
                  </a:r>
                  <a14:m>
                    <m:oMath xmlns:m="http://schemas.openxmlformats.org/officeDocument/2006/math">
                      <m:sSub>
                        <m:sSubPr>
                          <m:ctrlPr>
                            <a:rPr lang="en-US" sz="1600" b="1" i="1">
                              <a:latin typeface="Cambria Math" panose="02040503050406030204" pitchFamily="18" charset="0"/>
                            </a:rPr>
                          </m:ctrlPr>
                        </m:sSubPr>
                        <m:e>
                          <m:r>
                            <a:rPr lang="en-US" sz="1600" b="1" i="1">
                              <a:latin typeface="Cambria Math" panose="02040503050406030204" pitchFamily="18" charset="0"/>
                            </a:rPr>
                            <m:t>𝑿</m:t>
                          </m:r>
                        </m:e>
                        <m:sub>
                          <m:r>
                            <a:rPr lang="en-US" sz="1600" b="1" i="1">
                              <a:latin typeface="Cambria Math" panose="02040503050406030204" pitchFamily="18" charset="0"/>
                            </a:rPr>
                            <m:t>𝒎</m:t>
                          </m:r>
                          <m:r>
                            <a:rPr lang="en-US" sz="1600" b="1" i="1">
                              <a:latin typeface="Cambria Math" panose="02040503050406030204" pitchFamily="18" charset="0"/>
                            </a:rPr>
                            <m:t>,</m:t>
                          </m:r>
                          <m:r>
                            <a:rPr lang="en-US" sz="1600" b="1" i="1">
                              <a:latin typeface="Cambria Math" panose="02040503050406030204" pitchFamily="18" charset="0"/>
                            </a:rPr>
                            <m:t>𝒕</m:t>
                          </m:r>
                        </m:sub>
                      </m:sSub>
                    </m:oMath>
                  </a14:m>
                  <a:r>
                    <a:rPr lang="en-US" sz="1600" b="1" dirty="0">
                      <a:solidFill>
                        <a:srgbClr val="1F1F1F"/>
                      </a:solidFill>
                      <a:latin typeface="Arial" panose="020B0604020202020204" pitchFamily="34" charset="0"/>
                      <a:cs typeface="Arial" panose="020B0604020202020204" pitchFamily="34" charset="0"/>
                    </a:rPr>
                    <a:t>)</a:t>
                  </a:r>
                  <a:r>
                    <a:rPr lang="en-US" sz="1600" b="1" dirty="0">
                      <a:latin typeface="Arial" panose="020B0604020202020204" pitchFamily="34" charset="0"/>
                      <a:cs typeface="Arial" panose="020B0604020202020204" pitchFamily="34" charset="0"/>
                    </a:rPr>
                    <a:t> </a:t>
                  </a:r>
                </a:p>
              </p:txBody>
            </p:sp>
          </mc:Choice>
          <mc:Fallback xmlns="">
            <p:sp>
              <p:nvSpPr>
                <p:cNvPr id="19" name="TextBox 18">
                  <a:extLst>
                    <a:ext uri="{FF2B5EF4-FFF2-40B4-BE49-F238E27FC236}">
                      <a16:creationId xmlns:a16="http://schemas.microsoft.com/office/drawing/2014/main" id="{A203D34A-B49A-4510-8986-868CB1ADC2C3}"/>
                    </a:ext>
                  </a:extLst>
                </p:cNvPr>
                <p:cNvSpPr txBox="1">
                  <a:spLocks noRot="1" noChangeAspect="1" noMove="1" noResize="1" noEditPoints="1" noAdjustHandles="1" noChangeArrowheads="1" noChangeShapeType="1" noTextEdit="1"/>
                </p:cNvSpPr>
                <p:nvPr/>
              </p:nvSpPr>
              <p:spPr>
                <a:xfrm>
                  <a:off x="632976" y="1203766"/>
                  <a:ext cx="1437125" cy="349326"/>
                </a:xfrm>
                <a:prstGeom prst="rect">
                  <a:avLst/>
                </a:prstGeom>
                <a:blipFill>
                  <a:blip r:embed="rId3"/>
                  <a:stretch>
                    <a:fillRect l="-1739" t="-6897" b="-17241"/>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77A92DE-8F5F-5503-9678-807FDE016A05}"/>
                </a:ext>
              </a:extLst>
            </p:cNvPr>
            <p:cNvSpPr txBox="1"/>
            <p:nvPr/>
          </p:nvSpPr>
          <p:spPr>
            <a:xfrm>
              <a:off x="3907938" y="1645829"/>
              <a:ext cx="1027845"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Methods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8C17FBEC-0C1F-8181-101E-4A4451A855A1}"/>
                    </a:ext>
                  </a:extLst>
                </p:cNvPr>
                <p:cNvSpPr txBox="1"/>
                <p:nvPr/>
              </p:nvSpPr>
              <p:spPr>
                <a:xfrm>
                  <a:off x="6945174" y="2258111"/>
                  <a:ext cx="1567160" cy="349326"/>
                </a:xfrm>
                <a:prstGeom prst="rect">
                  <a:avLst/>
                </a:prstGeom>
                <a:noFill/>
              </p:spPr>
              <p:txBody>
                <a:bodyPr wrap="square" rtlCol="0">
                  <a:spAutoFit/>
                </a:bodyPr>
                <a:lstStyle/>
                <a:p>
                  <a:r>
                    <a:rPr lang="en-US" sz="1600" b="1" dirty="0">
                      <a:solidFill>
                        <a:srgbClr val="1F1F1F"/>
                      </a:solidFill>
                      <a:latin typeface="Arial" panose="020B0604020202020204" pitchFamily="34" charset="0"/>
                      <a:cs typeface="Arial" panose="020B0604020202020204" pitchFamily="34" charset="0"/>
                    </a:rPr>
                    <a:t>Outputs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𝑌</m:t>
                          </m:r>
                        </m:e>
                        <m:sub>
                          <m:r>
                            <a:rPr lang="en-US" sz="1600" i="1">
                              <a:latin typeface="Cambria Math" panose="02040503050406030204" pitchFamily="18" charset="0"/>
                            </a:rPr>
                            <m:t>𝑚</m:t>
                          </m:r>
                          <m:r>
                            <a:rPr lang="en-US" sz="1600" i="1">
                              <a:latin typeface="Cambria Math" panose="02040503050406030204" pitchFamily="18" charset="0"/>
                            </a:rPr>
                            <m:t>,</m:t>
                          </m:r>
                          <m:r>
                            <a:rPr lang="en-US" sz="1600" i="1">
                              <a:latin typeface="Cambria Math" panose="02040503050406030204" pitchFamily="18" charset="0"/>
                            </a:rPr>
                            <m:t>𝑡</m:t>
                          </m:r>
                        </m:sub>
                      </m:sSub>
                    </m:oMath>
                  </a14:m>
                  <a:r>
                    <a:rPr lang="en-US" sz="1600" b="1" dirty="0">
                      <a:solidFill>
                        <a:srgbClr val="1F1F1F"/>
                      </a:solidFill>
                      <a:latin typeface="Arial" panose="020B0604020202020204" pitchFamily="34" charset="0"/>
                      <a:cs typeface="Arial" panose="020B0604020202020204" pitchFamily="34" charset="0"/>
                    </a:rPr>
                    <a:t>)</a:t>
                  </a:r>
                </a:p>
              </p:txBody>
            </p:sp>
          </mc:Choice>
          <mc:Fallback xmlns="">
            <p:sp>
              <p:nvSpPr>
                <p:cNvPr id="21" name="TextBox 20">
                  <a:extLst>
                    <a:ext uri="{FF2B5EF4-FFF2-40B4-BE49-F238E27FC236}">
                      <a16:creationId xmlns:a16="http://schemas.microsoft.com/office/drawing/2014/main" id="{8C17FBEC-0C1F-8181-101E-4A4451A855A1}"/>
                    </a:ext>
                  </a:extLst>
                </p:cNvPr>
                <p:cNvSpPr txBox="1">
                  <a:spLocks noRot="1" noChangeAspect="1" noMove="1" noResize="1" noEditPoints="1" noAdjustHandles="1" noChangeArrowheads="1" noChangeShapeType="1" noTextEdit="1"/>
                </p:cNvSpPr>
                <p:nvPr/>
              </p:nvSpPr>
              <p:spPr>
                <a:xfrm>
                  <a:off x="6945174" y="2258111"/>
                  <a:ext cx="1567160" cy="349326"/>
                </a:xfrm>
                <a:prstGeom prst="rect">
                  <a:avLst/>
                </a:prstGeom>
                <a:blipFill>
                  <a:blip r:embed="rId4"/>
                  <a:stretch>
                    <a:fillRect l="-1600" t="-6897" b="-17241"/>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F7BFBB9F-67E6-DB1A-F5F7-7AA59A79B6BB}"/>
                </a:ext>
              </a:extLst>
            </p:cNvPr>
            <p:cNvSpPr txBox="1"/>
            <p:nvPr/>
          </p:nvSpPr>
          <p:spPr>
            <a:xfrm>
              <a:off x="9896430" y="2403052"/>
              <a:ext cx="641522" cy="338554"/>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Goal</a:t>
              </a:r>
            </a:p>
          </p:txBody>
        </p:sp>
        <p:sp>
          <p:nvSpPr>
            <p:cNvPr id="23" name="TextBox 22">
              <a:extLst>
                <a:ext uri="{FF2B5EF4-FFF2-40B4-BE49-F238E27FC236}">
                  <a16:creationId xmlns:a16="http://schemas.microsoft.com/office/drawing/2014/main" id="{1C99DB5B-9AEB-260D-44B2-71A66310DECC}"/>
                </a:ext>
              </a:extLst>
            </p:cNvPr>
            <p:cNvSpPr txBox="1"/>
            <p:nvPr/>
          </p:nvSpPr>
          <p:spPr>
            <a:xfrm>
              <a:off x="1430626" y="1664019"/>
              <a:ext cx="1165704"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Structural: </a:t>
              </a:r>
            </a:p>
            <a:p>
              <a:r>
                <a:rPr lang="en-US" sz="1200" dirty="0">
                  <a:latin typeface="Arial" panose="020B0604020202020204" pitchFamily="34" charset="0"/>
                  <a:cs typeface="Arial" panose="020B0604020202020204" pitchFamily="34" charset="0"/>
                </a:rPr>
                <a:t>Birth rates, </a:t>
              </a:r>
            </a:p>
            <a:p>
              <a:r>
                <a:rPr lang="en-US" sz="1200" dirty="0">
                  <a:latin typeface="Arial" panose="020B0604020202020204" pitchFamily="34" charset="0"/>
                  <a:cs typeface="Arial" panose="020B0604020202020204" pitchFamily="34" charset="0"/>
                </a:rPr>
                <a:t>Age structure</a:t>
              </a:r>
            </a:p>
            <a:p>
              <a:r>
                <a:rPr lang="en-US" sz="1200" dirty="0">
                  <a:latin typeface="Arial" panose="020B0604020202020204" pitchFamily="34" charset="0"/>
                  <a:cs typeface="Arial" panose="020B0604020202020204" pitchFamily="34" charset="0"/>
                </a:rPr>
                <a:t>(%&lt;15, %&gt;65)</a:t>
              </a:r>
            </a:p>
          </p:txBody>
        </p:sp>
        <p:sp>
          <p:nvSpPr>
            <p:cNvPr id="24" name="TextBox 23">
              <a:extLst>
                <a:ext uri="{FF2B5EF4-FFF2-40B4-BE49-F238E27FC236}">
                  <a16:creationId xmlns:a16="http://schemas.microsoft.com/office/drawing/2014/main" id="{4313C42F-4DB0-550C-E9E3-9E6F902F5F6F}"/>
                </a:ext>
              </a:extLst>
            </p:cNvPr>
            <p:cNvSpPr txBox="1"/>
            <p:nvPr/>
          </p:nvSpPr>
          <p:spPr>
            <a:xfrm>
              <a:off x="1419337" y="2757753"/>
              <a:ext cx="1258678"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Resilience: </a:t>
              </a:r>
            </a:p>
            <a:p>
              <a:r>
                <a:rPr lang="en-US" sz="1200" dirty="0">
                  <a:latin typeface="Arial" panose="020B0604020202020204" pitchFamily="34" charset="0"/>
                  <a:cs typeface="Arial" panose="020B0604020202020204" pitchFamily="34" charset="0"/>
                </a:rPr>
                <a:t>Unemployment,</a:t>
              </a:r>
            </a:p>
            <a:p>
              <a:r>
                <a:rPr lang="en-US" sz="1200" dirty="0">
                  <a:latin typeface="Arial" panose="020B0604020202020204" pitchFamily="34" charset="0"/>
                  <a:cs typeface="Arial" panose="020B0604020202020204" pitchFamily="34" charset="0"/>
                </a:rPr>
                <a:t>Payroll,</a:t>
              </a:r>
            </a:p>
            <a:p>
              <a:r>
                <a:rPr lang="en-US" sz="1200" dirty="0">
                  <a:latin typeface="Arial" panose="020B0604020202020204" pitchFamily="34" charset="0"/>
                  <a:cs typeface="Arial" panose="020B0604020202020204" pitchFamily="34" charset="0"/>
                </a:rPr>
                <a:t>Establishment</a:t>
              </a:r>
            </a:p>
            <a:p>
              <a:r>
                <a:rPr lang="en-US" sz="1200" dirty="0">
                  <a:latin typeface="Arial" panose="020B0604020202020204" pitchFamily="34" charset="0"/>
                  <a:cs typeface="Arial" panose="020B0604020202020204" pitchFamily="34" charset="0"/>
                </a:rPr>
                <a:t>counts</a:t>
              </a:r>
            </a:p>
          </p:txBody>
        </p:sp>
        <p:sp>
          <p:nvSpPr>
            <p:cNvPr id="25" name="TextBox 24">
              <a:extLst>
                <a:ext uri="{FF2B5EF4-FFF2-40B4-BE49-F238E27FC236}">
                  <a16:creationId xmlns:a16="http://schemas.microsoft.com/office/drawing/2014/main" id="{D4AD680C-D03D-6A37-5A8E-3214E6DCEF87}"/>
                </a:ext>
              </a:extLst>
            </p:cNvPr>
            <p:cNvSpPr txBox="1"/>
            <p:nvPr/>
          </p:nvSpPr>
          <p:spPr>
            <a:xfrm>
              <a:off x="1402290" y="5204000"/>
              <a:ext cx="1335622"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Shocks: </a:t>
              </a:r>
            </a:p>
            <a:p>
              <a:r>
                <a:rPr lang="en-US" sz="1200" dirty="0">
                  <a:latin typeface="Arial" panose="020B0604020202020204" pitchFamily="34" charset="0"/>
                  <a:cs typeface="Arial" panose="020B0604020202020204" pitchFamily="34" charset="0"/>
                </a:rPr>
                <a:t>Hurricane strikes</a:t>
              </a:r>
            </a:p>
            <a:p>
              <a:r>
                <a:rPr lang="en-US" sz="1200" dirty="0">
                  <a:latin typeface="Arial" panose="020B0604020202020204" pitchFamily="34" charset="0"/>
                  <a:cs typeface="Arial" panose="020B0604020202020204" pitchFamily="34" charset="0"/>
                </a:rPr>
                <a:t>Earthquake</a:t>
              </a:r>
            </a:p>
            <a:p>
              <a:r>
                <a:rPr lang="en-US" sz="1200" dirty="0">
                  <a:latin typeface="Arial" panose="020B0604020202020204" pitchFamily="34" charset="0"/>
                  <a:cs typeface="Arial" panose="020B0604020202020204" pitchFamily="34" charset="0"/>
                </a:rPr>
                <a:t>intensity</a:t>
              </a:r>
            </a:p>
          </p:txBody>
        </p:sp>
        <p:sp>
          <p:nvSpPr>
            <p:cNvPr id="26" name="TextBox 25">
              <a:extLst>
                <a:ext uri="{FF2B5EF4-FFF2-40B4-BE49-F238E27FC236}">
                  <a16:creationId xmlns:a16="http://schemas.microsoft.com/office/drawing/2014/main" id="{7A9846B9-BF19-D172-937B-EE732717C6F3}"/>
                </a:ext>
              </a:extLst>
            </p:cNvPr>
            <p:cNvSpPr txBox="1"/>
            <p:nvPr/>
          </p:nvSpPr>
          <p:spPr>
            <a:xfrm>
              <a:off x="1423604" y="4000704"/>
              <a:ext cx="1211294"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Vulnerability: </a:t>
              </a:r>
            </a:p>
            <a:p>
              <a:r>
                <a:rPr lang="en-US" sz="1200" dirty="0">
                  <a:latin typeface="Arial" panose="020B0604020202020204" pitchFamily="34" charset="0"/>
                  <a:cs typeface="Arial" panose="020B0604020202020204" pitchFamily="34" charset="0"/>
                </a:rPr>
                <a:t>CDC SVI</a:t>
              </a:r>
            </a:p>
            <a:p>
              <a:r>
                <a:rPr lang="en-US" sz="1200" dirty="0">
                  <a:latin typeface="Arial" panose="020B0604020202020204" pitchFamily="34" charset="0"/>
                  <a:cs typeface="Arial" panose="020B0604020202020204" pitchFamily="34" charset="0"/>
                </a:rPr>
                <a:t>(Poverty,</a:t>
              </a:r>
            </a:p>
            <a:p>
              <a:r>
                <a:rPr lang="en-US" sz="1200" dirty="0">
                  <a:latin typeface="Arial" panose="020B0604020202020204" pitchFamily="34" charset="0"/>
                  <a:cs typeface="Arial" panose="020B0604020202020204" pitchFamily="34" charset="0"/>
                </a:rPr>
                <a:t>Transportation,</a:t>
              </a:r>
            </a:p>
            <a:p>
              <a:r>
                <a:rPr lang="en-US" sz="1200" dirty="0">
                  <a:latin typeface="Arial" panose="020B0604020202020204" pitchFamily="34" charset="0"/>
                  <a:cs typeface="Arial" panose="020B0604020202020204" pitchFamily="34" charset="0"/>
                </a:rPr>
                <a:t>Housing</a:t>
              </a:r>
            </a:p>
          </p:txBody>
        </p:sp>
        <p:sp>
          <p:nvSpPr>
            <p:cNvPr id="27" name="TextBox 26">
              <a:extLst>
                <a:ext uri="{FF2B5EF4-FFF2-40B4-BE49-F238E27FC236}">
                  <a16:creationId xmlns:a16="http://schemas.microsoft.com/office/drawing/2014/main" id="{1D5939D3-5007-7D0F-39EF-128011980BDF}"/>
                </a:ext>
              </a:extLst>
            </p:cNvPr>
            <p:cNvSpPr txBox="1"/>
            <p:nvPr/>
          </p:nvSpPr>
          <p:spPr>
            <a:xfrm>
              <a:off x="3785731" y="2136371"/>
              <a:ext cx="1645442" cy="2400657"/>
            </a:xfrm>
            <a:prstGeom prst="rect">
              <a:avLst/>
            </a:prstGeom>
            <a:noFill/>
          </p:spPr>
          <p:txBody>
            <a:bodyPr wrap="square" rtlCol="0">
              <a:spAutoFit/>
            </a:bodyPr>
            <a:lstStyle/>
            <a:p>
              <a:r>
                <a:rPr lang="en-US" sz="1000" b="1" dirty="0">
                  <a:latin typeface="Arial" panose="020B0604020202020204" pitchFamily="34" charset="0"/>
                  <a:cs typeface="Arial" panose="020B0604020202020204" pitchFamily="34" charset="0"/>
                </a:rPr>
                <a:t>Supervised Modeling (Model v1)</a:t>
              </a:r>
            </a:p>
            <a:p>
              <a:endParaRPr lang="en-US" sz="1000" b="1" dirty="0">
                <a:latin typeface="Arial" panose="020B0604020202020204" pitchFamily="34" charset="0"/>
                <a:cs typeface="Arial" panose="020B0604020202020204" pitchFamily="34" charset="0"/>
              </a:endParaRPr>
            </a:p>
            <a:p>
              <a:pPr marL="114300" indent="-114300">
                <a:buFont typeface="Arial" panose="020B0604020202020204" pitchFamily="34" charset="0"/>
                <a:buChar char="•"/>
              </a:pPr>
              <a:r>
                <a:rPr lang="en-US" sz="1000" dirty="0"/>
                <a:t>Lasso Regression (</a:t>
              </a:r>
              <a:r>
                <a:rPr lang="en-US" sz="1000" b="1" dirty="0"/>
                <a:t>selected model</a:t>
              </a:r>
              <a:r>
                <a:rPr lang="en-US" sz="1000" dirty="0"/>
                <a:t>) </a:t>
              </a:r>
            </a:p>
            <a:p>
              <a:pPr marL="114300" indent="-114300">
                <a:buFont typeface="Arial" panose="020B0604020202020204" pitchFamily="34" charset="0"/>
                <a:buChar char="•"/>
              </a:pPr>
              <a:endParaRPr lang="en-US" sz="1000" dirty="0"/>
            </a:p>
            <a:p>
              <a:pPr marL="114300" indent="-114300">
                <a:buFont typeface="Arial" panose="020B0604020202020204" pitchFamily="34" charset="0"/>
                <a:buChar char="•"/>
              </a:pPr>
              <a:r>
                <a:rPr lang="en-US" sz="1000" dirty="0"/>
                <a:t>Compared against: Ridge, Random Forest, HGB </a:t>
              </a:r>
            </a:p>
            <a:p>
              <a:pPr marL="114300" indent="-114300">
                <a:buFont typeface="Arial" panose="020B0604020202020204" pitchFamily="34" charset="0"/>
                <a:buChar char="•"/>
              </a:pPr>
              <a:endParaRPr lang="en-US" sz="1000" dirty="0"/>
            </a:p>
            <a:p>
              <a:pPr marL="114300" indent="-114300">
                <a:buFont typeface="Arial" panose="020B0604020202020204" pitchFamily="34" charset="0"/>
                <a:buChar char="•"/>
              </a:pPr>
              <a:r>
                <a:rPr lang="en-US" sz="1000" dirty="0"/>
                <a:t>Targets tested: </a:t>
              </a:r>
            </a:p>
            <a:p>
              <a:pPr marL="114300" lvl="1" indent="-114300"/>
              <a:r>
                <a:rPr lang="en-US" sz="1000" dirty="0"/>
                <a:t>Annual population change </a:t>
              </a:r>
            </a:p>
            <a:p>
              <a:pPr marL="114300" lvl="1" indent="-114300"/>
              <a:r>
                <a:rPr lang="en-US" sz="1000" b="1" dirty="0"/>
                <a:t>3-year forward average (selected)</a:t>
              </a:r>
              <a:r>
                <a:rPr lang="en-US" sz="1000" dirty="0"/>
                <a:t> </a:t>
              </a:r>
            </a:p>
            <a:p>
              <a:endParaRPr lang="en-US" sz="1000" b="1" dirty="0">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136161C-A063-0768-597B-C6F11829787B}"/>
                </a:ext>
              </a:extLst>
            </p:cNvPr>
            <p:cNvSpPr txBox="1"/>
            <p:nvPr/>
          </p:nvSpPr>
          <p:spPr>
            <a:xfrm>
              <a:off x="6806455" y="2764830"/>
              <a:ext cx="1918268" cy="1384995"/>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Primary:</a:t>
              </a:r>
              <a:endParaRPr lang="en-US" altLang="en-US" sz="1200" dirty="0">
                <a:latin typeface="Arial" panose="020B0604020202020204" pitchFamily="34" charset="0"/>
              </a:endParaRPr>
            </a:p>
            <a:p>
              <a:pPr lvl="0" eaLnBrk="0" fontAlgn="base" hangingPunct="0">
                <a:spcBef>
                  <a:spcPct val="0"/>
                </a:spcBef>
                <a:spcAft>
                  <a:spcPct val="0"/>
                </a:spcAft>
                <a:buFontTx/>
                <a:buChar char="•"/>
              </a:pPr>
              <a:r>
                <a:rPr lang="en-US" altLang="en-US" sz="1200" dirty="0">
                  <a:latin typeface="Arial" panose="020B0604020202020204" pitchFamily="34" charset="0"/>
                </a:rPr>
                <a:t> Predicted population change </a:t>
              </a:r>
            </a:p>
            <a:p>
              <a:pPr lvl="0" eaLnBrk="0" fontAlgn="base" hangingPunct="0">
                <a:spcBef>
                  <a:spcPct val="0"/>
                </a:spcBef>
                <a:spcAft>
                  <a:spcPct val="0"/>
                </a:spcAft>
                <a:buFontTx/>
                <a:buChar char="•"/>
              </a:pPr>
              <a:r>
                <a:rPr lang="en-US" altLang="en-US" sz="1200" dirty="0">
                  <a:latin typeface="Arial" panose="020B0604020202020204" pitchFamily="34" charset="0"/>
                </a:rPr>
                <a:t> Model evaluation (R², errors)</a:t>
              </a:r>
            </a:p>
            <a:p>
              <a:endParaRPr lang="en-US" sz="1200" b="1" dirty="0">
                <a:latin typeface="Arial" panose="020B0604020202020204" pitchFamily="34" charset="0"/>
                <a:cs typeface="Arial" panose="020B0604020202020204" pitchFamily="34" charset="0"/>
              </a:endParaRPr>
            </a:p>
            <a:p>
              <a:endParaRPr lang="en-US" sz="1200" b="1" dirty="0">
                <a:latin typeface="Arial" panose="020B0604020202020204" pitchFamily="34" charset="0"/>
                <a:cs typeface="Arial" panose="020B0604020202020204" pitchFamily="34" charset="0"/>
              </a:endParaRPr>
            </a:p>
          </p:txBody>
        </p:sp>
        <p:sp>
          <p:nvSpPr>
            <p:cNvPr id="30" name="TextBox 29">
              <a:extLst>
                <a:ext uri="{FF2B5EF4-FFF2-40B4-BE49-F238E27FC236}">
                  <a16:creationId xmlns:a16="http://schemas.microsoft.com/office/drawing/2014/main" id="{FFF01BD2-BB92-ADB9-5420-3F2DE7B3EBAD}"/>
                </a:ext>
              </a:extLst>
            </p:cNvPr>
            <p:cNvSpPr txBox="1"/>
            <p:nvPr/>
          </p:nvSpPr>
          <p:spPr>
            <a:xfrm>
              <a:off x="6800043" y="3983539"/>
              <a:ext cx="1924680" cy="1015663"/>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Secondary:</a:t>
              </a:r>
            </a:p>
            <a:p>
              <a:pPr lvl="0" eaLnBrk="0" fontAlgn="base" hangingPunct="0">
                <a:spcBef>
                  <a:spcPct val="0"/>
                </a:spcBef>
                <a:spcAft>
                  <a:spcPct val="0"/>
                </a:spcAft>
              </a:pPr>
              <a:endParaRPr lang="en-US" altLang="en-US" sz="1200" dirty="0">
                <a:latin typeface="Arial" panose="020B0604020202020204" pitchFamily="34" charset="0"/>
              </a:endParaRPr>
            </a:p>
            <a:p>
              <a:pPr lvl="0" eaLnBrk="0" fontAlgn="base" hangingPunct="0">
                <a:spcBef>
                  <a:spcPct val="0"/>
                </a:spcBef>
                <a:spcAft>
                  <a:spcPct val="0"/>
                </a:spcAft>
                <a:buFontTx/>
                <a:buChar char="•"/>
              </a:pPr>
              <a:r>
                <a:rPr lang="en-US" altLang="en-US" sz="1200" dirty="0">
                  <a:latin typeface="Arial" panose="020B0604020202020204" pitchFamily="34" charset="0"/>
                </a:rPr>
                <a:t> Municipal typologies </a:t>
              </a:r>
            </a:p>
            <a:p>
              <a:pPr lvl="0" eaLnBrk="0" fontAlgn="base" hangingPunct="0">
                <a:spcBef>
                  <a:spcPct val="0"/>
                </a:spcBef>
                <a:spcAft>
                  <a:spcPct val="0"/>
                </a:spcAft>
                <a:buFontTx/>
                <a:buChar char="•"/>
              </a:pPr>
              <a:r>
                <a:rPr lang="en-US" altLang="en-US" sz="1200" dirty="0">
                  <a:latin typeface="Arial" panose="020B0604020202020204" pitchFamily="34" charset="0"/>
                </a:rPr>
                <a:t> Vulnerability score (0–1) </a:t>
              </a:r>
            </a:p>
            <a:p>
              <a:pPr lvl="0" eaLnBrk="0" fontAlgn="base" hangingPunct="0">
                <a:spcBef>
                  <a:spcPct val="0"/>
                </a:spcBef>
                <a:spcAft>
                  <a:spcPct val="0"/>
                </a:spcAft>
                <a:buFontTx/>
                <a:buChar char="•"/>
              </a:pPr>
              <a:r>
                <a:rPr lang="en-US" altLang="en-US" sz="1200" dirty="0">
                  <a:latin typeface="Arial" panose="020B0604020202020204" pitchFamily="34" charset="0"/>
                </a:rPr>
                <a:t> Regional summaries</a:t>
              </a:r>
            </a:p>
          </p:txBody>
        </p:sp>
        <p:sp>
          <p:nvSpPr>
            <p:cNvPr id="31" name="TextBox 30">
              <a:extLst>
                <a:ext uri="{FF2B5EF4-FFF2-40B4-BE49-F238E27FC236}">
                  <a16:creationId xmlns:a16="http://schemas.microsoft.com/office/drawing/2014/main" id="{8B98655F-513C-886C-92E6-25278865A6F3}"/>
                </a:ext>
              </a:extLst>
            </p:cNvPr>
            <p:cNvSpPr txBox="1"/>
            <p:nvPr/>
          </p:nvSpPr>
          <p:spPr>
            <a:xfrm>
              <a:off x="9406208" y="3547243"/>
              <a:ext cx="1609759" cy="1569660"/>
            </a:xfrm>
            <a:prstGeom prst="rect">
              <a:avLst/>
            </a:prstGeom>
            <a:noFill/>
          </p:spPr>
          <p:txBody>
            <a:bodyPr wrap="square" rtlCol="0">
              <a:spAutoFit/>
            </a:bodyPr>
            <a:lstStyle/>
            <a:p>
              <a:pPr marL="120650" lvl="0" indent="-120650" eaLnBrk="0" fontAlgn="base" hangingPunct="0">
                <a:spcBef>
                  <a:spcPct val="0"/>
                </a:spcBef>
                <a:spcAft>
                  <a:spcPct val="0"/>
                </a:spcAft>
                <a:buFont typeface="Arial" panose="020B0604020202020204" pitchFamily="34" charset="0"/>
                <a:buChar char="•"/>
              </a:pPr>
              <a:r>
                <a:rPr lang="en-US" altLang="en-US" sz="1200" dirty="0">
                  <a:latin typeface="Arial" panose="020B0604020202020204" pitchFamily="34" charset="0"/>
                </a:rPr>
                <a:t>Distinguish structural vs shock-driven population change</a:t>
              </a:r>
            </a:p>
            <a:p>
              <a:pPr lvl="0" eaLnBrk="0" fontAlgn="base" hangingPunct="0">
                <a:spcBef>
                  <a:spcPct val="0"/>
                </a:spcBef>
                <a:spcAft>
                  <a:spcPct val="0"/>
                </a:spcAft>
              </a:pPr>
              <a:r>
                <a:rPr lang="en-US" altLang="en-US" sz="1200" dirty="0">
                  <a:latin typeface="Arial" panose="020B0604020202020204" pitchFamily="34" charset="0"/>
                </a:rPr>
                <a:t> </a:t>
              </a:r>
            </a:p>
            <a:p>
              <a:pPr marL="120650" lvl="0" indent="-120650" eaLnBrk="0" fontAlgn="base" hangingPunct="0">
                <a:spcBef>
                  <a:spcPct val="0"/>
                </a:spcBef>
                <a:spcAft>
                  <a:spcPct val="0"/>
                </a:spcAft>
                <a:buFont typeface="Arial" panose="020B0604020202020204" pitchFamily="34" charset="0"/>
                <a:buChar char="•"/>
              </a:pPr>
              <a:r>
                <a:rPr lang="en-US" altLang="en-US" sz="1200" dirty="0">
                  <a:latin typeface="Arial" panose="020B0604020202020204" pitchFamily="34" charset="0"/>
                </a:rPr>
                <a:t>Support policy and resource allocation in Puerto Rico</a:t>
              </a:r>
            </a:p>
          </p:txBody>
        </p:sp>
        <p:pic>
          <p:nvPicPr>
            <p:cNvPr id="32" name="Picture 31" descr="A group of people with a clock&#10;&#10;AI-generated content may be incorrect.">
              <a:extLst>
                <a:ext uri="{FF2B5EF4-FFF2-40B4-BE49-F238E27FC236}">
                  <a16:creationId xmlns:a16="http://schemas.microsoft.com/office/drawing/2014/main" id="{F88C4230-0460-5EE5-1628-BAD4DA164292}"/>
                </a:ext>
              </a:extLst>
            </p:cNvPr>
            <p:cNvPicPr>
              <a:picLocks noChangeAspect="1"/>
            </p:cNvPicPr>
            <p:nvPr/>
          </p:nvPicPr>
          <p:blipFill>
            <a:blip r:embed="rId5"/>
            <a:stretch>
              <a:fillRect/>
            </a:stretch>
          </p:blipFill>
          <p:spPr>
            <a:xfrm>
              <a:off x="895259" y="1878367"/>
              <a:ext cx="394765" cy="427662"/>
            </a:xfrm>
            <a:prstGeom prst="rect">
              <a:avLst/>
            </a:prstGeom>
          </p:spPr>
        </p:pic>
        <p:pic>
          <p:nvPicPr>
            <p:cNvPr id="33" name="Picture 32">
              <a:extLst>
                <a:ext uri="{FF2B5EF4-FFF2-40B4-BE49-F238E27FC236}">
                  <a16:creationId xmlns:a16="http://schemas.microsoft.com/office/drawing/2014/main" id="{FE26AED8-9A13-E649-BA47-2D5D4C917B05}"/>
                </a:ext>
              </a:extLst>
            </p:cNvPr>
            <p:cNvPicPr>
              <a:picLocks noChangeAspect="1"/>
            </p:cNvPicPr>
            <p:nvPr/>
          </p:nvPicPr>
          <p:blipFill>
            <a:blip r:embed="rId6"/>
            <a:stretch>
              <a:fillRect/>
            </a:stretch>
          </p:blipFill>
          <p:spPr>
            <a:xfrm>
              <a:off x="874227" y="3060447"/>
              <a:ext cx="454773" cy="486796"/>
            </a:xfrm>
            <a:prstGeom prst="rect">
              <a:avLst/>
            </a:prstGeom>
          </p:spPr>
        </p:pic>
        <p:pic>
          <p:nvPicPr>
            <p:cNvPr id="34" name="Picture 33" descr="A chain with a house and a broken chain&#10;&#10;AI-generated content may be incorrect.">
              <a:extLst>
                <a:ext uri="{FF2B5EF4-FFF2-40B4-BE49-F238E27FC236}">
                  <a16:creationId xmlns:a16="http://schemas.microsoft.com/office/drawing/2014/main" id="{46D09B9A-B92F-3EE6-62AE-25C227D835EA}"/>
                </a:ext>
              </a:extLst>
            </p:cNvPr>
            <p:cNvPicPr>
              <a:picLocks noChangeAspect="1"/>
            </p:cNvPicPr>
            <p:nvPr/>
          </p:nvPicPr>
          <p:blipFill>
            <a:blip r:embed="rId7"/>
            <a:stretch>
              <a:fillRect/>
            </a:stretch>
          </p:blipFill>
          <p:spPr>
            <a:xfrm>
              <a:off x="924379" y="4253435"/>
              <a:ext cx="394303" cy="423874"/>
            </a:xfrm>
            <a:prstGeom prst="rect">
              <a:avLst/>
            </a:prstGeom>
          </p:spPr>
        </p:pic>
        <p:pic>
          <p:nvPicPr>
            <p:cNvPr id="35" name="Picture 34">
              <a:extLst>
                <a:ext uri="{FF2B5EF4-FFF2-40B4-BE49-F238E27FC236}">
                  <a16:creationId xmlns:a16="http://schemas.microsoft.com/office/drawing/2014/main" id="{4B1AC773-459B-07E5-62C2-70C9DC656B4C}"/>
                </a:ext>
              </a:extLst>
            </p:cNvPr>
            <p:cNvPicPr>
              <a:picLocks noChangeAspect="1"/>
            </p:cNvPicPr>
            <p:nvPr/>
          </p:nvPicPr>
          <p:blipFill>
            <a:blip r:embed="rId8"/>
            <a:stretch>
              <a:fillRect/>
            </a:stretch>
          </p:blipFill>
          <p:spPr>
            <a:xfrm>
              <a:off x="900357" y="5338897"/>
              <a:ext cx="414070" cy="514093"/>
            </a:xfrm>
            <a:prstGeom prst="rect">
              <a:avLst/>
            </a:prstGeom>
          </p:spPr>
        </p:pic>
        <p:pic>
          <p:nvPicPr>
            <p:cNvPr id="36" name="Picture 35" descr="A close up of a diagram&#10;&#10;AI-generated content may be incorrect.">
              <a:extLst>
                <a:ext uri="{FF2B5EF4-FFF2-40B4-BE49-F238E27FC236}">
                  <a16:creationId xmlns:a16="http://schemas.microsoft.com/office/drawing/2014/main" id="{1801943C-E9A7-1068-E298-A3D94A6497D6}"/>
                </a:ext>
              </a:extLst>
            </p:cNvPr>
            <p:cNvPicPr>
              <a:picLocks noChangeAspect="1"/>
            </p:cNvPicPr>
            <p:nvPr/>
          </p:nvPicPr>
          <p:blipFill>
            <a:blip r:embed="rId9"/>
            <a:srcRect l="11449" t="8859" r="13661" b="6934"/>
            <a:stretch>
              <a:fillRect/>
            </a:stretch>
          </p:blipFill>
          <p:spPr>
            <a:xfrm>
              <a:off x="3431178" y="2205635"/>
              <a:ext cx="303231" cy="578762"/>
            </a:xfrm>
            <a:prstGeom prst="rect">
              <a:avLst/>
            </a:prstGeom>
          </p:spPr>
        </p:pic>
        <p:pic>
          <p:nvPicPr>
            <p:cNvPr id="38" name="Picture 37" descr="A graph with a red arrow down&#10;&#10;AI-generated content may be incorrect.">
              <a:extLst>
                <a:ext uri="{FF2B5EF4-FFF2-40B4-BE49-F238E27FC236}">
                  <a16:creationId xmlns:a16="http://schemas.microsoft.com/office/drawing/2014/main" id="{0CDD2A8F-CF25-8BA3-E1D5-A606913E8A0A}"/>
                </a:ext>
              </a:extLst>
            </p:cNvPr>
            <p:cNvPicPr>
              <a:picLocks noChangeAspect="1"/>
            </p:cNvPicPr>
            <p:nvPr/>
          </p:nvPicPr>
          <p:blipFill>
            <a:blip r:embed="rId10"/>
            <a:stretch>
              <a:fillRect/>
            </a:stretch>
          </p:blipFill>
          <p:spPr>
            <a:xfrm>
              <a:off x="6281261" y="3102704"/>
              <a:ext cx="434857" cy="508875"/>
            </a:xfrm>
            <a:prstGeom prst="rect">
              <a:avLst/>
            </a:prstGeom>
          </p:spPr>
        </p:pic>
        <p:pic>
          <p:nvPicPr>
            <p:cNvPr id="39" name="Picture 38" descr="A colorful gauge with a needle&#10;&#10;AI-generated content may be incorrect.">
              <a:extLst>
                <a:ext uri="{FF2B5EF4-FFF2-40B4-BE49-F238E27FC236}">
                  <a16:creationId xmlns:a16="http://schemas.microsoft.com/office/drawing/2014/main" id="{8171B061-ED11-CAF2-5A0E-C0B59EE969C9}"/>
                </a:ext>
              </a:extLst>
            </p:cNvPr>
            <p:cNvPicPr>
              <a:picLocks noChangeAspect="1"/>
            </p:cNvPicPr>
            <p:nvPr/>
          </p:nvPicPr>
          <p:blipFill>
            <a:blip r:embed="rId11"/>
            <a:stretch>
              <a:fillRect/>
            </a:stretch>
          </p:blipFill>
          <p:spPr>
            <a:xfrm>
              <a:off x="6236219" y="4396102"/>
              <a:ext cx="447766" cy="448584"/>
            </a:xfrm>
            <a:prstGeom prst="rect">
              <a:avLst/>
            </a:prstGeom>
          </p:spPr>
        </p:pic>
        <p:pic>
          <p:nvPicPr>
            <p:cNvPr id="40" name="Picture 39" descr="A map of the country with gears&#10;&#10;AI-generated content may be incorrect.">
              <a:extLst>
                <a:ext uri="{FF2B5EF4-FFF2-40B4-BE49-F238E27FC236}">
                  <a16:creationId xmlns:a16="http://schemas.microsoft.com/office/drawing/2014/main" id="{6BFEC94D-3CAA-E041-1483-BD615C446DB3}"/>
                </a:ext>
              </a:extLst>
            </p:cNvPr>
            <p:cNvPicPr>
              <a:picLocks noChangeAspect="1"/>
            </p:cNvPicPr>
            <p:nvPr/>
          </p:nvPicPr>
          <p:blipFill>
            <a:blip r:embed="rId12"/>
            <a:stretch>
              <a:fillRect/>
            </a:stretch>
          </p:blipFill>
          <p:spPr>
            <a:xfrm>
              <a:off x="9664210" y="2799284"/>
              <a:ext cx="1170894" cy="784106"/>
            </a:xfrm>
            <a:prstGeom prst="rect">
              <a:avLst/>
            </a:prstGeom>
          </p:spPr>
        </p:pic>
        <p:sp>
          <p:nvSpPr>
            <p:cNvPr id="41" name="Right Arrow 40">
              <a:extLst>
                <a:ext uri="{FF2B5EF4-FFF2-40B4-BE49-F238E27FC236}">
                  <a16:creationId xmlns:a16="http://schemas.microsoft.com/office/drawing/2014/main" id="{EC213019-310C-AE28-28C1-A0FE672ABAD6}"/>
                </a:ext>
              </a:extLst>
            </p:cNvPr>
            <p:cNvSpPr/>
            <p:nvPr/>
          </p:nvSpPr>
          <p:spPr>
            <a:xfrm>
              <a:off x="8797587" y="3682168"/>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2" name="Right Arrow 41">
              <a:extLst>
                <a:ext uri="{FF2B5EF4-FFF2-40B4-BE49-F238E27FC236}">
                  <a16:creationId xmlns:a16="http://schemas.microsoft.com/office/drawing/2014/main" id="{6E74C82E-D270-98D8-06FD-C8BCCDD7D6D5}"/>
                </a:ext>
              </a:extLst>
            </p:cNvPr>
            <p:cNvSpPr/>
            <p:nvPr/>
          </p:nvSpPr>
          <p:spPr>
            <a:xfrm>
              <a:off x="5538860" y="3682168"/>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3" name="Right Arrow 42">
              <a:extLst>
                <a:ext uri="{FF2B5EF4-FFF2-40B4-BE49-F238E27FC236}">
                  <a16:creationId xmlns:a16="http://schemas.microsoft.com/office/drawing/2014/main" id="{D7CC7418-1C4D-0F1D-5230-2A78AA30204C}"/>
                </a:ext>
              </a:extLst>
            </p:cNvPr>
            <p:cNvSpPr/>
            <p:nvPr/>
          </p:nvSpPr>
          <p:spPr>
            <a:xfrm>
              <a:off x="2740682" y="3685223"/>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4" name="TextBox 43">
              <a:extLst>
                <a:ext uri="{FF2B5EF4-FFF2-40B4-BE49-F238E27FC236}">
                  <a16:creationId xmlns:a16="http://schemas.microsoft.com/office/drawing/2014/main" id="{4292DE21-5A0E-2A87-BAA0-5FFC09BA6FB0}"/>
                </a:ext>
              </a:extLst>
            </p:cNvPr>
            <p:cNvSpPr txBox="1"/>
            <p:nvPr/>
          </p:nvSpPr>
          <p:spPr>
            <a:xfrm rot="16200000">
              <a:off x="-1892426" y="3812063"/>
              <a:ext cx="4640245" cy="307777"/>
            </a:xfrm>
            <a:prstGeom prst="rect">
              <a:avLst/>
            </a:prstGeom>
            <a:noFill/>
          </p:spPr>
          <p:txBody>
            <a:bodyPr wrap="square">
              <a:spAutoFit/>
            </a:bodyPr>
            <a:lstStyle/>
            <a:p>
              <a:pPr algn="ctr" fontAlgn="base"/>
              <a:r>
                <a:rPr lang="en-US" sz="1400" dirty="0">
                  <a:latin typeface="Arial" panose="020B0604020202020204" pitchFamily="34" charset="0"/>
                  <a:cs typeface="Arial" panose="020B0604020202020204" pitchFamily="34" charset="0"/>
                </a:rPr>
                <a:t>Panel dataset: 78 municipalities × 2010–2024</a:t>
              </a:r>
              <a:endParaRPr lang="en-US" sz="1400" dirty="0">
                <a:solidFill>
                  <a:srgbClr val="000000"/>
                </a:solidFill>
                <a:latin typeface="Arial" panose="020B0604020202020204" pitchFamily="34" charset="0"/>
                <a:ea typeface="Arial"/>
                <a:cs typeface="Arial" panose="020B0604020202020204" pitchFamily="34" charset="0"/>
                <a:sym typeface="Arial"/>
              </a:endParaRPr>
            </a:p>
          </p:txBody>
        </p:sp>
        <p:sp>
          <p:nvSpPr>
            <p:cNvPr id="46" name="Rounded Rectangle 45">
              <a:extLst>
                <a:ext uri="{FF2B5EF4-FFF2-40B4-BE49-F238E27FC236}">
                  <a16:creationId xmlns:a16="http://schemas.microsoft.com/office/drawing/2014/main" id="{2755122A-0A05-D626-C80D-8A18BF9D76EC}"/>
                </a:ext>
              </a:extLst>
            </p:cNvPr>
            <p:cNvSpPr/>
            <p:nvPr/>
          </p:nvSpPr>
          <p:spPr>
            <a:xfrm>
              <a:off x="3351727" y="4844686"/>
              <a:ext cx="2132833" cy="1178034"/>
            </a:xfrm>
            <a:prstGeom prst="roundRect">
              <a:avLst>
                <a:gd name="adj" fmla="val 229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7" name="TextBox 46">
              <a:extLst>
                <a:ext uri="{FF2B5EF4-FFF2-40B4-BE49-F238E27FC236}">
                  <a16:creationId xmlns:a16="http://schemas.microsoft.com/office/drawing/2014/main" id="{AF74AB43-5A66-8BB9-F90C-6DBD8CD04D84}"/>
                </a:ext>
              </a:extLst>
            </p:cNvPr>
            <p:cNvSpPr txBox="1"/>
            <p:nvPr/>
          </p:nvSpPr>
          <p:spPr>
            <a:xfrm>
              <a:off x="3752813" y="4937544"/>
              <a:ext cx="1946804" cy="907941"/>
            </a:xfrm>
            <a:prstGeom prst="rect">
              <a:avLst/>
            </a:prstGeom>
            <a:noFill/>
          </p:spPr>
          <p:txBody>
            <a:bodyPr wrap="square" rtlCol="0">
              <a:spAutoFit/>
            </a:bodyPr>
            <a:lstStyle/>
            <a:p>
              <a:r>
                <a:rPr lang="en-US" sz="1000" b="1" dirty="0">
                  <a:latin typeface="Arial" panose="020B0604020202020204" pitchFamily="34" charset="0"/>
                  <a:cs typeface="Arial" panose="020B0604020202020204" pitchFamily="34" charset="0"/>
                </a:rPr>
                <a:t>Structural Analysis (Post-Modeling): </a:t>
              </a:r>
            </a:p>
            <a:p>
              <a:pPr marL="171450" indent="-171450">
                <a:buFont typeface="Arial" panose="020B0604020202020204" pitchFamily="34" charset="0"/>
                <a:buChar char="•"/>
              </a:pPr>
              <a:r>
                <a:rPr lang="en-US" sz="1100" dirty="0">
                  <a:latin typeface="Arial" panose="020B0604020202020204" pitchFamily="34" charset="0"/>
                  <a:cs typeface="Arial" panose="020B0604020202020204" pitchFamily="34" charset="0"/>
                </a:rPr>
                <a:t>K-Means / Hierarchical</a:t>
              </a:r>
            </a:p>
            <a:p>
              <a:pPr marL="171450" indent="-171450">
                <a:buFont typeface="Arial" panose="020B0604020202020204" pitchFamily="34" charset="0"/>
                <a:buChar char="•"/>
              </a:pPr>
              <a:r>
                <a:rPr lang="en-US" sz="1100" dirty="0">
                  <a:latin typeface="Arial" panose="020B0604020202020204" pitchFamily="34" charset="0"/>
                  <a:cs typeface="Arial" panose="020B0604020202020204" pitchFamily="34" charset="0"/>
                </a:rPr>
                <a:t>Clustering for typology profiling</a:t>
              </a:r>
            </a:p>
          </p:txBody>
        </p:sp>
        <p:pic>
          <p:nvPicPr>
            <p:cNvPr id="48" name="Picture 47" descr="A group of dots in a circle&#10;&#10;AI-generated content may be incorrect.">
              <a:extLst>
                <a:ext uri="{FF2B5EF4-FFF2-40B4-BE49-F238E27FC236}">
                  <a16:creationId xmlns:a16="http://schemas.microsoft.com/office/drawing/2014/main" id="{100E48F0-36BF-3579-8797-7936BF8B8A84}"/>
                </a:ext>
              </a:extLst>
            </p:cNvPr>
            <p:cNvPicPr>
              <a:picLocks noChangeAspect="1"/>
            </p:cNvPicPr>
            <p:nvPr/>
          </p:nvPicPr>
          <p:blipFill>
            <a:blip r:embed="rId13"/>
            <a:stretch>
              <a:fillRect/>
            </a:stretch>
          </p:blipFill>
          <p:spPr>
            <a:xfrm>
              <a:off x="3418014" y="4962317"/>
              <a:ext cx="316395" cy="388615"/>
            </a:xfrm>
            <a:prstGeom prst="rect">
              <a:avLst/>
            </a:prstGeom>
          </p:spPr>
        </p:pic>
      </p:grpSp>
    </p:spTree>
    <p:extLst>
      <p:ext uri="{BB962C8B-B14F-4D97-AF65-F5344CB8AC3E}">
        <p14:creationId xmlns:p14="http://schemas.microsoft.com/office/powerpoint/2010/main" val="21372894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v1: Lasso Regression </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8603554" cy="4524315"/>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Random Forest, HGB, and Extra Trees</a:t>
            </a:r>
          </a:p>
          <a:p>
            <a:pPr marL="742950" lvl="1" indent="-285750">
              <a:buFont typeface="Arial" panose="020B0604020202020204" pitchFamily="34" charset="0"/>
              <a:buChar char="•"/>
            </a:pPr>
            <a:r>
              <a:rPr lang="en-US" dirty="0"/>
              <a:t>Selected </a:t>
            </a:r>
            <a:r>
              <a:rPr lang="en-US" b="1" dirty="0"/>
              <a:t>Extra Trees</a:t>
            </a:r>
            <a:r>
              <a:rPr lang="en-US" dirty="0"/>
              <a:t> for interpretability and stability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endParaRPr lang="en-US" b="1" dirty="0"/>
          </a:p>
          <a:p>
            <a:pPr marL="285750" indent="-285750">
              <a:buFont typeface="Arial" panose="020B0604020202020204" pitchFamily="34" charset="0"/>
              <a:buChar char="•"/>
            </a:pPr>
            <a:r>
              <a:rPr lang="en-US" b="1" dirty="0"/>
              <a:t>Selected: </a:t>
            </a:r>
            <a:r>
              <a:rPr lang="en-US" dirty="0"/>
              <a:t>Extra Trees</a:t>
            </a:r>
          </a:p>
          <a:p>
            <a:endParaRPr lang="en-US" dirty="0"/>
          </a:p>
          <a:p>
            <a:pPr marL="285750" indent="-285750">
              <a:buFont typeface="Arial" panose="020B0604020202020204" pitchFamily="34" charset="0"/>
              <a:buChar char="•"/>
            </a:pPr>
            <a:r>
              <a:rPr lang="en-US" b="1" dirty="0"/>
              <a:t>Key Result: </a:t>
            </a:r>
          </a:p>
          <a:p>
            <a:pPr lvl="1"/>
            <a:r>
              <a:rPr lang="en-US" dirty="0"/>
              <a:t>Validation R² ≈ 0.38–0.40 </a:t>
            </a:r>
          </a:p>
          <a:p>
            <a:pPr lvl="1"/>
            <a:r>
              <a:rPr lang="en-US" dirty="0"/>
              <a:t>Test R² ≈ 0.17 (Phase 2 best)</a:t>
            </a:r>
          </a:p>
        </p:txBody>
      </p:sp>
      <p:pic>
        <p:nvPicPr>
          <p:cNvPr id="3" name="Picture 2">
            <a:extLst>
              <a:ext uri="{FF2B5EF4-FFF2-40B4-BE49-F238E27FC236}">
                <a16:creationId xmlns:a16="http://schemas.microsoft.com/office/drawing/2014/main" id="{6B467B2F-43BA-7A05-CDE2-9A8DBAC020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971" y="2301596"/>
            <a:ext cx="5120029" cy="2092762"/>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5524C-4EE8-27EA-289A-D157B2608BA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5E57585-C0F5-C9DB-18FA-5FC92375805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527685F-7BA4-384E-9C53-B8C017774E1B}"/>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 Performance</a:t>
            </a:r>
          </a:p>
        </p:txBody>
      </p:sp>
      <p:sp>
        <p:nvSpPr>
          <p:cNvPr id="11" name="TextBox 10">
            <a:extLst>
              <a:ext uri="{FF2B5EF4-FFF2-40B4-BE49-F238E27FC236}">
                <a16:creationId xmlns:a16="http://schemas.microsoft.com/office/drawing/2014/main" id="{744CA0D0-60FE-16D8-81D1-545FDC0FA658}"/>
              </a:ext>
            </a:extLst>
          </p:cNvPr>
          <p:cNvSpPr txBox="1"/>
          <p:nvPr/>
        </p:nvSpPr>
        <p:spPr>
          <a:xfrm>
            <a:off x="139613" y="1368962"/>
            <a:ext cx="9560053" cy="3016210"/>
          </a:xfrm>
          <a:prstGeom prst="rect">
            <a:avLst/>
          </a:prstGeom>
          <a:noFill/>
        </p:spPr>
        <p:txBody>
          <a:bodyPr wrap="square">
            <a:spAutoFit/>
          </a:bodyPr>
          <a:lstStyle/>
          <a:p>
            <a:r>
              <a:rPr lang="en-US" b="1" dirty="0"/>
              <a:t>Results</a:t>
            </a:r>
          </a:p>
          <a:p>
            <a:pPr marL="285750" indent="-285750">
              <a:buFont typeface="Arial" panose="020B0604020202020204" pitchFamily="34" charset="0"/>
              <a:buChar char="•"/>
            </a:pPr>
            <a:r>
              <a:rPr lang="en-US" altLang="en-US" sz="1600" dirty="0"/>
              <a:t>Initial linear models exhibited </a:t>
            </a:r>
            <a:r>
              <a:rPr lang="en-US" altLang="en-US" sz="1600" b="1" dirty="0"/>
              <a:t>negative out-of-sample R²</a:t>
            </a:r>
            <a:r>
              <a:rPr lang="en-US" altLang="en-US" sz="1600" dirty="0"/>
              <a:t> </a:t>
            </a:r>
          </a:p>
          <a:p>
            <a:pPr marL="285750" lvl="0" indent="-285750" eaLnBrk="0" fontAlgn="base" hangingPunct="0">
              <a:spcBef>
                <a:spcPct val="0"/>
              </a:spcBef>
              <a:spcAft>
                <a:spcPct val="0"/>
              </a:spcAft>
              <a:buFont typeface="Arial" panose="020B0604020202020204" pitchFamily="34" charset="0"/>
              <a:buChar char="•"/>
            </a:pPr>
            <a:r>
              <a:rPr lang="en-US" altLang="en-US" sz="1600" dirty="0"/>
              <a:t>Transition to nonlinear models significantly improved performance </a:t>
            </a:r>
          </a:p>
          <a:p>
            <a:pPr marL="285750" lvl="0" indent="-285750" eaLnBrk="0" fontAlgn="base" hangingPunct="0">
              <a:spcBef>
                <a:spcPct val="0"/>
              </a:spcBef>
              <a:spcAft>
                <a:spcPct val="0"/>
              </a:spcAft>
              <a:buFont typeface="Arial" panose="020B0604020202020204" pitchFamily="34" charset="0"/>
              <a:buChar char="•"/>
            </a:pPr>
            <a:r>
              <a:rPr lang="en-US" altLang="en-US" sz="1600" b="1" dirty="0"/>
              <a:t>Extra Trees achieved positive predictive power</a:t>
            </a:r>
            <a:r>
              <a:rPr lang="en-US" altLang="en-US" sz="1600" dirty="0"/>
              <a:t> </a:t>
            </a:r>
          </a:p>
          <a:p>
            <a:pPr marL="285750" lvl="0" indent="-285750" eaLnBrk="0" fontAlgn="base" hangingPunct="0">
              <a:spcBef>
                <a:spcPct val="0"/>
              </a:spcBef>
              <a:spcAft>
                <a:spcPct val="0"/>
              </a:spcAft>
              <a:buFont typeface="Arial" panose="020B0604020202020204" pitchFamily="34" charset="0"/>
              <a:buChar char="•"/>
            </a:pPr>
            <a:r>
              <a:rPr lang="en-US" altLang="en-US" sz="1600" dirty="0"/>
              <a:t>3-year forward target remains critical for stability</a:t>
            </a:r>
            <a:br>
              <a:rPr lang="en-US" dirty="0"/>
            </a:br>
            <a:endParaRPr lang="en-US" dirty="0"/>
          </a:p>
          <a:p>
            <a:r>
              <a:rPr lang="en-US" b="1" dirty="0"/>
              <a:t>Interpretation: </a:t>
            </a:r>
            <a:r>
              <a:rPr lang="en-US" dirty="0"/>
              <a:t>Population change is a </a:t>
            </a:r>
            <a:r>
              <a:rPr lang="en-US" b="1" dirty="0"/>
              <a:t>high-noise outcome</a:t>
            </a:r>
            <a:endParaRPr lang="en-US" dirty="0"/>
          </a:p>
          <a:p>
            <a:pPr marL="285750" lvl="0" indent="-285750" eaLnBrk="0" fontAlgn="base" hangingPunct="0">
              <a:spcBef>
                <a:spcPct val="0"/>
              </a:spcBef>
              <a:spcAft>
                <a:spcPct val="0"/>
              </a:spcAft>
              <a:buFont typeface="Arial" panose="020B0604020202020204" pitchFamily="34" charset="0"/>
              <a:buChar char="•"/>
            </a:pPr>
            <a:r>
              <a:rPr lang="en-US" altLang="en-US" sz="1600" dirty="0"/>
              <a:t>Nonlinear models capture </a:t>
            </a:r>
            <a:r>
              <a:rPr lang="en-US" altLang="en-US" sz="1600" b="1" dirty="0"/>
              <a:t>hidden structure</a:t>
            </a:r>
            <a:r>
              <a:rPr lang="en-US" altLang="en-US" sz="1600" dirty="0"/>
              <a:t> </a:t>
            </a:r>
          </a:p>
          <a:p>
            <a:pPr marL="285750" lvl="0" indent="-285750" eaLnBrk="0" fontAlgn="base" hangingPunct="0">
              <a:spcBef>
                <a:spcPct val="0"/>
              </a:spcBef>
              <a:spcAft>
                <a:spcPct val="0"/>
              </a:spcAft>
              <a:buFont typeface="Arial" panose="020B0604020202020204" pitchFamily="34" charset="0"/>
              <a:buChar char="•"/>
            </a:pPr>
            <a:r>
              <a:rPr lang="en-US" altLang="en-US" sz="1600" dirty="0"/>
              <a:t>Structural + disaster features provide </a:t>
            </a:r>
            <a:r>
              <a:rPr lang="en-US" altLang="en-US" sz="1600" b="1" dirty="0"/>
              <a:t>meaningful signal</a:t>
            </a:r>
            <a:r>
              <a:rPr lang="en-US" altLang="en-US" sz="1600" dirty="0"/>
              <a:t> </a:t>
            </a:r>
          </a:p>
          <a:p>
            <a:pPr marL="285750" lvl="0" indent="-285750" eaLnBrk="0" fontAlgn="base" hangingPunct="0">
              <a:spcBef>
                <a:spcPct val="0"/>
              </a:spcBef>
              <a:spcAft>
                <a:spcPct val="0"/>
              </a:spcAft>
              <a:buFont typeface="Arial" panose="020B0604020202020204" pitchFamily="34" charset="0"/>
              <a:buChar char="•"/>
            </a:pPr>
            <a:r>
              <a:rPr lang="en-US" altLang="en-US" sz="1600" dirty="0"/>
              <a:t>Prediction improves when focusing on </a:t>
            </a:r>
            <a:r>
              <a:rPr lang="en-US" altLang="en-US" sz="1600" b="1" dirty="0"/>
              <a:t>long-term dynamics (3-year target)</a:t>
            </a:r>
            <a:endParaRPr lang="en-US" altLang="en-US" sz="1600" dirty="0"/>
          </a:p>
          <a:p>
            <a:pPr marL="285750" indent="-285750">
              <a:buFont typeface="Arial" panose="020B0604020202020204" pitchFamily="34" charset="0"/>
              <a:buChar char="•"/>
            </a:pPr>
            <a:endParaRPr lang="en-US" dirty="0"/>
          </a:p>
        </p:txBody>
      </p:sp>
      <p:pic>
        <p:nvPicPr>
          <p:cNvPr id="8" name="Picture 7">
            <a:extLst>
              <a:ext uri="{FF2B5EF4-FFF2-40B4-BE49-F238E27FC236}">
                <a16:creationId xmlns:a16="http://schemas.microsoft.com/office/drawing/2014/main" id="{7D61AEBD-712C-863D-6977-5F29EE6255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9357" y="4071317"/>
            <a:ext cx="4867553" cy="2059349"/>
          </a:xfrm>
          <a:prstGeom prst="rect">
            <a:avLst/>
          </a:prstGeom>
        </p:spPr>
      </p:pic>
    </p:spTree>
    <p:extLst>
      <p:ext uri="{BB962C8B-B14F-4D97-AF65-F5344CB8AC3E}">
        <p14:creationId xmlns:p14="http://schemas.microsoft.com/office/powerpoint/2010/main" val="42092826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63F91-10B1-8FD8-8D23-A624D7AAB1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D911A7F-04CC-CF59-0C7D-646AE714B4D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38BEA08-D38A-6D1A-E0E3-767A67E0145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SHAP Analysis</a:t>
            </a:r>
          </a:p>
        </p:txBody>
      </p:sp>
      <p:sp>
        <p:nvSpPr>
          <p:cNvPr id="11" name="TextBox 10">
            <a:extLst>
              <a:ext uri="{FF2B5EF4-FFF2-40B4-BE49-F238E27FC236}">
                <a16:creationId xmlns:a16="http://schemas.microsoft.com/office/drawing/2014/main" id="{21E6B10A-5B31-3B5F-A809-FE0960DB5449}"/>
              </a:ext>
            </a:extLst>
          </p:cNvPr>
          <p:cNvSpPr txBox="1"/>
          <p:nvPr/>
        </p:nvSpPr>
        <p:spPr>
          <a:xfrm>
            <a:off x="139613" y="1368962"/>
            <a:ext cx="9560053" cy="4924425"/>
          </a:xfrm>
          <a:prstGeom prst="rect">
            <a:avLst/>
          </a:prstGeom>
          <a:noFill/>
        </p:spPr>
        <p:txBody>
          <a:bodyPr wrap="square">
            <a:spAutoFit/>
          </a:bodyPr>
          <a:lstStyle/>
          <a:p>
            <a:r>
              <a:rPr lang="en-US" sz="1600" b="1" dirty="0"/>
              <a:t>Why SHAP?</a:t>
            </a:r>
          </a:p>
          <a:p>
            <a:pPr marL="285750" indent="-285750">
              <a:buFont typeface="Arial" panose="020B0604020202020204" pitchFamily="34" charset="0"/>
              <a:buChar char="•"/>
            </a:pPr>
            <a:r>
              <a:rPr lang="en-US" sz="1600" dirty="0"/>
              <a:t>Models don’t explain </a:t>
            </a:r>
            <a:r>
              <a:rPr lang="en-US" sz="1600" i="1" dirty="0"/>
              <a:t>why</a:t>
            </a:r>
            <a:r>
              <a:rPr lang="en-US" sz="1600" dirty="0"/>
              <a:t> predictions are made </a:t>
            </a:r>
          </a:p>
          <a:p>
            <a:pPr marL="285750" indent="-285750">
              <a:buFont typeface="Arial" panose="020B0604020202020204" pitchFamily="34" charset="0"/>
              <a:buChar char="•"/>
            </a:pPr>
            <a:r>
              <a:rPr lang="en-US" sz="1600" dirty="0"/>
              <a:t>SHAP reveals feature-level contributions </a:t>
            </a:r>
          </a:p>
          <a:p>
            <a:pPr marL="285750" indent="-285750">
              <a:buFont typeface="Arial" panose="020B0604020202020204" pitchFamily="34" charset="0"/>
              <a:buChar char="•"/>
            </a:pPr>
            <a:r>
              <a:rPr lang="en-US" sz="1600" dirty="0"/>
              <a:t>Helps diagnose what the model is actually learning </a:t>
            </a:r>
          </a:p>
          <a:p>
            <a:br>
              <a:rPr lang="en-US" sz="1600" dirty="0"/>
            </a:br>
            <a:endParaRPr lang="en-US" sz="1600" dirty="0"/>
          </a:p>
          <a:p>
            <a:r>
              <a:rPr lang="en-US" sz="1600" b="1" dirty="0"/>
              <a:t>What SHAP Does</a:t>
            </a:r>
          </a:p>
          <a:p>
            <a:r>
              <a:rPr lang="en-US" sz="1600" dirty="0"/>
              <a:t>Breaks each prediction into </a:t>
            </a:r>
            <a:r>
              <a:rPr lang="en-US" sz="1600" b="1" dirty="0"/>
              <a:t>feature contributions</a:t>
            </a:r>
            <a:r>
              <a:rPr lang="en-US" sz="1600" dirty="0"/>
              <a:t> to show: </a:t>
            </a:r>
          </a:p>
          <a:p>
            <a:pPr marL="742950" lvl="1" indent="-285750">
              <a:buFont typeface="Arial" panose="020B0604020202020204" pitchFamily="34" charset="0"/>
              <a:buChar char="•"/>
            </a:pPr>
            <a:r>
              <a:rPr lang="en-US" sz="1600" dirty="0"/>
              <a:t>Which variables matter most </a:t>
            </a:r>
          </a:p>
          <a:p>
            <a:pPr marL="742950" lvl="1" indent="-285750">
              <a:buFont typeface="Arial" panose="020B0604020202020204" pitchFamily="34" charset="0"/>
              <a:buChar char="•"/>
            </a:pPr>
            <a:r>
              <a:rPr lang="en-US" sz="1600" dirty="0"/>
              <a:t>Direction of impact (increase vs decrease) </a:t>
            </a:r>
          </a:p>
          <a:p>
            <a:pPr marL="742950" lvl="1" indent="-285750">
              <a:buFont typeface="Arial" panose="020B0604020202020204" pitchFamily="34" charset="0"/>
              <a:buChar char="•"/>
            </a:pPr>
            <a:r>
              <a:rPr lang="en-US" sz="1600" dirty="0"/>
              <a:t>Consistency across municipalities </a:t>
            </a:r>
          </a:p>
          <a:p>
            <a:br>
              <a:rPr lang="en-US" sz="1600" dirty="0"/>
            </a:br>
            <a:endParaRPr lang="en-US" sz="1600" dirty="0"/>
          </a:p>
          <a:p>
            <a:r>
              <a:rPr lang="en-US" sz="1600" b="1" dirty="0"/>
              <a:t>What the Model is Learning (Extra Trees)</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Past population change remains a strong driver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Regional structure matters, especially South and East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Earthquake and hurricane exposure contribute to predicted decline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Economic activity helps explain resilience differences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SVI matters, but mainly through interaction with hazard exposure</a:t>
            </a:r>
          </a:p>
        </p:txBody>
      </p:sp>
      <p:pic>
        <p:nvPicPr>
          <p:cNvPr id="7" name="Picture 6">
            <a:extLst>
              <a:ext uri="{FF2B5EF4-FFF2-40B4-BE49-F238E27FC236}">
                <a16:creationId xmlns:a16="http://schemas.microsoft.com/office/drawing/2014/main" id="{1A14832B-2233-18AA-1FCD-52373EA7A3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65905" y="1206500"/>
            <a:ext cx="7213600" cy="5651500"/>
          </a:xfrm>
          <a:prstGeom prst="rect">
            <a:avLst/>
          </a:prstGeom>
        </p:spPr>
      </p:pic>
      <p:pic>
        <p:nvPicPr>
          <p:cNvPr id="9" name="Picture 8">
            <a:extLst>
              <a:ext uri="{FF2B5EF4-FFF2-40B4-BE49-F238E27FC236}">
                <a16:creationId xmlns:a16="http://schemas.microsoft.com/office/drawing/2014/main" id="{17DE12DD-53ED-F2B3-D547-41083C59BB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92348" y="1433809"/>
            <a:ext cx="5259321" cy="4184836"/>
          </a:xfrm>
          <a:prstGeom prst="rect">
            <a:avLst/>
          </a:prstGeom>
        </p:spPr>
      </p:pic>
    </p:spTree>
    <p:extLst>
      <p:ext uri="{BB962C8B-B14F-4D97-AF65-F5344CB8AC3E}">
        <p14:creationId xmlns:p14="http://schemas.microsoft.com/office/powerpoint/2010/main" val="236380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2ACF3-8AD5-5B55-CC0F-B560A9E972E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8C4B2DE-21C6-40E1-5826-14B7605F579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D30331D-2D8A-23B1-45BA-E48486797D1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What the Model is Learning?</a:t>
            </a:r>
          </a:p>
        </p:txBody>
      </p:sp>
      <p:sp>
        <p:nvSpPr>
          <p:cNvPr id="11" name="TextBox 10">
            <a:extLst>
              <a:ext uri="{FF2B5EF4-FFF2-40B4-BE49-F238E27FC236}">
                <a16:creationId xmlns:a16="http://schemas.microsoft.com/office/drawing/2014/main" id="{19C36B04-5B3F-72DC-833A-DC190E5AD9A4}"/>
              </a:ext>
            </a:extLst>
          </p:cNvPr>
          <p:cNvSpPr txBox="1"/>
          <p:nvPr/>
        </p:nvSpPr>
        <p:spPr>
          <a:xfrm>
            <a:off x="139613" y="1368962"/>
            <a:ext cx="9560053" cy="4801314"/>
          </a:xfrm>
          <a:prstGeom prst="rect">
            <a:avLst/>
          </a:prstGeom>
          <a:noFill/>
        </p:spPr>
        <p:txBody>
          <a:bodyPr wrap="square">
            <a:spAutoFit/>
          </a:bodyPr>
          <a:lstStyle/>
          <a:p>
            <a:r>
              <a:rPr lang="en-US" b="1" dirty="0"/>
              <a:t>Short-Run Target (Annual Change)</a:t>
            </a:r>
          </a:p>
          <a:p>
            <a:pPr marL="285750" indent="-285750">
              <a:buFont typeface="Arial" panose="020B0604020202020204" pitchFamily="34" charset="0"/>
              <a:buChar char="•"/>
            </a:pPr>
            <a:r>
              <a:rPr lang="en-US" dirty="0"/>
              <a:t>Dominated by past population change (momentum) </a:t>
            </a:r>
          </a:p>
          <a:p>
            <a:pPr marL="285750" indent="-285750">
              <a:buFont typeface="Arial" panose="020B0604020202020204" pitchFamily="34" charset="0"/>
              <a:buChar char="•"/>
            </a:pPr>
            <a:r>
              <a:rPr lang="en-US" dirty="0"/>
              <a:t>Predictions rely heavily on autoregressive dynamics </a:t>
            </a:r>
          </a:p>
          <a:p>
            <a:pPr marL="285750" indent="-285750">
              <a:buFont typeface="Arial" panose="020B0604020202020204" pitchFamily="34" charset="0"/>
              <a:buChar char="•"/>
            </a:pPr>
            <a:r>
              <a:rPr lang="en-US" dirty="0"/>
              <a:t>Structural and disaster variables have limited short-term signal </a:t>
            </a:r>
          </a:p>
          <a:p>
            <a:pPr marL="285750" indent="-285750">
              <a:buFont typeface="Arial" panose="020B0604020202020204" pitchFamily="34" charset="0"/>
              <a:buChar char="•"/>
            </a:pPr>
            <a:r>
              <a:rPr lang="en-US" dirty="0"/>
              <a:t>Result: Short-run population change is high-noise and difficult to predict</a:t>
            </a:r>
          </a:p>
          <a:p>
            <a:br>
              <a:rPr lang="en-US" dirty="0"/>
            </a:br>
            <a:endParaRPr lang="en-US" dirty="0"/>
          </a:p>
          <a:p>
            <a:r>
              <a:rPr lang="en-US" b="1" dirty="0"/>
              <a:t>3-Year Target (Smoothed Change)</a:t>
            </a:r>
          </a:p>
          <a:p>
            <a:r>
              <a:rPr lang="en-US" dirty="0"/>
              <a:t>Captures broader structural drivers:</a:t>
            </a:r>
          </a:p>
          <a:p>
            <a:pPr marL="742950" lvl="1" indent="-285750">
              <a:buFont typeface="Arial" panose="020B0604020202020204" pitchFamily="34" charset="0"/>
              <a:buChar char="•"/>
            </a:pPr>
            <a:r>
              <a:rPr lang="en-US" b="1" dirty="0"/>
              <a:t>Regional differences</a:t>
            </a:r>
            <a:r>
              <a:rPr lang="en-US" dirty="0"/>
              <a:t> (South, East) </a:t>
            </a:r>
          </a:p>
          <a:p>
            <a:pPr marL="742950" lvl="1" indent="-285750">
              <a:buFont typeface="Arial" panose="020B0604020202020204" pitchFamily="34" charset="0"/>
              <a:buChar char="•"/>
            </a:pPr>
            <a:r>
              <a:rPr lang="en-US" b="1" dirty="0"/>
              <a:t>Disaster exposure</a:t>
            </a:r>
            <a:r>
              <a:rPr lang="en-US" dirty="0"/>
              <a:t> (earthquakes, hurricanes) </a:t>
            </a:r>
          </a:p>
          <a:p>
            <a:pPr marL="742950" lvl="1" indent="-285750">
              <a:buFont typeface="Arial" panose="020B0604020202020204" pitchFamily="34" charset="0"/>
              <a:buChar char="•"/>
            </a:pPr>
            <a:r>
              <a:rPr lang="en-US" b="1" dirty="0"/>
              <a:t>Economic activity</a:t>
            </a:r>
            <a:r>
              <a:rPr lang="en-US" dirty="0"/>
              <a:t> (establishments, income) </a:t>
            </a:r>
          </a:p>
          <a:p>
            <a:pPr marL="742950" lvl="1" indent="-285750">
              <a:buFont typeface="Arial" panose="020B0604020202020204" pitchFamily="34" charset="0"/>
              <a:buChar char="•"/>
            </a:pPr>
            <a:r>
              <a:rPr lang="en-US" b="1" dirty="0"/>
              <a:t>Vulnerability (SVI)</a:t>
            </a:r>
            <a:r>
              <a:rPr lang="en-US" dirty="0"/>
              <a:t> — especially through interaction with hazards </a:t>
            </a:r>
          </a:p>
          <a:p>
            <a:pPr marL="742950" lvl="1" indent="-285750">
              <a:buFont typeface="Arial" panose="020B0604020202020204" pitchFamily="34" charset="0"/>
              <a:buChar char="•"/>
            </a:pPr>
            <a:r>
              <a:rPr lang="en-US" b="1" dirty="0"/>
              <a:t>Result: </a:t>
            </a:r>
            <a:r>
              <a:rPr lang="en-US" dirty="0"/>
              <a:t>Model reflects </a:t>
            </a:r>
            <a:r>
              <a:rPr lang="en-US" b="1" dirty="0"/>
              <a:t>underlying structural and environmental conditions</a:t>
            </a:r>
            <a:endParaRPr lang="en-US" dirty="0"/>
          </a:p>
          <a:p>
            <a:endParaRPr lang="en-US" dirty="0"/>
          </a:p>
          <a:p>
            <a:r>
              <a:rPr lang="en-US" b="1" dirty="0"/>
              <a:t>Key Insight: </a:t>
            </a:r>
            <a:r>
              <a:rPr lang="en-US" dirty="0"/>
              <a:t>Population change is driven by momentum in the short run, but by structural and disaster-related factors over longer horizons</a:t>
            </a:r>
          </a:p>
        </p:txBody>
      </p:sp>
    </p:spTree>
    <p:extLst>
      <p:ext uri="{BB962C8B-B14F-4D97-AF65-F5344CB8AC3E}">
        <p14:creationId xmlns:p14="http://schemas.microsoft.com/office/powerpoint/2010/main" val="28294199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18DEC-A29D-0EF7-39B7-5D840E6E8D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6B6C1F-CF7E-21EA-E139-BD9C08871792}"/>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9E468F0-34DE-8849-4B81-553DC807551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Key Learning</a:t>
            </a:r>
          </a:p>
        </p:txBody>
      </p:sp>
      <p:sp>
        <p:nvSpPr>
          <p:cNvPr id="11" name="TextBox 10">
            <a:extLst>
              <a:ext uri="{FF2B5EF4-FFF2-40B4-BE49-F238E27FC236}">
                <a16:creationId xmlns:a16="http://schemas.microsoft.com/office/drawing/2014/main" id="{BCDD44F8-ED1E-744F-388B-CF81663B7177}"/>
              </a:ext>
            </a:extLst>
          </p:cNvPr>
          <p:cNvSpPr txBox="1"/>
          <p:nvPr/>
        </p:nvSpPr>
        <p:spPr>
          <a:xfrm>
            <a:off x="139613" y="1368962"/>
            <a:ext cx="11805460" cy="5078313"/>
          </a:xfrm>
          <a:prstGeom prst="rect">
            <a:avLst/>
          </a:prstGeom>
          <a:noFill/>
        </p:spPr>
        <p:txBody>
          <a:bodyPr wrap="square">
            <a:spAutoFit/>
          </a:bodyPr>
          <a:lstStyle/>
          <a:p>
            <a:r>
              <a:rPr lang="en-US" b="1" dirty="0"/>
              <a:t>What I learned</a:t>
            </a:r>
          </a:p>
          <a:p>
            <a:pPr marL="285750" indent="-285750">
              <a:buFont typeface="Arial" panose="020B0604020202020204" pitchFamily="34" charset="0"/>
              <a:buChar char="•"/>
            </a:pPr>
            <a:r>
              <a:rPr lang="en-US" dirty="0"/>
              <a:t>Short-run population change is highly volatile and difficult to predict </a:t>
            </a:r>
          </a:p>
          <a:p>
            <a:pPr marL="285750" indent="-285750">
              <a:buFont typeface="Arial" panose="020B0604020202020204" pitchFamily="34" charset="0"/>
              <a:buChar char="•"/>
            </a:pPr>
            <a:r>
              <a:rPr lang="en-US" dirty="0"/>
              <a:t>Models rely heavily on momentum (past population trends) in the short run </a:t>
            </a:r>
          </a:p>
          <a:p>
            <a:pPr marL="285750" indent="-285750">
              <a:buFont typeface="Arial" panose="020B0604020202020204" pitchFamily="34" charset="0"/>
              <a:buChar char="•"/>
            </a:pPr>
            <a:r>
              <a:rPr lang="en-US" dirty="0"/>
              <a:t>Structural patterns only emerge when the target is smoothed over time </a:t>
            </a:r>
          </a:p>
          <a:p>
            <a:pPr marL="285750" indent="-285750">
              <a:buFont typeface="Arial" panose="020B0604020202020204" pitchFamily="34" charset="0"/>
              <a:buChar char="•"/>
            </a:pPr>
            <a:r>
              <a:rPr lang="en-US" dirty="0"/>
              <a:t>Disaster and vulnerability effects become visible at longer horizons </a:t>
            </a:r>
          </a:p>
          <a:p>
            <a:br>
              <a:rPr lang="en-US" dirty="0"/>
            </a:br>
            <a:endParaRPr lang="en-US" dirty="0"/>
          </a:p>
          <a:p>
            <a:r>
              <a:rPr lang="en-US" b="1" dirty="0"/>
              <a:t>Implication</a:t>
            </a:r>
          </a:p>
          <a:p>
            <a:r>
              <a:rPr lang="en-US" dirty="0"/>
              <a:t>Long-term modeling captures </a:t>
            </a:r>
            <a:r>
              <a:rPr lang="en-US" b="1" dirty="0"/>
              <a:t>meaningful structural drivers</a:t>
            </a:r>
            <a:r>
              <a:rPr lang="en-US" dirty="0"/>
              <a:t> </a:t>
            </a:r>
          </a:p>
          <a:p>
            <a:r>
              <a:rPr lang="en-US" dirty="0"/>
              <a:t>Population change is shaped by: </a:t>
            </a:r>
          </a:p>
          <a:p>
            <a:pPr marL="742950" lvl="1" indent="-285750">
              <a:buFont typeface="Arial" panose="020B0604020202020204" pitchFamily="34" charset="0"/>
              <a:buChar char="•"/>
            </a:pPr>
            <a:r>
              <a:rPr lang="en-US" dirty="0"/>
              <a:t>Regional differences </a:t>
            </a:r>
          </a:p>
          <a:p>
            <a:pPr marL="742950" lvl="1" indent="-285750">
              <a:buFont typeface="Arial" panose="020B0604020202020204" pitchFamily="34" charset="0"/>
              <a:buChar char="•"/>
            </a:pPr>
            <a:r>
              <a:rPr lang="en-US" dirty="0"/>
              <a:t>Disaster exposure </a:t>
            </a:r>
          </a:p>
          <a:p>
            <a:pPr marL="742950" lvl="1" indent="-285750">
              <a:buFont typeface="Arial" panose="020B0604020202020204" pitchFamily="34" charset="0"/>
              <a:buChar char="•"/>
            </a:pPr>
            <a:r>
              <a:rPr lang="en-US" dirty="0"/>
              <a:t>Economic resilience </a:t>
            </a:r>
          </a:p>
          <a:p>
            <a:pPr marL="742950" lvl="1" indent="-285750">
              <a:buFont typeface="Arial" panose="020B0604020202020204" pitchFamily="34" charset="0"/>
              <a:buChar char="•"/>
            </a:pPr>
            <a:r>
              <a:rPr lang="en-US" dirty="0"/>
              <a:t>Vulnerability interactions </a:t>
            </a:r>
          </a:p>
          <a:p>
            <a:br>
              <a:rPr lang="en-US" dirty="0"/>
            </a:br>
            <a:endParaRPr lang="en-US" dirty="0"/>
          </a:p>
          <a:p>
            <a:r>
              <a:rPr lang="en-US" b="1" dirty="0"/>
              <a:t>Key Takeaway: </a:t>
            </a:r>
            <a:r>
              <a:rPr lang="en-US" dirty="0"/>
              <a:t>Population dynamics are easier to explain than to predict — but structural drivers can still guide long-term decision-making</a:t>
            </a:r>
          </a:p>
        </p:txBody>
      </p:sp>
    </p:spTree>
    <p:extLst>
      <p:ext uri="{BB962C8B-B14F-4D97-AF65-F5344CB8AC3E}">
        <p14:creationId xmlns:p14="http://schemas.microsoft.com/office/powerpoint/2010/main" val="2050642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Structural Patterns </a:t>
            </a:r>
          </a:p>
          <a:p>
            <a:pPr lvl="0"/>
            <a:r>
              <a:rPr lang="en-US" sz="3200" b="1" dirty="0">
                <a:solidFill>
                  <a:schemeClr val="bg1"/>
                </a:solidFill>
              </a:rPr>
              <a:t>(Beyond Prediction)</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4708981"/>
          </a:xfrm>
          <a:prstGeom prst="rect">
            <a:avLst/>
          </a:prstGeom>
          <a:noFill/>
        </p:spPr>
        <p:txBody>
          <a:bodyPr wrap="square">
            <a:spAutoFit/>
          </a:bodyPr>
          <a:lstStyle/>
          <a:p>
            <a:r>
              <a:rPr lang="en-US" sz="2000" b="1" dirty="0"/>
              <a:t>What emerges</a:t>
            </a:r>
          </a:p>
          <a:p>
            <a:pPr marL="285750" indent="-285750">
              <a:buFont typeface="Arial" panose="020B0604020202020204" pitchFamily="34" charset="0"/>
              <a:buChar char="•"/>
            </a:pPr>
            <a:r>
              <a:rPr lang="en-US" sz="2000" dirty="0"/>
              <a:t>Distinct municipal typologies</a:t>
            </a:r>
          </a:p>
          <a:p>
            <a:pPr marL="285750" indent="-285750">
              <a:buFont typeface="Arial" panose="020B0604020202020204" pitchFamily="34" charset="0"/>
              <a:buChar char="•"/>
            </a:pPr>
            <a:r>
              <a:rPr lang="en-US" sz="2000" dirty="0"/>
              <a:t>Clear regional clustering</a:t>
            </a:r>
            <a:br>
              <a:rPr lang="en-US" sz="2000" dirty="0"/>
            </a:br>
            <a:endParaRPr lang="en-US" sz="2000" dirty="0"/>
          </a:p>
          <a:p>
            <a:r>
              <a:rPr lang="en-US" sz="2000" b="1" dirty="0"/>
              <a:t>Key result</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cluster together </a:t>
            </a:r>
          </a:p>
          <a:p>
            <a:pPr marL="285750" indent="-285750">
              <a:buFont typeface="Arial" panose="020B0604020202020204" pitchFamily="34" charset="0"/>
              <a:buChar char="•"/>
            </a:pPr>
            <a:r>
              <a:rPr lang="en-US" sz="2000" dirty="0"/>
              <a:t>Neighboring regions share structural characteristics </a:t>
            </a:r>
          </a:p>
          <a:p>
            <a:pPr marL="285750" indent="-285750">
              <a:buFont typeface="Arial" panose="020B0604020202020204" pitchFamily="34" charset="0"/>
              <a:buChar char="•"/>
            </a:pPr>
            <a:r>
              <a:rPr lang="en-US" sz="2000" dirty="0"/>
              <a:t>Results are consistent across specifications </a:t>
            </a:r>
          </a:p>
          <a:p>
            <a:br>
              <a:rPr lang="en-US" sz="2000" dirty="0"/>
            </a:br>
            <a:endParaRPr lang="en-US" sz="2000" dirty="0"/>
          </a:p>
          <a:p>
            <a:r>
              <a:rPr lang="en-US" sz="2000" b="1" dirty="0"/>
              <a:t>Interpretation</a:t>
            </a:r>
          </a:p>
          <a:p>
            <a:pPr marL="285750" indent="-285750">
              <a:buFont typeface="Arial" panose="020B0604020202020204" pitchFamily="34" charset="0"/>
              <a:buChar char="•"/>
            </a:pPr>
            <a:r>
              <a:rPr lang="en-US" sz="2000" dirty="0"/>
              <a:t>Population dynamics are spatially structured, not random</a:t>
            </a:r>
          </a:p>
          <a:p>
            <a:pPr marL="285750" indent="-285750">
              <a:buFont typeface="Arial" panose="020B0604020202020204" pitchFamily="34" charset="0"/>
              <a:buChar char="•"/>
            </a:pPr>
            <a:r>
              <a:rPr lang="en-US" sz="2000" dirty="0"/>
              <a:t>Decline is concentrated in specific regions </a:t>
            </a:r>
          </a:p>
          <a:p>
            <a:pPr marL="285750" indent="-285750">
              <a:buFont typeface="Arial" panose="020B0604020202020204" pitchFamily="34" charset="0"/>
              <a:buChar char="•"/>
            </a:pPr>
            <a:r>
              <a:rPr lang="en-US" sz="2000" dirty="0"/>
              <a:t>Vulnerability and economic conditions align geographically</a:t>
            </a:r>
          </a:p>
        </p:txBody>
      </p:sp>
    </p:spTree>
    <p:extLst>
      <p:ext uri="{BB962C8B-B14F-4D97-AF65-F5344CB8AC3E}">
        <p14:creationId xmlns:p14="http://schemas.microsoft.com/office/powerpoint/2010/main" val="628415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3" y="1368962"/>
            <a:ext cx="11704725" cy="4801314"/>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a:t>
            </a:r>
            <a:r>
              <a:rPr lang="en-US" b="1" dirty="0"/>
              <a:t>persistent population decline (~0.6% per year)</a:t>
            </a:r>
            <a:r>
              <a:rPr lang="en-US" dirty="0"/>
              <a:t> </a:t>
            </a:r>
          </a:p>
          <a:p>
            <a:pPr marL="742950" lvl="1" indent="-285750">
              <a:buFont typeface="Arial" panose="020B0604020202020204" pitchFamily="34" charset="0"/>
              <a:buChar char="•"/>
            </a:pPr>
            <a:r>
              <a:rPr lang="en-US" dirty="0"/>
              <a:t>≈ </a:t>
            </a:r>
            <a:r>
              <a:rPr lang="en-US" b="1" dirty="0"/>
              <a:t>20,000 people lost annually</a:t>
            </a:r>
            <a:r>
              <a:rPr lang="en-US" dirty="0"/>
              <a:t> </a:t>
            </a:r>
          </a:p>
          <a:p>
            <a:pPr marL="285750" indent="-285750">
              <a:buFont typeface="Arial" panose="020B0604020202020204" pitchFamily="34" charset="0"/>
              <a:buChar char="•"/>
            </a:pPr>
            <a:r>
              <a:rPr lang="en-US" dirty="0"/>
              <a:t>Decline is </a:t>
            </a:r>
            <a:r>
              <a:rPr lang="en-US" b="1" dirty="0"/>
              <a:t>not uniform across the island</a:t>
            </a:r>
            <a:r>
              <a:rPr lang="en-US" dirty="0"/>
              <a:t> </a:t>
            </a:r>
          </a:p>
          <a:p>
            <a:pPr marL="742950" lvl="1" indent="-285750">
              <a:buFont typeface="Arial" panose="020B0604020202020204" pitchFamily="34" charset="0"/>
              <a:buChar char="•"/>
            </a:pPr>
            <a:r>
              <a:rPr lang="en-US" b="1" dirty="0"/>
              <a:t>Largest losses in South and West regions</a:t>
            </a:r>
            <a:r>
              <a:rPr lang="en-US" dirty="0"/>
              <a:t> </a:t>
            </a:r>
          </a:p>
          <a:p>
            <a:pPr marL="285750" indent="-285750">
              <a:buFont typeface="Arial" panose="020B0604020202020204" pitchFamily="34" charset="0"/>
              <a:buChar char="•"/>
            </a:pPr>
            <a:r>
              <a:rPr lang="en-US" dirty="0"/>
              <a:t>Regional differences are </a:t>
            </a:r>
            <a:r>
              <a:rPr lang="en-US" b="1" dirty="0"/>
              <a:t>stable over time</a:t>
            </a:r>
            <a:r>
              <a:rPr lang="en-US" dirty="0"/>
              <a:t> </a:t>
            </a:r>
          </a:p>
          <a:p>
            <a:br>
              <a:rPr lang="en-US" dirty="0"/>
            </a:br>
            <a:endParaRPr lang="en-US" dirty="0"/>
          </a:p>
          <a:p>
            <a:r>
              <a:rPr lang="en-US" b="1" dirty="0"/>
              <a:t>Model Insight</a:t>
            </a:r>
          </a:p>
          <a:p>
            <a:r>
              <a:rPr lang="en-US" dirty="0"/>
              <a:t>Population decline is </a:t>
            </a:r>
            <a:r>
              <a:rPr lang="en-US" b="1" dirty="0"/>
              <a:t>systematic and predictable at the structural level</a:t>
            </a:r>
            <a:r>
              <a:rPr lang="en-US" dirty="0"/>
              <a:t> </a:t>
            </a:r>
          </a:p>
          <a:p>
            <a:r>
              <a:rPr lang="en-US" dirty="0"/>
              <a:t>Models confirm that: </a:t>
            </a:r>
          </a:p>
          <a:p>
            <a:pPr marL="742950" lvl="1" indent="-285750">
              <a:buFont typeface="Arial" panose="020B0604020202020204" pitchFamily="34" charset="0"/>
              <a:buChar char="•"/>
            </a:pPr>
            <a:r>
              <a:rPr lang="en-US" b="1" dirty="0"/>
              <a:t>Regional location strongly influences outcomes</a:t>
            </a:r>
            <a:r>
              <a:rPr lang="en-US" dirty="0"/>
              <a:t> </a:t>
            </a:r>
          </a:p>
          <a:p>
            <a:pPr marL="742950" lvl="1" indent="-285750">
              <a:buFont typeface="Arial" panose="020B0604020202020204" pitchFamily="34" charset="0"/>
              <a:buChar char="•"/>
            </a:pPr>
            <a:r>
              <a:rPr lang="en-US" b="1" dirty="0"/>
              <a:t>Decline is spatially concentrated, not random</a:t>
            </a:r>
            <a:r>
              <a:rPr lang="en-US" dirty="0"/>
              <a:t> </a:t>
            </a:r>
          </a:p>
          <a:p>
            <a:pPr marL="742950" lvl="1" indent="-285750">
              <a:buFont typeface="Arial" panose="020B0604020202020204" pitchFamily="34" charset="0"/>
              <a:buChar char="•"/>
            </a:pPr>
            <a:r>
              <a:rPr lang="en-US" b="1" dirty="0"/>
              <a:t>Long-term patterns are more stable than short-term fluctuations</a:t>
            </a:r>
            <a:r>
              <a:rPr lang="en-US" dirty="0"/>
              <a:t> </a:t>
            </a:r>
          </a:p>
          <a:p>
            <a:br>
              <a:rPr lang="en-US" dirty="0"/>
            </a:br>
            <a:endParaRPr lang="en-US" dirty="0"/>
          </a:p>
          <a:p>
            <a:r>
              <a:rPr lang="en-US" b="1" dirty="0"/>
              <a:t>Key Insight: </a:t>
            </a:r>
            <a:r>
              <a:rPr lang="en-US" dirty="0"/>
              <a:t>Population decline in Puerto Rico is spatially structured and persistent — not random.</a:t>
            </a:r>
          </a:p>
        </p:txBody>
      </p:sp>
      <p:pic>
        <p:nvPicPr>
          <p:cNvPr id="6" name="Picture 5">
            <a:extLst>
              <a:ext uri="{FF2B5EF4-FFF2-40B4-BE49-F238E27FC236}">
                <a16:creationId xmlns:a16="http://schemas.microsoft.com/office/drawing/2014/main" id="{4CBF5B30-9221-1358-CABD-FE28C52BCF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7920" y="1368962"/>
            <a:ext cx="4654467" cy="2344666"/>
          </a:xfrm>
          <a:prstGeom prst="rect">
            <a:avLst/>
          </a:prstGeom>
        </p:spPr>
      </p:pic>
      <p:pic>
        <p:nvPicPr>
          <p:cNvPr id="8" name="Picture 7">
            <a:extLst>
              <a:ext uri="{FF2B5EF4-FFF2-40B4-BE49-F238E27FC236}">
                <a16:creationId xmlns:a16="http://schemas.microsoft.com/office/drawing/2014/main" id="{0E2F65EE-05AC-1F1E-FDBE-4E2CD1360A7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858250" y="3981249"/>
            <a:ext cx="2986088" cy="1625759"/>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5A46C-81FA-EF2D-ECDC-ED78E8758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FD32BC7-A2BB-C164-01AC-587FF4AA602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488373D-3528-DAF7-BDD5-5115A6B1E52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6" name="Picture 5">
            <a:extLst>
              <a:ext uri="{FF2B5EF4-FFF2-40B4-BE49-F238E27FC236}">
                <a16:creationId xmlns:a16="http://schemas.microsoft.com/office/drawing/2014/main" id="{BEBD7BF7-F30C-6FB3-5692-2EF5799693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7070" y="1368961"/>
            <a:ext cx="9161293" cy="4614959"/>
          </a:xfrm>
          <a:prstGeom prst="rect">
            <a:avLst/>
          </a:prstGeom>
        </p:spPr>
      </p:pic>
    </p:spTree>
    <p:extLst>
      <p:ext uri="{BB962C8B-B14F-4D97-AF65-F5344CB8AC3E}">
        <p14:creationId xmlns:p14="http://schemas.microsoft.com/office/powerpoint/2010/main" val="369827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D9378-4901-CC95-4DF0-C7E71B5E62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CAD6A5-BA72-AEE1-9FDB-8E3BFC1F19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30B379C-AF02-DC4D-8D44-957433DF2A6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Next Steps</a:t>
            </a:r>
          </a:p>
        </p:txBody>
      </p:sp>
      <p:sp>
        <p:nvSpPr>
          <p:cNvPr id="11" name="TextBox 10">
            <a:extLst>
              <a:ext uri="{FF2B5EF4-FFF2-40B4-BE49-F238E27FC236}">
                <a16:creationId xmlns:a16="http://schemas.microsoft.com/office/drawing/2014/main" id="{CD8A33B1-F324-0543-80BE-283BFC0306AF}"/>
              </a:ext>
            </a:extLst>
          </p:cNvPr>
          <p:cNvSpPr txBox="1"/>
          <p:nvPr/>
        </p:nvSpPr>
        <p:spPr>
          <a:xfrm>
            <a:off x="132408" y="1612030"/>
            <a:ext cx="11673769" cy="3370153"/>
          </a:xfrm>
          <a:prstGeom prst="rect">
            <a:avLst/>
          </a:prstGeom>
          <a:noFill/>
        </p:spPr>
        <p:txBody>
          <a:bodyPr wrap="square">
            <a:spAutoFit/>
          </a:bodyPr>
          <a:lstStyle/>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400" dirty="0"/>
              <a:t>Adopt 3-year forward average target (reduces noise, improves signal stability) </a:t>
            </a:r>
          </a:p>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400" dirty="0"/>
              <a:t>Add spatial features (neighboring municipalities, regional averages) </a:t>
            </a:r>
          </a:p>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400" dirty="0"/>
              <a:t>Refine economic features (growth rates instead of levels) </a:t>
            </a:r>
          </a:p>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400" dirty="0"/>
              <a:t>Strengthen validation (time-based cross-validation + robustness checks)</a:t>
            </a:r>
          </a:p>
          <a:p>
            <a:pPr marL="285750" indent="-285750">
              <a:lnSpc>
                <a:spcPct val="150000"/>
              </a:lnSpc>
              <a:buFont typeface="Arial" panose="020B0604020202020204" pitchFamily="34" charset="0"/>
              <a:buChar char="•"/>
            </a:pPr>
            <a:endParaRPr lang="en-US" sz="2400" dirty="0"/>
          </a:p>
          <a:p>
            <a:pPr>
              <a:lnSpc>
                <a:spcPct val="150000"/>
              </a:lnSpc>
            </a:pPr>
            <a:endParaRPr lang="en-US" sz="2400" dirty="0"/>
          </a:p>
        </p:txBody>
      </p:sp>
    </p:spTree>
    <p:extLst>
      <p:ext uri="{BB962C8B-B14F-4D97-AF65-F5344CB8AC3E}">
        <p14:creationId xmlns:p14="http://schemas.microsoft.com/office/powerpoint/2010/main" val="8842645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Final Takeaway</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401205"/>
          </a:xfrm>
          <a:prstGeom prst="rect">
            <a:avLst/>
          </a:prstGeom>
          <a:noFill/>
        </p:spPr>
        <p:txBody>
          <a:bodyPr wrap="square">
            <a:spAutoFit/>
          </a:bodyPr>
          <a:lstStyle/>
          <a:p>
            <a:r>
              <a:rPr lang="en-US" sz="2000" dirty="0"/>
              <a:t>Population decline in Puerto Rico is not random:</a:t>
            </a:r>
          </a:p>
          <a:p>
            <a:pPr marL="285750" indent="-285750">
              <a:buFont typeface="Arial" panose="020B0604020202020204" pitchFamily="34" charset="0"/>
              <a:buChar char="•"/>
            </a:pPr>
            <a:r>
              <a:rPr lang="en-US" sz="2000" b="1" dirty="0"/>
              <a:t>Structured</a:t>
            </a:r>
            <a:r>
              <a:rPr lang="en-US" sz="2000" dirty="0"/>
              <a:t> (driven by economic and social conditions) </a:t>
            </a:r>
          </a:p>
          <a:p>
            <a:pPr marL="285750" indent="-285750">
              <a:buFont typeface="Arial" panose="020B0604020202020204" pitchFamily="34" charset="0"/>
              <a:buChar char="•"/>
            </a:pPr>
            <a:r>
              <a:rPr lang="en-US" sz="2000" b="1" dirty="0"/>
              <a:t>Spatial</a:t>
            </a:r>
            <a:r>
              <a:rPr lang="en-US" sz="2000" dirty="0"/>
              <a:t> (concentrated in specific regions) </a:t>
            </a:r>
          </a:p>
          <a:p>
            <a:pPr marL="285750" indent="-285750">
              <a:buFont typeface="Arial" panose="020B0604020202020204" pitchFamily="34" charset="0"/>
              <a:buChar char="•"/>
            </a:pPr>
            <a:r>
              <a:rPr lang="en-US" sz="2000" b="1" dirty="0"/>
              <a:t>Persistent</a:t>
            </a:r>
            <a:r>
              <a:rPr lang="en-US" sz="2000" dirty="0"/>
              <a:t> (consistent over time) </a:t>
            </a:r>
          </a:p>
          <a:p>
            <a:br>
              <a:rPr lang="en-US" sz="2000" dirty="0"/>
            </a:br>
            <a:endParaRPr lang="en-US" sz="2000" dirty="0"/>
          </a:p>
          <a:p>
            <a:r>
              <a:rPr lang="en-US" sz="2000" b="1" dirty="0"/>
              <a:t>What the Model Revealed</a:t>
            </a:r>
          </a:p>
          <a:p>
            <a:pPr marL="285750" indent="-285750">
              <a:buFont typeface="Arial" panose="020B0604020202020204" pitchFamily="34" charset="0"/>
              <a:buChar char="•"/>
            </a:pPr>
            <a:r>
              <a:rPr lang="en-US" sz="2000" dirty="0"/>
              <a:t>Short-term population change is highly unpredictable </a:t>
            </a:r>
          </a:p>
          <a:p>
            <a:pPr marL="285750" indent="-285750">
              <a:buFont typeface="Arial" panose="020B0604020202020204" pitchFamily="34" charset="0"/>
              <a:buChar char="•"/>
            </a:pPr>
            <a:r>
              <a:rPr lang="en-US" sz="2000" dirty="0"/>
              <a:t>But underlying structural patterns are stable and detectable </a:t>
            </a:r>
          </a:p>
          <a:p>
            <a:pPr marL="285750" indent="-285750">
              <a:buFont typeface="Arial" panose="020B0604020202020204" pitchFamily="34" charset="0"/>
              <a:buChar char="•"/>
            </a:pPr>
            <a:r>
              <a:rPr lang="en-US" sz="2000" dirty="0"/>
              <a:t>Model performance improves when focusing on long-term dynamics (3-year target) </a:t>
            </a:r>
          </a:p>
          <a:p>
            <a:br>
              <a:rPr lang="en-US" sz="2000" dirty="0"/>
            </a:br>
            <a:endParaRPr lang="en-US" sz="2000" dirty="0"/>
          </a:p>
          <a:p>
            <a:r>
              <a:rPr lang="en-US" sz="2000" b="1" dirty="0"/>
              <a:t>Conclusion: </a:t>
            </a:r>
            <a:r>
              <a:rPr lang="en-US" sz="2000" dirty="0"/>
              <a:t>Even when prediction is difficult, the data reveals strong, stable, and spatially coherent patterns across Puerto Rico.</a:t>
            </a:r>
          </a:p>
        </p:txBody>
      </p:sp>
    </p:spTree>
    <p:extLst>
      <p:ext uri="{BB962C8B-B14F-4D97-AF65-F5344CB8AC3E}">
        <p14:creationId xmlns:p14="http://schemas.microsoft.com/office/powerpoint/2010/main" val="36645331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r>
              <a:rPr lang="en-US" sz="3600" b="1" dirty="0">
                <a:latin typeface="Merriweather"/>
              </a:rPr>
              <a:t>How Extra Trees Work</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524315"/>
          </a:xfrm>
          <a:prstGeom prst="rect">
            <a:avLst/>
          </a:prstGeom>
          <a:noFill/>
        </p:spPr>
        <p:txBody>
          <a:bodyPr wrap="square">
            <a:spAutoFit/>
          </a:bodyPr>
          <a:lstStyle/>
          <a:p>
            <a:r>
              <a:rPr lang="en-US" b="1" dirty="0"/>
              <a:t>Key Concept: </a:t>
            </a:r>
          </a:p>
          <a:p>
            <a:r>
              <a:rPr lang="en-US" b="1" dirty="0"/>
              <a:t>Extra Trees = Extremely Randomized Trees</a:t>
            </a:r>
            <a:r>
              <a:rPr lang="en-US" dirty="0"/>
              <a:t> </a:t>
            </a:r>
          </a:p>
          <a:p>
            <a:r>
              <a:rPr lang="en-US" dirty="0"/>
              <a:t>Ensemble of many decision trees that vote for the final prediction </a:t>
            </a:r>
          </a:p>
          <a:p>
            <a:r>
              <a:rPr lang="en-US" dirty="0"/>
              <a:t>Similar to Random Forests, but: </a:t>
            </a:r>
          </a:p>
          <a:p>
            <a:pPr lvl="1"/>
            <a:r>
              <a:rPr lang="en-US" b="1" dirty="0"/>
              <a:t>More randomness</a:t>
            </a:r>
            <a:r>
              <a:rPr lang="en-US" dirty="0"/>
              <a:t> </a:t>
            </a:r>
          </a:p>
          <a:p>
            <a:pPr lvl="1"/>
            <a:r>
              <a:rPr lang="en-US" dirty="0"/>
              <a:t>Splits on </a:t>
            </a:r>
            <a:r>
              <a:rPr lang="en-US" b="1" dirty="0"/>
              <a:t>random cut-points within random subsets of features</a:t>
            </a:r>
            <a:r>
              <a:rPr lang="en-US" dirty="0"/>
              <a:t> </a:t>
            </a:r>
          </a:p>
          <a:p>
            <a:pPr lvl="1"/>
            <a:r>
              <a:rPr lang="en-US" dirty="0"/>
              <a:t>Final prediction = </a:t>
            </a:r>
            <a:r>
              <a:rPr lang="en-US" b="1" dirty="0"/>
              <a:t>average of all tree outputs</a:t>
            </a:r>
            <a:r>
              <a:rPr lang="en-US" dirty="0"/>
              <a:t> </a:t>
            </a:r>
          </a:p>
          <a:p>
            <a:br>
              <a:rPr lang="en-US" dirty="0"/>
            </a:br>
            <a:endParaRPr lang="en-US" dirty="0"/>
          </a:p>
          <a:p>
            <a:r>
              <a:rPr lang="en-US" b="1" dirty="0"/>
              <a:t>Key Learn: </a:t>
            </a:r>
          </a:p>
          <a:p>
            <a:r>
              <a:rPr lang="en-US" dirty="0"/>
              <a:t>Each tree is built using: </a:t>
            </a:r>
          </a:p>
          <a:p>
            <a:pPr lvl="1"/>
            <a:r>
              <a:rPr lang="en-US" dirty="0"/>
              <a:t>A </a:t>
            </a:r>
            <a:r>
              <a:rPr lang="en-US" b="1" dirty="0"/>
              <a:t>random subset of data (samples)</a:t>
            </a:r>
            <a:r>
              <a:rPr lang="en-US" dirty="0"/>
              <a:t> </a:t>
            </a:r>
          </a:p>
          <a:p>
            <a:pPr lvl="1"/>
            <a:r>
              <a:rPr lang="en-US" dirty="0"/>
              <a:t>A </a:t>
            </a:r>
            <a:r>
              <a:rPr lang="en-US" b="1" dirty="0"/>
              <a:t>random subset of features</a:t>
            </a:r>
            <a:r>
              <a:rPr lang="en-US" dirty="0"/>
              <a:t> </a:t>
            </a:r>
          </a:p>
          <a:p>
            <a:r>
              <a:rPr lang="en-US" dirty="0"/>
              <a:t>Instead of finding the best split: </a:t>
            </a:r>
          </a:p>
          <a:p>
            <a:pPr lvl="1"/>
            <a:r>
              <a:rPr lang="en-US" dirty="0"/>
              <a:t>The model chooses </a:t>
            </a:r>
            <a:r>
              <a:rPr lang="en-US" b="1" dirty="0"/>
              <a:t>random split points</a:t>
            </a:r>
            <a:r>
              <a:rPr lang="en-US" dirty="0"/>
              <a:t> </a:t>
            </a:r>
          </a:p>
          <a:p>
            <a:pPr lvl="1"/>
            <a:r>
              <a:rPr lang="en-US" dirty="0"/>
              <a:t>This reduces overfitting and improves generalization</a:t>
            </a:r>
          </a:p>
        </p:txBody>
      </p:sp>
      <p:sp>
        <p:nvSpPr>
          <p:cNvPr id="4" name="TextBox 3">
            <a:extLst>
              <a:ext uri="{FF2B5EF4-FFF2-40B4-BE49-F238E27FC236}">
                <a16:creationId xmlns:a16="http://schemas.microsoft.com/office/drawing/2014/main" id="{F413A940-8C88-0C24-7E74-1BC55F6200A4}"/>
              </a:ext>
            </a:extLst>
          </p:cNvPr>
          <p:cNvSpPr txBox="1"/>
          <p:nvPr/>
        </p:nvSpPr>
        <p:spPr>
          <a:xfrm>
            <a:off x="7079456" y="4035425"/>
            <a:ext cx="5093494" cy="1200329"/>
          </a:xfrm>
          <a:prstGeom prst="rect">
            <a:avLst/>
          </a:prstGeom>
          <a:noFill/>
        </p:spPr>
        <p:txBody>
          <a:bodyPr wrap="square">
            <a:spAutoFit/>
          </a:bodyPr>
          <a:lstStyle/>
          <a:p>
            <a:pPr>
              <a:buNone/>
            </a:pPr>
            <a:r>
              <a:rPr lang="en-US" b="1" dirty="0"/>
              <a:t>Key Takeaway</a:t>
            </a:r>
          </a:p>
          <a:p>
            <a:pPr>
              <a:buFont typeface="Arial" panose="020B0604020202020204" pitchFamily="34" charset="0"/>
              <a:buChar char="•"/>
            </a:pPr>
            <a:r>
              <a:rPr lang="en-US" dirty="0"/>
              <a:t>More randomness → </a:t>
            </a:r>
            <a:r>
              <a:rPr lang="en-US" b="1" dirty="0"/>
              <a:t>less overfitting</a:t>
            </a:r>
            <a:r>
              <a:rPr lang="en-US" dirty="0"/>
              <a:t> </a:t>
            </a:r>
          </a:p>
          <a:p>
            <a:pPr>
              <a:buFont typeface="Arial" panose="020B0604020202020204" pitchFamily="34" charset="0"/>
              <a:buChar char="•"/>
            </a:pPr>
            <a:r>
              <a:rPr lang="en-US" dirty="0"/>
              <a:t>Ensemble averaging → </a:t>
            </a:r>
            <a:r>
              <a:rPr lang="en-US" b="1" dirty="0"/>
              <a:t>more stable predictions</a:t>
            </a:r>
            <a:r>
              <a:rPr lang="en-US" dirty="0"/>
              <a:t> </a:t>
            </a:r>
          </a:p>
          <a:p>
            <a:pPr>
              <a:buFont typeface="Arial" panose="020B0604020202020204" pitchFamily="34" charset="0"/>
              <a:buChar char="•"/>
            </a:pPr>
            <a:r>
              <a:rPr lang="en-US" dirty="0"/>
              <a:t>Captures </a:t>
            </a:r>
            <a:r>
              <a:rPr lang="en-US" b="1" dirty="0"/>
              <a:t>nonlinear relationships</a:t>
            </a:r>
            <a:r>
              <a:rPr lang="en-US" dirty="0"/>
              <a:t> in the data</a:t>
            </a:r>
          </a:p>
        </p:txBody>
      </p:sp>
      <p:pic>
        <p:nvPicPr>
          <p:cNvPr id="3074" name="Picture 2" descr="The structure of ExtraTree.">
            <a:extLst>
              <a:ext uri="{FF2B5EF4-FFF2-40B4-BE49-F238E27FC236}">
                <a16:creationId xmlns:a16="http://schemas.microsoft.com/office/drawing/2014/main" id="{EFA67590-6826-0A9C-BDC3-428B1EFA30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91873" y="1849437"/>
            <a:ext cx="4034289" cy="1579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9126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Props1.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94EBF72-05B3-4092-B058-100DE54983B2}">
  <ds:schemaRefs>
    <ds:schemaRef ds:uri="http://schemas.microsoft.com/sharepoint/v3/contenttype/forms"/>
  </ds:schemaRefs>
</ds:datastoreItem>
</file>

<file path=customXml/itemProps3.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Rutgers Theme</Template>
  <TotalTime>27315</TotalTime>
  <Words>3509</Words>
  <Application>Microsoft Macintosh PowerPoint</Application>
  <PresentationFormat>Widescreen</PresentationFormat>
  <Paragraphs>442</Paragraphs>
  <Slides>21</Slides>
  <Notes>16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21</vt:i4>
      </vt:variant>
    </vt:vector>
  </HeadingPairs>
  <TitlesOfParts>
    <vt:vector size="31" baseType="lpstr">
      <vt:lpstr>Arial</vt:lpstr>
      <vt:lpstr>Symbol</vt:lpstr>
      <vt:lpstr>Cambria Math</vt:lpstr>
      <vt:lpstr>PT serif</vt:lpstr>
      <vt:lpstr>Calibri</vt:lpstr>
      <vt:lpstr>Roboto</vt:lpstr>
      <vt:lpstr>Source sans 3</vt:lpstr>
      <vt:lpstr>Merriweather</vt:lpstr>
      <vt:lpstr>Wingdings</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Jose Riveraruiz</cp:lastModifiedBy>
  <cp:revision>331</cp:revision>
  <cp:lastPrinted>2025-12-23T15:43:13Z</cp:lastPrinted>
  <dcterms:created xsi:type="dcterms:W3CDTF">2018-07-12T14:29:14Z</dcterms:created>
  <dcterms:modified xsi:type="dcterms:W3CDTF">2026-04-03T19:22:27Z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