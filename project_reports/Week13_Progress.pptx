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32"/>
  </p:notesMasterIdLst>
  <p:handoutMasterIdLst>
    <p:handoutMasterId r:id="rId33"/>
  </p:handoutMasterIdLst>
  <p:sldIdLst>
    <p:sldId id="408" r:id="rId5"/>
    <p:sldId id="407" r:id="rId6"/>
    <p:sldId id="448" r:id="rId7"/>
    <p:sldId id="431" r:id="rId8"/>
    <p:sldId id="449" r:id="rId9"/>
    <p:sldId id="454" r:id="rId10"/>
    <p:sldId id="435" r:id="rId11"/>
    <p:sldId id="436" r:id="rId12"/>
    <p:sldId id="437" r:id="rId13"/>
    <p:sldId id="457" r:id="rId14"/>
    <p:sldId id="444" r:id="rId15"/>
    <p:sldId id="445" r:id="rId16"/>
    <p:sldId id="450" r:id="rId17"/>
    <p:sldId id="452" r:id="rId18"/>
    <p:sldId id="451" r:id="rId19"/>
    <p:sldId id="453" r:id="rId20"/>
    <p:sldId id="455" r:id="rId21"/>
    <p:sldId id="456" r:id="rId22"/>
    <p:sldId id="438" r:id="rId23"/>
    <p:sldId id="439" r:id="rId24"/>
    <p:sldId id="430" r:id="rId25"/>
    <p:sldId id="442" r:id="rId26"/>
    <p:sldId id="275" r:id="rId27"/>
    <p:sldId id="276" r:id="rId28"/>
    <p:sldId id="277" r:id="rId29"/>
    <p:sldId id="279" r:id="rId30"/>
    <p:sldId id="281" r:id="rId31"/>
  </p:sldIdLst>
  <p:sldSz cx="12192000" cy="6858000"/>
  <p:notesSz cx="9296400" cy="7010400"/>
  <p:embeddedFontLst>
    <p:embeddedFont>
      <p:font typeface="Cambria Math" panose="02040503050406030204" pitchFamily="18" charset="0"/>
      <p:regular r:id="rId34"/>
    </p:embeddedFont>
    <p:embeddedFont>
      <p:font typeface="Merriweather" pitchFamily="2" charset="77"/>
      <p:regular r:id="rId35"/>
      <p:bold r:id="rId36"/>
      <p:italic r:id="rId37"/>
      <p:boldItalic r:id="rId38"/>
    </p:embeddedFont>
    <p:embeddedFont>
      <p:font typeface="PT serif" panose="020A0603040505020204" pitchFamily="18" charset="77"/>
      <p:regular r:id="rId39"/>
      <p:bold r:id="rId40"/>
      <p:italic r:id="rId41"/>
      <p:boldItalic r:id="rId42"/>
    </p:embeddedFont>
    <p:embeddedFont>
      <p:font typeface="Roboto" panose="02000000000000000000" pitchFamily="2" charset="0"/>
      <p:regular r:id="rId43"/>
      <p:bold r:id="rId44"/>
      <p:italic r:id="rId45"/>
      <p:boldItalic r:id="rId46"/>
    </p:embeddedFont>
    <p:embeddedFont>
      <p:font typeface="Source sans 3" panose="020B0303030403020204" pitchFamily="3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D59"/>
    <a:srgbClr val="71B2C4"/>
    <a:srgbClr val="649EC7"/>
    <a:srgbClr val="5576B9"/>
    <a:srgbClr val="405C84"/>
    <a:srgbClr val="00B050"/>
    <a:srgbClr val="00FACA"/>
    <a:srgbClr val="F9E289"/>
    <a:srgbClr val="F3D169"/>
    <a:srgbClr val="E8B51F"/>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94"/>
    <p:restoredTop sz="72924"/>
  </p:normalViewPr>
  <p:slideViewPr>
    <p:cSldViewPr snapToGrid="0">
      <p:cViewPr>
        <p:scale>
          <a:sx n="100" d="100"/>
          <a:sy n="100" d="100"/>
        </p:scale>
        <p:origin x="1016" y="464"/>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6.xml"/><Relationship Id="rId41" Type="http://schemas.openxmlformats.org/officeDocument/2006/relationships/font" Target="fonts/font8.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5/1/26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5/1/26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1361-1CC0-2B63-9BF6-7E4F56988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A4D96-1BB5-C6F3-CAAB-610887B5A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FE08-7911-0FB3-29C6-6DA31F1B057A}"/>
              </a:ext>
            </a:extLst>
          </p:cNvPr>
          <p:cNvSpPr>
            <a:spLocks noGrp="1"/>
          </p:cNvSpPr>
          <p:nvPr>
            <p:ph type="body" idx="1"/>
          </p:nvPr>
        </p:nvSpPr>
        <p:spPr/>
        <p:txBody>
          <a:bodyPr/>
          <a:lstStyle/>
          <a:p>
            <a:r>
              <a:rPr lang="en-US" dirty="0"/>
              <a:t>This slide shows the full pipeline. We start with municipal-level structural, economic, and shock data. In Phase 2, we build a predictive model and select Lasso with strong out-of-sample performance. We then interpret the model using SHAP and lead–lag analysis, which reveals that population dynamics are highly persistent. In Phase 3, we generate scenario forecasts, and in Phase 4 we translate those into policy simulations to identify strategies that can reduce population loss.</a:t>
            </a:r>
          </a:p>
        </p:txBody>
      </p:sp>
      <p:sp>
        <p:nvSpPr>
          <p:cNvPr id="4" name="Slide Number Placeholder 3">
            <a:extLst>
              <a:ext uri="{FF2B5EF4-FFF2-40B4-BE49-F238E27FC236}">
                <a16:creationId xmlns:a16="http://schemas.microsoft.com/office/drawing/2014/main" id="{D76D7624-92AE-3978-053F-F621021FE661}"/>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2610477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D09-BB55-281C-2B14-A8ACF16F8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046E6-D34B-02FB-7487-746D08C62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71936-83C1-5ABC-0C85-37052FCCE2B5}"/>
              </a:ext>
            </a:extLst>
          </p:cNvPr>
          <p:cNvSpPr>
            <a:spLocks noGrp="1"/>
          </p:cNvSpPr>
          <p:nvPr>
            <p:ph type="body" idx="1"/>
          </p:nvPr>
        </p:nvSpPr>
        <p:spPr/>
        <p:txBody>
          <a:bodyPr/>
          <a:lstStyle/>
          <a:p>
            <a:r>
              <a:rPr lang="en-US" dirty="0"/>
              <a:t>This slide shows how we split the data for modeling using a </a:t>
            </a:r>
            <a:r>
              <a:rPr lang="en-US" b="1" dirty="0"/>
              <a:t>chronological 80/20 framework</a:t>
            </a:r>
            <a:r>
              <a:rPr lang="en-US" dirty="0"/>
              <a:t>.</a:t>
            </a:r>
          </a:p>
          <a:p>
            <a:r>
              <a:rPr lang="en-US" dirty="0"/>
              <a:t>Instead of randomly splitting the data, we preserve the time structure.</a:t>
            </a:r>
            <a:br>
              <a:rPr lang="en-US" dirty="0"/>
            </a:br>
            <a:r>
              <a:rPr lang="en-US" dirty="0"/>
              <a:t>We train the model only on </a:t>
            </a:r>
            <a:r>
              <a:rPr lang="en-US" b="1" dirty="0"/>
              <a:t>earlier years (2010–2018)</a:t>
            </a:r>
            <a:r>
              <a:rPr lang="en-US" dirty="0"/>
              <a:t>, reserve </a:t>
            </a:r>
            <a:r>
              <a:rPr lang="en-US" b="1" dirty="0"/>
              <a:t>2019 as a validation year</a:t>
            </a:r>
            <a:r>
              <a:rPr lang="en-US" dirty="0"/>
              <a:t>, and then evaluate performance on </a:t>
            </a:r>
            <a:r>
              <a:rPr lang="en-US" b="1" dirty="0"/>
              <a:t>completely unseen future years (2020–2021)</a:t>
            </a:r>
            <a:r>
              <a:rPr lang="en-US" dirty="0"/>
              <a:t>.</a:t>
            </a:r>
          </a:p>
          <a:p>
            <a:r>
              <a:rPr lang="en-US" dirty="0"/>
              <a:t>Each year contributes </a:t>
            </a:r>
            <a:r>
              <a:rPr lang="en-US" b="1" dirty="0"/>
              <a:t>78 municipality-level observations</a:t>
            </a:r>
            <a:r>
              <a:rPr lang="en-US" dirty="0"/>
              <a:t>, so the split is balanced across time.</a:t>
            </a:r>
          </a:p>
          <a:p>
            <a:r>
              <a:rPr lang="en-US" dirty="0"/>
              <a:t>The key idea here is that we are mimicking a </a:t>
            </a:r>
            <a:r>
              <a:rPr lang="en-US" b="1" dirty="0"/>
              <a:t>real forecasting setup</a:t>
            </a:r>
            <a:r>
              <a:rPr lang="en-US" dirty="0"/>
              <a:t>:</a:t>
            </a:r>
          </a:p>
          <a:p>
            <a:r>
              <a:rPr lang="en-US" dirty="0"/>
              <a:t>the model learns from the past </a:t>
            </a:r>
          </a:p>
          <a:p>
            <a:r>
              <a:rPr lang="en-US" dirty="0"/>
              <a:t>it is tuned on a later holdout year </a:t>
            </a:r>
          </a:p>
          <a:p>
            <a:r>
              <a:rPr lang="en-US" dirty="0"/>
              <a:t>and it is tested on future data it has never seen </a:t>
            </a:r>
          </a:p>
          <a:p>
            <a:r>
              <a:rPr lang="en-US"/>
              <a:t>This avoids </a:t>
            </a:r>
            <a:r>
              <a:rPr lang="en-US" b="1"/>
              <a:t>data leakage</a:t>
            </a:r>
            <a:r>
              <a:rPr lang="en-US"/>
              <a:t>, meaning we never use future information to predict the past.</a:t>
            </a:r>
          </a:p>
          <a:p>
            <a:endParaRPr lang="en-US" dirty="0"/>
          </a:p>
        </p:txBody>
      </p:sp>
      <p:sp>
        <p:nvSpPr>
          <p:cNvPr id="4" name="Slide Number Placeholder 3">
            <a:extLst>
              <a:ext uri="{FF2B5EF4-FFF2-40B4-BE49-F238E27FC236}">
                <a16:creationId xmlns:a16="http://schemas.microsoft.com/office/drawing/2014/main" id="{A9518824-9364-DB73-9829-09F87B1DC587}"/>
              </a:ext>
            </a:extLst>
          </p:cNvPr>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43793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from this analysis is that population dynamics in Puerto Rico are highly persistent and path-dependent.</a:t>
            </a:r>
            <a:br>
              <a:rPr lang="en-US" dirty="0"/>
            </a:br>
            <a:r>
              <a:rPr lang="en-US" dirty="0"/>
              <a:t>What happens in one period strongly influences what happens next.</a:t>
            </a:r>
            <a:br>
              <a:rPr lang="en-US" dirty="0"/>
            </a:br>
            <a:r>
              <a:rPr lang="en-US" dirty="0"/>
              <a:t>While shocks like hurricanes and earthquakes do matter, their effects are not immediate, they accumulate over time and are reflected through longer-term trends.</a:t>
            </a:r>
            <a:br>
              <a:rPr lang="en-US" dirty="0"/>
            </a:br>
            <a:r>
              <a:rPr lang="en-US" dirty="0"/>
              <a:t>So ultimately, population change is less about single events and more about the gradual buildup of structural conditions.</a:t>
            </a:r>
          </a:p>
        </p:txBody>
      </p:sp>
      <p:sp>
        <p:nvSpPr>
          <p:cNvPr id="4" name="Slide Number Placeholder 3"/>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059832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what we see is that population dynamics are not random, they’re spatially structured.</a:t>
            </a:r>
            <a:br>
              <a:rPr lang="en-US" dirty="0"/>
            </a:br>
            <a:r>
              <a:rPr lang="en-US" dirty="0"/>
              <a:t>Municipalities cluster into distinct typologies, and these clusters align strongly with geographic regions.</a:t>
            </a:r>
            <a:br>
              <a:rPr lang="en-US" dirty="0"/>
            </a:br>
            <a:r>
              <a:rPr lang="en-US" dirty="0"/>
              <a:t>This means similar places behave similarly over time.</a:t>
            </a:r>
            <a:br>
              <a:rPr lang="en-US" dirty="0"/>
            </a:br>
            <a:r>
              <a:rPr lang="en-US" dirty="0"/>
              <a:t>The key insight is that decline is not evenly distributed, it’s concentrated in specific regions and tied to underlying structural conditions like economic activity and vulnerability.</a:t>
            </a:r>
            <a:br>
              <a:rPr lang="en-US" dirty="0"/>
            </a:br>
            <a:r>
              <a:rPr lang="en-US" dirty="0"/>
              <a:t>So overall, population change reflects persistent regional structures rather than isolated local variation.</a:t>
            </a:r>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island level, Puerto Rico shows a persistent population decline of about 0.6% per year, or roughly 20,000 people annually.</a:t>
            </a:r>
            <a:br>
              <a:rPr lang="en-US" dirty="0"/>
            </a:br>
            <a:r>
              <a:rPr lang="en-US" dirty="0"/>
              <a:t>Importantly, this decline is not uniform, it’s concentrated in specific regions, particularly the South and West.</a:t>
            </a:r>
            <a:br>
              <a:rPr lang="en-US" dirty="0"/>
            </a:br>
            <a:r>
              <a:rPr lang="en-US" dirty="0"/>
              <a:t>What the model confirms is that this pattern is systematic and predictable, not random. Regional location plays a major role, and these differences remain stable over time. So the key takeaway is that population decline is spatially structured and persistent, driven by long-term regional dynamics rather than short-term fluctuations.</a:t>
            </a:r>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DD697-456F-1A75-D6E6-B1E6DD418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1258D-FCB8-7B47-C3D3-1D083E425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D9247-5E09-9840-E9B6-40A68D4762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F6117F-BD8B-2B82-05BB-D543D4F651C2}"/>
              </a:ext>
            </a:extLst>
          </p:cNvPr>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951548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2AA8-ECEA-E732-FC01-1E089DD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E15F4-1306-EB85-E903-41BF9837C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75522-70CF-AD90-ABD8-B833DD828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C5038E-CA49-0058-2D63-713C9A608039}"/>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1899868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6C1F-3692-A97E-B268-AA59DA162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DA91B-C2FF-3602-A806-D05CC653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1EA65-77C7-68DF-4361-6D963E5E475C}"/>
              </a:ext>
            </a:extLst>
          </p:cNvPr>
          <p:cNvSpPr>
            <a:spLocks noGrp="1"/>
          </p:cNvSpPr>
          <p:nvPr>
            <p:ph type="body" idx="1"/>
          </p:nvPr>
        </p:nvSpPr>
        <p:spPr/>
        <p:txBody>
          <a:bodyPr/>
          <a:lstStyle/>
          <a:p>
            <a:r>
              <a:rPr lang="en-US" dirty="0"/>
              <a:t>Mechanically, the framework does:</a:t>
            </a:r>
          </a:p>
          <a:p>
            <a:r>
              <a:rPr lang="en-US" dirty="0"/>
              <a:t>Take latest municipal data </a:t>
            </a:r>
          </a:p>
          <a:p>
            <a:r>
              <a:rPr lang="en-US" dirty="0"/>
              <a:t>Apply </a:t>
            </a:r>
            <a:r>
              <a:rPr lang="en-US" b="1" dirty="0"/>
              <a:t>feature adjustments (policy shocks)</a:t>
            </a:r>
            <a:r>
              <a:rPr lang="en-US" dirty="0"/>
              <a:t> </a:t>
            </a:r>
          </a:p>
          <a:p>
            <a:r>
              <a:rPr lang="en-US" dirty="0"/>
              <a:t>Feed into </a:t>
            </a:r>
            <a:r>
              <a:rPr lang="en-US" b="1" dirty="0"/>
              <a:t>trained Lasso model</a:t>
            </a:r>
            <a:r>
              <a:rPr lang="en-US" dirty="0"/>
              <a:t> </a:t>
            </a:r>
          </a:p>
          <a:p>
            <a:r>
              <a:rPr lang="en-US" dirty="0"/>
              <a:t>Generate new predicted population paths </a:t>
            </a:r>
          </a:p>
          <a:p>
            <a:endParaRPr lang="en-US" dirty="0"/>
          </a:p>
          <a:p>
            <a:r>
              <a:rPr lang="en-US" dirty="0"/>
              <a:t>So:</a:t>
            </a:r>
          </a:p>
          <a:p>
            <a:r>
              <a:rPr lang="en-US" dirty="0"/>
              <a:t>policies → change features </a:t>
            </a:r>
          </a:p>
          <a:p>
            <a:r>
              <a:rPr lang="en-US" dirty="0"/>
              <a:t>features → change predictions </a:t>
            </a:r>
          </a:p>
          <a:p>
            <a:endParaRPr lang="en-US" dirty="0"/>
          </a:p>
          <a:p>
            <a:r>
              <a:rPr lang="en-US" dirty="0"/>
              <a:t>Important </a:t>
            </a:r>
          </a:p>
          <a:p>
            <a:r>
              <a:rPr lang="en-US" dirty="0"/>
              <a:t>These are </a:t>
            </a:r>
            <a:r>
              <a:rPr lang="en-US" b="1" dirty="0"/>
              <a:t>model-based counterfactuals, not causal estimates</a:t>
            </a:r>
            <a:endParaRPr lang="en-US" dirty="0"/>
          </a:p>
          <a:p>
            <a:endParaRPr lang="en-US" dirty="0"/>
          </a:p>
        </p:txBody>
      </p:sp>
      <p:sp>
        <p:nvSpPr>
          <p:cNvPr id="4" name="Slide Number Placeholder 3">
            <a:extLst>
              <a:ext uri="{FF2B5EF4-FFF2-40B4-BE49-F238E27FC236}">
                <a16:creationId xmlns:a16="http://schemas.microsoft.com/office/drawing/2014/main" id="{1158C983-D6E5-3C0B-780C-A94D0EC35CC9}"/>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31072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83EE-BD4C-21F8-3DC9-67BBF823A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0831F-73CB-D30C-046A-15479FB4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D500A-05E9-F762-9470-E5DCFD7D1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37E72-4A92-E906-1EF7-1BD0A0C8FD98}"/>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1268917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B2A4-A14E-7D1F-D2C2-A7CA27623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93C8D-F028-8C77-00D9-43FFBFAB6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F26B0-E18B-6A44-3338-F0166ED80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051-2C92-6894-79BA-CCC4179E6DAD}"/>
              </a:ext>
            </a:extLst>
          </p:cNvPr>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314260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D3AE2-5385-ACB2-855D-B0020BA41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2215E-4FB2-0FD4-12F5-0D0DAAE82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1FC44-DC21-AFC2-009E-310E8C544716}"/>
              </a:ext>
            </a:extLst>
          </p:cNvPr>
          <p:cNvSpPr>
            <a:spLocks noGrp="1"/>
          </p:cNvSpPr>
          <p:nvPr>
            <p:ph type="body" idx="1"/>
          </p:nvPr>
        </p:nvSpPr>
        <p:spPr/>
        <p:txBody>
          <a:bodyPr/>
          <a:lstStyle/>
          <a:p>
            <a:r>
              <a:rPr lang="en-US" dirty="0"/>
              <a:t>This figure shows the </a:t>
            </a:r>
            <a:r>
              <a:rPr lang="en-US" b="1" dirty="0"/>
              <a:t>island-level population trajectory</a:t>
            </a:r>
            <a:r>
              <a:rPr lang="en-US" dirty="0"/>
              <a:t> under different scenarios.</a:t>
            </a:r>
          </a:p>
          <a:p>
            <a:r>
              <a:rPr lang="en-US" dirty="0"/>
              <a:t>We start with the observed trend, which shows a steady decline with a small temporary fluctuation around the post-Maria period.</a:t>
            </a:r>
          </a:p>
          <a:p>
            <a:r>
              <a:rPr lang="en-US" dirty="0"/>
              <a:t>From 2024 onward, the forecast begins.</a:t>
            </a:r>
          </a:p>
          <a:p>
            <a:r>
              <a:rPr lang="en-US" dirty="0"/>
              <a:t>The </a:t>
            </a:r>
            <a:r>
              <a:rPr lang="en-US" b="1" dirty="0"/>
              <a:t>baseline scenario</a:t>
            </a:r>
            <a:r>
              <a:rPr lang="en-US" dirty="0"/>
              <a:t> continues the downward trajectory, reflecting the model’s core finding that population change is highly persistent.</a:t>
            </a:r>
          </a:p>
          <a:p>
            <a:r>
              <a:rPr lang="en-US" dirty="0"/>
              <a:t>The </a:t>
            </a:r>
            <a:r>
              <a:rPr lang="en-US" b="1" dirty="0"/>
              <a:t>retention bundle</a:t>
            </a:r>
            <a:r>
              <a:rPr lang="en-US" dirty="0"/>
              <a:t> improves outcomes slightly, slowing the rate of decline, but it does not reverse the trend. This shows that standard policy improvements alone are not enough to overcome structural momentum.</a:t>
            </a:r>
          </a:p>
          <a:p>
            <a:r>
              <a:rPr lang="en-US" dirty="0"/>
              <a:t>The </a:t>
            </a:r>
            <a:r>
              <a:rPr lang="en-US" b="1" dirty="0"/>
              <a:t>recovery bundle</a:t>
            </a:r>
            <a:r>
              <a:rPr lang="en-US" dirty="0"/>
              <a:t>, which applies stronger feature improvements, produces a slightly better trajectory, but still remains below the current population level.</a:t>
            </a:r>
          </a:p>
          <a:p>
            <a:r>
              <a:rPr lang="en-US" dirty="0"/>
              <a:t>The most important line is the </a:t>
            </a:r>
            <a:r>
              <a:rPr lang="en-US" b="1" dirty="0"/>
              <a:t>recovery rebound sensitivity</a:t>
            </a:r>
            <a:r>
              <a:rPr lang="en-US" dirty="0"/>
              <a:t>.</a:t>
            </a:r>
          </a:p>
          <a:p>
            <a:r>
              <a:rPr lang="en-US" dirty="0"/>
              <a:t>This scenario adds a return-migration or recovery shock, similar to the temporary increase observed after Hurricane Maria. Under this assumption, population can </a:t>
            </a:r>
            <a:r>
              <a:rPr lang="en-US" b="1" dirty="0"/>
              <a:t>stabilize and even temporarily increase</a:t>
            </a:r>
            <a:r>
              <a:rPr lang="en-US" dirty="0"/>
              <a:t>, but only under strong and coordinated improvements.</a:t>
            </a:r>
          </a:p>
          <a:p>
            <a:endParaRPr lang="en-US" dirty="0"/>
          </a:p>
          <a:p>
            <a:r>
              <a:rPr lang="en-US" dirty="0"/>
              <a:t>***The recovery bundle shows what the model predicts from stronger policy-feature improvements. The rebound sensitivity shows what additional recovery momentum would be needed to reverse the decline.</a:t>
            </a:r>
          </a:p>
          <a:p>
            <a:endParaRPr lang="en-US" dirty="0"/>
          </a:p>
          <a:p>
            <a:endParaRPr lang="en-US" dirty="0"/>
          </a:p>
          <a:p>
            <a:endParaRPr lang="en-US" dirty="0"/>
          </a:p>
          <a:p>
            <a:r>
              <a:rPr lang="en-US" dirty="0"/>
              <a:t>The uncertainty band shows that even under optimistic assumptions, outcomes remain bounded and gradually converge.</a:t>
            </a:r>
          </a:p>
          <a:p>
            <a:endParaRPr lang="en-US" dirty="0"/>
          </a:p>
          <a:p>
            <a:r>
              <a:rPr lang="en-US" dirty="0"/>
              <a:t> The key takeaway is that:</a:t>
            </a:r>
            <a:br>
              <a:rPr lang="en-US" dirty="0"/>
            </a:br>
            <a:r>
              <a:rPr lang="en-US" dirty="0"/>
              <a:t>Population decline in Puerto Rico is driven by </a:t>
            </a:r>
            <a:r>
              <a:rPr lang="en-US" b="1" dirty="0"/>
              <a:t>persistent structural dynamics</a:t>
            </a:r>
            <a:r>
              <a:rPr lang="en-US" dirty="0"/>
              <a:t>, and reversing it would require not just policy improvements, but a </a:t>
            </a:r>
            <a:r>
              <a:rPr lang="en-US" b="1" dirty="0"/>
              <a:t>sustained recovery dynamic strong enough to overcome that momentum</a:t>
            </a:r>
            <a:r>
              <a:rPr lang="en-US" dirty="0"/>
              <a:t>.</a:t>
            </a:r>
          </a:p>
          <a:p>
            <a:endParaRPr lang="en-US" dirty="0"/>
          </a:p>
        </p:txBody>
      </p:sp>
      <p:sp>
        <p:nvSpPr>
          <p:cNvPr id="4" name="Slide Number Placeholder 3">
            <a:extLst>
              <a:ext uri="{FF2B5EF4-FFF2-40B4-BE49-F238E27FC236}">
                <a16:creationId xmlns:a16="http://schemas.microsoft.com/office/drawing/2014/main" id="{CE186F9E-A819-9DFC-96D9-6091E023F146}"/>
              </a:ext>
            </a:extLst>
          </p:cNvPr>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1673636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128C-29E3-C741-F35F-0B11A9887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026FC-28B9-535A-538E-01D689E39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4C150-12A5-E967-3D8A-98A4534C5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ABF98-7D1C-BD1F-62D7-CF11BD1DB70D}"/>
              </a:ext>
            </a:extLst>
          </p:cNvPr>
          <p:cNvSpPr>
            <a:spLocks noGrp="1"/>
          </p:cNvSpPr>
          <p:nvPr>
            <p:ph type="sldNum" sz="quarter" idx="5"/>
          </p:nvPr>
        </p:nvSpPr>
        <p:spPr/>
        <p:txBody>
          <a:bodyPr/>
          <a:lstStyle/>
          <a:p>
            <a:fld id="{5068C1A6-6C9C-C342-8E0F-AE9AC9AFD13B}" type="slidenum">
              <a:rPr lang="en-US" smtClean="0"/>
              <a:t>17</a:t>
            </a:fld>
            <a:endParaRPr lang="en-US" dirty="0"/>
          </a:p>
        </p:txBody>
      </p:sp>
    </p:spTree>
    <p:extLst>
      <p:ext uri="{BB962C8B-B14F-4D97-AF65-F5344CB8AC3E}">
        <p14:creationId xmlns:p14="http://schemas.microsoft.com/office/powerpoint/2010/main" val="756217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next step, I’m extending this work into a policy simulation framework.</a:t>
            </a:r>
            <a:br>
              <a:rPr lang="en-US" dirty="0"/>
            </a:br>
            <a:r>
              <a:rPr lang="en-US" dirty="0"/>
              <a:t>The goal is to move beyond forecasting and evaluate how different interventions, such as job growth or retention strategies, could influence population trends.</a:t>
            </a:r>
            <a:br>
              <a:rPr lang="en-US" dirty="0"/>
            </a:br>
            <a:br>
              <a:rPr lang="en-US" dirty="0"/>
            </a:br>
            <a:r>
              <a:rPr lang="en-US" dirty="0"/>
              <a:t>Ultimately, this allows to assess which strategies are most effective at slowing population decline and translate those insights into an interactive dashboard.</a:t>
            </a:r>
          </a:p>
        </p:txBody>
      </p:sp>
      <p:sp>
        <p:nvSpPr>
          <p:cNvPr id="4" name="Slide Number Placeholder 3"/>
          <p:cNvSpPr>
            <a:spLocks noGrp="1"/>
          </p:cNvSpPr>
          <p:nvPr>
            <p:ph type="sldNum" sz="quarter" idx="5"/>
          </p:nvPr>
        </p:nvSpPr>
        <p:spPr/>
        <p:txBody>
          <a:bodyPr/>
          <a:lstStyle/>
          <a:p>
            <a:fld id="{5068C1A6-6C9C-C342-8E0F-AE9AC9AFD13B}" type="slidenum">
              <a:rPr lang="en-US" smtClean="0"/>
              <a:t>18</a:t>
            </a:fld>
            <a:endParaRPr lang="en-US" dirty="0"/>
          </a:p>
        </p:txBody>
      </p:sp>
    </p:spTree>
    <p:extLst>
      <p:ext uri="{BB962C8B-B14F-4D97-AF65-F5344CB8AC3E}">
        <p14:creationId xmlns:p14="http://schemas.microsoft.com/office/powerpoint/2010/main" val="3658011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is that Puerto Rico’s population decline is </a:t>
            </a:r>
            <a:r>
              <a:rPr lang="en-US" b="1" dirty="0"/>
              <a:t>not random</a:t>
            </a:r>
            <a:r>
              <a:rPr lang="en-US" dirty="0"/>
              <a:t>. It is structured, spatial, and persistent. The model shows that population change is strongly shaped by past population trends, meaning that municipalities already experiencing decline are more likely to continue declining unless stronger interventions occur.</a:t>
            </a:r>
          </a:p>
          <a:p>
            <a:r>
              <a:rPr lang="en-US" dirty="0"/>
              <a:t>A major finding is that disasters matter, but not as simple one-time predictors. Instead, hurricanes and earthquakes tend to </a:t>
            </a:r>
            <a:r>
              <a:rPr lang="en-US" b="1" dirty="0"/>
              <a:t>amplify existing demographic trends</a:t>
            </a:r>
            <a:r>
              <a:rPr lang="en-US" dirty="0"/>
              <a:t> and their effects appear through longer-term population momentum.</a:t>
            </a:r>
          </a:p>
          <a:p>
            <a:r>
              <a:rPr lang="en-US" dirty="0"/>
              <a:t>The project also moved beyond prediction. In the final phase, I extended the forecasting model into policy and recovery scenarios. These simulations tested strategies related to jobs, public safety, resilience, demographic support, and retention.</a:t>
            </a:r>
          </a:p>
          <a:p>
            <a:r>
              <a:rPr lang="en-US" dirty="0"/>
              <a:t>The results show that policy bundles can slow population loss, but reversing decline requires a stronger coordinated recovery dynamic, including conditions that support return migration and long-term population stabilization.</a:t>
            </a:r>
          </a:p>
          <a:p>
            <a:r>
              <a:rPr lang="en-US" dirty="0"/>
              <a:t>Overall, this project demonstrates how machine learning can be used not only to forecast population decline, but also to evaluate what kinds of interventions may be needed to change the trajectory. The main takeaway is that Puerto Rico’s population future depends on addressing persistent structural conditions, not only reacting to short-term shocks.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19</a:t>
            </a:fld>
            <a:endParaRPr lang="en-US" dirty="0"/>
          </a:p>
        </p:txBody>
      </p:sp>
    </p:spTree>
    <p:extLst>
      <p:ext uri="{BB962C8B-B14F-4D97-AF65-F5344CB8AC3E}">
        <p14:creationId xmlns:p14="http://schemas.microsoft.com/office/powerpoint/2010/main" val="970356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20</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17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0323-1844-7C93-9703-4C215B003E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E6EEC-5C00-9AAB-71E1-B82D418B34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14C5B44-61A0-1E95-DD47-EC743B64F4D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pic>
        <p:nvPicPr>
          <p:cNvPr id="6" name="Picture 5">
            <a:extLst>
              <a:ext uri="{FF2B5EF4-FFF2-40B4-BE49-F238E27FC236}">
                <a16:creationId xmlns:a16="http://schemas.microsoft.com/office/drawing/2014/main" id="{7D048859-A022-27ED-A44B-061CED15932A}"/>
              </a:ext>
            </a:extLst>
          </p:cNvPr>
          <p:cNvPicPr>
            <a:picLocks noChangeAspect="1"/>
          </p:cNvPicPr>
          <p:nvPr/>
        </p:nvPicPr>
        <p:blipFill>
          <a:blip r:embed="rId3">
            <a:extLst>
              <a:ext uri="{28A0092B-C50C-407E-A947-70E740481C1C}">
                <a14:useLocalDpi xmlns:a14="http://schemas.microsoft.com/office/drawing/2010/main" val="0"/>
              </a:ext>
            </a:extLst>
          </a:blip>
          <a:srcRect l="1851" t="9543" r="1842" b="2875"/>
          <a:stretch>
            <a:fillRect/>
          </a:stretch>
        </p:blipFill>
        <p:spPr>
          <a:xfrm>
            <a:off x="127590" y="1368962"/>
            <a:ext cx="10339372" cy="4851085"/>
          </a:xfrm>
          <a:prstGeom prst="rect">
            <a:avLst/>
          </a:prstGeom>
        </p:spPr>
      </p:pic>
      <p:sp>
        <p:nvSpPr>
          <p:cNvPr id="8" name="TextBox 7">
            <a:extLst>
              <a:ext uri="{FF2B5EF4-FFF2-40B4-BE49-F238E27FC236}">
                <a16:creationId xmlns:a16="http://schemas.microsoft.com/office/drawing/2014/main" id="{2A9A73D0-F7D2-F587-EDF7-8E63A684CAEA}"/>
              </a:ext>
            </a:extLst>
          </p:cNvPr>
          <p:cNvSpPr txBox="1"/>
          <p:nvPr/>
        </p:nvSpPr>
        <p:spPr>
          <a:xfrm>
            <a:off x="358216" y="1954222"/>
            <a:ext cx="1364476" cy="307777"/>
          </a:xfrm>
          <a:prstGeom prst="rect">
            <a:avLst/>
          </a:prstGeom>
          <a:noFill/>
        </p:spPr>
        <p:txBody>
          <a:bodyPr wrap="none" rtlCol="0">
            <a:spAutoFit/>
          </a:bodyPr>
          <a:lstStyle/>
          <a:p>
            <a:pPr algn="ctr"/>
            <a:r>
              <a:rPr lang="en-US" sz="1400" b="1" dirty="0">
                <a:solidFill>
                  <a:schemeClr val="bg1"/>
                </a:solidFill>
              </a:rPr>
              <a:t>Municipal Data</a:t>
            </a:r>
          </a:p>
        </p:txBody>
      </p:sp>
      <p:sp>
        <p:nvSpPr>
          <p:cNvPr id="10" name="TextBox 9">
            <a:extLst>
              <a:ext uri="{FF2B5EF4-FFF2-40B4-BE49-F238E27FC236}">
                <a16:creationId xmlns:a16="http://schemas.microsoft.com/office/drawing/2014/main" id="{DDD52949-EDDD-1CA1-204E-60B7C50EF47B}"/>
              </a:ext>
            </a:extLst>
          </p:cNvPr>
          <p:cNvSpPr txBox="1"/>
          <p:nvPr/>
        </p:nvSpPr>
        <p:spPr>
          <a:xfrm>
            <a:off x="2623083" y="1831705"/>
            <a:ext cx="1034257" cy="523220"/>
          </a:xfrm>
          <a:prstGeom prst="rect">
            <a:avLst/>
          </a:prstGeom>
          <a:noFill/>
        </p:spPr>
        <p:txBody>
          <a:bodyPr wrap="none" rtlCol="0">
            <a:spAutoFit/>
          </a:bodyPr>
          <a:lstStyle/>
          <a:p>
            <a:pPr algn="ctr"/>
            <a:r>
              <a:rPr lang="en-US" sz="1400" b="1" dirty="0">
                <a:solidFill>
                  <a:schemeClr val="bg1"/>
                </a:solidFill>
              </a:rPr>
              <a:t>Predictive </a:t>
            </a:r>
          </a:p>
          <a:p>
            <a:pPr algn="ctr"/>
            <a:r>
              <a:rPr lang="en-US" sz="1400" b="1" dirty="0">
                <a:solidFill>
                  <a:schemeClr val="bg1"/>
                </a:solidFill>
              </a:rPr>
              <a:t>Modeling</a:t>
            </a:r>
          </a:p>
        </p:txBody>
      </p:sp>
      <p:sp>
        <p:nvSpPr>
          <p:cNvPr id="12" name="TextBox 11">
            <a:extLst>
              <a:ext uri="{FF2B5EF4-FFF2-40B4-BE49-F238E27FC236}">
                <a16:creationId xmlns:a16="http://schemas.microsoft.com/office/drawing/2014/main" id="{92C0E1C7-8D70-41A0-26B0-A2C2732FB6DF}"/>
              </a:ext>
            </a:extLst>
          </p:cNvPr>
          <p:cNvSpPr txBox="1"/>
          <p:nvPr/>
        </p:nvSpPr>
        <p:spPr>
          <a:xfrm>
            <a:off x="4417174" y="1839759"/>
            <a:ext cx="1119217"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Forecasting</a:t>
            </a:r>
          </a:p>
        </p:txBody>
      </p:sp>
      <p:sp>
        <p:nvSpPr>
          <p:cNvPr id="14" name="TextBox 13">
            <a:extLst>
              <a:ext uri="{FF2B5EF4-FFF2-40B4-BE49-F238E27FC236}">
                <a16:creationId xmlns:a16="http://schemas.microsoft.com/office/drawing/2014/main" id="{472D061B-39D6-C605-E409-26E4F74032C2}"/>
              </a:ext>
            </a:extLst>
          </p:cNvPr>
          <p:cNvSpPr txBox="1"/>
          <p:nvPr/>
        </p:nvSpPr>
        <p:spPr>
          <a:xfrm>
            <a:off x="6406491" y="1843439"/>
            <a:ext cx="914032"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Analysis</a:t>
            </a:r>
          </a:p>
        </p:txBody>
      </p:sp>
      <p:sp>
        <p:nvSpPr>
          <p:cNvPr id="15" name="TextBox 14">
            <a:extLst>
              <a:ext uri="{FF2B5EF4-FFF2-40B4-BE49-F238E27FC236}">
                <a16:creationId xmlns:a16="http://schemas.microsoft.com/office/drawing/2014/main" id="{62816890-A548-402D-CFF6-486DF77FDEFB}"/>
              </a:ext>
            </a:extLst>
          </p:cNvPr>
          <p:cNvSpPr txBox="1"/>
          <p:nvPr/>
        </p:nvSpPr>
        <p:spPr>
          <a:xfrm>
            <a:off x="8399056" y="1836772"/>
            <a:ext cx="1091966" cy="523220"/>
          </a:xfrm>
          <a:prstGeom prst="rect">
            <a:avLst/>
          </a:prstGeom>
          <a:noFill/>
        </p:spPr>
        <p:txBody>
          <a:bodyPr wrap="none" rtlCol="0">
            <a:spAutoFit/>
          </a:bodyPr>
          <a:lstStyle/>
          <a:p>
            <a:pPr algn="ctr"/>
            <a:r>
              <a:rPr lang="en-US" sz="1400" b="1" dirty="0">
                <a:solidFill>
                  <a:schemeClr val="bg1"/>
                </a:solidFill>
              </a:rPr>
              <a:t>Policy</a:t>
            </a:r>
          </a:p>
          <a:p>
            <a:pPr algn="ctr"/>
            <a:r>
              <a:rPr lang="en-US" sz="1400" b="1" dirty="0">
                <a:solidFill>
                  <a:schemeClr val="bg1"/>
                </a:solidFill>
              </a:rPr>
              <a:t>Simulation </a:t>
            </a:r>
          </a:p>
        </p:txBody>
      </p:sp>
      <p:sp>
        <p:nvSpPr>
          <p:cNvPr id="16" name="TextBox 15">
            <a:extLst>
              <a:ext uri="{FF2B5EF4-FFF2-40B4-BE49-F238E27FC236}">
                <a16:creationId xmlns:a16="http://schemas.microsoft.com/office/drawing/2014/main" id="{1549B984-1CA9-1F36-24B5-5D11AEF34BFB}"/>
              </a:ext>
            </a:extLst>
          </p:cNvPr>
          <p:cNvSpPr txBox="1"/>
          <p:nvPr/>
        </p:nvSpPr>
        <p:spPr>
          <a:xfrm>
            <a:off x="234344" y="2482066"/>
            <a:ext cx="1757869" cy="646331"/>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Structural</a:t>
            </a:r>
            <a:r>
              <a:rPr lang="en-US" sz="1200" dirty="0"/>
              <a:t>:</a:t>
            </a:r>
          </a:p>
          <a:p>
            <a:pPr lvl="1"/>
            <a:r>
              <a:rPr lang="en-US" sz="1200" dirty="0"/>
              <a:t>Births,</a:t>
            </a:r>
          </a:p>
          <a:p>
            <a:pPr lvl="1"/>
            <a:r>
              <a:rPr lang="en-US" sz="1200" dirty="0"/>
              <a:t>Age Structure</a:t>
            </a:r>
          </a:p>
        </p:txBody>
      </p:sp>
      <p:sp>
        <p:nvSpPr>
          <p:cNvPr id="17" name="TextBox 16">
            <a:extLst>
              <a:ext uri="{FF2B5EF4-FFF2-40B4-BE49-F238E27FC236}">
                <a16:creationId xmlns:a16="http://schemas.microsoft.com/office/drawing/2014/main" id="{D473B47D-6B03-C410-5065-C9550C932214}"/>
              </a:ext>
            </a:extLst>
          </p:cNvPr>
          <p:cNvSpPr txBox="1"/>
          <p:nvPr/>
        </p:nvSpPr>
        <p:spPr>
          <a:xfrm>
            <a:off x="234344" y="3293593"/>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Economic</a:t>
            </a:r>
            <a:r>
              <a:rPr lang="en-US" sz="1200" dirty="0"/>
              <a:t>:</a:t>
            </a:r>
          </a:p>
          <a:p>
            <a:pPr lvl="1"/>
            <a:r>
              <a:rPr lang="en-US" sz="1200" dirty="0"/>
              <a:t>Employment,</a:t>
            </a:r>
          </a:p>
          <a:p>
            <a:pPr lvl="1"/>
            <a:r>
              <a:rPr lang="en-US" sz="1200" dirty="0"/>
              <a:t>Payroll,</a:t>
            </a:r>
          </a:p>
          <a:p>
            <a:pPr lvl="1"/>
            <a:r>
              <a:rPr lang="en-US" sz="1200" dirty="0"/>
              <a:t>Establishments</a:t>
            </a:r>
          </a:p>
        </p:txBody>
      </p:sp>
      <p:sp>
        <p:nvSpPr>
          <p:cNvPr id="18" name="TextBox 17">
            <a:extLst>
              <a:ext uri="{FF2B5EF4-FFF2-40B4-BE49-F238E27FC236}">
                <a16:creationId xmlns:a16="http://schemas.microsoft.com/office/drawing/2014/main" id="{513CB562-80C7-AFEE-0B69-C8DC8EAC2DD3}"/>
              </a:ext>
            </a:extLst>
          </p:cNvPr>
          <p:cNvSpPr txBox="1"/>
          <p:nvPr/>
        </p:nvSpPr>
        <p:spPr>
          <a:xfrm>
            <a:off x="234344" y="4254350"/>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b="1" dirty="0"/>
              <a:t>Vulnerability</a:t>
            </a:r>
            <a:r>
              <a:rPr lang="en-US" sz="1200" dirty="0"/>
              <a:t>:</a:t>
            </a:r>
          </a:p>
          <a:p>
            <a:pPr lvl="1"/>
            <a:r>
              <a:rPr lang="en-US" sz="1200" dirty="0"/>
              <a:t>CDC SVIs</a:t>
            </a:r>
          </a:p>
          <a:p>
            <a:pPr lvl="1"/>
            <a:r>
              <a:rPr lang="en-US" sz="1200" dirty="0"/>
              <a:t>(Property,</a:t>
            </a:r>
          </a:p>
          <a:p>
            <a:pPr lvl="1"/>
            <a:r>
              <a:rPr lang="en-US" sz="1200" dirty="0"/>
              <a:t>Housing, </a:t>
            </a:r>
          </a:p>
          <a:p>
            <a:pPr lvl="1"/>
            <a:r>
              <a:rPr lang="en-US" sz="1200" dirty="0"/>
              <a:t>Transport) </a:t>
            </a:r>
          </a:p>
        </p:txBody>
      </p:sp>
      <p:sp>
        <p:nvSpPr>
          <p:cNvPr id="19" name="TextBox 18">
            <a:extLst>
              <a:ext uri="{FF2B5EF4-FFF2-40B4-BE49-F238E27FC236}">
                <a16:creationId xmlns:a16="http://schemas.microsoft.com/office/drawing/2014/main" id="{85BC329A-FF45-F333-6CF0-281438926B30}"/>
              </a:ext>
            </a:extLst>
          </p:cNvPr>
          <p:cNvSpPr txBox="1"/>
          <p:nvPr/>
        </p:nvSpPr>
        <p:spPr>
          <a:xfrm>
            <a:off x="234344" y="5326139"/>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Shocks</a:t>
            </a:r>
            <a:r>
              <a:rPr lang="en-US" sz="1200" dirty="0"/>
              <a:t>:</a:t>
            </a:r>
          </a:p>
          <a:p>
            <a:pPr lvl="1"/>
            <a:r>
              <a:rPr lang="en-US" sz="1200" dirty="0"/>
              <a:t>Hurricane &amp;</a:t>
            </a:r>
          </a:p>
          <a:p>
            <a:pPr lvl="1"/>
            <a:r>
              <a:rPr lang="en-US" sz="1200" dirty="0"/>
              <a:t>Earthquake exposure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AD2BA4E-43D6-4E42-C894-54135CC0220E}"/>
                  </a:ext>
                </a:extLst>
              </p:cNvPr>
              <p:cNvSpPr txBox="1"/>
              <p:nvPr/>
            </p:nvSpPr>
            <p:spPr>
              <a:xfrm>
                <a:off x="2250634" y="2417052"/>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Chronological Split</a:t>
                </a:r>
              </a:p>
              <a:p>
                <a:pPr marL="115888" indent="-115888">
                  <a:buFont typeface="Arial" panose="020B0604020202020204" pitchFamily="34" charset="0"/>
                  <a:buChar char="•"/>
                </a:pPr>
                <a:r>
                  <a:rPr lang="en-US" sz="1200" dirty="0"/>
                  <a:t>80/20 train-test</a:t>
                </a:r>
              </a:p>
              <a:p>
                <a:pPr marL="115888" indent="-115888">
                  <a:buFont typeface="Arial" panose="020B0604020202020204" pitchFamily="34" charset="0"/>
                  <a:buChar char="•"/>
                </a:pPr>
                <a:r>
                  <a:rPr lang="en-US" sz="1200" dirty="0"/>
                  <a:t>Final Model: Lasso</a:t>
                </a:r>
              </a:p>
              <a:p>
                <a:r>
                  <a:rPr lang="en-US" sz="1200" dirty="0"/>
                  <a:t>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oMath>
                </a14:m>
                <a:r>
                  <a:rPr lang="en-US" sz="120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oMath>
                </a14:m>
                <a:r>
                  <a:rPr lang="en-US" sz="1200" dirty="0"/>
                  <a:t>0.91</a:t>
                </a:r>
              </a:p>
            </p:txBody>
          </p:sp>
        </mc:Choice>
        <mc:Fallback xmlns="">
          <p:sp>
            <p:nvSpPr>
              <p:cNvPr id="20" name="TextBox 19">
                <a:extLst>
                  <a:ext uri="{FF2B5EF4-FFF2-40B4-BE49-F238E27FC236}">
                    <a16:creationId xmlns:a16="http://schemas.microsoft.com/office/drawing/2014/main" id="{4AD2BA4E-43D6-4E42-C894-54135CC0220E}"/>
                  </a:ext>
                </a:extLst>
              </p:cNvPr>
              <p:cNvSpPr txBox="1">
                <a:spLocks noRot="1" noChangeAspect="1" noMove="1" noResize="1" noEditPoints="1" noAdjustHandles="1" noChangeArrowheads="1" noChangeShapeType="1" noTextEdit="1"/>
              </p:cNvSpPr>
              <p:nvPr/>
            </p:nvSpPr>
            <p:spPr>
              <a:xfrm>
                <a:off x="2250634" y="2417052"/>
                <a:ext cx="1757869" cy="830997"/>
              </a:xfrm>
              <a:prstGeom prst="rect">
                <a:avLst/>
              </a:prstGeom>
              <a:blipFill>
                <a:blip r:embed="rId4"/>
                <a:stretch>
                  <a:fillRect t="-1515" b="-6061"/>
                </a:stretch>
              </a:blipFill>
            </p:spPr>
            <p:txBody>
              <a:bodyPr/>
              <a:lstStyle/>
              <a:p>
                <a:r>
                  <a:rPr lang="en-US">
                    <a:noFill/>
                  </a:rPr>
                  <a:t> </a:t>
                </a:r>
              </a:p>
            </p:txBody>
          </p:sp>
        </mc:Fallback>
      </mc:AlternateContent>
      <p:sp>
        <p:nvSpPr>
          <p:cNvPr id="24" name="Right Arrow 23">
            <a:extLst>
              <a:ext uri="{FF2B5EF4-FFF2-40B4-BE49-F238E27FC236}">
                <a16:creationId xmlns:a16="http://schemas.microsoft.com/office/drawing/2014/main" id="{9C6AABE8-CF26-B11B-C5F6-FF503286A706}"/>
              </a:ext>
            </a:extLst>
          </p:cNvPr>
          <p:cNvSpPr/>
          <p:nvPr/>
        </p:nvSpPr>
        <p:spPr>
          <a:xfrm>
            <a:off x="2064200" y="346536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25" name="TextBox 24">
            <a:extLst>
              <a:ext uri="{FF2B5EF4-FFF2-40B4-BE49-F238E27FC236}">
                <a16:creationId xmlns:a16="http://schemas.microsoft.com/office/drawing/2014/main" id="{3CEB55BB-4A46-206E-C2DA-85CFDF367777}"/>
              </a:ext>
            </a:extLst>
          </p:cNvPr>
          <p:cNvSpPr txBox="1"/>
          <p:nvPr/>
        </p:nvSpPr>
        <p:spPr>
          <a:xfrm>
            <a:off x="4101598" y="2417052"/>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dirty="0"/>
              <a:t>Baseline &amp; disaster scenarios</a:t>
            </a:r>
          </a:p>
          <a:p>
            <a:pPr marL="115888" indent="-115888">
              <a:buFont typeface="Arial" panose="020B0604020202020204" pitchFamily="34" charset="0"/>
              <a:buChar char="•"/>
            </a:pPr>
            <a:r>
              <a:rPr lang="en-US" sz="1200" dirty="0"/>
              <a:t>Stress tests to 2030</a:t>
            </a:r>
          </a:p>
          <a:p>
            <a:pPr marL="115888" indent="-115888">
              <a:buFont typeface="Arial" panose="020B0604020202020204" pitchFamily="34" charset="0"/>
              <a:buChar char="•"/>
            </a:pPr>
            <a:r>
              <a:rPr lang="en-US" sz="1200" dirty="0"/>
              <a:t>Municipal, regional, island-scale</a:t>
            </a:r>
          </a:p>
        </p:txBody>
      </p:sp>
      <p:sp>
        <p:nvSpPr>
          <p:cNvPr id="26" name="TextBox 25">
            <a:extLst>
              <a:ext uri="{FF2B5EF4-FFF2-40B4-BE49-F238E27FC236}">
                <a16:creationId xmlns:a16="http://schemas.microsoft.com/office/drawing/2014/main" id="{60594C52-32B4-7FF4-6237-7B5A82840939}"/>
              </a:ext>
            </a:extLst>
          </p:cNvPr>
          <p:cNvSpPr txBox="1"/>
          <p:nvPr/>
        </p:nvSpPr>
        <p:spPr>
          <a:xfrm>
            <a:off x="6051051" y="2398100"/>
            <a:ext cx="166298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Counterfactual population paths</a:t>
            </a:r>
          </a:p>
        </p:txBody>
      </p:sp>
      <p:sp>
        <p:nvSpPr>
          <p:cNvPr id="27" name="TextBox 26">
            <a:extLst>
              <a:ext uri="{FF2B5EF4-FFF2-40B4-BE49-F238E27FC236}">
                <a16:creationId xmlns:a16="http://schemas.microsoft.com/office/drawing/2014/main" id="{CB3A7886-B442-7696-B7C5-BA3F0B4A6E17}"/>
              </a:ext>
            </a:extLst>
          </p:cNvPr>
          <p:cNvSpPr txBox="1"/>
          <p:nvPr/>
        </p:nvSpPr>
        <p:spPr>
          <a:xfrm>
            <a:off x="7875757" y="2417052"/>
            <a:ext cx="200215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Identifies policies that reduce population loss</a:t>
            </a:r>
          </a:p>
        </p:txBody>
      </p:sp>
      <p:pic>
        <p:nvPicPr>
          <p:cNvPr id="28" name="Picture 27" descr="A map of the caribbean&#10;&#10;AI-generated content may be incorrect.">
            <a:extLst>
              <a:ext uri="{FF2B5EF4-FFF2-40B4-BE49-F238E27FC236}">
                <a16:creationId xmlns:a16="http://schemas.microsoft.com/office/drawing/2014/main" id="{767D336D-C14C-D4E7-E86A-2BC4CC62B579}"/>
              </a:ext>
            </a:extLst>
          </p:cNvPr>
          <p:cNvPicPr>
            <a:picLocks noChangeAspect="1"/>
          </p:cNvPicPr>
          <p:nvPr/>
        </p:nvPicPr>
        <p:blipFill>
          <a:blip r:embed="rId5">
            <a:alphaModFix amt="35000"/>
            <a:extLst>
              <a:ext uri="{28A0092B-C50C-407E-A947-70E740481C1C}">
                <a14:useLocalDpi xmlns:a14="http://schemas.microsoft.com/office/drawing/2010/main" val="0"/>
              </a:ext>
            </a:extLst>
          </a:blip>
          <a:stretch>
            <a:fillRect/>
          </a:stretch>
        </p:blipFill>
        <p:spPr>
          <a:xfrm>
            <a:off x="4363258" y="3597911"/>
            <a:ext cx="1258028" cy="714936"/>
          </a:xfrm>
          <a:prstGeom prst="rect">
            <a:avLst/>
          </a:prstGeom>
          <a:effectLst>
            <a:softEdge rad="63500"/>
          </a:effectLst>
        </p:spPr>
      </p:pic>
      <p:pic>
        <p:nvPicPr>
          <p:cNvPr id="29" name="Picture 28" descr="A graph with a line and a point&#10;&#10;AI-generated content may be incorrect.">
            <a:extLst>
              <a:ext uri="{FF2B5EF4-FFF2-40B4-BE49-F238E27FC236}">
                <a16:creationId xmlns:a16="http://schemas.microsoft.com/office/drawing/2014/main" id="{B3E89C11-4034-0939-8354-BD3D3274B897}"/>
              </a:ext>
            </a:extLst>
          </p:cNvPr>
          <p:cNvPicPr>
            <a:picLocks noChangeAspect="1"/>
          </p:cNvPicPr>
          <p:nvPr/>
        </p:nvPicPr>
        <p:blipFill>
          <a:blip r:embed="rId6">
            <a:alphaModFix amt="50000"/>
            <a:extLst>
              <a:ext uri="{28A0092B-C50C-407E-A947-70E740481C1C}">
                <a14:useLocalDpi xmlns:a14="http://schemas.microsoft.com/office/drawing/2010/main" val="0"/>
              </a:ext>
            </a:extLst>
          </a:blip>
          <a:stretch>
            <a:fillRect/>
          </a:stretch>
        </p:blipFill>
        <p:spPr>
          <a:xfrm>
            <a:off x="6221587" y="3346344"/>
            <a:ext cx="1278464" cy="696053"/>
          </a:xfrm>
          <a:prstGeom prst="rect">
            <a:avLst/>
          </a:prstGeom>
          <a:effectLst>
            <a:softEdge rad="63500"/>
          </a:effectLst>
        </p:spPr>
      </p:pic>
      <p:sp>
        <p:nvSpPr>
          <p:cNvPr id="31" name="TextBox 30">
            <a:extLst>
              <a:ext uri="{FF2B5EF4-FFF2-40B4-BE49-F238E27FC236}">
                <a16:creationId xmlns:a16="http://schemas.microsoft.com/office/drawing/2014/main" id="{17E4EC9C-3146-CFF2-34C6-894555207D07}"/>
              </a:ext>
            </a:extLst>
          </p:cNvPr>
          <p:cNvSpPr txBox="1"/>
          <p:nvPr/>
        </p:nvSpPr>
        <p:spPr>
          <a:xfrm>
            <a:off x="4097848" y="4500539"/>
            <a:ext cx="1757868"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Shocks amplify existing demographic trends</a:t>
            </a:r>
          </a:p>
          <a:p>
            <a:pPr marL="171450" indent="-171450">
              <a:buFont typeface="Arial" panose="020B0604020202020204" pitchFamily="34" charset="0"/>
              <a:buChar char="•"/>
            </a:pPr>
            <a:endParaRPr lang="en-US" sz="1200" dirty="0"/>
          </a:p>
        </p:txBody>
      </p:sp>
      <p:sp>
        <p:nvSpPr>
          <p:cNvPr id="32" name="TextBox 31">
            <a:extLst>
              <a:ext uri="{FF2B5EF4-FFF2-40B4-BE49-F238E27FC236}">
                <a16:creationId xmlns:a16="http://schemas.microsoft.com/office/drawing/2014/main" id="{BE6AF9A2-CBDE-9CCF-7B7B-9AD7A02132D9}"/>
              </a:ext>
            </a:extLst>
          </p:cNvPr>
          <p:cNvSpPr txBox="1"/>
          <p:nvPr/>
        </p:nvSpPr>
        <p:spPr>
          <a:xfrm>
            <a:off x="6034245" y="4500539"/>
            <a:ext cx="1662983"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Population responds gradually, not instantly</a:t>
            </a:r>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EF60ED56-DF16-DF7B-A513-9E4042DA0C89}"/>
              </a:ext>
            </a:extLst>
          </p:cNvPr>
          <p:cNvSpPr txBox="1"/>
          <p:nvPr/>
        </p:nvSpPr>
        <p:spPr>
          <a:xfrm>
            <a:off x="7864149" y="4495142"/>
            <a:ext cx="2002152" cy="830997"/>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Coordinated policies outperform isolated interventions</a:t>
            </a:r>
          </a:p>
        </p:txBody>
      </p:sp>
      <p:sp>
        <p:nvSpPr>
          <p:cNvPr id="34" name="Right Arrow 33">
            <a:extLst>
              <a:ext uri="{FF2B5EF4-FFF2-40B4-BE49-F238E27FC236}">
                <a16:creationId xmlns:a16="http://schemas.microsoft.com/office/drawing/2014/main" id="{1C5E44BF-262A-A7C2-66DA-3AA274C63780}"/>
              </a:ext>
            </a:extLst>
          </p:cNvPr>
          <p:cNvSpPr/>
          <p:nvPr/>
        </p:nvSpPr>
        <p:spPr>
          <a:xfrm>
            <a:off x="3968975" y="3462682"/>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5" name="Right Arrow 34">
            <a:extLst>
              <a:ext uri="{FF2B5EF4-FFF2-40B4-BE49-F238E27FC236}">
                <a16:creationId xmlns:a16="http://schemas.microsoft.com/office/drawing/2014/main" id="{20AD12C7-BC1F-F82B-FF7D-543776EC5EE9}"/>
              </a:ext>
            </a:extLst>
          </p:cNvPr>
          <p:cNvSpPr/>
          <p:nvPr/>
        </p:nvSpPr>
        <p:spPr>
          <a:xfrm>
            <a:off x="5804066"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6" name="Right Arrow 35">
            <a:extLst>
              <a:ext uri="{FF2B5EF4-FFF2-40B4-BE49-F238E27FC236}">
                <a16:creationId xmlns:a16="http://schemas.microsoft.com/office/drawing/2014/main" id="{9B75B2E2-5625-B3D2-B30F-60B29FEB7017}"/>
              </a:ext>
            </a:extLst>
          </p:cNvPr>
          <p:cNvSpPr/>
          <p:nvPr/>
        </p:nvSpPr>
        <p:spPr>
          <a:xfrm>
            <a:off x="7716278"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7" name="TextBox 36">
            <a:extLst>
              <a:ext uri="{FF2B5EF4-FFF2-40B4-BE49-F238E27FC236}">
                <a16:creationId xmlns:a16="http://schemas.microsoft.com/office/drawing/2014/main" id="{9096AA7F-2216-F4F6-3A38-909C684DE4FE}"/>
              </a:ext>
            </a:extLst>
          </p:cNvPr>
          <p:cNvSpPr txBox="1"/>
          <p:nvPr/>
        </p:nvSpPr>
        <p:spPr>
          <a:xfrm>
            <a:off x="2256977" y="4495142"/>
            <a:ext cx="1699753" cy="646331"/>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Lagged population dynamics predictions</a:t>
            </a:r>
          </a:p>
        </p:txBody>
      </p:sp>
      <p:sp>
        <p:nvSpPr>
          <p:cNvPr id="38" name="Rounded Rectangle 37">
            <a:extLst>
              <a:ext uri="{FF2B5EF4-FFF2-40B4-BE49-F238E27FC236}">
                <a16:creationId xmlns:a16="http://schemas.microsoft.com/office/drawing/2014/main" id="{65C15933-D3C2-192C-FF8A-861B207A3D4F}"/>
              </a:ext>
            </a:extLst>
          </p:cNvPr>
          <p:cNvSpPr/>
          <p:nvPr/>
        </p:nvSpPr>
        <p:spPr>
          <a:xfrm>
            <a:off x="2365754" y="5351488"/>
            <a:ext cx="7843879" cy="9144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BF6BFF7-3304-BE0B-8EC1-3973CA968501}"/>
              </a:ext>
            </a:extLst>
          </p:cNvPr>
          <p:cNvSpPr txBox="1"/>
          <p:nvPr/>
        </p:nvSpPr>
        <p:spPr>
          <a:xfrm>
            <a:off x="2498879" y="5485522"/>
            <a:ext cx="4400163" cy="646331"/>
          </a:xfrm>
          <a:prstGeom prst="rect">
            <a:avLst/>
          </a:prstGeom>
          <a:noFill/>
        </p:spPr>
        <p:txBody>
          <a:bodyPr wrap="square" rtlCol="0">
            <a:spAutoFit/>
          </a:bodyPr>
          <a:lstStyle/>
          <a:p>
            <a:r>
              <a:rPr lang="en-US" sz="1200" b="1" dirty="0"/>
              <a:t>Goal: Translate modeling into policy insights</a:t>
            </a:r>
          </a:p>
          <a:p>
            <a:pPr marL="115888" indent="-115888">
              <a:buFont typeface="Arial" panose="020B0604020202020204" pitchFamily="34" charset="0"/>
              <a:buChar char="•"/>
            </a:pPr>
            <a:r>
              <a:rPr lang="en-US" sz="1200" dirty="0"/>
              <a:t>Understand Puerto Rico’s population dynamics</a:t>
            </a:r>
          </a:p>
          <a:p>
            <a:pPr marL="115888" indent="-115888">
              <a:buFont typeface="Arial" panose="020B0604020202020204" pitchFamily="34" charset="0"/>
              <a:buChar char="•"/>
            </a:pPr>
            <a:r>
              <a:rPr lang="en-US" sz="1200" dirty="0"/>
              <a:t>Identify policies that mitigate population loss</a:t>
            </a:r>
          </a:p>
        </p:txBody>
      </p:sp>
      <p:pic>
        <p:nvPicPr>
          <p:cNvPr id="41" name="Picture 40">
            <a:extLst>
              <a:ext uri="{FF2B5EF4-FFF2-40B4-BE49-F238E27FC236}">
                <a16:creationId xmlns:a16="http://schemas.microsoft.com/office/drawing/2014/main" id="{1691DC86-46AF-F80C-C7CB-800022EA8171}"/>
              </a:ext>
            </a:extLst>
          </p:cNvPr>
          <p:cNvPicPr>
            <a:picLocks noChangeAspect="1"/>
          </p:cNvPicPr>
          <p:nvPr/>
        </p:nvPicPr>
        <p:blipFill>
          <a:blip r:embed="rId7">
            <a:alphaModFix amt="50000"/>
            <a:extLst>
              <a:ext uri="{28A0092B-C50C-407E-A947-70E740481C1C}">
                <a14:useLocalDpi xmlns:a14="http://schemas.microsoft.com/office/drawing/2010/main" val="0"/>
              </a:ext>
            </a:extLst>
          </a:blip>
          <a:stretch>
            <a:fillRect/>
          </a:stretch>
        </p:blipFill>
        <p:spPr>
          <a:xfrm>
            <a:off x="6678106" y="5376362"/>
            <a:ext cx="2566490" cy="856722"/>
          </a:xfrm>
          <a:prstGeom prst="rect">
            <a:avLst/>
          </a:prstGeom>
          <a:effectLst>
            <a:softEdge rad="127000"/>
          </a:effectLst>
        </p:spPr>
      </p:pic>
      <p:pic>
        <p:nvPicPr>
          <p:cNvPr id="1026" name="Picture 2" descr="Signo De Análisis De Datos De Lupa PNG ,dibujos Análisis, Datos, Gráfico  PNG Imagen para Descarga Gratuita | Pngtree">
            <a:extLst>
              <a:ext uri="{FF2B5EF4-FFF2-40B4-BE49-F238E27FC236}">
                <a16:creationId xmlns:a16="http://schemas.microsoft.com/office/drawing/2014/main" id="{DD0DA978-5092-39E9-4FBE-98021EEF6C7A}"/>
              </a:ext>
            </a:extLst>
          </p:cNvPr>
          <p:cNvPicPr>
            <a:picLocks noChangeAspect="1" noChangeArrowheads="1"/>
          </p:cNvPicPr>
          <p:nvPr/>
        </p:nvPicPr>
        <p:blipFill>
          <a:blip r:embed="rId8">
            <a:alphaModFix amt="50000"/>
            <a:extLst>
              <a:ext uri="{28A0092B-C50C-407E-A947-70E740481C1C}">
                <a14:useLocalDpi xmlns:a14="http://schemas.microsoft.com/office/drawing/2010/main" val="0"/>
              </a:ext>
            </a:extLst>
          </a:blip>
          <a:srcRect/>
          <a:stretch>
            <a:fillRect/>
          </a:stretch>
        </p:blipFill>
        <p:spPr bwMode="auto">
          <a:xfrm flipH="1">
            <a:off x="8853536" y="5326139"/>
            <a:ext cx="1115961" cy="1115961"/>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55D1D4C-3D6F-EAE5-67D7-545BC96B1357}"/>
              </a:ext>
            </a:extLst>
          </p:cNvPr>
          <p:cNvSpPr txBox="1"/>
          <p:nvPr/>
        </p:nvSpPr>
        <p:spPr>
          <a:xfrm>
            <a:off x="2228786" y="3851182"/>
            <a:ext cx="1699753" cy="461665"/>
          </a:xfrm>
          <a:prstGeom prst="rect">
            <a:avLst/>
          </a:prstGeom>
          <a:noFill/>
        </p:spPr>
        <p:txBody>
          <a:bodyPr wrap="square" rtlCol="0">
            <a:spAutoFit/>
          </a:bodyPr>
          <a:lstStyle/>
          <a:p>
            <a:r>
              <a:rPr lang="en-US" sz="1200" b="1" dirty="0"/>
              <a:t>Interpretable:</a:t>
            </a:r>
          </a:p>
          <a:p>
            <a:pPr marL="115888" indent="-115888">
              <a:buFont typeface="Arial" panose="020B0604020202020204" pitchFamily="34" charset="0"/>
              <a:buChar char="•"/>
            </a:pPr>
            <a:r>
              <a:rPr lang="en-US" sz="1200" dirty="0"/>
              <a:t>SHAP Analysis</a:t>
            </a:r>
          </a:p>
        </p:txBody>
      </p:sp>
      <p:pic>
        <p:nvPicPr>
          <p:cNvPr id="44" name="Picture 43">
            <a:extLst>
              <a:ext uri="{FF2B5EF4-FFF2-40B4-BE49-F238E27FC236}">
                <a16:creationId xmlns:a16="http://schemas.microsoft.com/office/drawing/2014/main" id="{241077B7-234A-CD01-62FE-DE08983E93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8741" y="2712129"/>
            <a:ext cx="381232" cy="368934"/>
          </a:xfrm>
          <a:prstGeom prst="rect">
            <a:avLst/>
          </a:prstGeom>
        </p:spPr>
      </p:pic>
      <p:pic>
        <p:nvPicPr>
          <p:cNvPr id="46" name="Picture 45">
            <a:extLst>
              <a:ext uri="{FF2B5EF4-FFF2-40B4-BE49-F238E27FC236}">
                <a16:creationId xmlns:a16="http://schemas.microsoft.com/office/drawing/2014/main" id="{8CDDA542-195C-7B0D-5EA6-A3BF3366D1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6193" y="3521655"/>
            <a:ext cx="381232" cy="368933"/>
          </a:xfrm>
          <a:prstGeom prst="rect">
            <a:avLst/>
          </a:prstGeom>
        </p:spPr>
      </p:pic>
      <p:pic>
        <p:nvPicPr>
          <p:cNvPr id="48" name="Picture 47">
            <a:extLst>
              <a:ext uri="{FF2B5EF4-FFF2-40B4-BE49-F238E27FC236}">
                <a16:creationId xmlns:a16="http://schemas.microsoft.com/office/drawing/2014/main" id="{2C3132D1-D1AC-4743-FDC3-68EC2C61DA1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93" y="4548434"/>
            <a:ext cx="381232" cy="427494"/>
          </a:xfrm>
          <a:prstGeom prst="rect">
            <a:avLst/>
          </a:prstGeom>
        </p:spPr>
      </p:pic>
      <p:pic>
        <p:nvPicPr>
          <p:cNvPr id="50" name="Picture 49">
            <a:extLst>
              <a:ext uri="{FF2B5EF4-FFF2-40B4-BE49-F238E27FC236}">
                <a16:creationId xmlns:a16="http://schemas.microsoft.com/office/drawing/2014/main" id="{19466369-9CEA-EBD5-3EE1-020AEB8A00F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6193" y="5567347"/>
            <a:ext cx="413080" cy="450414"/>
          </a:xfrm>
          <a:prstGeom prst="rect">
            <a:avLst/>
          </a:prstGeom>
        </p:spPr>
      </p:pic>
      <p:sp>
        <p:nvSpPr>
          <p:cNvPr id="2" name="Oval 1">
            <a:extLst>
              <a:ext uri="{FF2B5EF4-FFF2-40B4-BE49-F238E27FC236}">
                <a16:creationId xmlns:a16="http://schemas.microsoft.com/office/drawing/2014/main" id="{0E7FAB82-AD50-6FE3-7CDF-48A66E7809F5}"/>
              </a:ext>
            </a:extLst>
          </p:cNvPr>
          <p:cNvSpPr/>
          <p:nvPr/>
        </p:nvSpPr>
        <p:spPr>
          <a:xfrm>
            <a:off x="8700117" y="1465666"/>
            <a:ext cx="490075" cy="339152"/>
          </a:xfrm>
          <a:prstGeom prst="ellipse">
            <a:avLst/>
          </a:prstGeom>
          <a:solidFill>
            <a:srgbClr val="FFA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 name="Oval 2">
            <a:extLst>
              <a:ext uri="{FF2B5EF4-FFF2-40B4-BE49-F238E27FC236}">
                <a16:creationId xmlns:a16="http://schemas.microsoft.com/office/drawing/2014/main" id="{71E2C969-3039-8A43-84ED-14C3ABF44D43}"/>
              </a:ext>
            </a:extLst>
          </p:cNvPr>
          <p:cNvSpPr/>
          <p:nvPr/>
        </p:nvSpPr>
        <p:spPr>
          <a:xfrm>
            <a:off x="6615781" y="1465699"/>
            <a:ext cx="490075" cy="339152"/>
          </a:xfrm>
          <a:prstGeom prst="ellipse">
            <a:avLst/>
          </a:prstGeom>
          <a:solidFill>
            <a:srgbClr val="71B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 name="Oval 6">
            <a:extLst>
              <a:ext uri="{FF2B5EF4-FFF2-40B4-BE49-F238E27FC236}">
                <a16:creationId xmlns:a16="http://schemas.microsoft.com/office/drawing/2014/main" id="{6C200304-F471-462F-C61C-2C6A6E4DF94D}"/>
              </a:ext>
            </a:extLst>
          </p:cNvPr>
          <p:cNvSpPr/>
          <p:nvPr/>
        </p:nvSpPr>
        <p:spPr>
          <a:xfrm>
            <a:off x="4783851" y="1457353"/>
            <a:ext cx="490075" cy="339152"/>
          </a:xfrm>
          <a:prstGeom prst="ellipse">
            <a:avLst/>
          </a:prstGeom>
          <a:solidFill>
            <a:srgbClr val="649E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a:extLst>
              <a:ext uri="{FF2B5EF4-FFF2-40B4-BE49-F238E27FC236}">
                <a16:creationId xmlns:a16="http://schemas.microsoft.com/office/drawing/2014/main" id="{852B82BC-BA73-BD0C-F0DC-9E03FE4F51D2}"/>
              </a:ext>
            </a:extLst>
          </p:cNvPr>
          <p:cNvSpPr/>
          <p:nvPr/>
        </p:nvSpPr>
        <p:spPr>
          <a:xfrm>
            <a:off x="2914258" y="1464904"/>
            <a:ext cx="490075" cy="339152"/>
          </a:xfrm>
          <a:prstGeom prst="ellipse">
            <a:avLst/>
          </a:prstGeom>
          <a:solidFill>
            <a:srgbClr val="5576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 name="Oval 10">
            <a:extLst>
              <a:ext uri="{FF2B5EF4-FFF2-40B4-BE49-F238E27FC236}">
                <a16:creationId xmlns:a16="http://schemas.microsoft.com/office/drawing/2014/main" id="{33DD2C54-CD19-4DFF-8290-AB99C49805B0}"/>
              </a:ext>
            </a:extLst>
          </p:cNvPr>
          <p:cNvSpPr/>
          <p:nvPr/>
        </p:nvSpPr>
        <p:spPr>
          <a:xfrm>
            <a:off x="1033630" y="1465360"/>
            <a:ext cx="490075" cy="339152"/>
          </a:xfrm>
          <a:prstGeom prst="ellipse">
            <a:avLst/>
          </a:prstGeom>
          <a:solidFill>
            <a:srgbClr val="405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21" name="Picture 20" descr="A graph with lines and numbers&#10;&#10;AI-generated content may be incorrect.">
            <a:extLst>
              <a:ext uri="{FF2B5EF4-FFF2-40B4-BE49-F238E27FC236}">
                <a16:creationId xmlns:a16="http://schemas.microsoft.com/office/drawing/2014/main" id="{7A641495-0783-0ED2-2975-01E3CC9BB4AA}"/>
              </a:ext>
            </a:extLst>
          </p:cNvPr>
          <p:cNvPicPr>
            <a:picLocks noChangeAspect="1"/>
          </p:cNvPicPr>
          <p:nvPr/>
        </p:nvPicPr>
        <p:blipFill>
          <a:blip r:embed="rId13">
            <a:alphaModFix amt="50000"/>
            <a:extLst>
              <a:ext uri="{28A0092B-C50C-407E-A947-70E740481C1C}">
                <a14:useLocalDpi xmlns:a14="http://schemas.microsoft.com/office/drawing/2010/main" val="0"/>
              </a:ext>
            </a:extLst>
          </a:blip>
          <a:stretch>
            <a:fillRect/>
          </a:stretch>
        </p:blipFill>
        <p:spPr>
          <a:xfrm>
            <a:off x="8229889" y="3323214"/>
            <a:ext cx="1535155" cy="823879"/>
          </a:xfrm>
          <a:prstGeom prst="rect">
            <a:avLst/>
          </a:prstGeom>
          <a:effectLst>
            <a:softEdge rad="63500"/>
          </a:effectLst>
        </p:spPr>
      </p:pic>
    </p:spTree>
    <p:extLst>
      <p:ext uri="{BB962C8B-B14F-4D97-AF65-F5344CB8AC3E}">
        <p14:creationId xmlns:p14="http://schemas.microsoft.com/office/powerpoint/2010/main" val="110399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9897766"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Lasso, Random Forest, </a:t>
            </a:r>
            <a:r>
              <a:rPr lang="en-US" dirty="0" err="1"/>
              <a:t>HistGradientBoosting</a:t>
            </a:r>
            <a:r>
              <a:rPr lang="en-US" dirty="0"/>
              <a:t>, and Extra Trees </a:t>
            </a:r>
          </a:p>
          <a:p>
            <a:pPr marL="742950" lvl="1" indent="-285750">
              <a:buFont typeface="Arial" panose="020B0604020202020204" pitchFamily="34" charset="0"/>
              <a:buChar char="•"/>
            </a:pPr>
            <a:r>
              <a:rPr lang="en-US" dirty="0"/>
              <a:t>Selected Lasso as the final model based on the strongest out-of-sample performance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endParaRPr lang="en-US" b="1" dirty="0"/>
          </a:p>
          <a:p>
            <a:endParaRPr lang="en-US" b="1" dirty="0"/>
          </a:p>
          <a:p>
            <a:endParaRPr lang="en-US" b="1" dirty="0"/>
          </a:p>
          <a:p>
            <a:endParaRPr lang="en-US" b="1" dirty="0"/>
          </a:p>
          <a:p>
            <a:endParaRPr lang="en-US" b="1" dirty="0"/>
          </a:p>
          <a:p>
            <a:pPr marL="285750" indent="-285750">
              <a:buFont typeface="Arial" panose="020B0604020202020204" pitchFamily="34" charset="0"/>
              <a:buChar char="•"/>
            </a:pPr>
            <a:r>
              <a:rPr lang="en-US" b="1" dirty="0"/>
              <a:t>Selected: </a:t>
            </a:r>
            <a:r>
              <a:rPr lang="en-US" dirty="0"/>
              <a:t>Lasso</a:t>
            </a:r>
          </a:p>
          <a:p>
            <a:pPr marL="285750" indent="-285750">
              <a:buFont typeface="Arial" panose="020B0604020202020204" pitchFamily="34" charset="0"/>
              <a:buChar char="•"/>
            </a:pPr>
            <a:r>
              <a:rPr lang="en-US" b="1" dirty="0"/>
              <a:t>Key Result:  </a:t>
            </a:r>
            <a:r>
              <a:rPr lang="en-US" dirty="0"/>
              <a:t>Test R² ≈ </a:t>
            </a:r>
            <a:r>
              <a:rPr lang="en-US" b="1" dirty="0"/>
              <a:t>0.91</a:t>
            </a:r>
            <a:endParaRPr lang="en-US" dirty="0"/>
          </a:p>
        </p:txBody>
      </p:sp>
      <p:pic>
        <p:nvPicPr>
          <p:cNvPr id="6" name="Picture 5">
            <a:extLst>
              <a:ext uri="{FF2B5EF4-FFF2-40B4-BE49-F238E27FC236}">
                <a16:creationId xmlns:a16="http://schemas.microsoft.com/office/drawing/2014/main" id="{2F138C60-C22C-D590-D67D-5C4FCD08C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22" y="2722105"/>
            <a:ext cx="6878993" cy="2670770"/>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C861-E33F-C09B-EB02-1B9C8104DF5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E3B622-C2B6-15C0-6840-4EA0170A6E8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75EDC21E-BFC6-1CCE-93E2-8AB394250B5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Chronological 80/20 Split</a:t>
            </a:r>
          </a:p>
        </p:txBody>
      </p:sp>
      <p:pic>
        <p:nvPicPr>
          <p:cNvPr id="3" name="Picture 2">
            <a:extLst>
              <a:ext uri="{FF2B5EF4-FFF2-40B4-BE49-F238E27FC236}">
                <a16:creationId xmlns:a16="http://schemas.microsoft.com/office/drawing/2014/main" id="{75392B15-D454-FF9B-9377-3BDDDE70F33B}"/>
              </a:ext>
            </a:extLst>
          </p:cNvPr>
          <p:cNvPicPr>
            <a:picLocks noChangeAspect="1"/>
          </p:cNvPicPr>
          <p:nvPr/>
        </p:nvPicPr>
        <p:blipFill>
          <a:blip r:embed="rId3"/>
          <a:stretch>
            <a:fillRect/>
          </a:stretch>
        </p:blipFill>
        <p:spPr>
          <a:xfrm>
            <a:off x="0" y="1246298"/>
            <a:ext cx="8788400" cy="4469314"/>
          </a:xfrm>
          <a:prstGeom prst="rect">
            <a:avLst/>
          </a:prstGeom>
        </p:spPr>
      </p:pic>
      <p:sp>
        <p:nvSpPr>
          <p:cNvPr id="8" name="TextBox 7">
            <a:extLst>
              <a:ext uri="{FF2B5EF4-FFF2-40B4-BE49-F238E27FC236}">
                <a16:creationId xmlns:a16="http://schemas.microsoft.com/office/drawing/2014/main" id="{7DC07DDB-1C42-8E82-B79B-75567BBEA860}"/>
              </a:ext>
            </a:extLst>
          </p:cNvPr>
          <p:cNvSpPr txBox="1"/>
          <p:nvPr/>
        </p:nvSpPr>
        <p:spPr>
          <a:xfrm>
            <a:off x="0" y="5933249"/>
            <a:ext cx="12192000" cy="369332"/>
          </a:xfrm>
          <a:prstGeom prst="rect">
            <a:avLst/>
          </a:prstGeom>
          <a:noFill/>
        </p:spPr>
        <p:txBody>
          <a:bodyPr wrap="square">
            <a:spAutoFit/>
          </a:bodyPr>
          <a:lstStyle/>
          <a:p>
            <a:r>
              <a:rPr lang="en-US" b="1" dirty="0"/>
              <a:t>Key takeaway: </a:t>
            </a:r>
            <a:r>
              <a:rPr lang="en-US" dirty="0"/>
              <a:t>The model is trained only on past data and evaluated on future years, ensuring a realistic forecasting setup</a:t>
            </a:r>
          </a:p>
        </p:txBody>
      </p:sp>
    </p:spTree>
    <p:extLst>
      <p:ext uri="{BB962C8B-B14F-4D97-AF65-F5344CB8AC3E}">
        <p14:creationId xmlns:p14="http://schemas.microsoft.com/office/powerpoint/2010/main" val="2143126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342900" indent="-342900">
              <a:buFont typeface="Arial" panose="020B0604020202020204" pitchFamily="34" charset="0"/>
              <a:buChar char="•"/>
            </a:pPr>
            <a:r>
              <a:rPr lang="en-US" sz="1600" dirty="0"/>
              <a:t>Hurricanes (wind exposure) have the strongest impact at lag 1 </a:t>
            </a:r>
          </a:p>
          <a:p>
            <a:pPr marL="342900" indent="-342900">
              <a:buFont typeface="Arial" panose="020B0604020202020204" pitchFamily="34" charset="0"/>
              <a:buChar char="•"/>
            </a:pPr>
            <a:r>
              <a:rPr lang="en-US" sz="1600" dirty="0"/>
              <a:t>Earthquake effects are both immediate and short-term persistent </a:t>
            </a:r>
          </a:p>
          <a:p>
            <a:pPr marL="342900" indent="-342900">
              <a:buFont typeface="Arial" panose="020B0604020202020204" pitchFamily="34" charset="0"/>
              <a:buChar char="•"/>
            </a:pPr>
            <a:r>
              <a:rPr lang="en-US" sz="1600" dirty="0"/>
              <a:t>Vulnerability (SVI) influences population change consistently over time </a:t>
            </a:r>
          </a:p>
          <a:p>
            <a:pPr marL="342900" indent="-342900">
              <a:buFont typeface="Arial" panose="020B0604020202020204" pitchFamily="34" charset="0"/>
              <a:buChar char="•"/>
            </a:pPr>
            <a:r>
              <a:rPr lang="en-US" sz="1600" dirty="0"/>
              <a:t>Economic variables contribute modest but stable effects </a:t>
            </a:r>
          </a:p>
          <a:p>
            <a:br>
              <a:rPr lang="en-US" sz="1600" dirty="0"/>
            </a:br>
            <a:endParaRPr lang="en-US" sz="1600" dirty="0"/>
          </a:p>
          <a:p>
            <a:endParaRPr lang="en-US" sz="1600" dirty="0"/>
          </a:p>
          <a:p>
            <a:r>
              <a:rPr lang="en-US" sz="1600" b="1" dirty="0"/>
              <a:t>Interpretation:</a:t>
            </a:r>
          </a:p>
          <a:p>
            <a:pPr marL="342900" indent="-342900">
              <a:buFont typeface="Arial" panose="020B0604020202020204" pitchFamily="34" charset="0"/>
              <a:buChar char="•"/>
            </a:pPr>
            <a:r>
              <a:rPr lang="en-US" sz="1600" dirty="0"/>
              <a:t>Population responses to disasters are delayed, not immediate </a:t>
            </a:r>
          </a:p>
          <a:p>
            <a:pPr marL="342900" indent="-342900">
              <a:buFont typeface="Arial" panose="020B0604020202020204" pitchFamily="34" charset="0"/>
              <a:buChar char="•"/>
            </a:pPr>
            <a:r>
              <a:rPr lang="en-US" sz="1600" dirty="0"/>
              <a:t>Migration and recovery processes likely drive lagged effects </a:t>
            </a:r>
          </a:p>
          <a:p>
            <a:pPr marL="342900" indent="-342900">
              <a:buFont typeface="Arial" panose="020B0604020202020204" pitchFamily="34" charset="0"/>
              <a:buChar char="•"/>
            </a:pPr>
            <a:r>
              <a:rPr lang="en-US" sz="1600" dirty="0"/>
              <a:t>Structural factors shape baseline vulnerability across time </a:t>
            </a:r>
          </a:p>
          <a:p>
            <a:br>
              <a:rPr lang="en-US" sz="1600" dirty="0"/>
            </a:br>
            <a:endParaRPr lang="en-US" sz="1600" dirty="0"/>
          </a:p>
          <a:p>
            <a:endParaRPr lang="en-US" sz="1600" dirty="0"/>
          </a:p>
          <a:p>
            <a:r>
              <a:rPr lang="en-US" sz="1600" b="1" dirty="0"/>
              <a:t>Key Insight: </a:t>
            </a:r>
            <a:r>
              <a:rPr lang="en-US" sz="1600" dirty="0"/>
              <a:t>Timing matters — not just magnitude</a:t>
            </a:r>
            <a:br>
              <a:rPr lang="en-US" sz="1600" dirty="0"/>
            </a:br>
            <a:r>
              <a:rPr lang="en-US" sz="1600" dirty="0"/>
              <a:t>Population change is driven by </a:t>
            </a:r>
            <a:r>
              <a:rPr lang="en-US" sz="1600" b="1" dirty="0"/>
              <a:t>delayed responses to shocks and persistent structural conditions</a:t>
            </a:r>
            <a:endParaRPr lang="en-US" sz="1600"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4004191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4801314"/>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 </a:t>
            </a:r>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Persistent population momentum (path dependence)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Time trends reflecting broader structural shifts</a:t>
            </a:r>
          </a:p>
          <a:p>
            <a:pPr marL="742950" lvl="1" indent="-285750">
              <a:buFont typeface="Arial" panose="020B0604020202020204" pitchFamily="34" charset="0"/>
              <a:buChar char="•"/>
            </a:pPr>
            <a:r>
              <a:rPr lang="en-US" dirty="0"/>
              <a:t>Economic and demographic context</a:t>
            </a:r>
          </a:p>
          <a:p>
            <a:pPr marL="742950" lvl="1" indent="-285750">
              <a:buFont typeface="Arial" panose="020B0604020202020204" pitchFamily="34" charset="0"/>
              <a:buChar char="•"/>
            </a:pPr>
            <a:r>
              <a:rPr lang="en-US" dirty="0"/>
              <a:t>Regional differences (secondary role)</a:t>
            </a:r>
            <a:br>
              <a:rPr lang="en-US" dirty="0"/>
            </a:br>
            <a:endParaRPr lang="en-US" dirty="0"/>
          </a:p>
          <a:p>
            <a:r>
              <a:rPr lang="en-US" b="1" dirty="0"/>
              <a:t>Key Takeaway: </a:t>
            </a:r>
            <a:r>
              <a:rPr lang="en-US" dirty="0"/>
              <a:t>Population change reflects strong persistence and path dependence, while shocks influence outcomes primarily through cumulative long-term effects.</a:t>
            </a:r>
          </a:p>
        </p:txBody>
      </p:sp>
    </p:spTree>
    <p:extLst>
      <p:ext uri="{BB962C8B-B14F-4D97-AF65-F5344CB8AC3E}">
        <p14:creationId xmlns:p14="http://schemas.microsoft.com/office/powerpoint/2010/main" val="205064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5016758"/>
          </a:xfrm>
          <a:prstGeom prst="rect">
            <a:avLst/>
          </a:prstGeom>
          <a:noFill/>
        </p:spPr>
        <p:txBody>
          <a:bodyPr wrap="square">
            <a:spAutoFit/>
          </a:bodyPr>
          <a:lstStyle/>
          <a:p>
            <a:r>
              <a:rPr lang="en-US" sz="2000" b="1" dirty="0"/>
              <a:t>What emerges</a:t>
            </a:r>
          </a:p>
          <a:p>
            <a:pPr marL="342900" indent="-342900">
              <a:buFont typeface="Arial" panose="020B0604020202020204" pitchFamily="34" charset="0"/>
              <a:buChar char="•"/>
            </a:pPr>
            <a:r>
              <a:rPr lang="en-US" sz="2000" dirty="0"/>
              <a:t>Distinct municipal typologies across Puerto Rico </a:t>
            </a:r>
          </a:p>
          <a:p>
            <a:pPr marL="342900" indent="-342900">
              <a:buFont typeface="Arial" panose="020B0604020202020204" pitchFamily="34" charset="0"/>
              <a:buChar char="•"/>
            </a:pPr>
            <a:r>
              <a:rPr lang="en-US" sz="2000" dirty="0"/>
              <a:t>Clear and persistent regional clustering </a:t>
            </a:r>
          </a:p>
          <a:p>
            <a:pPr marL="342900" indent="-342900">
              <a:buFont typeface="Arial" panose="020B0604020202020204" pitchFamily="34" charset="0"/>
              <a:buChar char="•"/>
            </a:pPr>
            <a:r>
              <a:rPr lang="en-US" sz="2000" dirty="0"/>
              <a:t>Strong spatial organization of population dynamics</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exhibit consistent trajectories </a:t>
            </a:r>
          </a:p>
          <a:p>
            <a:pPr marL="285750" indent="-285750">
              <a:buFont typeface="Arial" panose="020B0604020202020204" pitchFamily="34" charset="0"/>
              <a:buChar char="•"/>
            </a:pPr>
            <a:r>
              <a:rPr lang="en-US" sz="2000" dirty="0"/>
              <a:t>Geographic proximity aligns with structural similarity </a:t>
            </a:r>
          </a:p>
          <a:p>
            <a:pPr marL="285750" indent="-285750">
              <a:buFont typeface="Arial" panose="020B0604020202020204" pitchFamily="34" charset="0"/>
              <a:buChar char="•"/>
            </a:pPr>
            <a:r>
              <a:rPr lang="en-US" sz="2000" dirty="0"/>
              <a:t>Results persist across modeling approaches and specifications</a:t>
            </a:r>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change is structurally and spatially organized, not random </a:t>
            </a:r>
          </a:p>
          <a:p>
            <a:pPr marL="285750" indent="-285750">
              <a:buFont typeface="Arial" panose="020B0604020202020204" pitchFamily="34" charset="0"/>
              <a:buChar char="•"/>
            </a:pPr>
            <a:r>
              <a:rPr lang="en-US" sz="2000" dirty="0"/>
              <a:t>Decline is concentrated in specific regions, not evenly distributed </a:t>
            </a:r>
          </a:p>
          <a:p>
            <a:pPr marL="285750" indent="-285750">
              <a:buFont typeface="Arial" panose="020B0604020202020204" pitchFamily="34" charset="0"/>
              <a:buChar char="•"/>
            </a:pPr>
            <a:r>
              <a:rPr lang="en-US" sz="2000" dirty="0"/>
              <a:t>Economic conditions and vulnerability align geographically </a:t>
            </a:r>
          </a:p>
          <a:p>
            <a:pPr marL="285750" indent="-285750">
              <a:buFont typeface="Arial" panose="020B0604020202020204" pitchFamily="34" charset="0"/>
              <a:buChar char="•"/>
            </a:pPr>
            <a:r>
              <a:rPr lang="en-US" sz="2000" dirty="0"/>
              <a:t>Spatial structure reflects long-term underlying conditions, not short-term shocks</a:t>
            </a:r>
          </a:p>
        </p:txBody>
      </p:sp>
    </p:spTree>
    <p:extLst>
      <p:ext uri="{BB962C8B-B14F-4D97-AF65-F5344CB8AC3E}">
        <p14:creationId xmlns:p14="http://schemas.microsoft.com/office/powerpoint/2010/main" val="62841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4" y="1368962"/>
            <a:ext cx="7408330" cy="4524315"/>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persistent population decline (~0.6% per year) </a:t>
            </a:r>
            <a:br>
              <a:rPr lang="en-US" dirty="0"/>
            </a:br>
            <a:r>
              <a:rPr lang="en-US" dirty="0"/>
              <a:t>≈ ~20,000 people lost annually </a:t>
            </a:r>
          </a:p>
          <a:p>
            <a:endParaRPr lang="en-US" dirty="0"/>
          </a:p>
          <a:p>
            <a:pPr marL="285750" indent="-285750">
              <a:buFont typeface="Arial" panose="020B0604020202020204" pitchFamily="34" charset="0"/>
              <a:buChar char="•"/>
            </a:pPr>
            <a:r>
              <a:rPr lang="en-US" dirty="0"/>
              <a:t>Decline is not uniform across the island </a:t>
            </a:r>
          </a:p>
          <a:p>
            <a:pPr marL="285750" indent="-285750">
              <a:buFont typeface="Arial" panose="020B0604020202020204" pitchFamily="34" charset="0"/>
              <a:buChar char="•"/>
            </a:pPr>
            <a:r>
              <a:rPr lang="en-US" dirty="0"/>
              <a:t>Largest losses in South and West regions </a:t>
            </a:r>
          </a:p>
          <a:p>
            <a:pPr marL="285750" indent="-285750">
              <a:buFont typeface="Arial" panose="020B0604020202020204" pitchFamily="34" charset="0"/>
              <a:buChar char="•"/>
            </a:pPr>
            <a:r>
              <a:rPr lang="en-US" dirty="0"/>
              <a:t>Regional differences remain stable over time</a:t>
            </a:r>
            <a:br>
              <a:rPr lang="en-US" dirty="0"/>
            </a:br>
            <a:endParaRPr lang="en-US" dirty="0"/>
          </a:p>
          <a:p>
            <a:r>
              <a:rPr lang="en-US" b="1" dirty="0"/>
              <a:t>Model Insight</a:t>
            </a:r>
          </a:p>
          <a:p>
            <a:pPr marL="285750" indent="-285750">
              <a:buFont typeface="Arial" panose="020B0604020202020204" pitchFamily="34" charset="0"/>
              <a:buChar char="•"/>
            </a:pPr>
            <a:r>
              <a:rPr lang="en-US" dirty="0"/>
              <a:t>Population decline is systematic and predictable </a:t>
            </a:r>
          </a:p>
          <a:p>
            <a:pPr marL="285750" indent="-285750">
              <a:buFont typeface="Arial" panose="020B0604020202020204" pitchFamily="34" charset="0"/>
              <a:buChar char="•"/>
            </a:pPr>
            <a:r>
              <a:rPr lang="en-US" dirty="0"/>
              <a:t>Regional location strongly influences outcomes </a:t>
            </a:r>
          </a:p>
          <a:p>
            <a:pPr marL="285750" indent="-285750">
              <a:buFont typeface="Arial" panose="020B0604020202020204" pitchFamily="34" charset="0"/>
              <a:buChar char="•"/>
            </a:pPr>
            <a:r>
              <a:rPr lang="en-US" dirty="0"/>
              <a:t>Decline is spatially concentrated, not random</a:t>
            </a:r>
            <a:br>
              <a:rPr lang="en-US" dirty="0"/>
            </a:br>
            <a:endParaRPr lang="en-US" dirty="0"/>
          </a:p>
          <a:p>
            <a:r>
              <a:rPr lang="en-US" b="1" dirty="0"/>
              <a:t>Key Insight: </a:t>
            </a:r>
            <a:r>
              <a:rPr lang="en-US" dirty="0"/>
              <a:t>Population decline in Puerto Rico is spatially structured and persistent, with long-term regional patterns driving outcomes more than short-term fluctuations</a:t>
            </a:r>
          </a:p>
        </p:txBody>
      </p:sp>
      <p:sp>
        <p:nvSpPr>
          <p:cNvPr id="2" name="Rectangle 1">
            <a:extLst>
              <a:ext uri="{FF2B5EF4-FFF2-40B4-BE49-F238E27FC236}">
                <a16:creationId xmlns:a16="http://schemas.microsoft.com/office/drawing/2014/main" id="{AB0A0A53-C08A-8CF6-2CA4-43ACDEE0AD90}"/>
              </a:ext>
            </a:extLst>
          </p:cNvPr>
          <p:cNvSpPr/>
          <p:nvPr/>
        </p:nvSpPr>
        <p:spPr>
          <a:xfrm flipH="1">
            <a:off x="9996298" y="3741650"/>
            <a:ext cx="60325"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257CEC4-6F2C-8ECC-12C3-45B2C85C508B}"/>
              </a:ext>
            </a:extLst>
          </p:cNvPr>
          <p:cNvSpPr/>
          <p:nvPr/>
        </p:nvSpPr>
        <p:spPr>
          <a:xfrm flipH="1">
            <a:off x="100680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D25DF4-5DF8-F96E-0138-F8EA589E13D1}"/>
              </a:ext>
            </a:extLst>
          </p:cNvPr>
          <p:cNvSpPr/>
          <p:nvPr/>
        </p:nvSpPr>
        <p:spPr>
          <a:xfrm flipH="1">
            <a:off x="10166478" y="3741650"/>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B7663-3D63-68BB-2952-42010C173F4C}"/>
              </a:ext>
            </a:extLst>
          </p:cNvPr>
          <p:cNvSpPr/>
          <p:nvPr/>
        </p:nvSpPr>
        <p:spPr>
          <a:xfrm flipH="1">
            <a:off x="100934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graph of earthquake and earthquake&#10;&#10;AI-generated content may be incorrect.">
            <a:extLst>
              <a:ext uri="{FF2B5EF4-FFF2-40B4-BE49-F238E27FC236}">
                <a16:creationId xmlns:a16="http://schemas.microsoft.com/office/drawing/2014/main" id="{E832074F-0E6B-0735-113E-B5184D60C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6570" y="1179741"/>
            <a:ext cx="3619456" cy="5142868"/>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E450-7451-3561-C82E-B27D143454FF}"/>
            </a:ext>
          </a:extLst>
        </p:cNvPr>
        <p:cNvGrpSpPr/>
        <p:nvPr/>
      </p:nvGrpSpPr>
      <p:grpSpPr>
        <a:xfrm>
          <a:off x="0" y="0"/>
          <a:ext cx="0" cy="0"/>
          <a:chOff x="0" y="0"/>
          <a:chExt cx="0" cy="0"/>
        </a:xfrm>
      </p:grpSpPr>
      <p:pic>
        <p:nvPicPr>
          <p:cNvPr id="6" name="Picture 5" descr="A map of different colored areas&#10;&#10;AI-generated content may be incorrect.">
            <a:extLst>
              <a:ext uri="{FF2B5EF4-FFF2-40B4-BE49-F238E27FC236}">
                <a16:creationId xmlns:a16="http://schemas.microsoft.com/office/drawing/2014/main" id="{D1D0EC73-A520-E2D4-4E56-FEC5EAFCB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53" y="4179625"/>
            <a:ext cx="4530034" cy="2150372"/>
          </a:xfrm>
          <a:prstGeom prst="rect">
            <a:avLst/>
          </a:prstGeom>
        </p:spPr>
      </p:pic>
      <p:pic>
        <p:nvPicPr>
          <p:cNvPr id="10" name="Picture 9" descr="A map of different colored areas&#10;&#10;AI-generated content may be incorrect.">
            <a:extLst>
              <a:ext uri="{FF2B5EF4-FFF2-40B4-BE49-F238E27FC236}">
                <a16:creationId xmlns:a16="http://schemas.microsoft.com/office/drawing/2014/main" id="{4984584E-D9F5-BB6F-B072-249C1077F9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1487" y="4179625"/>
            <a:ext cx="4492854" cy="2147233"/>
          </a:xfrm>
          <a:prstGeom prst="rect">
            <a:avLst/>
          </a:prstGeom>
        </p:spPr>
      </p:pic>
      <p:pic>
        <p:nvPicPr>
          <p:cNvPr id="13" name="Picture 12" descr="A map of different colored states&#10;&#10;AI-generated content may be incorrect.">
            <a:extLst>
              <a:ext uri="{FF2B5EF4-FFF2-40B4-BE49-F238E27FC236}">
                <a16:creationId xmlns:a16="http://schemas.microsoft.com/office/drawing/2014/main" id="{289B6E45-AFB1-5D39-45BE-04F30976DD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844" y="1368962"/>
            <a:ext cx="4492854" cy="2150372"/>
          </a:xfrm>
          <a:prstGeom prst="rect">
            <a:avLst/>
          </a:prstGeom>
        </p:spPr>
      </p:pic>
      <p:pic>
        <p:nvPicPr>
          <p:cNvPr id="15" name="Picture 14" descr="A map of different colored areas&#10;&#10;AI-generated content may be incorrect.">
            <a:extLst>
              <a:ext uri="{FF2B5EF4-FFF2-40B4-BE49-F238E27FC236}">
                <a16:creationId xmlns:a16="http://schemas.microsoft.com/office/drawing/2014/main" id="{6F8F3549-F043-02CF-3966-FD9417B81C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1487" y="1368962"/>
            <a:ext cx="4530038" cy="2150372"/>
          </a:xfrm>
          <a:prstGeom prst="rect">
            <a:avLst/>
          </a:prstGeom>
        </p:spPr>
      </p:pic>
      <p:sp>
        <p:nvSpPr>
          <p:cNvPr id="4" name="Rectangle 3">
            <a:extLst>
              <a:ext uri="{FF2B5EF4-FFF2-40B4-BE49-F238E27FC236}">
                <a16:creationId xmlns:a16="http://schemas.microsoft.com/office/drawing/2014/main" id="{B97622A4-D8B9-5C1F-0940-F076655EC8F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D1CA394-DA1A-2FB8-2000-66836352100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Tree>
    <p:extLst>
      <p:ext uri="{BB962C8B-B14F-4D97-AF65-F5344CB8AC3E}">
        <p14:creationId xmlns:p14="http://schemas.microsoft.com/office/powerpoint/2010/main" val="204583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F3E640DB-B139-20C3-110C-47BE0BCE1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1" y="1725108"/>
            <a:ext cx="7772400" cy="4231640"/>
          </a:xfrm>
          <a:prstGeom prst="rect">
            <a:avLst/>
          </a:prstGeom>
        </p:spPr>
      </p:pic>
    </p:spTree>
    <p:extLst>
      <p:ext uri="{BB962C8B-B14F-4D97-AF65-F5344CB8AC3E}">
        <p14:creationId xmlns:p14="http://schemas.microsoft.com/office/powerpoint/2010/main" val="2328801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82016559-3C92-77D3-1BD1-9AC6D2981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8962"/>
            <a:ext cx="8708661" cy="4741382"/>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9974-DA9B-1BDB-4213-6CFAC82AA8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2FF56E-E59A-FD79-029D-F15A477A02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9B74BF2-2043-D925-13F0-D6B86598330F}"/>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Policy Response &amp; Retention Strategies </a:t>
            </a:r>
            <a:endParaRPr lang="en-US" sz="2400" dirty="0">
              <a:solidFill>
                <a:schemeClr val="bg1"/>
              </a:solidFill>
            </a:endParaRPr>
          </a:p>
        </p:txBody>
      </p:sp>
      <p:sp>
        <p:nvSpPr>
          <p:cNvPr id="12" name="TextBox 11">
            <a:extLst>
              <a:ext uri="{FF2B5EF4-FFF2-40B4-BE49-F238E27FC236}">
                <a16:creationId xmlns:a16="http://schemas.microsoft.com/office/drawing/2014/main" id="{B47823D1-EA69-E409-B8BD-E52E1C7E7F94}"/>
              </a:ext>
            </a:extLst>
          </p:cNvPr>
          <p:cNvSpPr txBox="1"/>
          <p:nvPr/>
        </p:nvSpPr>
        <p:spPr>
          <a:xfrm>
            <a:off x="248855" y="1368962"/>
            <a:ext cx="10608197" cy="4861587"/>
          </a:xfrm>
          <a:prstGeom prst="rect">
            <a:avLst/>
          </a:prstGeom>
          <a:noFill/>
        </p:spPr>
        <p:txBody>
          <a:bodyPr wrap="square">
            <a:spAutoFit/>
          </a:bodyPr>
          <a:lstStyle/>
          <a:p>
            <a:pPr>
              <a:lnSpc>
                <a:spcPts val="1350"/>
              </a:lnSpc>
              <a:buNone/>
            </a:pPr>
            <a:r>
              <a:rPr lang="en-US" b="1" dirty="0">
                <a:effectLst/>
              </a:rPr>
              <a:t>Key idea: </a:t>
            </a:r>
            <a:r>
              <a:rPr lang="en-US" dirty="0">
                <a:effectLst/>
              </a:rPr>
              <a:t>Natural disasters themselves are not preventable, but governments can still influence whether people </a:t>
            </a:r>
            <a:r>
              <a:rPr lang="en-US" dirty="0"/>
              <a:t> </a:t>
            </a:r>
            <a:r>
              <a:rPr lang="en-US" dirty="0">
                <a:effectLst/>
              </a:rPr>
              <a:t>stay, return, or leave by changing conditions such as:</a:t>
            </a:r>
          </a:p>
          <a:p>
            <a:pPr>
              <a:lnSpc>
                <a:spcPts val="1350"/>
              </a:lnSpc>
              <a:buNone/>
            </a:pPr>
            <a:br>
              <a:rPr lang="en-US" dirty="0">
                <a:effectLst/>
              </a:rPr>
            </a:br>
            <a:endParaRPr lang="en-US" dirty="0">
              <a:effectLst/>
            </a:endParaRPr>
          </a:p>
          <a:p>
            <a:pPr marL="285750" indent="-285750">
              <a:lnSpc>
                <a:spcPts val="1350"/>
              </a:lnSpc>
              <a:buFont typeface="Arial" panose="020B0604020202020204" pitchFamily="34" charset="0"/>
              <a:buChar char="•"/>
            </a:pPr>
            <a:r>
              <a:rPr lang="en-US" dirty="0">
                <a:effectLst/>
              </a:rPr>
              <a:t>economic opportunity</a:t>
            </a:r>
          </a:p>
          <a:p>
            <a:pPr marL="285750" indent="-285750">
              <a:lnSpc>
                <a:spcPts val="1350"/>
              </a:lnSpc>
              <a:buFont typeface="Arial" panose="020B0604020202020204" pitchFamily="34" charset="0"/>
              <a:buChar char="•"/>
            </a:pPr>
            <a:r>
              <a:rPr lang="en-US" dirty="0">
                <a:effectLst/>
              </a:rPr>
              <a:t>business activity</a:t>
            </a:r>
          </a:p>
          <a:p>
            <a:pPr marL="285750" indent="-285750">
              <a:lnSpc>
                <a:spcPts val="1350"/>
              </a:lnSpc>
              <a:buFont typeface="Arial" panose="020B0604020202020204" pitchFamily="34" charset="0"/>
              <a:buChar char="•"/>
            </a:pPr>
            <a:r>
              <a:rPr lang="en-US" dirty="0">
                <a:effectLst/>
              </a:rPr>
              <a:t>public safety</a:t>
            </a:r>
          </a:p>
          <a:p>
            <a:pPr marL="285750" indent="-285750">
              <a:lnSpc>
                <a:spcPts val="1350"/>
              </a:lnSpc>
              <a:buFont typeface="Arial" panose="020B0604020202020204" pitchFamily="34" charset="0"/>
              <a:buChar char="•"/>
            </a:pPr>
            <a:r>
              <a:rPr lang="en-US" dirty="0">
                <a:effectLst/>
              </a:rPr>
              <a:t>social vulnerability</a:t>
            </a:r>
          </a:p>
          <a:p>
            <a:pPr marL="285750" indent="-285750">
              <a:lnSpc>
                <a:spcPts val="1350"/>
              </a:lnSpc>
              <a:buFont typeface="Arial" panose="020B0604020202020204" pitchFamily="34" charset="0"/>
              <a:buChar char="•"/>
            </a:pPr>
            <a:r>
              <a:rPr lang="en-US" dirty="0">
                <a:effectLst/>
              </a:rPr>
              <a:t>demographic and family-support conditions</a:t>
            </a:r>
          </a:p>
          <a:p>
            <a:pPr marL="285750" indent="-285750">
              <a:lnSpc>
                <a:spcPts val="1350"/>
              </a:lnSpc>
              <a:buFont typeface="Arial" panose="020B0604020202020204" pitchFamily="34" charset="0"/>
              <a:buChar char="•"/>
            </a:pPr>
            <a:endParaRPr lang="en-US" dirty="0"/>
          </a:p>
          <a:p>
            <a:r>
              <a:rPr lang="en-US" dirty="0"/>
              <a:t>These are the </a:t>
            </a:r>
            <a:r>
              <a:rPr lang="en-US" b="1" dirty="0"/>
              <a:t>actionable levers</a:t>
            </a:r>
            <a:r>
              <a:rPr lang="en-US" dirty="0"/>
              <a:t> used in our policy simulations:</a:t>
            </a:r>
          </a:p>
          <a:p>
            <a:pPr marL="285750" indent="-285750">
              <a:buFont typeface="Arial" panose="020B0604020202020204" pitchFamily="34" charset="0"/>
              <a:buChar char="•"/>
            </a:pPr>
            <a:r>
              <a:rPr lang="en-US" b="1" dirty="0"/>
              <a:t>Economic</a:t>
            </a:r>
            <a:r>
              <a:rPr lang="en-US" dirty="0"/>
              <a:t> </a:t>
            </a:r>
          </a:p>
          <a:p>
            <a:pPr lvl="1"/>
            <a:r>
              <a:rPr lang="en-US" dirty="0"/>
              <a:t>	</a:t>
            </a:r>
            <a:r>
              <a:rPr lang="en-US" dirty="0" err="1"/>
              <a:t>establishment_growth</a:t>
            </a:r>
            <a:r>
              <a:rPr lang="en-US" dirty="0"/>
              <a:t> </a:t>
            </a:r>
          </a:p>
          <a:p>
            <a:pPr lvl="1"/>
            <a:r>
              <a:rPr lang="en-US" dirty="0"/>
              <a:t>	</a:t>
            </a:r>
            <a:r>
              <a:rPr lang="en-US" dirty="0" err="1"/>
              <a:t>income_growth</a:t>
            </a:r>
            <a:r>
              <a:rPr lang="en-US" dirty="0"/>
              <a:t> </a:t>
            </a:r>
          </a:p>
          <a:p>
            <a:pPr marL="285750" indent="-285750">
              <a:buFont typeface="Arial" panose="020B0604020202020204" pitchFamily="34" charset="0"/>
              <a:buChar char="•"/>
            </a:pPr>
            <a:r>
              <a:rPr lang="en-US" b="1" dirty="0"/>
              <a:t>Public safety</a:t>
            </a:r>
            <a:r>
              <a:rPr lang="en-US" dirty="0"/>
              <a:t> </a:t>
            </a:r>
          </a:p>
          <a:p>
            <a:pPr lvl="1"/>
            <a:r>
              <a:rPr lang="en-US" dirty="0"/>
              <a:t>	</a:t>
            </a:r>
            <a:r>
              <a:rPr lang="en-US" dirty="0" err="1"/>
              <a:t>total_crime_rate</a:t>
            </a:r>
            <a:r>
              <a:rPr lang="en-US" dirty="0"/>
              <a:t> (lagged) </a:t>
            </a:r>
          </a:p>
          <a:p>
            <a:pPr marL="285750" indent="-285750">
              <a:buFont typeface="Arial" panose="020B0604020202020204" pitchFamily="34" charset="0"/>
              <a:buChar char="•"/>
            </a:pPr>
            <a:r>
              <a:rPr lang="en-US" b="1" dirty="0"/>
              <a:t>Demographic / structural</a:t>
            </a:r>
            <a:r>
              <a:rPr lang="en-US" dirty="0"/>
              <a:t> </a:t>
            </a:r>
          </a:p>
          <a:p>
            <a:pPr lvl="1"/>
            <a:r>
              <a:rPr lang="en-US" dirty="0"/>
              <a:t>	</a:t>
            </a:r>
            <a:r>
              <a:rPr lang="en-US" dirty="0" err="1"/>
              <a:t>natural_change_rate</a:t>
            </a:r>
            <a:r>
              <a:rPr lang="en-US" dirty="0"/>
              <a:t> (births – deaths) </a:t>
            </a:r>
          </a:p>
          <a:p>
            <a:pPr marL="285750" indent="-285750">
              <a:buFont typeface="Arial" panose="020B0604020202020204" pitchFamily="34" charset="0"/>
              <a:buChar char="•"/>
            </a:pPr>
            <a:r>
              <a:rPr lang="en-US" b="1" dirty="0"/>
              <a:t>Vulnerability / resilience</a:t>
            </a:r>
            <a:r>
              <a:rPr lang="en-US" dirty="0"/>
              <a:t> </a:t>
            </a:r>
          </a:p>
          <a:p>
            <a:pPr lvl="1"/>
            <a:r>
              <a:rPr lang="en-US" dirty="0"/>
              <a:t>	svi_pca_1 (social vulnerability index)</a:t>
            </a:r>
          </a:p>
          <a:p>
            <a:pPr>
              <a:lnSpc>
                <a:spcPts val="1350"/>
              </a:lnSpc>
            </a:pPr>
            <a:endParaRPr lang="en-US" dirty="0">
              <a:effectLst/>
            </a:endParaRPr>
          </a:p>
        </p:txBody>
      </p:sp>
    </p:spTree>
    <p:extLst>
      <p:ext uri="{BB962C8B-B14F-4D97-AF65-F5344CB8AC3E}">
        <p14:creationId xmlns:p14="http://schemas.microsoft.com/office/powerpoint/2010/main" val="4270778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36C6-5F15-29F6-17AC-9BD0838BE4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E08779-09CE-C644-CA15-0F182CB2ADA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F929E5D-31BD-8409-EB48-CF0FE1455ED2}"/>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1"/>
                </a:solidFill>
              </a:rPr>
              <a:t>Counterfactual Policy Packages</a:t>
            </a:r>
          </a:p>
        </p:txBody>
      </p:sp>
      <p:sp>
        <p:nvSpPr>
          <p:cNvPr id="12" name="TextBox 11">
            <a:extLst>
              <a:ext uri="{FF2B5EF4-FFF2-40B4-BE49-F238E27FC236}">
                <a16:creationId xmlns:a16="http://schemas.microsoft.com/office/drawing/2014/main" id="{62B49666-7F45-B191-2793-394E00C60369}"/>
              </a:ext>
            </a:extLst>
          </p:cNvPr>
          <p:cNvSpPr txBox="1"/>
          <p:nvPr/>
        </p:nvSpPr>
        <p:spPr>
          <a:xfrm>
            <a:off x="243069" y="1368962"/>
            <a:ext cx="10613984" cy="5005216"/>
          </a:xfrm>
          <a:prstGeom prst="rect">
            <a:avLst/>
          </a:prstGeom>
          <a:noFill/>
        </p:spPr>
        <p:txBody>
          <a:bodyPr wrap="square">
            <a:spAutoFit/>
          </a:bodyPr>
          <a:lstStyle/>
          <a:p>
            <a:r>
              <a:rPr lang="en-US" dirty="0"/>
              <a:t>I grouped features into </a:t>
            </a:r>
            <a:r>
              <a:rPr lang="en-US" b="1" dirty="0"/>
              <a:t>realistic policy bundles</a:t>
            </a:r>
            <a:r>
              <a:rPr lang="en-US" dirty="0"/>
              <a:t>:</a:t>
            </a:r>
          </a:p>
          <a:p>
            <a:pPr lvl="1"/>
            <a:r>
              <a:rPr lang="en-US" b="1" dirty="0"/>
              <a:t>1. Jobs push</a:t>
            </a:r>
          </a:p>
          <a:p>
            <a:pPr lvl="2"/>
            <a:r>
              <a:rPr lang="en-US" dirty="0"/>
              <a:t>↑ establishment growth </a:t>
            </a:r>
          </a:p>
          <a:p>
            <a:pPr lvl="2"/>
            <a:r>
              <a:rPr lang="en-US" dirty="0"/>
              <a:t>↑ income growth </a:t>
            </a:r>
          </a:p>
          <a:p>
            <a:pPr lvl="1"/>
            <a:endParaRPr lang="en-US" dirty="0"/>
          </a:p>
          <a:p>
            <a:pPr lvl="1"/>
            <a:r>
              <a:rPr lang="en-US" b="1" dirty="0"/>
              <a:t>2. Public safety</a:t>
            </a:r>
          </a:p>
          <a:p>
            <a:pPr lvl="1"/>
            <a:r>
              <a:rPr lang="en-US" dirty="0"/>
              <a:t>	↓ crime rates </a:t>
            </a:r>
          </a:p>
          <a:p>
            <a:pPr lvl="1"/>
            <a:endParaRPr lang="en-US" dirty="0"/>
          </a:p>
          <a:p>
            <a:pPr lvl="1"/>
            <a:r>
              <a:rPr lang="en-US" b="1" dirty="0"/>
              <a:t>3. Resilience &amp; vulnerability</a:t>
            </a:r>
          </a:p>
          <a:p>
            <a:pPr lvl="1"/>
            <a:r>
              <a:rPr lang="en-US" dirty="0"/>
              <a:t>	↓ SVI (reduce vulnerability exposure) </a:t>
            </a:r>
          </a:p>
          <a:p>
            <a:pPr lvl="1"/>
            <a:br>
              <a:rPr lang="en-US" dirty="0"/>
            </a:br>
            <a:endParaRPr lang="en-US" dirty="0"/>
          </a:p>
          <a:p>
            <a:pPr lvl="1"/>
            <a:r>
              <a:rPr lang="en-US" b="1" dirty="0"/>
              <a:t>4. Family &amp; demographic support</a:t>
            </a:r>
          </a:p>
          <a:p>
            <a:pPr lvl="1"/>
            <a:r>
              <a:rPr lang="en-US" dirty="0"/>
              <a:t>	↑ natural change rate </a:t>
            </a:r>
          </a:p>
          <a:p>
            <a:pPr lvl="1"/>
            <a:endParaRPr lang="en-US" dirty="0"/>
          </a:p>
          <a:p>
            <a:pPr lvl="1"/>
            <a:r>
              <a:rPr lang="en-US" b="1" dirty="0"/>
              <a:t>5. Retention bundle (most important)</a:t>
            </a:r>
          </a:p>
          <a:p>
            <a:pPr lvl="1"/>
            <a:r>
              <a:rPr lang="en-US" dirty="0"/>
              <a:t>	Combination of jobs, safety, resilience &amp; demographics</a:t>
            </a:r>
          </a:p>
          <a:p>
            <a:pPr>
              <a:lnSpc>
                <a:spcPts val="1350"/>
              </a:lnSpc>
            </a:pPr>
            <a:endParaRPr lang="en-US" dirty="0">
              <a:effectLst/>
            </a:endParaRPr>
          </a:p>
        </p:txBody>
      </p:sp>
    </p:spTree>
    <p:extLst>
      <p:ext uri="{BB962C8B-B14F-4D97-AF65-F5344CB8AC3E}">
        <p14:creationId xmlns:p14="http://schemas.microsoft.com/office/powerpoint/2010/main" val="174853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0179-0DB9-2D0B-5773-D25FCC68DB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369159-7478-E673-F740-3CDD6E42143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B150FF2-0660-699A-8832-D5A9E0C0AA9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10" name="Picture 9" descr="A graph of different colored bars&#10;&#10;AI-generated content may be incorrect.">
            <a:extLst>
              <a:ext uri="{FF2B5EF4-FFF2-40B4-BE49-F238E27FC236}">
                <a16:creationId xmlns:a16="http://schemas.microsoft.com/office/drawing/2014/main" id="{B7024AA7-2E13-2554-A6E7-EAAEDCE52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624" y="1368962"/>
            <a:ext cx="8426663" cy="4557276"/>
          </a:xfrm>
          <a:prstGeom prst="rect">
            <a:avLst/>
          </a:prstGeom>
        </p:spPr>
      </p:pic>
    </p:spTree>
    <p:extLst>
      <p:ext uri="{BB962C8B-B14F-4D97-AF65-F5344CB8AC3E}">
        <p14:creationId xmlns:p14="http://schemas.microsoft.com/office/powerpoint/2010/main" val="658175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3A81-AA87-3908-006D-6032611734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C5401F-459E-4B3E-3886-882BA58E497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9DAB5F5-4FDD-783D-5234-D2CB050C01B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3" name="Picture 2" descr="A graph of a line graph&#10;&#10;AI-generated content may be incorrect.">
            <a:extLst>
              <a:ext uri="{FF2B5EF4-FFF2-40B4-BE49-F238E27FC236}">
                <a16:creationId xmlns:a16="http://schemas.microsoft.com/office/drawing/2014/main" id="{386A9B98-CF86-62A9-70E2-532D02FA8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113" y="1503874"/>
            <a:ext cx="8429150" cy="4507182"/>
          </a:xfrm>
          <a:prstGeom prst="rect">
            <a:avLst/>
          </a:prstGeom>
        </p:spPr>
      </p:pic>
    </p:spTree>
    <p:extLst>
      <p:ext uri="{BB962C8B-B14F-4D97-AF65-F5344CB8AC3E}">
        <p14:creationId xmlns:p14="http://schemas.microsoft.com/office/powerpoint/2010/main" val="1771775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10C5-9BDA-B9C5-9144-4B2ED01207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4C70D4-92B9-0132-4644-E8C416ABDC0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9FB854C-AAB3-043F-4E90-1286423B3B46}"/>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descr="A graph with lines and numbers&#10;&#10;AI-generated content may be incorrect.">
            <a:extLst>
              <a:ext uri="{FF2B5EF4-FFF2-40B4-BE49-F238E27FC236}">
                <a16:creationId xmlns:a16="http://schemas.microsoft.com/office/drawing/2014/main" id="{CF51E733-B060-1ECD-5199-6494AA7A9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6160" y="3693160"/>
            <a:ext cx="4647656" cy="2494280"/>
          </a:xfrm>
          <a:prstGeom prst="rect">
            <a:avLst/>
          </a:prstGeom>
        </p:spPr>
      </p:pic>
      <p:sp>
        <p:nvSpPr>
          <p:cNvPr id="7" name="TextBox 6">
            <a:extLst>
              <a:ext uri="{FF2B5EF4-FFF2-40B4-BE49-F238E27FC236}">
                <a16:creationId xmlns:a16="http://schemas.microsoft.com/office/drawing/2014/main" id="{CD7050EC-5E83-3D96-03C1-8C916B40BFE7}"/>
              </a:ext>
            </a:extLst>
          </p:cNvPr>
          <p:cNvSpPr txBox="1"/>
          <p:nvPr/>
        </p:nvSpPr>
        <p:spPr>
          <a:xfrm>
            <a:off x="139613" y="1368962"/>
            <a:ext cx="6866493" cy="5016758"/>
          </a:xfrm>
          <a:prstGeom prst="rect">
            <a:avLst/>
          </a:prstGeom>
          <a:noFill/>
        </p:spPr>
        <p:txBody>
          <a:bodyPr wrap="square">
            <a:spAutoFit/>
          </a:bodyPr>
          <a:lstStyle/>
          <a:p>
            <a:r>
              <a:rPr lang="en-US" sz="1600" b="1" dirty="0"/>
              <a:t>Key Findings: </a:t>
            </a:r>
          </a:p>
          <a:p>
            <a:pPr marL="285750" indent="-285750">
              <a:buFont typeface="Arial" panose="020B0604020202020204" pitchFamily="34" charset="0"/>
              <a:buChar char="•"/>
            </a:pPr>
            <a:r>
              <a:rPr lang="en-US" sz="1600" dirty="0"/>
              <a:t>Puerto Rico continues to show a persistent population decline (~0.6% per year)</a:t>
            </a:r>
            <a:br>
              <a:rPr lang="en-US" sz="1600" dirty="0"/>
            </a:br>
            <a:r>
              <a:rPr lang="en-US" sz="1600" dirty="0"/>
              <a:t>≈ ~20,000 people lost annually</a:t>
            </a:r>
          </a:p>
          <a:p>
            <a:pPr marL="285750" indent="-285750">
              <a:buFont typeface="Arial" panose="020B0604020202020204" pitchFamily="34" charset="0"/>
              <a:buChar char="•"/>
            </a:pPr>
            <a:r>
              <a:rPr lang="en-US" sz="1600" dirty="0"/>
              <a:t>Policy interventions can slow decline, but do not reverse it</a:t>
            </a:r>
          </a:p>
          <a:p>
            <a:pPr marL="285750" indent="-285750">
              <a:buFont typeface="Arial" panose="020B0604020202020204" pitchFamily="34" charset="0"/>
              <a:buChar char="•"/>
            </a:pPr>
            <a:r>
              <a:rPr lang="en-US" sz="1600" dirty="0"/>
              <a:t>Retention and recovery bundles reduce losses but remain below current levels</a:t>
            </a:r>
          </a:p>
          <a:p>
            <a:pPr marL="285750" indent="-285750">
              <a:buFont typeface="Arial" panose="020B0604020202020204" pitchFamily="34" charset="0"/>
              <a:buChar char="•"/>
            </a:pPr>
            <a:r>
              <a:rPr lang="en-US" sz="1600" dirty="0"/>
              <a:t>A population increase only appears under strong recovery + return-migration conditions</a:t>
            </a:r>
            <a:br>
              <a:rPr lang="en-US" sz="1600" dirty="0"/>
            </a:br>
            <a:endParaRPr lang="en-US" sz="1600" dirty="0"/>
          </a:p>
          <a:p>
            <a:r>
              <a:rPr lang="en-US" sz="1600" b="1" dirty="0"/>
              <a:t>Model Insight</a:t>
            </a:r>
          </a:p>
          <a:p>
            <a:pPr marL="285750" indent="-285750">
              <a:buFont typeface="Arial" panose="020B0604020202020204" pitchFamily="34" charset="0"/>
              <a:buChar char="•"/>
            </a:pPr>
            <a:r>
              <a:rPr lang="en-US" sz="1600" dirty="0"/>
              <a:t>Population change is highly path-dependent</a:t>
            </a:r>
          </a:p>
          <a:p>
            <a:pPr marL="285750" indent="-285750">
              <a:buFont typeface="Arial" panose="020B0604020202020204" pitchFamily="34" charset="0"/>
              <a:buChar char="•"/>
            </a:pPr>
            <a:r>
              <a:rPr lang="en-US" sz="1600" dirty="0"/>
              <a:t>Lagged population dynamics dominate future outcomes</a:t>
            </a:r>
          </a:p>
          <a:p>
            <a:pPr marL="285750" indent="-285750">
              <a:buFont typeface="Arial" panose="020B0604020202020204" pitchFamily="34" charset="0"/>
              <a:buChar char="•"/>
            </a:pPr>
            <a:r>
              <a:rPr lang="en-US" sz="1600" dirty="0"/>
              <a:t>Disasters are not strong direct predictors</a:t>
            </a:r>
          </a:p>
          <a:p>
            <a:pPr marL="285750" indent="-285750">
              <a:buFont typeface="Arial" panose="020B0604020202020204" pitchFamily="34" charset="0"/>
              <a:buChar char="•"/>
            </a:pPr>
            <a:r>
              <a:rPr lang="en-US" sz="1600" dirty="0"/>
              <a:t>Effects are indirect and propagate over time</a:t>
            </a:r>
          </a:p>
          <a:p>
            <a:pPr marL="285750" indent="-285750">
              <a:buFont typeface="Arial" panose="020B0604020202020204" pitchFamily="34" charset="0"/>
              <a:buChar char="•"/>
            </a:pPr>
            <a:r>
              <a:rPr lang="en-US" sz="1600" dirty="0"/>
              <a:t>Reversing decline requires overcoming structural momentum</a:t>
            </a:r>
            <a:br>
              <a:rPr lang="en-US" sz="1600" dirty="0"/>
            </a:br>
            <a:endParaRPr lang="en-US" sz="1600" dirty="0"/>
          </a:p>
          <a:p>
            <a:r>
              <a:rPr lang="en-US" sz="1600" b="1" dirty="0"/>
              <a:t>Key Insight: </a:t>
            </a:r>
            <a:r>
              <a:rPr lang="en-US" sz="1600" dirty="0"/>
              <a:t>Population decline in Puerto Rico is persistent and momentum-driven, where policies can slow losses, but only a strong, coordinated recovery dynamic can stabilize or temporarily reverse the trend</a:t>
            </a:r>
          </a:p>
        </p:txBody>
      </p:sp>
      <p:pic>
        <p:nvPicPr>
          <p:cNvPr id="9" name="Picture 8" descr="A graph of different colored bars&#10;&#10;AI-generated content may be incorrect.">
            <a:extLst>
              <a:ext uri="{FF2B5EF4-FFF2-40B4-BE49-F238E27FC236}">
                <a16:creationId xmlns:a16="http://schemas.microsoft.com/office/drawing/2014/main" id="{9A33CC87-A651-632B-F8DC-6E5C518D8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8719" y="1368962"/>
            <a:ext cx="3895009" cy="2106484"/>
          </a:xfrm>
          <a:prstGeom prst="rect">
            <a:avLst/>
          </a:prstGeom>
        </p:spPr>
      </p:pic>
    </p:spTree>
    <p:extLst>
      <p:ext uri="{BB962C8B-B14F-4D97-AF65-F5344CB8AC3E}">
        <p14:creationId xmlns:p14="http://schemas.microsoft.com/office/powerpoint/2010/main" val="1511817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D93C-1869-5A81-3809-E3BEE068FC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F68F32-7899-CF79-F28E-C98FA6B200F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6E908254-7865-C1C3-3621-CB661A720C8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descr="A graph of different types of graphs&#10;&#10;AI-generated content may be incorrect.">
            <a:extLst>
              <a:ext uri="{FF2B5EF4-FFF2-40B4-BE49-F238E27FC236}">
                <a16:creationId xmlns:a16="http://schemas.microsoft.com/office/drawing/2014/main" id="{E3BCD7A5-DEC1-9976-42CD-1C6257A454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878" y="1368961"/>
            <a:ext cx="7316392" cy="3869245"/>
          </a:xfrm>
          <a:prstGeom prst="rect">
            <a:avLst/>
          </a:prstGeom>
        </p:spPr>
      </p:pic>
      <p:pic>
        <p:nvPicPr>
          <p:cNvPr id="9" name="Picture 8" descr="A graph and chart with blue and red lines&#10;&#10;AI-generated content may be incorrect.">
            <a:extLst>
              <a:ext uri="{FF2B5EF4-FFF2-40B4-BE49-F238E27FC236}">
                <a16:creationId xmlns:a16="http://schemas.microsoft.com/office/drawing/2014/main" id="{444245DB-B516-C39B-1114-69AE3D9DECA7}"/>
              </a:ext>
            </a:extLst>
          </p:cNvPr>
          <p:cNvPicPr>
            <a:picLocks noChangeAspect="1"/>
          </p:cNvPicPr>
          <p:nvPr/>
        </p:nvPicPr>
        <p:blipFill>
          <a:blip r:embed="rId4">
            <a:extLst>
              <a:ext uri="{28A0092B-C50C-407E-A947-70E740481C1C}">
                <a14:useLocalDpi xmlns:a14="http://schemas.microsoft.com/office/drawing/2010/main" val="0"/>
              </a:ext>
            </a:extLst>
          </a:blip>
          <a:srcRect r="49313"/>
          <a:stretch>
            <a:fillRect/>
          </a:stretch>
        </p:blipFill>
        <p:spPr>
          <a:xfrm>
            <a:off x="8355061" y="1653166"/>
            <a:ext cx="3662061" cy="2441468"/>
          </a:xfrm>
          <a:prstGeom prst="rect">
            <a:avLst/>
          </a:prstGeom>
        </p:spPr>
      </p:pic>
    </p:spTree>
    <p:extLst>
      <p:ext uri="{BB962C8B-B14F-4D97-AF65-F5344CB8AC3E}">
        <p14:creationId xmlns:p14="http://schemas.microsoft.com/office/powerpoint/2010/main" val="1391675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Next Steps: Poster Review and Final Report </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246298"/>
            <a:ext cx="11673769" cy="5170646"/>
          </a:xfrm>
          <a:prstGeom prst="rect">
            <a:avLst/>
          </a:prstGeom>
          <a:noFill/>
        </p:spPr>
        <p:txBody>
          <a:bodyPr wrap="square">
            <a:spAutoFit/>
          </a:bodyPr>
          <a:lstStyle/>
          <a:p>
            <a:r>
              <a:rPr lang="en-US" sz="2200" b="1" dirty="0"/>
              <a:t>Goal:</a:t>
            </a:r>
            <a:r>
              <a:rPr lang="en-US" sz="2200" dirty="0"/>
              <a:t> Complete final presentation materials and submission-ready report</a:t>
            </a:r>
          </a:p>
          <a:p>
            <a:endParaRPr lang="en-US" sz="2200" b="1" dirty="0"/>
          </a:p>
          <a:p>
            <a:r>
              <a:rPr lang="en-US" sz="2200" b="1" dirty="0"/>
              <a:t>Finalize poster</a:t>
            </a:r>
            <a:r>
              <a:rPr lang="en-US" sz="2200" dirty="0"/>
              <a:t> </a:t>
            </a:r>
          </a:p>
          <a:p>
            <a:pPr lvl="1"/>
            <a:r>
              <a:rPr lang="en-US" sz="2200" dirty="0"/>
              <a:t>Refine Results/Discussion wording </a:t>
            </a:r>
          </a:p>
          <a:p>
            <a:pPr lvl="1"/>
            <a:r>
              <a:rPr lang="en-US" sz="2200" dirty="0"/>
              <a:t>Ensure key message is clear: policy slows decline, recovery momentum is needed for reversal</a:t>
            </a:r>
          </a:p>
          <a:p>
            <a:pPr lvl="1"/>
            <a:r>
              <a:rPr lang="en-US" sz="2200" dirty="0"/>
              <a:t> </a:t>
            </a:r>
          </a:p>
          <a:p>
            <a:r>
              <a:rPr lang="en-US" sz="2200" b="1" dirty="0"/>
              <a:t>Complete final report</a:t>
            </a:r>
            <a:r>
              <a:rPr lang="en-US" sz="2200" dirty="0"/>
              <a:t> </a:t>
            </a:r>
          </a:p>
          <a:p>
            <a:pPr lvl="1"/>
            <a:r>
              <a:rPr lang="en-US" sz="2200" dirty="0"/>
              <a:t>Expand report using provided format</a:t>
            </a:r>
          </a:p>
          <a:p>
            <a:pPr lvl="1"/>
            <a:r>
              <a:rPr lang="en-US" sz="2200" dirty="0"/>
              <a:t>Add figures, tables, and model/scenario interpretations </a:t>
            </a:r>
          </a:p>
          <a:p>
            <a:pPr lvl="1"/>
            <a:r>
              <a:rPr lang="en-US" sz="2200" dirty="0"/>
              <a:t>Strengthen conclusion and future work sections </a:t>
            </a:r>
          </a:p>
          <a:p>
            <a:pPr lvl="1"/>
            <a:endParaRPr lang="en-US" sz="2200" dirty="0"/>
          </a:p>
          <a:p>
            <a:r>
              <a:rPr lang="en-US" sz="2200" b="1" dirty="0"/>
              <a:t>Final submission review</a:t>
            </a:r>
            <a:r>
              <a:rPr lang="en-US" sz="2200" dirty="0"/>
              <a:t> </a:t>
            </a:r>
          </a:p>
          <a:p>
            <a:pPr lvl="1"/>
            <a:r>
              <a:rPr lang="en-US" sz="2200" dirty="0"/>
              <a:t>Check consistency across notebooks, poster, slides, and report </a:t>
            </a:r>
          </a:p>
          <a:p>
            <a:pPr lvl="1"/>
            <a:r>
              <a:rPr lang="en-US" sz="2200" dirty="0"/>
              <a:t>Confirm all outputs, figures, and artifact manifests are complete </a:t>
            </a:r>
          </a:p>
          <a:p>
            <a:pPr lvl="1"/>
            <a:r>
              <a:rPr lang="en-US" sz="2200" dirty="0"/>
              <a:t>Prepare final presentation script and talking points</a:t>
            </a:r>
          </a:p>
        </p:txBody>
      </p:sp>
    </p:spTree>
    <p:extLst>
      <p:ext uri="{BB962C8B-B14F-4D97-AF65-F5344CB8AC3E}">
        <p14:creationId xmlns:p14="http://schemas.microsoft.com/office/powerpoint/2010/main" val="884264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b="1" dirty="0"/>
              <a:t>Population decline in Puerto Rico is not random:</a:t>
            </a:r>
          </a:p>
          <a:p>
            <a:pPr marL="342900" indent="-342900">
              <a:buFont typeface="Arial" panose="020B0604020202020204" pitchFamily="34" charset="0"/>
              <a:buChar char="•"/>
            </a:pPr>
            <a:r>
              <a:rPr lang="en-US" sz="2000" b="1" dirty="0"/>
              <a:t>Structured</a:t>
            </a:r>
            <a:r>
              <a:rPr lang="en-US" sz="2000" dirty="0"/>
              <a:t> — shaped by economic, demographic, and social conditions</a:t>
            </a:r>
          </a:p>
          <a:p>
            <a:pPr marL="342900" indent="-342900">
              <a:buFont typeface="Arial" panose="020B0604020202020204" pitchFamily="34" charset="0"/>
              <a:buChar char="•"/>
            </a:pPr>
            <a:r>
              <a:rPr lang="en-US" sz="2000" b="1" dirty="0"/>
              <a:t>Spatial</a:t>
            </a:r>
            <a:r>
              <a:rPr lang="en-US" sz="2000" dirty="0"/>
              <a:t> — concentrated differently across regions</a:t>
            </a:r>
          </a:p>
          <a:p>
            <a:pPr marL="342900" indent="-342900">
              <a:buFont typeface="Arial" panose="020B0604020202020204" pitchFamily="34" charset="0"/>
              <a:buChar char="•"/>
            </a:pPr>
            <a:r>
              <a:rPr lang="en-US" sz="2000" b="1" dirty="0"/>
              <a:t>Persistent</a:t>
            </a:r>
            <a:r>
              <a:rPr lang="en-US" sz="2000" dirty="0"/>
              <a:t> — strongly influenced by past population trends</a:t>
            </a:r>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Disasters amplify existing decline rather than acting as simple direct drivers</a:t>
            </a:r>
          </a:p>
          <a:p>
            <a:pPr marL="285750" indent="-285750">
              <a:buFont typeface="Arial" panose="020B0604020202020204" pitchFamily="34" charset="0"/>
              <a:buChar char="•"/>
            </a:pPr>
            <a:r>
              <a:rPr lang="en-US" sz="2000" dirty="0"/>
              <a:t>Policy bundles can slow decline, but reversal requires stronger recovery momentum</a:t>
            </a:r>
          </a:p>
          <a:p>
            <a:pPr marL="285750" indent="-285750">
              <a:buFont typeface="Arial" panose="020B0604020202020204" pitchFamily="34" charset="0"/>
              <a:buChar char="•"/>
            </a:pPr>
            <a:r>
              <a:rPr lang="en-US" sz="2000" dirty="0"/>
              <a:t>Recovery rebound scenarios show that stabilization or growth requires coordinated improvements and return migration</a:t>
            </a:r>
            <a:br>
              <a:rPr lang="en-US" sz="2000" dirty="0"/>
            </a:br>
            <a:endParaRPr lang="en-US" sz="2000" dirty="0"/>
          </a:p>
          <a:p>
            <a:r>
              <a:rPr lang="en-US" sz="2000" b="1" dirty="0"/>
              <a:t>Conclusion: </a:t>
            </a:r>
            <a:r>
              <a:rPr lang="en-US" sz="2000" dirty="0"/>
              <a:t>The project moved beyond prediction to a full </a:t>
            </a:r>
            <a:r>
              <a:rPr lang="en-US" sz="2000" b="1" dirty="0"/>
              <a:t>scenario and policy-testing framework</a:t>
            </a:r>
            <a:r>
              <a:rPr lang="en-US" sz="2000" dirty="0"/>
              <a:t>, showing not only where Puerto Rico’s population decline is headed, but what kinds of coordinated recovery strategies may be needed to slow, stabilize, or reverse it.</a:t>
            </a:r>
          </a:p>
        </p:txBody>
      </p:sp>
    </p:spTree>
    <p:extLst>
      <p:ext uri="{BB962C8B-B14F-4D97-AF65-F5344CB8AC3E}">
        <p14:creationId xmlns:p14="http://schemas.microsoft.com/office/powerpoint/2010/main" val="3664533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4EBF72-05B3-4092-B058-100DE54983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Rutgers Theme</Template>
  <TotalTime>29328</TotalTime>
  <Words>3726</Words>
  <Application>Microsoft Macintosh PowerPoint</Application>
  <PresentationFormat>Widescreen</PresentationFormat>
  <Paragraphs>412</Paragraphs>
  <Slides>27</Slides>
  <Notes>26</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PT serif</vt:lpstr>
      <vt:lpstr>Source sans 3</vt:lpstr>
      <vt:lpstr>Roboto</vt:lpstr>
      <vt:lpstr>Wingdings</vt:lpstr>
      <vt:lpstr>Merriweather</vt:lpstr>
      <vt:lpstr>Arial</vt:lpstr>
      <vt:lpstr>Symbol</vt:lpstr>
      <vt:lpstr>Cambria Math</vt:lpstr>
      <vt:lpstr>Calibri</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397</cp:revision>
  <cp:lastPrinted>2025-12-23T15:43:13Z</cp:lastPrinted>
  <dcterms:created xsi:type="dcterms:W3CDTF">2018-07-12T14:29:14Z</dcterms:created>
  <dcterms:modified xsi:type="dcterms:W3CDTF">2026-05-01T18:32:56Z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