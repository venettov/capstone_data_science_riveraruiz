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2"/>
  </p:notesMasterIdLst>
  <p:handoutMasterIdLst>
    <p:handoutMasterId r:id="rId33"/>
  </p:handoutMasterIdLst>
  <p:sldIdLst>
    <p:sldId id="408" r:id="rId5"/>
    <p:sldId id="407" r:id="rId6"/>
    <p:sldId id="448" r:id="rId7"/>
    <p:sldId id="431" r:id="rId8"/>
    <p:sldId id="449" r:id="rId9"/>
    <p:sldId id="454" r:id="rId10"/>
    <p:sldId id="435" r:id="rId11"/>
    <p:sldId id="436" r:id="rId12"/>
    <p:sldId id="437" r:id="rId13"/>
    <p:sldId id="446" r:id="rId14"/>
    <p:sldId id="444" r:id="rId15"/>
    <p:sldId id="445" r:id="rId16"/>
    <p:sldId id="450" r:id="rId17"/>
    <p:sldId id="452" r:id="rId18"/>
    <p:sldId id="451" r:id="rId19"/>
    <p:sldId id="453" r:id="rId20"/>
    <p:sldId id="455" r:id="rId21"/>
    <p:sldId id="456" r:id="rId22"/>
    <p:sldId id="438" r:id="rId23"/>
    <p:sldId id="439" r:id="rId24"/>
    <p:sldId id="430" r:id="rId25"/>
    <p:sldId id="442" r:id="rId26"/>
    <p:sldId id="275" r:id="rId27"/>
    <p:sldId id="276" r:id="rId28"/>
    <p:sldId id="277" r:id="rId29"/>
    <p:sldId id="279" r:id="rId30"/>
    <p:sldId id="281" r:id="rId31"/>
  </p:sldIdLst>
  <p:sldSz cx="12192000" cy="6858000"/>
  <p:notesSz cx="9296400" cy="7010400"/>
  <p:embeddedFontLst>
    <p:embeddedFont>
      <p:font typeface="Cambria Math" panose="02040503050406030204" pitchFamily="18" charset="0"/>
      <p:regular r:id="rId34"/>
    </p:embeddedFont>
    <p:embeddedFont>
      <p:font typeface="Merriweather" pitchFamily="2" charset="77"/>
      <p:regular r:id="rId35"/>
      <p:bold r:id="rId36"/>
      <p:italic r:id="rId37"/>
      <p:boldItalic r:id="rId38"/>
    </p:embeddedFont>
    <p:embeddedFont>
      <p:font typeface="PT serif" panose="020A0603040505020204" pitchFamily="18" charset="77"/>
      <p:regular r:id="rId39"/>
      <p:bold r:id="rId40"/>
      <p:italic r:id="rId41"/>
      <p:boldItalic r:id="rId42"/>
    </p:embeddedFont>
    <p:embeddedFont>
      <p:font typeface="Roboto" panose="02000000000000000000" pitchFamily="2" charset="0"/>
      <p:regular r:id="rId43"/>
      <p:bold r:id="rId44"/>
      <p:italic r:id="rId45"/>
      <p:boldItalic r:id="rId46"/>
    </p:embeddedFont>
    <p:embeddedFont>
      <p:font typeface="Source sans 3" panose="020B0303030403020204" pitchFamily="34" charset="0"/>
      <p:regular r:id="rId47"/>
      <p:bold r:id="rId48"/>
      <p:italic r:id="rId49"/>
      <p:boldItalic r:id="rId5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86"/>
    <p:restoredTop sz="62941"/>
  </p:normalViewPr>
  <p:slideViewPr>
    <p:cSldViewPr snapToGrid="0">
      <p:cViewPr varScale="1">
        <p:scale>
          <a:sx n="80" d="100"/>
          <a:sy n="80" d="100"/>
        </p:scale>
        <p:origin x="2816" y="472"/>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6.fntdata"/><Relationship Id="rId21" Type="http://schemas.openxmlformats.org/officeDocument/2006/relationships/slide" Target="slides/slide17.xml"/><Relationship Id="rId34" Type="http://schemas.openxmlformats.org/officeDocument/2006/relationships/font" Target="fonts/font1.fntdata"/><Relationship Id="rId42" Type="http://schemas.openxmlformats.org/officeDocument/2006/relationships/font" Target="fonts/font9.fntdata"/><Relationship Id="rId47" Type="http://schemas.openxmlformats.org/officeDocument/2006/relationships/font" Target="fonts/font14.fntdata"/><Relationship Id="rId50" Type="http://schemas.openxmlformats.org/officeDocument/2006/relationships/font" Target="fonts/font17.fntdata"/><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11.fntdata"/><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2.fntdata"/><Relationship Id="rId43" Type="http://schemas.openxmlformats.org/officeDocument/2006/relationships/font" Target="fonts/font10.fntdata"/><Relationship Id="rId48" Type="http://schemas.openxmlformats.org/officeDocument/2006/relationships/font" Target="fonts/font15.fntdata"/><Relationship Id="rId56" Type="http://schemas.microsoft.com/office/2018/10/relationships/authors" Target="authors.xml"/><Relationship Id="rId8" Type="http://schemas.openxmlformats.org/officeDocument/2006/relationships/slide" Target="slides/slide4.xml"/><Relationship Id="rId51" Type="http://schemas.openxmlformats.org/officeDocument/2006/relationships/commentAuthors" Target="commen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font" Target="fonts/font5.fntdata"/><Relationship Id="rId46" Type="http://schemas.openxmlformats.org/officeDocument/2006/relationships/font" Target="fonts/font13.fntdata"/><Relationship Id="rId20" Type="http://schemas.openxmlformats.org/officeDocument/2006/relationships/slide" Target="slides/slide16.xml"/><Relationship Id="rId41" Type="http://schemas.openxmlformats.org/officeDocument/2006/relationships/font" Target="fonts/font8.fntdata"/><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3.fntdata"/><Relationship Id="rId49" Type="http://schemas.openxmlformats.org/officeDocument/2006/relationships/font" Target="fonts/font1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4/26/26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4/26/26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takeaway from this analysis is that population dynamics in Puerto Rico are highly persistent and path-dependent.</a:t>
            </a:r>
            <a:br>
              <a:rPr lang="en-US" dirty="0"/>
            </a:br>
            <a:r>
              <a:rPr lang="en-US" dirty="0"/>
              <a:t>What happens in one period strongly influences what happens next.</a:t>
            </a:r>
            <a:br>
              <a:rPr lang="en-US" dirty="0"/>
            </a:br>
            <a:r>
              <a:rPr lang="en-US" dirty="0"/>
              <a:t>While shocks like hurricanes and earthquakes do matter, their effects are not immediate, they accumulate over time and are reflected through longer-term trends.</a:t>
            </a:r>
            <a:br>
              <a:rPr lang="en-US" dirty="0"/>
            </a:br>
            <a:r>
              <a:rPr lang="en-US" dirty="0"/>
              <a:t>So ultimately, population change is less about single events and more about the gradual buildup of structural conditions.</a:t>
            </a:r>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0598323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BB172-3F24-3E94-A5DE-DBFF22636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14CCE8-3D2F-7AA0-9B10-2F363DF45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E17D-A98F-69D5-013C-E0A67996AF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BBAA54-B176-F39C-3CFF-6E7B899142BB}"/>
              </a:ext>
            </a:extLst>
          </p:cNvPr>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13815551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C211-7FD4-82EB-FB58-FE463015F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6E33D-00B6-FB9C-1548-6554AB87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BB1E5-C0C5-D8C2-DE97-00FDF2B7D79A}"/>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C98D717C-2CE1-A6ED-31E3-1DF7106F5466}"/>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34803800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83EE-BD4C-21F8-3DC9-67BBF823A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F0831F-73CB-D30C-046A-15479FB4AE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D500A-05E9-F762-9470-E5DCFD7D1B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E37E72-4A92-E906-1EF7-1BD0A0C8FD98}"/>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12689172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4B2A4-A14E-7D1F-D2C2-A7CA27623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93C8D-F028-8C77-00D9-43FFBFAB6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F26B0-E18B-6A44-3338-F0166ED805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D4051-2C92-6894-79BA-CCC4179E6DAD}"/>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3142606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next step, I’m extending this work into a policy simulation framework.</a:t>
            </a:r>
            <a:br>
              <a:rPr lang="en-US" dirty="0"/>
            </a:br>
            <a:r>
              <a:rPr lang="en-US" dirty="0"/>
              <a:t>The goal is to move beyond forecasting and evaluate how different interventions, such as job growth or retention strategies, could influence population trends.</a:t>
            </a:r>
            <a:br>
              <a:rPr lang="en-US" dirty="0"/>
            </a:br>
            <a:br>
              <a:rPr lang="en-US" dirty="0"/>
            </a:br>
            <a:r>
              <a:rPr lang="en-US" dirty="0"/>
              <a:t>Ultimately, this allows to assess which strategies are most effective at slowing population decline and translate those insights into an interactive dashboard.</a:t>
            </a:r>
          </a:p>
        </p:txBody>
      </p:sp>
      <p:sp>
        <p:nvSpPr>
          <p:cNvPr id="4" name="Slide Number Placeholder 3"/>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36580110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population decline in Puerto Rico is not random, it’s structured, spatial, and persistent.</a:t>
            </a:r>
            <a:br>
              <a:rPr lang="en-US" dirty="0"/>
            </a:br>
            <a:r>
              <a:rPr lang="en-US" dirty="0"/>
              <a:t>In the short run, changes are noisy and difficult to predict, but the model shows strong momentum and path dependence.</a:t>
            </a:r>
            <a:br>
              <a:rPr lang="en-US" dirty="0"/>
            </a:br>
            <a:r>
              <a:rPr lang="en-US" dirty="0"/>
              <a:t>When we look at longer horizons, clear structural patterns emerge, especially across regions.</a:t>
            </a:r>
            <a:br>
              <a:rPr lang="en-US" dirty="0"/>
            </a:br>
            <a:r>
              <a:rPr lang="en-US" dirty="0"/>
              <a:t>So the key takeaway is that population dynamics follow stable, long-term patterns that are spatially organized and persistent.</a:t>
            </a:r>
          </a:p>
        </p:txBody>
      </p:sp>
      <p:sp>
        <p:nvSpPr>
          <p:cNvPr id="4" name="Slide Number Placeholder 3"/>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21.png"/><Relationship Id="rId5" Type="http://schemas.openxmlformats.org/officeDocument/2006/relationships/image" Target="../media/image6.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0.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0.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10 Progress: 17 April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spTree>
    <p:extLst>
      <p:ext uri="{BB962C8B-B14F-4D97-AF65-F5344CB8AC3E}">
        <p14:creationId xmlns:p14="http://schemas.microsoft.com/office/powerpoint/2010/main" val="11039927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spTree>
    <p:extLst>
      <p:ext uri="{BB962C8B-B14F-4D97-AF65-F5344CB8AC3E}">
        <p14:creationId xmlns:p14="http://schemas.microsoft.com/office/powerpoint/2010/main" val="21431262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sz="1600" b="1" dirty="0"/>
              <a:t>Key Findings:</a:t>
            </a:r>
          </a:p>
          <a:p>
            <a:pPr marL="342900" indent="-342900">
              <a:buFont typeface="Arial" panose="020B0604020202020204" pitchFamily="34" charset="0"/>
              <a:buChar char="•"/>
            </a:pPr>
            <a:r>
              <a:rPr lang="en-US" sz="1600" dirty="0"/>
              <a:t>Hurricanes (wind exposure) have the strongest impact at lag 1 </a:t>
            </a:r>
          </a:p>
          <a:p>
            <a:pPr marL="342900" indent="-342900">
              <a:buFont typeface="Arial" panose="020B0604020202020204" pitchFamily="34" charset="0"/>
              <a:buChar char="•"/>
            </a:pPr>
            <a:r>
              <a:rPr lang="en-US" sz="1600" dirty="0"/>
              <a:t>Earthquake effects are both immediate and short-term persistent </a:t>
            </a:r>
          </a:p>
          <a:p>
            <a:pPr marL="342900" indent="-342900">
              <a:buFont typeface="Arial" panose="020B0604020202020204" pitchFamily="34" charset="0"/>
              <a:buChar char="•"/>
            </a:pPr>
            <a:r>
              <a:rPr lang="en-US" sz="1600" dirty="0"/>
              <a:t>Vulnerability (SVI) influences population change consistently over time </a:t>
            </a:r>
          </a:p>
          <a:p>
            <a:pPr marL="342900" indent="-342900">
              <a:buFont typeface="Arial" panose="020B0604020202020204" pitchFamily="34" charset="0"/>
              <a:buChar char="•"/>
            </a:pPr>
            <a:r>
              <a:rPr lang="en-US" sz="1600" dirty="0"/>
              <a:t>Economic variables contribute modest but stable effects </a:t>
            </a:r>
          </a:p>
          <a:p>
            <a:br>
              <a:rPr lang="en-US" sz="1600" dirty="0"/>
            </a:br>
            <a:endParaRPr lang="en-US" sz="1600" dirty="0"/>
          </a:p>
          <a:p>
            <a:endParaRPr lang="en-US" sz="1600" dirty="0"/>
          </a:p>
          <a:p>
            <a:r>
              <a:rPr lang="en-US" sz="1600" b="1" dirty="0"/>
              <a:t>Interpretation:</a:t>
            </a:r>
          </a:p>
          <a:p>
            <a:pPr marL="342900" indent="-342900">
              <a:buFont typeface="Arial" panose="020B0604020202020204" pitchFamily="34" charset="0"/>
              <a:buChar char="•"/>
            </a:pPr>
            <a:r>
              <a:rPr lang="en-US" sz="1600" dirty="0"/>
              <a:t>Population responses to disasters are delayed, not immediate </a:t>
            </a:r>
          </a:p>
          <a:p>
            <a:pPr marL="342900" indent="-342900">
              <a:buFont typeface="Arial" panose="020B0604020202020204" pitchFamily="34" charset="0"/>
              <a:buChar char="•"/>
            </a:pPr>
            <a:r>
              <a:rPr lang="en-US" sz="1600" dirty="0"/>
              <a:t>Migration and recovery processes likely drive lagged effects </a:t>
            </a:r>
          </a:p>
          <a:p>
            <a:pPr marL="342900" indent="-342900">
              <a:buFont typeface="Arial" panose="020B0604020202020204" pitchFamily="34" charset="0"/>
              <a:buChar char="•"/>
            </a:pPr>
            <a:r>
              <a:rPr lang="en-US" sz="1600" dirty="0"/>
              <a:t>Structural factors shape baseline vulnerability across time </a:t>
            </a:r>
          </a:p>
          <a:p>
            <a:br>
              <a:rPr lang="en-US" sz="1600" dirty="0"/>
            </a:br>
            <a:endParaRPr lang="en-US" sz="1600" dirty="0"/>
          </a:p>
          <a:p>
            <a:endParaRPr lang="en-US" sz="1600" dirty="0"/>
          </a:p>
          <a:p>
            <a:r>
              <a:rPr lang="en-US" sz="1600" b="1" dirty="0"/>
              <a:t>Key Insight: </a:t>
            </a:r>
            <a:r>
              <a:rPr lang="en-US" sz="1600" dirty="0"/>
              <a:t>Timing matters — not just magnitude</a:t>
            </a:r>
            <a:br>
              <a:rPr lang="en-US" sz="1600" dirty="0"/>
            </a:br>
            <a:r>
              <a:rPr lang="en-US" sz="1600" dirty="0"/>
              <a:t>Population change is driven by </a:t>
            </a:r>
            <a:r>
              <a:rPr lang="en-US" sz="1600" b="1" dirty="0"/>
              <a:t>delayed responses to shocks and persistent structural conditions</a:t>
            </a:r>
            <a:endParaRPr lang="en-US" sz="1600"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4801314"/>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 </a:t>
            </a:r>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Persistent population momentum (path dependence)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Time trends reflecting broader structural shifts</a:t>
            </a:r>
          </a:p>
          <a:p>
            <a:pPr marL="742950" lvl="1" indent="-285750">
              <a:buFont typeface="Arial" panose="020B0604020202020204" pitchFamily="34" charset="0"/>
              <a:buChar char="•"/>
            </a:pPr>
            <a:r>
              <a:rPr lang="en-US" dirty="0"/>
              <a:t>Economic and demographic context</a:t>
            </a:r>
          </a:p>
          <a:p>
            <a:pPr marL="742950" lvl="1" indent="-285750">
              <a:buFont typeface="Arial" panose="020B0604020202020204" pitchFamily="34" charset="0"/>
              <a:buChar char="•"/>
            </a:pPr>
            <a:r>
              <a:rPr lang="en-US" dirty="0"/>
              <a:t>Regional differences (secondary role)</a:t>
            </a:r>
            <a:br>
              <a:rPr lang="en-US" dirty="0"/>
            </a:br>
            <a:endParaRPr lang="en-US" dirty="0"/>
          </a:p>
          <a:p>
            <a:r>
              <a:rPr lang="en-US" b="1" dirty="0"/>
              <a:t>Key Takeaway: </a:t>
            </a:r>
            <a:r>
              <a:rPr lang="en-US" dirty="0"/>
              <a:t>Population change reflects strong persistence and path dependence, while shocks influence outcomes primarily through cumulative long-term effects.</a:t>
            </a:r>
          </a:p>
        </p:txBody>
      </p:sp>
    </p:spTree>
    <p:extLst>
      <p:ext uri="{BB962C8B-B14F-4D97-AF65-F5344CB8AC3E}">
        <p14:creationId xmlns:p14="http://schemas.microsoft.com/office/powerpoint/2010/main" val="20506428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spTree>
    <p:extLst>
      <p:ext uri="{BB962C8B-B14F-4D97-AF65-F5344CB8AC3E}">
        <p14:creationId xmlns:p14="http://schemas.microsoft.com/office/powerpoint/2010/main" val="628415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AACEB-1722-88D8-B95E-8240E932C59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A414B29-6E64-67DF-0F80-8F8B88C89F4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4CDF8FC6-9195-2AC0-E464-BF6773D0F89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23850934-A93C-C08E-997D-C535CB36B4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179625"/>
            <a:ext cx="4530034" cy="2150372"/>
          </a:xfrm>
          <a:prstGeom prst="rect">
            <a:avLst/>
          </a:prstGeom>
          <a:ln>
            <a:solidFill>
              <a:schemeClr val="bg1"/>
            </a:solidFill>
          </a:ln>
        </p:spPr>
      </p:pic>
      <p:pic>
        <p:nvPicPr>
          <p:cNvPr id="7" name="Picture 6">
            <a:extLst>
              <a:ext uri="{FF2B5EF4-FFF2-40B4-BE49-F238E27FC236}">
                <a16:creationId xmlns:a16="http://schemas.microsoft.com/office/drawing/2014/main" id="{0813A7E1-52A3-7A13-10F0-4FF402090E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6236" y="4179625"/>
            <a:ext cx="4492852" cy="2150372"/>
          </a:xfrm>
          <a:prstGeom prst="rect">
            <a:avLst/>
          </a:prstGeom>
          <a:ln>
            <a:solidFill>
              <a:schemeClr val="bg1"/>
            </a:solidFill>
          </a:ln>
        </p:spPr>
      </p:pic>
      <p:pic>
        <p:nvPicPr>
          <p:cNvPr id="9" name="Picture 8">
            <a:extLst>
              <a:ext uri="{FF2B5EF4-FFF2-40B4-BE49-F238E27FC236}">
                <a16:creationId xmlns:a16="http://schemas.microsoft.com/office/drawing/2014/main" id="{290417C2-B2F3-1C4D-AF70-1BABFA946C4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590" y="1368962"/>
            <a:ext cx="4492854" cy="2150372"/>
          </a:xfrm>
          <a:prstGeom prst="rect">
            <a:avLst/>
          </a:prstGeom>
          <a:ln>
            <a:solidFill>
              <a:schemeClr val="bg1"/>
            </a:solidFill>
          </a:ln>
        </p:spPr>
      </p:pic>
      <p:pic>
        <p:nvPicPr>
          <p:cNvPr id="11" name="Picture 10">
            <a:extLst>
              <a:ext uri="{FF2B5EF4-FFF2-40B4-BE49-F238E27FC236}">
                <a16:creationId xmlns:a16="http://schemas.microsoft.com/office/drawing/2014/main" id="{93FEF1C9-C665-F74C-8B8B-95287B7858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26236" y="1368962"/>
            <a:ext cx="4530036" cy="2150372"/>
          </a:xfrm>
          <a:prstGeom prst="rect">
            <a:avLst/>
          </a:prstGeom>
          <a:ln>
            <a:solidFill>
              <a:schemeClr val="bg1"/>
            </a:solidFill>
          </a:ln>
        </p:spPr>
      </p:pic>
    </p:spTree>
    <p:extLst>
      <p:ext uri="{BB962C8B-B14F-4D97-AF65-F5344CB8AC3E}">
        <p14:creationId xmlns:p14="http://schemas.microsoft.com/office/powerpoint/2010/main" val="20072460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7021" y="1725108"/>
            <a:ext cx="7772400" cy="4231640"/>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D8DA-71F8-5252-E92B-F07096EA896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B4C24D0-FE60-EE0C-AD18-F6F6AF226A3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8CDDF6D-0977-8F9C-1E29-8906F64C30C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82016559-3C92-77D3-1BD1-9AC6D2981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68962"/>
            <a:ext cx="8708661" cy="4741382"/>
          </a:xfrm>
          <a:prstGeom prst="rect">
            <a:avLst/>
          </a:prstGeom>
        </p:spPr>
      </p:pic>
    </p:spTree>
    <p:extLst>
      <p:ext uri="{BB962C8B-B14F-4D97-AF65-F5344CB8AC3E}">
        <p14:creationId xmlns:p14="http://schemas.microsoft.com/office/powerpoint/2010/main" val="3688445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368962"/>
            <a:ext cx="10608197" cy="4861587"/>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br>
              <a:rPr lang="en-US" dirty="0">
                <a:effectLst/>
              </a:rPr>
            </a:br>
            <a:endParaRPr lang="en-US" dirty="0">
              <a:effectLst/>
            </a:endParaRPr>
          </a:p>
          <a:p>
            <a:pPr marL="285750" indent="-285750">
              <a:lnSpc>
                <a:spcPts val="1350"/>
              </a:lnSpc>
              <a:buFont typeface="Arial" panose="020B0604020202020204" pitchFamily="34" charset="0"/>
              <a:buChar char="•"/>
            </a:pPr>
            <a:r>
              <a:rPr lang="en-US" dirty="0">
                <a:effectLst/>
              </a:rPr>
              <a:t>economic opportunity</a:t>
            </a:r>
          </a:p>
          <a:p>
            <a:pPr marL="285750" indent="-285750">
              <a:lnSpc>
                <a:spcPts val="1350"/>
              </a:lnSpc>
              <a:buFont typeface="Arial" panose="020B0604020202020204" pitchFamily="34" charset="0"/>
              <a:buChar char="•"/>
            </a:pPr>
            <a:r>
              <a:rPr lang="en-US" dirty="0">
                <a:effectLst/>
              </a:rPr>
              <a:t>business activity</a:t>
            </a:r>
          </a:p>
          <a:p>
            <a:pPr marL="285750" indent="-285750">
              <a:lnSpc>
                <a:spcPts val="1350"/>
              </a:lnSpc>
              <a:buFont typeface="Arial" panose="020B0604020202020204" pitchFamily="34" charset="0"/>
              <a:buChar char="•"/>
            </a:pPr>
            <a:r>
              <a:rPr lang="en-US" dirty="0">
                <a:effectLst/>
              </a:rPr>
              <a:t>public safety</a:t>
            </a:r>
          </a:p>
          <a:p>
            <a:pPr marL="285750" indent="-285750">
              <a:lnSpc>
                <a:spcPts val="1350"/>
              </a:lnSpc>
              <a:buFont typeface="Arial" panose="020B0604020202020204" pitchFamily="34" charset="0"/>
              <a:buChar char="•"/>
            </a:pPr>
            <a:r>
              <a:rPr lang="en-US" dirty="0">
                <a:effectLst/>
              </a:rPr>
              <a:t>social vulnerability</a:t>
            </a:r>
          </a:p>
          <a:p>
            <a:pPr marL="285750" indent="-285750">
              <a:lnSpc>
                <a:spcPts val="1350"/>
              </a:lnSpc>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285750" indent="-285750">
              <a:buFont typeface="Arial" panose="020B0604020202020204" pitchFamily="34" charset="0"/>
              <a:buChar char="•"/>
            </a:pPr>
            <a:r>
              <a:rPr lang="en-US" b="1" dirty="0"/>
              <a:t>Economic</a:t>
            </a:r>
            <a:r>
              <a:rPr lang="en-US" dirty="0"/>
              <a:t> </a:t>
            </a:r>
          </a:p>
          <a:p>
            <a:pPr lvl="1"/>
            <a:r>
              <a:rPr lang="en-US" dirty="0"/>
              <a:t>	</a:t>
            </a:r>
            <a:r>
              <a:rPr lang="en-US" dirty="0" err="1"/>
              <a:t>establishment_growth</a:t>
            </a:r>
            <a:r>
              <a:rPr lang="en-US" dirty="0"/>
              <a:t> </a:t>
            </a:r>
          </a:p>
          <a:p>
            <a:pPr lvl="1"/>
            <a:r>
              <a:rPr lang="en-US" dirty="0"/>
              <a:t>	</a:t>
            </a:r>
            <a:r>
              <a:rPr lang="en-US" dirty="0" err="1"/>
              <a:t>income_growth</a:t>
            </a:r>
            <a:r>
              <a:rPr lang="en-US" dirty="0"/>
              <a:t> </a:t>
            </a:r>
          </a:p>
          <a:p>
            <a:pPr marL="285750" indent="-285750">
              <a:buFont typeface="Arial" panose="020B0604020202020204" pitchFamily="34" charset="0"/>
              <a:buChar char="•"/>
            </a:pPr>
            <a:r>
              <a:rPr lang="en-US" b="1" dirty="0"/>
              <a:t>Public safety</a:t>
            </a:r>
            <a:r>
              <a:rPr lang="en-US" dirty="0"/>
              <a:t> </a:t>
            </a:r>
          </a:p>
          <a:p>
            <a:pPr lvl="1"/>
            <a:r>
              <a:rPr lang="en-US" dirty="0"/>
              <a:t>	</a:t>
            </a:r>
            <a:r>
              <a:rPr lang="en-US" dirty="0" err="1"/>
              <a:t>total_crime_rate</a:t>
            </a:r>
            <a:r>
              <a:rPr lang="en-US" dirty="0"/>
              <a:t> (lagged) </a:t>
            </a:r>
          </a:p>
          <a:p>
            <a:pPr marL="285750" indent="-285750">
              <a:buFont typeface="Arial" panose="020B0604020202020204" pitchFamily="34" charset="0"/>
              <a:buChar char="•"/>
            </a:pPr>
            <a:r>
              <a:rPr lang="en-US" b="1" dirty="0"/>
              <a:t>Demographic / structural</a:t>
            </a:r>
            <a:r>
              <a:rPr lang="en-US" dirty="0"/>
              <a:t> </a:t>
            </a:r>
          </a:p>
          <a:p>
            <a:pPr lvl="1"/>
            <a:r>
              <a:rPr lang="en-US" dirty="0"/>
              <a:t>	</a:t>
            </a:r>
            <a:r>
              <a:rPr lang="en-US" dirty="0" err="1"/>
              <a:t>natural_change_rate</a:t>
            </a:r>
            <a:r>
              <a:rPr lang="en-US" dirty="0"/>
              <a:t> (births – deaths) </a:t>
            </a:r>
          </a:p>
          <a:p>
            <a:pPr marL="285750" indent="-285750">
              <a:buFont typeface="Arial" panose="020B0604020202020204" pitchFamily="34" charset="0"/>
              <a:buChar char="•"/>
            </a:pPr>
            <a:r>
              <a:rPr lang="en-US" b="1" dirty="0"/>
              <a:t>Vulnerability / resilience</a:t>
            </a:r>
            <a:r>
              <a:rPr lang="en-US" dirty="0"/>
              <a:t> </a:t>
            </a:r>
          </a:p>
          <a:p>
            <a:pPr lvl="1"/>
            <a:r>
              <a:rPr lang="en-US" dirty="0"/>
              <a:t>	svi_pca_1 (social vulnerability index)</a:t>
            </a:r>
          </a:p>
          <a:p>
            <a:pPr>
              <a:lnSpc>
                <a:spcPts val="1350"/>
              </a:lnSpc>
            </a:pPr>
            <a:endParaRPr lang="en-US" dirty="0">
              <a:effectLst/>
            </a:endParaRPr>
          </a:p>
        </p:txBody>
      </p:sp>
    </p:spTree>
    <p:extLst>
      <p:ext uri="{BB962C8B-B14F-4D97-AF65-F5344CB8AC3E}">
        <p14:creationId xmlns:p14="http://schemas.microsoft.com/office/powerpoint/2010/main" val="4270778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1" dirty="0">
                <a:solidFill>
                  <a:schemeClr val="bg1"/>
                </a:solidFill>
              </a:rPr>
              <a:t>Counterfactual Policy Packages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5005216"/>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a:p>
            <a:pPr lvl="1"/>
            <a:endParaRPr lang="en-US" dirty="0"/>
          </a:p>
          <a:p>
            <a:pPr lvl="1"/>
            <a:r>
              <a:rPr lang="en-US" b="1" dirty="0"/>
              <a:t>3. Resilience &amp; vulnerability</a:t>
            </a:r>
          </a:p>
          <a:p>
            <a:pPr lvl="1"/>
            <a:r>
              <a:rPr lang="en-US" dirty="0"/>
              <a:t>	↓ SVI (reduce vulnerability exposure) </a:t>
            </a:r>
          </a:p>
          <a:p>
            <a:pPr lvl="1"/>
            <a:br>
              <a:rPr lang="en-US" dirty="0"/>
            </a:br>
            <a:endParaRPr lang="en-US" dirty="0"/>
          </a:p>
          <a:p>
            <a:pPr lvl="1"/>
            <a:r>
              <a:rPr lang="en-US" b="1" dirty="0"/>
              <a:t>4. Family &amp; demographic support</a:t>
            </a:r>
          </a:p>
          <a:p>
            <a:pPr lvl="1"/>
            <a:r>
              <a:rPr lang="en-US" dirty="0"/>
              <a:t>	↑ natural change rate </a:t>
            </a:r>
          </a:p>
          <a:p>
            <a:pPr lvl="1"/>
            <a:endParaRPr lang="en-US" dirty="0"/>
          </a:p>
          <a:p>
            <a:pPr lvl="1"/>
            <a:r>
              <a:rPr lang="en-US" b="1" dirty="0"/>
              <a:t>5. Retention bundle (most important)</a:t>
            </a:r>
          </a:p>
          <a:p>
            <a:pPr lvl="1"/>
            <a:r>
              <a:rPr lang="en-US" dirty="0"/>
              <a:t>	Combination of jobs, safety, resilience &amp; demographics</a:t>
            </a:r>
          </a:p>
          <a:p>
            <a:pPr>
              <a:lnSpc>
                <a:spcPts val="1350"/>
              </a:lnSpc>
            </a:pPr>
            <a:endParaRPr lang="en-US" dirty="0">
              <a:effectLst/>
            </a:endParaRPr>
          </a:p>
        </p:txBody>
      </p:sp>
    </p:spTree>
    <p:extLst>
      <p:ext uri="{BB962C8B-B14F-4D97-AF65-F5344CB8AC3E}">
        <p14:creationId xmlns:p14="http://schemas.microsoft.com/office/powerpoint/2010/main" val="17485315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30179-0DB9-2D0B-5773-D25FCC68DB7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3369159-7478-E673-F740-3CDD6E42143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B150FF2-0660-699A-8832-D5A9E0C0AA9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eaLnBrk="0" fontAlgn="base" hangingPunct="0">
              <a:spcAft>
                <a:spcPct val="0"/>
              </a:spcAft>
            </a:pPr>
            <a:r>
              <a:rPr lang="en-US" altLang="en-US" sz="3600" b="1" dirty="0">
                <a:solidFill>
                  <a:schemeClr val="bg1"/>
                </a:solidFill>
              </a:rPr>
              <a:t>Actionable Policy Insights</a:t>
            </a:r>
          </a:p>
        </p:txBody>
      </p:sp>
      <p:pic>
        <p:nvPicPr>
          <p:cNvPr id="10" name="Picture 9" descr="A graph of different colored bars&#10;&#10;AI-generated content may be incorrect.">
            <a:extLst>
              <a:ext uri="{FF2B5EF4-FFF2-40B4-BE49-F238E27FC236}">
                <a16:creationId xmlns:a16="http://schemas.microsoft.com/office/drawing/2014/main" id="{B7024AA7-2E13-2554-A6E7-EAAEDCE52D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624" y="1368962"/>
            <a:ext cx="8426663" cy="4557276"/>
          </a:xfrm>
          <a:prstGeom prst="rect">
            <a:avLst/>
          </a:prstGeom>
        </p:spPr>
      </p:pic>
    </p:spTree>
    <p:extLst>
      <p:ext uri="{BB962C8B-B14F-4D97-AF65-F5344CB8AC3E}">
        <p14:creationId xmlns:p14="http://schemas.microsoft.com/office/powerpoint/2010/main" val="658175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C3A81-AA87-3908-006D-6032611734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1C5401F-459E-4B3E-3886-882BA58E497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9DAB5F5-4FDD-783D-5234-D2CB050C01B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eaLnBrk="0" fontAlgn="base" hangingPunct="0">
              <a:spcAft>
                <a:spcPct val="0"/>
              </a:spcAft>
            </a:pPr>
            <a:r>
              <a:rPr lang="en-US" altLang="en-US" sz="3600" b="1" dirty="0">
                <a:solidFill>
                  <a:schemeClr val="bg1"/>
                </a:solidFill>
              </a:rPr>
              <a:t>Actionable Policy Insights</a:t>
            </a:r>
          </a:p>
        </p:txBody>
      </p:sp>
      <p:pic>
        <p:nvPicPr>
          <p:cNvPr id="3" name="Picture 2" descr="A graph of a line graph&#10;&#10;AI-generated content may be incorrect.">
            <a:extLst>
              <a:ext uri="{FF2B5EF4-FFF2-40B4-BE49-F238E27FC236}">
                <a16:creationId xmlns:a16="http://schemas.microsoft.com/office/drawing/2014/main" id="{386A9B98-CF86-62A9-70E2-532D02FA82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113" y="1503874"/>
            <a:ext cx="8429150" cy="4507182"/>
          </a:xfrm>
          <a:prstGeom prst="rect">
            <a:avLst/>
          </a:prstGeom>
        </p:spPr>
      </p:pic>
    </p:spTree>
    <p:extLst>
      <p:ext uri="{BB962C8B-B14F-4D97-AF65-F5344CB8AC3E}">
        <p14:creationId xmlns:p14="http://schemas.microsoft.com/office/powerpoint/2010/main" val="1771775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descr="A graph with lines and numbers&#10;&#10;AI-generated content may be incorrect.">
            <a:extLst>
              <a:ext uri="{FF2B5EF4-FFF2-40B4-BE49-F238E27FC236}">
                <a16:creationId xmlns:a16="http://schemas.microsoft.com/office/drawing/2014/main" id="{CF51E733-B060-1ECD-5199-6494AA7A9D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6160" y="3693160"/>
            <a:ext cx="4647656" cy="2494280"/>
          </a:xfrm>
          <a:prstGeom prst="rect">
            <a:avLst/>
          </a:prstGeom>
        </p:spPr>
      </p:pic>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5016758"/>
          </a:xfrm>
          <a:prstGeom prst="rect">
            <a:avLst/>
          </a:prstGeom>
          <a:noFill/>
        </p:spPr>
        <p:txBody>
          <a:bodyPr wrap="square">
            <a:spAutoFit/>
          </a:bodyPr>
          <a:lstStyle/>
          <a:p>
            <a:r>
              <a:rPr lang="en-US" sz="1600" b="1" dirty="0"/>
              <a:t>Key Findings: </a:t>
            </a:r>
          </a:p>
          <a:p>
            <a:pPr marL="285750" indent="-285750">
              <a:buFont typeface="Arial" panose="020B0604020202020204" pitchFamily="34" charset="0"/>
              <a:buChar char="•"/>
            </a:pPr>
            <a:r>
              <a:rPr lang="en-US" sz="1600" dirty="0"/>
              <a:t>Puerto Rico continues to show a persistent population decline (~0.6% per year)</a:t>
            </a:r>
            <a:br>
              <a:rPr lang="en-US" sz="1600" dirty="0"/>
            </a:br>
            <a:r>
              <a:rPr lang="en-US" sz="1600" dirty="0"/>
              <a:t>≈ ~20,000 people lost annually</a:t>
            </a:r>
          </a:p>
          <a:p>
            <a:pPr marL="285750" indent="-285750">
              <a:buFont typeface="Arial" panose="020B0604020202020204" pitchFamily="34" charset="0"/>
              <a:buChar char="•"/>
            </a:pPr>
            <a:r>
              <a:rPr lang="en-US" sz="1600" dirty="0"/>
              <a:t>Policy interventions can slow decline, but do not reverse it</a:t>
            </a:r>
          </a:p>
          <a:p>
            <a:pPr marL="285750" indent="-285750">
              <a:buFont typeface="Arial" panose="020B0604020202020204" pitchFamily="34" charset="0"/>
              <a:buChar char="•"/>
            </a:pPr>
            <a:r>
              <a:rPr lang="en-US" sz="1600" dirty="0"/>
              <a:t>Retention and recovery bundles reduce losses but remain below current levels</a:t>
            </a:r>
          </a:p>
          <a:p>
            <a:pPr marL="285750" indent="-285750">
              <a:buFont typeface="Arial" panose="020B0604020202020204" pitchFamily="34" charset="0"/>
              <a:buChar char="•"/>
            </a:pPr>
            <a:r>
              <a:rPr lang="en-US" sz="1600" dirty="0"/>
              <a:t>A population increase only appears under strong recovery + return-migration conditions</a:t>
            </a:r>
            <a:br>
              <a:rPr lang="en-US" sz="1600" dirty="0"/>
            </a:br>
            <a:endParaRPr lang="en-US" sz="1600" dirty="0"/>
          </a:p>
          <a:p>
            <a:r>
              <a:rPr lang="en-US" sz="1600" b="1" dirty="0"/>
              <a:t>Model Insight</a:t>
            </a:r>
          </a:p>
          <a:p>
            <a:pPr marL="285750" indent="-285750">
              <a:buFont typeface="Arial" panose="020B0604020202020204" pitchFamily="34" charset="0"/>
              <a:buChar char="•"/>
            </a:pPr>
            <a:r>
              <a:rPr lang="en-US" sz="1600" dirty="0"/>
              <a:t>Population change is highly path-dependent</a:t>
            </a:r>
          </a:p>
          <a:p>
            <a:pPr marL="285750" indent="-285750">
              <a:buFont typeface="Arial" panose="020B0604020202020204" pitchFamily="34" charset="0"/>
              <a:buChar char="•"/>
            </a:pPr>
            <a:r>
              <a:rPr lang="en-US" sz="1600" dirty="0"/>
              <a:t>Lagged population dynamics dominate future outcomes</a:t>
            </a:r>
          </a:p>
          <a:p>
            <a:pPr marL="285750" indent="-285750">
              <a:buFont typeface="Arial" panose="020B0604020202020204" pitchFamily="34" charset="0"/>
              <a:buChar char="•"/>
            </a:pPr>
            <a:r>
              <a:rPr lang="en-US" sz="1600" dirty="0"/>
              <a:t>Disasters are not strong direct predictors</a:t>
            </a:r>
          </a:p>
          <a:p>
            <a:pPr marL="285750" indent="-285750">
              <a:buFont typeface="Arial" panose="020B0604020202020204" pitchFamily="34" charset="0"/>
              <a:buChar char="•"/>
            </a:pPr>
            <a:r>
              <a:rPr lang="en-US" sz="1600" dirty="0"/>
              <a:t>Effects are indirect and propagate over time</a:t>
            </a:r>
          </a:p>
          <a:p>
            <a:pPr marL="285750" indent="-285750">
              <a:buFont typeface="Arial" panose="020B0604020202020204" pitchFamily="34" charset="0"/>
              <a:buChar char="•"/>
            </a:pPr>
            <a:r>
              <a:rPr lang="en-US" sz="1600" dirty="0"/>
              <a:t>Reversing decline requires overcoming structural momentum</a:t>
            </a:r>
            <a:br>
              <a:rPr lang="en-US" sz="1600" dirty="0"/>
            </a:br>
            <a:endParaRPr lang="en-US" sz="1600" dirty="0"/>
          </a:p>
          <a:p>
            <a:r>
              <a:rPr lang="en-US" sz="1600" b="1" dirty="0"/>
              <a:t>Key Insight: </a:t>
            </a:r>
            <a:r>
              <a:rPr lang="en-US" sz="1600" dirty="0"/>
              <a:t>Population decline in Puerto Rico is persistent and momentum-driven, where policies can slow losses, but only a strong, coordinated recovery dynamic can stabilize or temporarily reverse the trend</a:t>
            </a:r>
          </a:p>
        </p:txBody>
      </p:sp>
      <p:pic>
        <p:nvPicPr>
          <p:cNvPr id="9" name="Picture 8" descr="A graph of different colored bars&#10;&#10;AI-generated content may be incorrect.">
            <a:extLst>
              <a:ext uri="{FF2B5EF4-FFF2-40B4-BE49-F238E27FC236}">
                <a16:creationId xmlns:a16="http://schemas.microsoft.com/office/drawing/2014/main" id="{9A33CC87-A651-632B-F8DC-6E5C518D83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38719" y="1368962"/>
            <a:ext cx="3895009" cy="2106484"/>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descr="A graph of different types of graphs&#10;&#10;AI-generated content may be incorrect.">
            <a:extLst>
              <a:ext uri="{FF2B5EF4-FFF2-40B4-BE49-F238E27FC236}">
                <a16:creationId xmlns:a16="http://schemas.microsoft.com/office/drawing/2014/main" id="{E3BCD7A5-DEC1-9976-42CD-1C6257A454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878" y="1368961"/>
            <a:ext cx="7316392" cy="3869245"/>
          </a:xfrm>
          <a:prstGeom prst="rect">
            <a:avLst/>
          </a:prstGeom>
        </p:spPr>
      </p:pic>
      <p:pic>
        <p:nvPicPr>
          <p:cNvPr id="9" name="Picture 8" descr="A graph and chart with blue and red lines&#10;&#10;AI-generated content may be incorrect.">
            <a:extLst>
              <a:ext uri="{FF2B5EF4-FFF2-40B4-BE49-F238E27FC236}">
                <a16:creationId xmlns:a16="http://schemas.microsoft.com/office/drawing/2014/main" id="{444245DB-B516-C39B-1114-69AE3D9DECA7}"/>
              </a:ext>
            </a:extLst>
          </p:cNvPr>
          <p:cNvPicPr>
            <a:picLocks noChangeAspect="1"/>
          </p:cNvPicPr>
          <p:nvPr/>
        </p:nvPicPr>
        <p:blipFill>
          <a:blip r:embed="rId4">
            <a:extLst>
              <a:ext uri="{28A0092B-C50C-407E-A947-70E740481C1C}">
                <a14:useLocalDpi xmlns:a14="http://schemas.microsoft.com/office/drawing/2010/main" val="0"/>
              </a:ext>
            </a:extLst>
          </a:blip>
          <a:srcRect r="49313"/>
          <a:stretch>
            <a:fillRect/>
          </a:stretch>
        </p:blipFill>
        <p:spPr>
          <a:xfrm>
            <a:off x="8355061" y="1653166"/>
            <a:ext cx="3662061" cy="2441468"/>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246298"/>
            <a:ext cx="11673769" cy="4524315"/>
          </a:xfrm>
          <a:prstGeom prst="rect">
            <a:avLst/>
          </a:prstGeom>
          <a:noFill/>
        </p:spPr>
        <p:txBody>
          <a:bodyPr wrap="square">
            <a:spAutoFit/>
          </a:bodyPr>
          <a:lstStyle/>
          <a:p>
            <a:pPr lvl="0" eaLnBrk="0" fontAlgn="base" hangingPunct="0">
              <a:spcBef>
                <a:spcPct val="0"/>
              </a:spcBef>
              <a:spcAft>
                <a:spcPct val="0"/>
              </a:spcAft>
            </a:pPr>
            <a:r>
              <a:rPr lang="en-US" sz="2400" b="1" dirty="0"/>
              <a:t>Policy Simulation &amp; Scenario Analysis</a:t>
            </a:r>
          </a:p>
          <a:p>
            <a:pPr lvl="0" eaLnBrk="0" fontAlgn="base" hangingPunct="0">
              <a:spcBef>
                <a:spcPct val="0"/>
              </a:spcBef>
              <a:spcAft>
                <a:spcPct val="0"/>
              </a:spcAft>
            </a:pPr>
            <a:endParaRPr lang="en-US" sz="2400" dirty="0"/>
          </a:p>
          <a:p>
            <a:pPr lvl="0" eaLnBrk="0" fontAlgn="base" hangingPunct="0">
              <a:spcBef>
                <a:spcPct val="0"/>
              </a:spcBef>
              <a:spcAft>
                <a:spcPct val="0"/>
              </a:spcAft>
            </a:pPr>
            <a:r>
              <a:rPr lang="en-US" altLang="en-US" sz="2400" b="1" dirty="0"/>
              <a:t>Goal: </a:t>
            </a:r>
            <a:r>
              <a:rPr lang="en-US" altLang="en-US" sz="2400" dirty="0"/>
              <a:t>Translate predictive modeling into actionable policy insights</a:t>
            </a:r>
          </a:p>
          <a:p>
            <a:pPr lvl="0" eaLnBrk="0" fontAlgn="base" hangingPunct="0">
              <a:spcBef>
                <a:spcPct val="0"/>
              </a:spcBef>
              <a:spcAft>
                <a:spcPct val="0"/>
              </a:spcAft>
            </a:pPr>
            <a:endParaRPr lang="en-US" sz="2400" dirty="0"/>
          </a:p>
          <a:p>
            <a:pPr marL="285750" lvl="0" indent="-285750" eaLnBrk="0" fontAlgn="base" hangingPunct="0">
              <a:spcBef>
                <a:spcPct val="0"/>
              </a:spcBef>
              <a:spcAft>
                <a:spcPct val="0"/>
              </a:spcAft>
              <a:buFont typeface="Arial" panose="020B0604020202020204" pitchFamily="34" charset="0"/>
              <a:buChar char="•"/>
            </a:pPr>
            <a:r>
              <a:rPr lang="en-US" sz="2400" dirty="0"/>
              <a:t>Extend forecasting into policy-driven scenarios </a:t>
            </a:r>
          </a:p>
          <a:p>
            <a:pPr marL="742950" lvl="1" indent="-285750" eaLnBrk="0" fontAlgn="base" hangingPunct="0">
              <a:spcBef>
                <a:spcPct val="0"/>
              </a:spcBef>
              <a:spcAft>
                <a:spcPct val="0"/>
              </a:spcAft>
              <a:buFont typeface="Arial" panose="020B0604020202020204" pitchFamily="34" charset="0"/>
              <a:buChar char="•"/>
            </a:pPr>
            <a:r>
              <a:rPr lang="en-US" sz="2400" dirty="0"/>
              <a:t>Simulate interventions (jobs, retention, resilience strategies)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Evaluate policy effectiveness </a:t>
            </a:r>
          </a:p>
          <a:p>
            <a:pPr marL="742950" lvl="1" indent="-285750" eaLnBrk="0" fontAlgn="base" hangingPunct="0">
              <a:spcBef>
                <a:spcPct val="0"/>
              </a:spcBef>
              <a:spcAft>
                <a:spcPct val="0"/>
              </a:spcAft>
              <a:buFont typeface="Arial" panose="020B0604020202020204" pitchFamily="34" charset="0"/>
              <a:buChar char="•"/>
            </a:pPr>
            <a:r>
              <a:rPr lang="en-US" sz="2400" dirty="0"/>
              <a:t>Identify which strategies slow population decline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Integrate results into interactive dashboard </a:t>
            </a:r>
          </a:p>
          <a:p>
            <a:pPr marL="742950" lvl="1" indent="-285750" eaLnBrk="0" fontAlgn="base" hangingPunct="0">
              <a:spcBef>
                <a:spcPct val="0"/>
              </a:spcBef>
              <a:spcAft>
                <a:spcPct val="0"/>
              </a:spcAft>
              <a:buFont typeface="Arial" panose="020B0604020202020204" pitchFamily="34" charset="0"/>
              <a:buChar char="•"/>
            </a:pPr>
            <a:r>
              <a:rPr lang="en-US" sz="2400" dirty="0"/>
              <a:t>Expand website with scenario exploration tools </a:t>
            </a:r>
            <a:r>
              <a:rPr lang="en-US" altLang="en-US" sz="2400" dirty="0"/>
              <a:t> </a:t>
            </a:r>
          </a:p>
        </p:txBody>
      </p:sp>
    </p:spTree>
    <p:extLst>
      <p:ext uri="{BB962C8B-B14F-4D97-AF65-F5344CB8AC3E}">
        <p14:creationId xmlns:p14="http://schemas.microsoft.com/office/powerpoint/2010/main" val="8842645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524315"/>
          </a:xfrm>
          <a:prstGeom prst="rect">
            <a:avLst/>
          </a:prstGeom>
          <a:noFill/>
        </p:spPr>
        <p:txBody>
          <a:bodyPr wrap="square">
            <a:spAutoFit/>
          </a:bodyPr>
          <a:lstStyle/>
          <a:p>
            <a:r>
              <a:rPr lang="en-US" sz="2400" b="1" dirty="0"/>
              <a:t>Population decline in Puerto Rico is not random:</a:t>
            </a:r>
          </a:p>
          <a:p>
            <a:pPr marL="342900" indent="-342900">
              <a:buFont typeface="Arial" panose="020B0604020202020204" pitchFamily="34" charset="0"/>
              <a:buChar char="•"/>
            </a:pPr>
            <a:r>
              <a:rPr lang="en-US" sz="2400" b="1" dirty="0"/>
              <a:t>Structured </a:t>
            </a:r>
            <a:r>
              <a:rPr lang="en-US" sz="2400" dirty="0"/>
              <a:t>— driven by economic and social conditions </a:t>
            </a:r>
          </a:p>
          <a:p>
            <a:pPr marL="342900" indent="-342900">
              <a:buFont typeface="Arial" panose="020B0604020202020204" pitchFamily="34" charset="0"/>
              <a:buChar char="•"/>
            </a:pPr>
            <a:r>
              <a:rPr lang="en-US" sz="2400" b="1" dirty="0"/>
              <a:t>Spatial </a:t>
            </a:r>
            <a:r>
              <a:rPr lang="en-US" sz="2400" dirty="0"/>
              <a:t>— concentrated in specific regions </a:t>
            </a:r>
          </a:p>
          <a:p>
            <a:pPr marL="342900" indent="-342900">
              <a:buFont typeface="Arial" panose="020B0604020202020204" pitchFamily="34" charset="0"/>
              <a:buChar char="•"/>
            </a:pPr>
            <a:r>
              <a:rPr lang="en-US" sz="2400" b="1" dirty="0"/>
              <a:t>Persistent </a:t>
            </a:r>
            <a:r>
              <a:rPr lang="en-US" sz="2400" dirty="0"/>
              <a:t>— consistent over time </a:t>
            </a:r>
            <a:br>
              <a:rPr lang="en-US" sz="2400" dirty="0"/>
            </a:br>
            <a:endParaRPr lang="en-US" sz="2400" dirty="0"/>
          </a:p>
          <a:p>
            <a:r>
              <a:rPr lang="en-US" sz="2400" b="1" dirty="0"/>
              <a:t>What the Model Revealed</a:t>
            </a:r>
          </a:p>
          <a:p>
            <a:pPr marL="285750" indent="-285750">
              <a:buFont typeface="Arial" panose="020B0604020202020204" pitchFamily="34" charset="0"/>
              <a:buChar char="•"/>
            </a:pPr>
            <a:r>
              <a:rPr lang="en-US" sz="2400" dirty="0"/>
              <a:t>Short-term population change is highly unpredictable </a:t>
            </a:r>
          </a:p>
          <a:p>
            <a:pPr marL="285750" indent="-285750">
              <a:buFont typeface="Arial" panose="020B0604020202020204" pitchFamily="34" charset="0"/>
              <a:buChar char="•"/>
            </a:pPr>
            <a:r>
              <a:rPr lang="en-US" sz="2400" dirty="0"/>
              <a:t>But underlying structural patterns are stable and detectable </a:t>
            </a:r>
          </a:p>
          <a:p>
            <a:pPr marL="285750" indent="-285750">
              <a:buFont typeface="Arial" panose="020B0604020202020204" pitchFamily="34" charset="0"/>
              <a:buChar char="•"/>
            </a:pPr>
            <a:r>
              <a:rPr lang="en-US" sz="2400" dirty="0"/>
              <a:t>Structural patterns become clear at longer horizons (3-year target) </a:t>
            </a:r>
            <a:br>
              <a:rPr lang="en-US" sz="2400" dirty="0"/>
            </a:br>
            <a:endParaRPr lang="en-US" sz="2400" dirty="0"/>
          </a:p>
          <a:p>
            <a:r>
              <a:rPr lang="en-US" sz="2400" b="1" dirty="0"/>
              <a:t>Conclusion: </a:t>
            </a:r>
            <a:r>
              <a:rPr lang="en-US" sz="24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Props1.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3.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Rutgers Theme</Template>
  <TotalTime>29287</TotalTime>
  <Words>3502</Words>
  <Application>Microsoft Macintosh PowerPoint</Application>
  <PresentationFormat>Widescreen</PresentationFormat>
  <Paragraphs>405</Paragraphs>
  <Slides>27</Slides>
  <Notes>26</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Roboto</vt:lpstr>
      <vt:lpstr>Source sans 3</vt:lpstr>
      <vt:lpstr>Merriweather</vt:lpstr>
      <vt:lpstr>Symbol</vt:lpstr>
      <vt:lpstr>Arial</vt:lpstr>
      <vt:lpstr>Cambria Math</vt:lpstr>
      <vt:lpstr>Calibri</vt:lpstr>
      <vt:lpstr>PT serif</vt:lpstr>
      <vt:lpstr>Wingdings</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395</cp:revision>
  <cp:lastPrinted>2025-12-23T15:43:13Z</cp:lastPrinted>
  <dcterms:created xsi:type="dcterms:W3CDTF">2018-07-12T14:29:14Z</dcterms:created>
  <dcterms:modified xsi:type="dcterms:W3CDTF">2026-04-26T20:23:30Z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