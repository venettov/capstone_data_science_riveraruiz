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27"/>
  </p:notesMasterIdLst>
  <p:handoutMasterIdLst>
    <p:handoutMasterId r:id="rId28"/>
  </p:handoutMasterIdLst>
  <p:sldIdLst>
    <p:sldId id="408" r:id="rId5"/>
    <p:sldId id="407" r:id="rId6"/>
    <p:sldId id="409" r:id="rId7"/>
    <p:sldId id="411" r:id="rId8"/>
    <p:sldId id="419" r:id="rId9"/>
    <p:sldId id="412" r:id="rId10"/>
    <p:sldId id="420" r:id="rId11"/>
    <p:sldId id="421" r:id="rId12"/>
    <p:sldId id="426" r:id="rId13"/>
    <p:sldId id="427" r:id="rId14"/>
    <p:sldId id="422" r:id="rId15"/>
    <p:sldId id="423" r:id="rId16"/>
    <p:sldId id="424" r:id="rId17"/>
    <p:sldId id="425" r:id="rId18"/>
    <p:sldId id="428" r:id="rId19"/>
    <p:sldId id="392" r:id="rId20"/>
    <p:sldId id="273" r:id="rId21"/>
    <p:sldId id="275" r:id="rId22"/>
    <p:sldId id="276" r:id="rId23"/>
    <p:sldId id="277" r:id="rId24"/>
    <p:sldId id="279" r:id="rId25"/>
    <p:sldId id="281" r:id="rId26"/>
  </p:sldIdLst>
  <p:sldSz cx="12192000" cy="6858000"/>
  <p:notesSz cx="9296400" cy="7010400"/>
  <p:embeddedFontLst>
    <p:embeddedFont>
      <p:font typeface="Cambria Math" panose="02040503050406030204" pitchFamily="18" charset="0"/>
      <p:regular r:id="rId29"/>
    </p:embeddedFont>
    <p:embeddedFont>
      <p:font typeface="Merriweather" pitchFamily="2" charset="77"/>
      <p:regular r:id="rId30"/>
      <p:bold r:id="rId31"/>
      <p:italic r:id="rId32"/>
      <p:boldItalic r:id="rId33"/>
    </p:embeddedFont>
    <p:embeddedFont>
      <p:font typeface="PT serif" panose="020A0603040505020204" pitchFamily="18" charset="77"/>
      <p:regular r:id="rId34"/>
      <p:bold r:id="rId35"/>
      <p:italic r:id="rId36"/>
      <p:boldItalic r:id="rId37"/>
    </p:embeddedFont>
    <p:embeddedFont>
      <p:font typeface="Roboto" panose="02000000000000000000" pitchFamily="2" charset="0"/>
      <p:regular r:id="rId38"/>
      <p:bold r:id="rId39"/>
      <p:italic r:id="rId40"/>
      <p:boldItalic r:id="rId41"/>
    </p:embeddedFont>
    <p:embeddedFont>
      <p:font typeface="Source sans 3" panose="020B0303030403020204" pitchFamily="34" charset="0"/>
      <p:regular r:id="rId42"/>
      <p:bold r:id="rId43"/>
      <p:italic r:id="rId44"/>
      <p:boldItalic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289"/>
    <a:srgbClr val="F3D169"/>
    <a:srgbClr val="E8B51F"/>
    <a:srgbClr val="E0002B"/>
    <a:srgbClr val="D82042"/>
    <a:srgbClr val="ECC734"/>
    <a:srgbClr val="FFD579"/>
    <a:srgbClr val="988CB0"/>
    <a:srgbClr val="CC0033"/>
    <a:srgbClr val="62E8DD"/>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32"/>
    <p:restoredTop sz="83700"/>
  </p:normalViewPr>
  <p:slideViewPr>
    <p:cSldViewPr snapToGrid="0">
      <p:cViewPr>
        <p:scale>
          <a:sx n="130" d="100"/>
          <a:sy n="130" d="100"/>
        </p:scale>
        <p:origin x="1128" y="248"/>
      </p:cViewPr>
      <p:guideLst>
        <p:guide pos="3040"/>
        <p:guide orient="horz" pos="2160"/>
      </p:guideLst>
    </p:cSldViewPr>
  </p:slideViewPr>
  <p:notesTextViewPr>
    <p:cViewPr>
      <p:scale>
        <a:sx n="90" d="100"/>
        <a:sy n="9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1.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3/13/26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3/13/26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t>Exploratory Data Analysis</a:t>
            </a:r>
            <a:r>
              <a:rPr lang="en-US" sz="1800" dirty="0"/>
              <a:t>.</a:t>
            </a:r>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88145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1908446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both supervised and unsupervised methods. Supervised models such as Random </a:t>
            </a:r>
            <a:r>
              <a:rPr lang="en-US" dirty="0" err="1"/>
              <a:t>Forestand</a:t>
            </a:r>
            <a:r>
              <a:rPr lang="en-US" dirty="0"/>
              <a:t> Lasso  are used to predict population change. Unsupervised methods, including K-Means and hierarchical clustering, are then used to identify structural municipal typologies based on socioeconomic and environmental characteristics.</a:t>
            </a:r>
          </a:p>
          <a:p>
            <a:endParaRPr lang="en-US" dirty="0"/>
          </a:p>
          <a:p>
            <a:endParaRPr lang="en-US" dirty="0"/>
          </a:p>
          <a:p>
            <a:r>
              <a:rPr lang="en-US" b="1" dirty="0"/>
              <a:t>Why Clustering Comes After Prediction</a:t>
            </a:r>
          </a:p>
          <a:p>
            <a:r>
              <a:rPr lang="en-US" dirty="0"/>
              <a:t>Clustering works best </a:t>
            </a:r>
            <a:r>
              <a:rPr lang="en-US" b="1" dirty="0"/>
              <a:t>after you understand the data</a:t>
            </a:r>
            <a:r>
              <a:rPr lang="en-US" dirty="0"/>
              <a:t>.</a:t>
            </a:r>
          </a:p>
          <a:p>
            <a:r>
              <a:rPr lang="en-US" dirty="0"/>
              <a:t>By Phase 5 you already have:</a:t>
            </a:r>
          </a:p>
          <a:p>
            <a:r>
              <a:rPr lang="en-US" dirty="0"/>
              <a:t>engineered features</a:t>
            </a:r>
          </a:p>
          <a:p>
            <a:r>
              <a:rPr lang="en-US" dirty="0"/>
              <a:t>vulnerability index</a:t>
            </a:r>
          </a:p>
          <a:p>
            <a:r>
              <a:rPr lang="en-US" dirty="0"/>
              <a:t>population change</a:t>
            </a:r>
          </a:p>
          <a:p>
            <a:r>
              <a:rPr lang="en-US" dirty="0"/>
              <a:t>economic indicators</a:t>
            </a:r>
          </a:p>
          <a:p>
            <a:r>
              <a:rPr lang="en-US" dirty="0"/>
              <a:t>disaster exposure</a:t>
            </a:r>
          </a:p>
          <a:p>
            <a:r>
              <a:rPr lang="en-US" dirty="0"/>
              <a:t>Now clustering can identify </a:t>
            </a:r>
            <a:r>
              <a:rPr lang="en-US" b="1" dirty="0"/>
              <a:t>municipal typologies</a:t>
            </a:r>
            <a:r>
              <a:rPr lang="en-US" dirty="0"/>
              <a:t>.</a:t>
            </a:r>
          </a:p>
          <a:p>
            <a:r>
              <a:rPr lang="en-US" dirty="0"/>
              <a:t>Example clusters might represent:</a:t>
            </a:r>
          </a:p>
          <a:p>
            <a:r>
              <a:rPr lang="en-US" dirty="0" err="1"/>
              <a:t>ClusterInterpretationCluster</a:t>
            </a:r>
            <a:r>
              <a:rPr lang="en-US" dirty="0"/>
              <a:t> 1high-income stable </a:t>
            </a:r>
            <a:r>
              <a:rPr lang="en-US" dirty="0" err="1"/>
              <a:t>municipalitiesCluster</a:t>
            </a:r>
            <a:r>
              <a:rPr lang="en-US" dirty="0"/>
              <a:t> 2economically vulnerable </a:t>
            </a:r>
            <a:r>
              <a:rPr lang="en-US" dirty="0" err="1"/>
              <a:t>areasCluster</a:t>
            </a:r>
            <a:r>
              <a:rPr lang="en-US" dirty="0"/>
              <a:t> 3disaster-exposed municipalities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7</a:t>
            </a:fld>
            <a:endParaRPr lang="en-US" dirty="0"/>
          </a:p>
        </p:txBody>
      </p:sp>
    </p:spTree>
    <p:extLst>
      <p:ext uri="{BB962C8B-B14F-4D97-AF65-F5344CB8AC3E}">
        <p14:creationId xmlns:p14="http://schemas.microsoft.com/office/powerpoint/2010/main" val="2599977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modeling strategy combines interpretable statistical models with machine learning algorithms. OLS provides a baseline understanding of feature relationships, while Random Forest and Gradient Boosting capture nonlinear population dynamics. Ridge, Lasso, and SHAP are then used to interpret the drivers of the model’s predictions.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3954245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modeling strategy combines interpretable statistical models with machine learning algorithms. OLS provides a baseline understanding of feature relationships, while Random Forest and Gradient Boosting capture nonlinear population dynamics. Ridge, Lasso, and SHAP are then used to interpret the drivers of the model’s predictions.</a:t>
            </a:r>
          </a:p>
        </p:txBody>
      </p:sp>
      <p:sp>
        <p:nvSpPr>
          <p:cNvPr id="4" name="Slide Number Placeholder 3"/>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2768766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several models using R² as the main performance metric. While all models produced negative R² scores—indicating the prediction task is highly challenging—the Lasso regression performed best among the tested methods. This suggests that feature selection improves predictive performance and that the relationship between socioeconomic variables and municipal population change is complex and noisy.</a:t>
            </a:r>
          </a:p>
          <a:p>
            <a:endParaRPr lang="en-US" dirty="0"/>
          </a:p>
          <a:p>
            <a:r>
              <a:rPr lang="en-US" dirty="0"/>
              <a:t>Initial models show negative R² values, indicating that predicting annual municipal population change is challenging given the available features and high variability in migration dynamics. However, model comparison still provides useful insights. Regularized models such as Lasso perform better than the baseline OLS model, suggesting that feature selection improves generalization.</a:t>
            </a:r>
          </a:p>
          <a:p>
            <a:endParaRPr lang="en-US" dirty="0"/>
          </a:p>
          <a:p>
            <a:endParaRPr lang="en-US" dirty="0"/>
          </a:p>
          <a:p>
            <a:r>
              <a:rPr lang="en-US" dirty="0"/>
              <a:t>Lasso performs best</a:t>
            </a:r>
          </a:p>
          <a:p>
            <a:r>
              <a:rPr lang="en-US" dirty="0"/>
              <a:t>Tree model performs second</a:t>
            </a:r>
          </a:p>
          <a:p>
            <a:r>
              <a:rPr lang="en-US" dirty="0"/>
              <a:t>Ridge and OLS perform worse</a:t>
            </a:r>
          </a:p>
          <a:p>
            <a:r>
              <a:rPr lang="en-US" dirty="0"/>
              <a:t>So </a:t>
            </a:r>
            <a:r>
              <a:rPr lang="en-US" b="1" dirty="0"/>
              <a:t>the ranking is consistent</a:t>
            </a:r>
            <a:r>
              <a:rPr lang="en-US" dirty="0"/>
              <a:t>, which is a good sign.</a:t>
            </a:r>
          </a:p>
          <a:p>
            <a:endParaRPr lang="en-US" dirty="0"/>
          </a:p>
          <a:p>
            <a:endParaRPr lang="en-US" dirty="0"/>
          </a:p>
          <a:p>
            <a:pPr rtl="0"/>
            <a:r>
              <a:rPr lang="en-US" sz="1200" kern="1200" dirty="0">
                <a:solidFill>
                  <a:schemeClr val="tx1"/>
                </a:solidFill>
                <a:latin typeface="+mn-lt"/>
                <a:ea typeface="+mn-ea"/>
                <a:cs typeface="+mn-cs"/>
              </a:rPr>
              <a:t>We are predicting annual population change w</a:t>
            </a:r>
            <a:r>
              <a:rPr lang="en-US" dirty="0"/>
              <a:t>hich tends to be:</a:t>
            </a:r>
          </a:p>
          <a:p>
            <a:r>
              <a:rPr lang="en-US" dirty="0"/>
              <a:t>volatile</a:t>
            </a:r>
          </a:p>
          <a:p>
            <a:r>
              <a:rPr lang="en-US" dirty="0"/>
              <a:t>hard to predict</a:t>
            </a:r>
          </a:p>
          <a:p>
            <a:r>
              <a:rPr lang="en-US" dirty="0"/>
              <a:t>noisy</a:t>
            </a:r>
          </a:p>
          <a:p>
            <a:endParaRPr lang="en-US" dirty="0"/>
          </a:p>
          <a:p>
            <a:endParaRPr lang="en-US" dirty="0"/>
          </a:p>
          <a:p>
            <a:endParaRPr lang="en-US" dirty="0"/>
          </a:p>
          <a:p>
            <a:r>
              <a:rPr lang="en-US" b="1" dirty="0"/>
              <a:t>Why Are All R² Values Negative?</a:t>
            </a:r>
          </a:p>
          <a:p>
            <a:r>
              <a:rPr lang="en-US" dirty="0"/>
              <a:t>This is </a:t>
            </a:r>
            <a:r>
              <a:rPr lang="en-US" b="1" dirty="0"/>
              <a:t>very important to understand</a:t>
            </a:r>
            <a:r>
              <a:rPr lang="en-US" dirty="0"/>
              <a:t>.</a:t>
            </a:r>
          </a:p>
          <a:p>
            <a:r>
              <a:rPr lang="en-US" dirty="0"/>
              <a:t>The R² formula is:</a:t>
            </a:r>
          </a:p>
          <a:p>
            <a:r>
              <a:rPr lang="en-US" dirty="0"/>
              <a:t>R² = 1 − (Model Error / Baseline Error)</a:t>
            </a:r>
          </a:p>
          <a:p>
            <a:r>
              <a:rPr lang="en-US" dirty="0"/>
              <a:t>If the model performs </a:t>
            </a:r>
            <a:r>
              <a:rPr lang="en-US" b="1" dirty="0"/>
              <a:t>worse than predicting the mean</a:t>
            </a:r>
            <a:r>
              <a:rPr lang="en-US" dirty="0"/>
              <a:t>, R² becomes </a:t>
            </a:r>
            <a:r>
              <a:rPr lang="en-US" b="1" dirty="0"/>
              <a:t>negative</a:t>
            </a:r>
            <a:r>
              <a:rPr lang="en-US" dirty="0"/>
              <a:t>.</a:t>
            </a:r>
          </a:p>
          <a:p>
            <a:r>
              <a:rPr lang="en-US" dirty="0"/>
              <a:t>So negative R² means:</a:t>
            </a:r>
          </a:p>
          <a:p>
            <a:r>
              <a:rPr lang="en-US" dirty="0"/>
              <a:t>The model predictions are worse than simply predicting the average population change.</a:t>
            </a:r>
          </a:p>
          <a:p>
            <a:endParaRPr lang="en-US" dirty="0"/>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68926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15</a:t>
            </a:fld>
            <a:endParaRPr lang="en-US" dirty="0"/>
          </a:p>
        </p:txBody>
      </p:sp>
    </p:spTree>
    <p:extLst>
      <p:ext uri="{BB962C8B-B14F-4D97-AF65-F5344CB8AC3E}">
        <p14:creationId xmlns:p14="http://schemas.microsoft.com/office/powerpoint/2010/main" val="1910597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www.census.gov/programs-surveys/popest.html" TargetMode="External"/><Relationship Id="rId2" Type="http://schemas.openxmlformats.org/officeDocument/2006/relationships/hyperlink" Target="https://data.census.gov/" TargetMode="External"/><Relationship Id="rId1" Type="http://schemas.openxmlformats.org/officeDocument/2006/relationships/slideLayout" Target="../slideLayouts/slideLayout10.xml"/><Relationship Id="rId6" Type="http://schemas.openxmlformats.org/officeDocument/2006/relationships/hyperlink" Target="https://earthquake.usgs.gov/earthquakes/search/" TargetMode="External"/><Relationship Id="rId5" Type="http://schemas.openxmlformats.org/officeDocument/2006/relationships/hyperlink" Target="https://www.nhc.noaa.gov/data/" TargetMode="External"/><Relationship Id="rId4" Type="http://schemas.openxmlformats.org/officeDocument/2006/relationships/hyperlink" Target="https://www.census.gov/programs-surveys/cbp.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lgn="l"/>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Midterm Progress: 13MAR2026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139869"/>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600" b="1" dirty="0">
                <a:latin typeface="Merriweather" pitchFamily="2" charset="77"/>
              </a:rPr>
              <a:t>Research Problem: </a:t>
            </a:r>
            <a:r>
              <a:rPr lang="en-US" sz="1600" dirty="0">
                <a:latin typeface="Merriweather" pitchFamily="2" charset="77"/>
              </a:rPr>
              <a:t>Puerto Rico has experienced </a:t>
            </a:r>
            <a:r>
              <a:rPr lang="en-US" sz="1600" i="1" dirty="0">
                <a:latin typeface="Merriweather" pitchFamily="2" charset="77"/>
              </a:rPr>
              <a:t>significant population decline and regional vulnerability </a:t>
            </a:r>
            <a:r>
              <a:rPr lang="en-US" sz="16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600" dirty="0">
              <a:latin typeface="Merriweather" pitchFamily="2" charset="77"/>
            </a:endParaRPr>
          </a:p>
          <a:p>
            <a:pPr marL="285750" indent="-285750" fontAlgn="base">
              <a:lnSpc>
                <a:spcPct val="150000"/>
              </a:lnSpc>
              <a:buFont typeface="Arial" panose="020B0604020202020204" pitchFamily="34" charset="0"/>
              <a:buChar char="•"/>
            </a:pPr>
            <a:r>
              <a:rPr lang="en-US" sz="1600" b="1" dirty="0">
                <a:latin typeface="Merriweather" pitchFamily="2" charset="77"/>
              </a:rPr>
              <a:t>Objective: </a:t>
            </a:r>
            <a:r>
              <a:rPr lang="en-US" sz="1600" dirty="0">
                <a:latin typeface="Merriweather" pitchFamily="2" charset="77"/>
              </a:rPr>
              <a:t>Develop a </a:t>
            </a:r>
            <a:r>
              <a:rPr lang="en-US" sz="1600" b="1" i="1" dirty="0">
                <a:latin typeface="Merriweather" pitchFamily="2" charset="77"/>
              </a:rPr>
              <a:t>data-driven framework</a:t>
            </a:r>
            <a:r>
              <a:rPr lang="en-US" sz="1600" i="1" dirty="0">
                <a:latin typeface="Merriweather" pitchFamily="2" charset="77"/>
              </a:rPr>
              <a:t> </a:t>
            </a:r>
            <a:r>
              <a:rPr lang="en-US" sz="1600" dirty="0">
                <a:latin typeface="Merriweather" pitchFamily="2" charset="77"/>
              </a:rPr>
              <a:t>to:</a:t>
            </a:r>
          </a:p>
          <a:p>
            <a:pPr marL="742950" lvl="1" indent="-285750" fontAlgn="base">
              <a:lnSpc>
                <a:spcPct val="150000"/>
              </a:lnSpc>
              <a:buFont typeface="Arial" panose="020B0604020202020204" pitchFamily="34" charset="0"/>
              <a:buChar char="•"/>
            </a:pPr>
            <a:r>
              <a:rPr lang="en-US" sz="16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6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6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6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600" dirty="0">
              <a:latin typeface="Merriweather" pitchFamily="2" charset="77"/>
            </a:endParaRPr>
          </a:p>
          <a:p>
            <a:pPr marL="285750" indent="-285750" fontAlgn="base">
              <a:lnSpc>
                <a:spcPct val="150000"/>
              </a:lnSpc>
              <a:buFont typeface="Arial" panose="020B0604020202020204" pitchFamily="34" charset="0"/>
              <a:buChar char="•"/>
            </a:pPr>
            <a:r>
              <a:rPr lang="en-US" sz="16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6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6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600" dirty="0">
                <a:latin typeface="Merriweather" pitchFamily="2" charset="77"/>
              </a:rPr>
              <a:t>Detect clusters/regions with similar vulnerability profiles</a:t>
            </a:r>
          </a:p>
          <a:p>
            <a:pPr marL="285750" indent="-285750" fontAlgn="base">
              <a:buFont typeface="Arial" panose="020B0604020202020204" pitchFamily="34" charset="0"/>
              <a:buChar char="•"/>
            </a:pPr>
            <a:endParaRPr lang="en-US" sz="16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4416" y="2792361"/>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1887-DBCB-162F-D99D-D6B25BD7F53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F0EFCF-0172-22DD-811F-DD93B68B275F}"/>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CAE92DF-37C4-E9DD-1266-644D2484E2E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Data Overview</a:t>
            </a:r>
          </a:p>
        </p:txBody>
      </p:sp>
      <p:sp>
        <p:nvSpPr>
          <p:cNvPr id="11" name="TextBox 10">
            <a:extLst>
              <a:ext uri="{FF2B5EF4-FFF2-40B4-BE49-F238E27FC236}">
                <a16:creationId xmlns:a16="http://schemas.microsoft.com/office/drawing/2014/main" id="{3666E9F7-22E2-1503-B79B-3A4B71D9AC7C}"/>
              </a:ext>
            </a:extLst>
          </p:cNvPr>
          <p:cNvSpPr txBox="1"/>
          <p:nvPr/>
        </p:nvSpPr>
        <p:spPr>
          <a:xfrm>
            <a:off x="139613" y="1368962"/>
            <a:ext cx="9560053" cy="5447645"/>
          </a:xfrm>
          <a:prstGeom prst="rect">
            <a:avLst/>
          </a:prstGeom>
          <a:noFill/>
        </p:spPr>
        <p:txBody>
          <a:bodyPr wrap="square">
            <a:spAutoFit/>
          </a:bodyPr>
          <a:lstStyle/>
          <a:p>
            <a:r>
              <a:rPr lang="en-US" sz="2800" b="1" dirty="0"/>
              <a:t>Integrated Municipal Dataset</a:t>
            </a:r>
          </a:p>
          <a:p>
            <a:endParaRPr lang="en-US" sz="2000" dirty="0"/>
          </a:p>
          <a:p>
            <a:r>
              <a:rPr lang="en-US" sz="2000" b="1" dirty="0"/>
              <a:t>Sources used:</a:t>
            </a:r>
          </a:p>
          <a:p>
            <a:pPr marL="800100" lvl="1" indent="-342900">
              <a:buFont typeface="Arial" panose="020B0604020202020204" pitchFamily="34" charset="0"/>
              <a:buChar char="•"/>
            </a:pPr>
            <a:r>
              <a:rPr lang="en-US" sz="2000" dirty="0"/>
              <a:t>U.S. Census / ACS</a:t>
            </a:r>
          </a:p>
          <a:p>
            <a:pPr marL="800100" lvl="1" indent="-342900">
              <a:buFont typeface="Arial" panose="020B0604020202020204" pitchFamily="34" charset="0"/>
              <a:buChar char="•"/>
            </a:pPr>
            <a:r>
              <a:rPr lang="en-US" sz="2000" dirty="0"/>
              <a:t>NOAA Hurricane Data</a:t>
            </a:r>
          </a:p>
          <a:p>
            <a:pPr marL="800100" lvl="1" indent="-342900">
              <a:buFont typeface="Arial" panose="020B0604020202020204" pitchFamily="34" charset="0"/>
              <a:buChar char="•"/>
            </a:pPr>
            <a:r>
              <a:rPr lang="en-US" sz="2000" dirty="0"/>
              <a:t>USGS Earthquake Data</a:t>
            </a:r>
          </a:p>
          <a:p>
            <a:pPr marL="800100" lvl="1" indent="-342900">
              <a:buFont typeface="Arial" panose="020B0604020202020204" pitchFamily="34" charset="0"/>
              <a:buChar char="•"/>
            </a:pPr>
            <a:r>
              <a:rPr lang="en-US" sz="2000" dirty="0"/>
              <a:t>Police Dept. Puerto Rico-Crime Data</a:t>
            </a:r>
          </a:p>
          <a:p>
            <a:endParaRPr lang="en-US" sz="2000" dirty="0"/>
          </a:p>
          <a:p>
            <a:endParaRPr lang="en-US" sz="2000" dirty="0"/>
          </a:p>
          <a:p>
            <a:r>
              <a:rPr lang="en-US" sz="2000" b="1" dirty="0"/>
              <a:t>Example features:</a:t>
            </a:r>
          </a:p>
          <a:p>
            <a:pPr marL="800100" lvl="1" indent="-342900">
              <a:buFont typeface="Arial" panose="020B0604020202020204" pitchFamily="34" charset="0"/>
              <a:buChar char="•"/>
            </a:pPr>
            <a:r>
              <a:rPr lang="en-US" sz="2000" dirty="0"/>
              <a:t>population changes over years</a:t>
            </a:r>
          </a:p>
          <a:p>
            <a:pPr marL="800100" lvl="1" indent="-342900">
              <a:buFont typeface="Arial" panose="020B0604020202020204" pitchFamily="34" charset="0"/>
              <a:buChar char="•"/>
            </a:pPr>
            <a:r>
              <a:rPr lang="en-US" sz="2000" dirty="0"/>
              <a:t>Median income</a:t>
            </a:r>
          </a:p>
          <a:p>
            <a:pPr marL="800100" lvl="1" indent="-342900">
              <a:buFont typeface="Arial" panose="020B0604020202020204" pitchFamily="34" charset="0"/>
              <a:buChar char="•"/>
            </a:pPr>
            <a:r>
              <a:rPr lang="en-US" sz="2000" dirty="0"/>
              <a:t>Vulnerability index</a:t>
            </a:r>
          </a:p>
          <a:p>
            <a:pPr marL="800100" lvl="1" indent="-342900">
              <a:buFont typeface="Arial" panose="020B0604020202020204" pitchFamily="34" charset="0"/>
              <a:buChar char="•"/>
            </a:pPr>
            <a:r>
              <a:rPr lang="en-US" sz="2000" dirty="0"/>
              <a:t>Violent crime rates</a:t>
            </a:r>
          </a:p>
          <a:p>
            <a:pPr marL="800100" lvl="1" indent="-342900">
              <a:buFont typeface="Arial" panose="020B0604020202020204" pitchFamily="34" charset="0"/>
              <a:buChar char="•"/>
            </a:pPr>
            <a:r>
              <a:rPr lang="en-US" sz="2000" dirty="0"/>
              <a:t>disaster intensity metrics</a:t>
            </a:r>
          </a:p>
          <a:p>
            <a:endParaRPr lang="en-US" sz="2000" dirty="0"/>
          </a:p>
          <a:p>
            <a:pPr fontAlgn="base"/>
            <a:endParaRPr lang="en-US" sz="2000" dirty="0">
              <a:solidFill>
                <a:srgbClr val="000000"/>
              </a:solidFill>
              <a:ea typeface="Arial"/>
              <a:cs typeface="Arial"/>
              <a:sym typeface="Arial"/>
            </a:endParaRPr>
          </a:p>
        </p:txBody>
      </p:sp>
      <p:sp>
        <p:nvSpPr>
          <p:cNvPr id="2" name="TextBox 1">
            <a:extLst>
              <a:ext uri="{FF2B5EF4-FFF2-40B4-BE49-F238E27FC236}">
                <a16:creationId xmlns:a16="http://schemas.microsoft.com/office/drawing/2014/main" id="{174A300C-9592-D6C3-8976-1C7419904D97}"/>
              </a:ext>
            </a:extLst>
          </p:cNvPr>
          <p:cNvSpPr txBox="1"/>
          <p:nvPr/>
        </p:nvSpPr>
        <p:spPr>
          <a:xfrm>
            <a:off x="6314487" y="1477180"/>
            <a:ext cx="6005332" cy="4401205"/>
          </a:xfrm>
          <a:prstGeom prst="rect">
            <a:avLst/>
          </a:prstGeom>
          <a:noFill/>
        </p:spPr>
        <p:txBody>
          <a:bodyPr wrap="square">
            <a:spAutoFit/>
          </a:bodyPr>
          <a:lstStyle/>
          <a:p>
            <a:endParaRPr lang="en-US" sz="2000" dirty="0"/>
          </a:p>
          <a:p>
            <a:endParaRPr lang="en-US" sz="2000" dirty="0"/>
          </a:p>
          <a:p>
            <a:r>
              <a:rPr lang="en-US" sz="2000" b="1" dirty="0"/>
              <a:t>Dataset characteristics:</a:t>
            </a:r>
          </a:p>
          <a:p>
            <a:pPr marL="800100" lvl="1" indent="-342900">
              <a:buFont typeface="Arial" panose="020B0604020202020204" pitchFamily="34" charset="0"/>
              <a:buChar char="•"/>
            </a:pPr>
            <a:r>
              <a:rPr lang="en-US" sz="2000" dirty="0"/>
              <a:t>78 municipalities of Puerto Rico</a:t>
            </a:r>
          </a:p>
          <a:p>
            <a:pPr marL="800100" lvl="1" indent="-342900">
              <a:buFont typeface="Arial" panose="020B0604020202020204" pitchFamily="34" charset="0"/>
              <a:buChar char="•"/>
            </a:pPr>
            <a:r>
              <a:rPr lang="en-US" sz="2000" dirty="0"/>
              <a:t>2010–2024 time period</a:t>
            </a:r>
          </a:p>
          <a:p>
            <a:pPr marL="800100" lvl="1" indent="-342900">
              <a:buFont typeface="Arial" panose="020B0604020202020204" pitchFamily="34" charset="0"/>
              <a:buChar char="•"/>
            </a:pPr>
            <a:r>
              <a:rPr lang="en-US" sz="2000" dirty="0"/>
              <a:t>Socioeconomic and Vulnerability indicators</a:t>
            </a:r>
          </a:p>
          <a:p>
            <a:endParaRPr lang="en-US" sz="2000" dirty="0"/>
          </a:p>
          <a:p>
            <a:endParaRPr lang="en-US" sz="2000" dirty="0"/>
          </a:p>
          <a:p>
            <a:endParaRPr lang="en-US" sz="2000" dirty="0"/>
          </a:p>
          <a:p>
            <a:r>
              <a:rPr lang="en-US" sz="2000" b="1" dirty="0"/>
              <a:t>Target variable:</a:t>
            </a:r>
          </a:p>
          <a:p>
            <a:pPr marL="800100" lvl="1" indent="-342900">
              <a:buFont typeface="Arial" panose="020B0604020202020204" pitchFamily="34" charset="0"/>
              <a:buChar char="•"/>
            </a:pPr>
            <a:r>
              <a:rPr lang="en-US" sz="2000" dirty="0"/>
              <a:t>Overall Population Change </a:t>
            </a:r>
          </a:p>
          <a:p>
            <a:pPr marL="800100" lvl="1" indent="-342900">
              <a:buFont typeface="Arial" panose="020B0604020202020204" pitchFamily="34" charset="0"/>
              <a:buChar char="•"/>
            </a:pPr>
            <a:r>
              <a:rPr lang="en-US" sz="2000" dirty="0"/>
              <a:t>Regional population change</a:t>
            </a:r>
          </a:p>
          <a:p>
            <a:pPr marL="800100" lvl="1" indent="-342900">
              <a:buFont typeface="Arial" panose="020B0604020202020204" pitchFamily="34" charset="0"/>
              <a:buChar char="•"/>
            </a:pPr>
            <a:r>
              <a:rPr lang="en-US" sz="2000" dirty="0"/>
              <a:t>Municipal Population Chance </a:t>
            </a:r>
          </a:p>
          <a:p>
            <a:pPr marL="285750" indent="-285750" fontAlgn="base">
              <a:buFont typeface="Arial" panose="020B0604020202020204" pitchFamily="34" charset="0"/>
              <a:buChar char="•"/>
            </a:pPr>
            <a:endParaRPr lang="en-US" sz="2000" dirty="0">
              <a:solidFill>
                <a:srgbClr val="000000"/>
              </a:solidFill>
              <a:ea typeface="Arial"/>
              <a:cs typeface="Arial"/>
              <a:sym typeface="Arial"/>
            </a:endParaRPr>
          </a:p>
        </p:txBody>
      </p:sp>
    </p:spTree>
    <p:extLst>
      <p:ext uri="{BB962C8B-B14F-4D97-AF65-F5344CB8AC3E}">
        <p14:creationId xmlns:p14="http://schemas.microsoft.com/office/powerpoint/2010/main" val="44848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268C-1B5F-C136-D32E-6410AD753C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A5C0ED-7C1D-85AF-8E00-E49DDB309CD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D6059E2C-9348-288B-F3B2-27CD4940876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#1</a:t>
            </a:r>
          </a:p>
        </p:txBody>
      </p:sp>
      <p:sp>
        <p:nvSpPr>
          <p:cNvPr id="11" name="TextBox 10">
            <a:extLst>
              <a:ext uri="{FF2B5EF4-FFF2-40B4-BE49-F238E27FC236}">
                <a16:creationId xmlns:a16="http://schemas.microsoft.com/office/drawing/2014/main" id="{F440CE56-AAA9-8064-B001-F28962B063E6}"/>
              </a:ext>
            </a:extLst>
          </p:cNvPr>
          <p:cNvSpPr txBox="1"/>
          <p:nvPr/>
        </p:nvSpPr>
        <p:spPr>
          <a:xfrm>
            <a:off x="139613" y="1368962"/>
            <a:ext cx="7208243" cy="6401753"/>
          </a:xfrm>
          <a:prstGeom prst="rect">
            <a:avLst/>
          </a:prstGeom>
          <a:noFill/>
        </p:spPr>
        <p:txBody>
          <a:bodyPr wrap="square">
            <a:spAutoFit/>
          </a:bodyPr>
          <a:lstStyle/>
          <a:p>
            <a:r>
              <a:rPr lang="en-US" sz="2000" b="1" dirty="0"/>
              <a:t>Population decline is uneven across municipalities</a:t>
            </a:r>
          </a:p>
          <a:p>
            <a:endParaRPr lang="en-US" sz="2000" dirty="0"/>
          </a:p>
          <a:p>
            <a:r>
              <a:rPr lang="en-US" sz="2000" b="1" dirty="0"/>
              <a:t>Key findings:</a:t>
            </a:r>
          </a:p>
          <a:p>
            <a:pPr lvl="1">
              <a:lnSpc>
                <a:spcPct val="150000"/>
              </a:lnSpc>
            </a:pPr>
            <a:r>
              <a:rPr lang="en-US" sz="2000" dirty="0"/>
              <a:t>• Significant population loss concentrated in specific regions</a:t>
            </a:r>
            <a:br>
              <a:rPr lang="en-US" sz="2000" dirty="0"/>
            </a:br>
            <a:r>
              <a:rPr lang="en-US" sz="2000" dirty="0"/>
              <a:t>• Urban centers show different dynamics than rural areas</a:t>
            </a:r>
            <a:br>
              <a:rPr lang="en-US" sz="2000" dirty="0"/>
            </a:br>
            <a:r>
              <a:rPr lang="en-US" sz="2000" dirty="0"/>
              <a:t>• Migration patterns vary strongly by region</a:t>
            </a:r>
          </a:p>
          <a:p>
            <a:endParaRPr lang="en-US" sz="2000" dirty="0"/>
          </a:p>
          <a:p>
            <a:endParaRPr lang="en-US" sz="2000" dirty="0"/>
          </a:p>
          <a:p>
            <a:r>
              <a:rPr lang="en-US" sz="2000" b="1" dirty="0"/>
              <a:t>Image: </a:t>
            </a:r>
            <a:r>
              <a:rPr lang="en-US" sz="2000" dirty="0"/>
              <a:t>Population change municipality map</a:t>
            </a:r>
          </a:p>
          <a:p>
            <a:endParaRPr lang="en-US" sz="2000" dirty="0"/>
          </a:p>
          <a:p>
            <a:endParaRPr lang="en-US" sz="2000" dirty="0"/>
          </a:p>
          <a:p>
            <a:endParaRPr lang="en-US" sz="2000" dirty="0"/>
          </a:p>
          <a:p>
            <a:r>
              <a:rPr lang="en-US" sz="2000" dirty="0"/>
              <a:t>EDA suggested </a:t>
            </a:r>
            <a:r>
              <a:rPr lang="en-US" sz="2000" b="1" dirty="0"/>
              <a:t>regional and structural differences</a:t>
            </a:r>
            <a:r>
              <a:rPr lang="en-US" sz="2000" dirty="0"/>
              <a:t>, motivating clustering later</a:t>
            </a:r>
          </a:p>
          <a:p>
            <a:endParaRPr lang="en-US" sz="2000" dirty="0"/>
          </a:p>
          <a:p>
            <a:endParaRPr lang="en-US" sz="2000" dirty="0"/>
          </a:p>
          <a:p>
            <a:endParaRPr lang="en-US" sz="2000" dirty="0"/>
          </a:p>
          <a:p>
            <a:endParaRPr lang="en-US" sz="2000" dirty="0"/>
          </a:p>
          <a:p>
            <a:endParaRPr lang="en-US" sz="2000" dirty="0"/>
          </a:p>
        </p:txBody>
      </p:sp>
      <p:pic>
        <p:nvPicPr>
          <p:cNvPr id="6" name="Picture 5" descr="A screenshot of a map&#10;&#10;AI-generated content may be incorrect.">
            <a:extLst>
              <a:ext uri="{FF2B5EF4-FFF2-40B4-BE49-F238E27FC236}">
                <a16:creationId xmlns:a16="http://schemas.microsoft.com/office/drawing/2014/main" id="{87F0694F-B3EF-497E-3359-D05C4B5AB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7856" y="1368962"/>
            <a:ext cx="4791995" cy="3464295"/>
          </a:xfrm>
          <a:prstGeom prst="rect">
            <a:avLst/>
          </a:prstGeom>
        </p:spPr>
      </p:pic>
    </p:spTree>
    <p:extLst>
      <p:ext uri="{BB962C8B-B14F-4D97-AF65-F5344CB8AC3E}">
        <p14:creationId xmlns:p14="http://schemas.microsoft.com/office/powerpoint/2010/main" val="58744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7C3D-4B81-C536-EAEA-FDEFC9C5C3C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DCEA0A-C4AE-AB4E-5724-5ECE231C062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9F7574AC-BF70-CA6E-19FB-3486C2F1CFA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#2</a:t>
            </a:r>
          </a:p>
        </p:txBody>
      </p:sp>
      <p:sp>
        <p:nvSpPr>
          <p:cNvPr id="11" name="TextBox 10">
            <a:extLst>
              <a:ext uri="{FF2B5EF4-FFF2-40B4-BE49-F238E27FC236}">
                <a16:creationId xmlns:a16="http://schemas.microsoft.com/office/drawing/2014/main" id="{BE812E87-0E5F-4DE4-7391-4F2F04B9B95D}"/>
              </a:ext>
            </a:extLst>
          </p:cNvPr>
          <p:cNvSpPr txBox="1"/>
          <p:nvPr/>
        </p:nvSpPr>
        <p:spPr>
          <a:xfrm>
            <a:off x="139613" y="1368962"/>
            <a:ext cx="10963816" cy="4154984"/>
          </a:xfrm>
          <a:prstGeom prst="rect">
            <a:avLst/>
          </a:prstGeom>
          <a:noFill/>
        </p:spPr>
        <p:txBody>
          <a:bodyPr wrap="square">
            <a:spAutoFit/>
          </a:bodyPr>
          <a:lstStyle/>
          <a:p>
            <a:r>
              <a:rPr lang="en-US" sz="2400" b="1" dirty="0"/>
              <a:t>Disaster exposure contributes to demographic vulnerability Insights:</a:t>
            </a:r>
          </a:p>
          <a:p>
            <a:pPr lvl="1">
              <a:lnSpc>
                <a:spcPct val="200000"/>
              </a:lnSpc>
            </a:pPr>
            <a:r>
              <a:rPr lang="en-US" sz="2000" dirty="0"/>
              <a:t>• Municipalities exposed to stronger hurricanes and earthquakes show greater migration shocks</a:t>
            </a:r>
            <a:br>
              <a:rPr lang="en-US" sz="2000" dirty="0"/>
            </a:br>
            <a:r>
              <a:rPr lang="en-US" sz="2000" dirty="0"/>
              <a:t>• Disaster intensity varies geographically</a:t>
            </a:r>
            <a:br>
              <a:rPr lang="en-US" sz="2000" dirty="0"/>
            </a:br>
            <a:r>
              <a:rPr lang="en-US" sz="2000" dirty="0"/>
              <a:t>• Environmental shocks may amplify economic vulnerability</a:t>
            </a:r>
          </a:p>
          <a:p>
            <a:endParaRPr lang="en-US" sz="2400" dirty="0"/>
          </a:p>
          <a:p>
            <a:endParaRPr lang="en-US" sz="2400" dirty="0"/>
          </a:p>
          <a:p>
            <a:endParaRPr lang="en-US" sz="2400" dirty="0"/>
          </a:p>
          <a:p>
            <a:r>
              <a:rPr lang="en-US" sz="2400" b="1" dirty="0"/>
              <a:t>Result:</a:t>
            </a:r>
          </a:p>
          <a:p>
            <a:r>
              <a:rPr lang="en-US" sz="2400" dirty="0"/>
              <a:t>Disaster metrics included in </a:t>
            </a:r>
            <a:r>
              <a:rPr lang="en-US" sz="2400" b="1" dirty="0"/>
              <a:t>feature engineering stage</a:t>
            </a:r>
            <a:r>
              <a:rPr lang="en-US" sz="2400" dirty="0"/>
              <a:t>.</a:t>
            </a:r>
          </a:p>
        </p:txBody>
      </p:sp>
      <p:pic>
        <p:nvPicPr>
          <p:cNvPr id="6" name="Picture 5">
            <a:extLst>
              <a:ext uri="{FF2B5EF4-FFF2-40B4-BE49-F238E27FC236}">
                <a16:creationId xmlns:a16="http://schemas.microsoft.com/office/drawing/2014/main" id="{BC0FEE69-A4CF-0DA4-6007-D7C5F2531DA1}"/>
              </a:ext>
            </a:extLst>
          </p:cNvPr>
          <p:cNvPicPr>
            <a:picLocks noChangeAspect="1"/>
          </p:cNvPicPr>
          <p:nvPr/>
        </p:nvPicPr>
        <p:blipFill>
          <a:blip r:embed="rId2"/>
          <a:stretch>
            <a:fillRect/>
          </a:stretch>
        </p:blipFill>
        <p:spPr>
          <a:xfrm>
            <a:off x="8825996" y="4246026"/>
            <a:ext cx="3033526" cy="2014195"/>
          </a:xfrm>
          <a:prstGeom prst="rect">
            <a:avLst/>
          </a:prstGeom>
        </p:spPr>
      </p:pic>
      <p:pic>
        <p:nvPicPr>
          <p:cNvPr id="7" name="Picture 6">
            <a:extLst>
              <a:ext uri="{FF2B5EF4-FFF2-40B4-BE49-F238E27FC236}">
                <a16:creationId xmlns:a16="http://schemas.microsoft.com/office/drawing/2014/main" id="{53B64CA1-C432-2C4B-D919-21FA50C2FECF}"/>
              </a:ext>
            </a:extLst>
          </p:cNvPr>
          <p:cNvPicPr>
            <a:picLocks noChangeAspect="1"/>
          </p:cNvPicPr>
          <p:nvPr/>
        </p:nvPicPr>
        <p:blipFill>
          <a:blip r:embed="rId3"/>
          <a:stretch>
            <a:fillRect/>
          </a:stretch>
        </p:blipFill>
        <p:spPr>
          <a:xfrm>
            <a:off x="7436844" y="2411715"/>
            <a:ext cx="4422678" cy="1639681"/>
          </a:xfrm>
          <a:prstGeom prst="rect">
            <a:avLst/>
          </a:prstGeom>
        </p:spPr>
      </p:pic>
    </p:spTree>
    <p:extLst>
      <p:ext uri="{BB962C8B-B14F-4D97-AF65-F5344CB8AC3E}">
        <p14:creationId xmlns:p14="http://schemas.microsoft.com/office/powerpoint/2010/main" val="1400407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59CD-B2A9-EB5D-5DBC-D31876C3D3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AB0DA5-A6A8-2B84-AE83-36E1030BE9C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B58623E-D4F4-A2E6-047E-9C322D05A5A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EDA Insight #3</a:t>
            </a:r>
          </a:p>
        </p:txBody>
      </p:sp>
      <p:sp>
        <p:nvSpPr>
          <p:cNvPr id="11" name="TextBox 10">
            <a:extLst>
              <a:ext uri="{FF2B5EF4-FFF2-40B4-BE49-F238E27FC236}">
                <a16:creationId xmlns:a16="http://schemas.microsoft.com/office/drawing/2014/main" id="{DE6E144F-73E0-D3F2-9697-D6EF388D14C7}"/>
              </a:ext>
            </a:extLst>
          </p:cNvPr>
          <p:cNvSpPr txBox="1"/>
          <p:nvPr/>
        </p:nvSpPr>
        <p:spPr>
          <a:xfrm>
            <a:off x="139613" y="1368962"/>
            <a:ext cx="7059677" cy="4862870"/>
          </a:xfrm>
          <a:prstGeom prst="rect">
            <a:avLst/>
          </a:prstGeom>
          <a:noFill/>
        </p:spPr>
        <p:txBody>
          <a:bodyPr wrap="square">
            <a:spAutoFit/>
          </a:bodyPr>
          <a:lstStyle/>
          <a:p>
            <a:r>
              <a:rPr lang="en-US" sz="2000" b="1" dirty="0"/>
              <a:t>Economic conditions strongly correlate with population change</a:t>
            </a:r>
          </a:p>
          <a:p>
            <a:endParaRPr lang="en-US" sz="2000" dirty="0"/>
          </a:p>
          <a:p>
            <a:r>
              <a:rPr lang="en-US" sz="2000" b="1" dirty="0"/>
              <a:t>Observations:</a:t>
            </a:r>
          </a:p>
          <a:p>
            <a:pPr lvl="1">
              <a:lnSpc>
                <a:spcPct val="150000"/>
              </a:lnSpc>
            </a:pPr>
            <a:r>
              <a:rPr lang="en-US" sz="2000" dirty="0"/>
              <a:t>• Lower income municipalities show stronger population decline</a:t>
            </a:r>
            <a:br>
              <a:rPr lang="en-US" sz="2000" dirty="0"/>
            </a:br>
            <a:r>
              <a:rPr lang="en-US" sz="2000" dirty="0"/>
              <a:t>• Income growth appears associated with stability for some areas</a:t>
            </a:r>
            <a:br>
              <a:rPr lang="en-US" sz="2000" dirty="0"/>
            </a:br>
            <a:r>
              <a:rPr lang="en-US" sz="2000" dirty="0"/>
              <a:t>• Poverty indicators correlate with vulnerability</a:t>
            </a:r>
          </a:p>
          <a:p>
            <a:endParaRPr lang="en-US" sz="2000" dirty="0"/>
          </a:p>
          <a:p>
            <a:endParaRPr lang="en-US" sz="2000" dirty="0"/>
          </a:p>
          <a:p>
            <a:r>
              <a:rPr lang="en-US" sz="2000" b="1" dirty="0"/>
              <a:t>Conclusion:</a:t>
            </a:r>
          </a:p>
          <a:p>
            <a:r>
              <a:rPr lang="en-US" sz="2000" dirty="0"/>
              <a:t>Economic indicators should be </a:t>
            </a:r>
            <a:r>
              <a:rPr lang="en-US" sz="2000" b="1" dirty="0"/>
              <a:t>included as model features</a:t>
            </a:r>
            <a:r>
              <a:rPr lang="en-US" sz="2000" dirty="0"/>
              <a:t>.</a:t>
            </a:r>
          </a:p>
        </p:txBody>
      </p:sp>
      <p:pic>
        <p:nvPicPr>
          <p:cNvPr id="6" name="Picture 5">
            <a:extLst>
              <a:ext uri="{FF2B5EF4-FFF2-40B4-BE49-F238E27FC236}">
                <a16:creationId xmlns:a16="http://schemas.microsoft.com/office/drawing/2014/main" id="{39C8079C-74F7-9ACB-76F7-157087719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9290" y="1368962"/>
            <a:ext cx="3568700" cy="2399796"/>
          </a:xfrm>
          <a:prstGeom prst="rect">
            <a:avLst/>
          </a:prstGeom>
        </p:spPr>
      </p:pic>
      <p:pic>
        <p:nvPicPr>
          <p:cNvPr id="8" name="Picture 7" descr="A graph with orange and blue lines&#10;&#10;AI-generated content may be incorrect.">
            <a:extLst>
              <a:ext uri="{FF2B5EF4-FFF2-40B4-BE49-F238E27FC236}">
                <a16:creationId xmlns:a16="http://schemas.microsoft.com/office/drawing/2014/main" id="{8E74EC63-5B77-5778-740A-C49BD069F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9290" y="3831564"/>
            <a:ext cx="3568700" cy="2400268"/>
          </a:xfrm>
          <a:prstGeom prst="rect">
            <a:avLst/>
          </a:prstGeom>
        </p:spPr>
      </p:pic>
    </p:spTree>
    <p:extLst>
      <p:ext uri="{BB962C8B-B14F-4D97-AF65-F5344CB8AC3E}">
        <p14:creationId xmlns:p14="http://schemas.microsoft.com/office/powerpoint/2010/main" val="4131737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8E521-AFA1-48BD-C670-0E265E9224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930819-2E3D-9704-C46D-A4CFD6587DF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bg1"/>
              </a:solidFill>
            </a:endParaRPr>
          </a:p>
        </p:txBody>
      </p:sp>
      <p:sp>
        <p:nvSpPr>
          <p:cNvPr id="5" name="Title 10">
            <a:extLst>
              <a:ext uri="{FF2B5EF4-FFF2-40B4-BE49-F238E27FC236}">
                <a16:creationId xmlns:a16="http://schemas.microsoft.com/office/drawing/2014/main" id="{B429A660-E0F3-E909-9BEF-159EAB3D4028}"/>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Feature Engineering</a:t>
            </a:r>
          </a:p>
        </p:txBody>
      </p:sp>
      <p:sp>
        <p:nvSpPr>
          <p:cNvPr id="11" name="TextBox 10">
            <a:extLst>
              <a:ext uri="{FF2B5EF4-FFF2-40B4-BE49-F238E27FC236}">
                <a16:creationId xmlns:a16="http://schemas.microsoft.com/office/drawing/2014/main" id="{DE377A1A-FE73-59AD-7956-27B550EA48B3}"/>
              </a:ext>
            </a:extLst>
          </p:cNvPr>
          <p:cNvSpPr txBox="1"/>
          <p:nvPr/>
        </p:nvSpPr>
        <p:spPr>
          <a:xfrm>
            <a:off x="139613" y="1368962"/>
            <a:ext cx="11502658" cy="4524315"/>
          </a:xfrm>
          <a:prstGeom prst="rect">
            <a:avLst/>
          </a:prstGeom>
          <a:noFill/>
        </p:spPr>
        <p:txBody>
          <a:bodyPr wrap="square">
            <a:spAutoFit/>
          </a:bodyPr>
          <a:lstStyle/>
          <a:p>
            <a:r>
              <a:rPr lang="en-US" sz="2400" b="1" dirty="0"/>
              <a:t>New features created to capture temporal and structural effects</a:t>
            </a:r>
          </a:p>
          <a:p>
            <a:endParaRPr lang="en-US" sz="2400" b="1" dirty="0"/>
          </a:p>
          <a:p>
            <a:r>
              <a:rPr lang="en-US" sz="2400" b="1" dirty="0"/>
              <a:t>Key engineered variables:</a:t>
            </a:r>
          </a:p>
          <a:p>
            <a:pPr marL="800100" lvl="1" indent="-342900">
              <a:buFont typeface="Arial" panose="020B0604020202020204" pitchFamily="34" charset="0"/>
              <a:buChar char="•"/>
            </a:pPr>
            <a:r>
              <a:rPr lang="en-US" sz="2400" dirty="0"/>
              <a:t>Population changes (hist from 2010)</a:t>
            </a:r>
          </a:p>
          <a:p>
            <a:pPr marL="800100" lvl="1" indent="-342900">
              <a:buFont typeface="Arial" panose="020B0604020202020204" pitchFamily="34" charset="0"/>
              <a:buChar char="•"/>
            </a:pPr>
            <a:r>
              <a:rPr lang="en-US" sz="2400" dirty="0"/>
              <a:t>SVI factors</a:t>
            </a:r>
          </a:p>
          <a:p>
            <a:pPr marL="800100" lvl="1" indent="-342900">
              <a:buFont typeface="Arial" panose="020B0604020202020204" pitchFamily="34" charset="0"/>
              <a:buChar char="•"/>
            </a:pPr>
            <a:r>
              <a:rPr lang="en-US" sz="2400" dirty="0"/>
              <a:t>Disaster intensity metrics</a:t>
            </a:r>
          </a:p>
          <a:p>
            <a:pPr marL="800100" lvl="1" indent="-342900">
              <a:buFont typeface="Arial" panose="020B0604020202020204" pitchFamily="34" charset="0"/>
              <a:buChar char="•"/>
            </a:pPr>
            <a:r>
              <a:rPr lang="en-US" sz="2400" dirty="0"/>
              <a:t>Crime Factors</a:t>
            </a:r>
          </a:p>
          <a:p>
            <a:endParaRPr lang="en-US" sz="2400" dirty="0"/>
          </a:p>
          <a:p>
            <a:r>
              <a:rPr lang="en-US" sz="2400" b="1" dirty="0"/>
              <a:t>Purpose:</a:t>
            </a:r>
          </a:p>
          <a:p>
            <a:pPr marL="800100" lvl="1" indent="-342900">
              <a:buFont typeface="Arial" panose="020B0604020202020204" pitchFamily="34" charset="0"/>
              <a:buChar char="•"/>
            </a:pPr>
            <a:r>
              <a:rPr lang="en-US" sz="2400" dirty="0"/>
              <a:t>Capture momentum in migration trends</a:t>
            </a:r>
          </a:p>
          <a:p>
            <a:pPr marL="800100" lvl="1" indent="-342900">
              <a:buFont typeface="Arial" panose="020B0604020202020204" pitchFamily="34" charset="0"/>
              <a:buChar char="•"/>
            </a:pPr>
            <a:r>
              <a:rPr lang="en-US" sz="2400" dirty="0"/>
              <a:t>Capture economic trajectory</a:t>
            </a:r>
          </a:p>
          <a:p>
            <a:pPr marL="800100" lvl="1" indent="-342900">
              <a:buFont typeface="Arial" panose="020B0604020202020204" pitchFamily="34" charset="0"/>
              <a:buChar char="•"/>
            </a:pPr>
            <a:r>
              <a:rPr lang="en-US" sz="2400" dirty="0"/>
              <a:t>Represent environmental shocks</a:t>
            </a:r>
          </a:p>
        </p:txBody>
      </p:sp>
      <p:sp>
        <p:nvSpPr>
          <p:cNvPr id="2" name="TextBox 1">
            <a:extLst>
              <a:ext uri="{FF2B5EF4-FFF2-40B4-BE49-F238E27FC236}">
                <a16:creationId xmlns:a16="http://schemas.microsoft.com/office/drawing/2014/main" id="{D9DF5DD2-21F9-202B-4DF6-980D0E5C9282}"/>
              </a:ext>
            </a:extLst>
          </p:cNvPr>
          <p:cNvSpPr txBox="1"/>
          <p:nvPr/>
        </p:nvSpPr>
        <p:spPr>
          <a:xfrm>
            <a:off x="13071748" y="1997839"/>
            <a:ext cx="5439033" cy="2862322"/>
          </a:xfrm>
          <a:prstGeom prst="rect">
            <a:avLst/>
          </a:prstGeom>
          <a:noFill/>
        </p:spPr>
        <p:txBody>
          <a:bodyPr wrap="square">
            <a:spAutoFit/>
          </a:bodyPr>
          <a:lstStyle/>
          <a:p>
            <a:r>
              <a:rPr lang="en-US" b="1" dirty="0">
                <a:solidFill>
                  <a:schemeClr val="bg1"/>
                </a:solidFill>
              </a:rPr>
              <a:t>Feature vector used in modeling:</a:t>
            </a:r>
          </a:p>
          <a:p>
            <a:pPr marL="742950" lvl="1" indent="-285750">
              <a:buFont typeface="Arial" panose="020B0604020202020204" pitchFamily="34" charset="0"/>
              <a:buChar char="•"/>
            </a:pPr>
            <a:r>
              <a:rPr lang="en-US" dirty="0" err="1">
                <a:solidFill>
                  <a:schemeClr val="bg1"/>
                </a:solidFill>
                <a:ea typeface="Arial"/>
                <a:cs typeface="Arial"/>
                <a:sym typeface="Arial"/>
              </a:rPr>
              <a:t>vulnerability_index</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median_income_real</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max_wind_knots</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max_seismic_mag</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lag_violent_crime_rate</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err="1">
                <a:solidFill>
                  <a:schemeClr val="bg1"/>
                </a:solidFill>
                <a:ea typeface="Arial"/>
                <a:cs typeface="Arial"/>
                <a:sym typeface="Arial"/>
              </a:rPr>
              <a:t>lag_property_crime_rate</a:t>
            </a:r>
            <a:endParaRPr lang="en-US" dirty="0">
              <a:solidFill>
                <a:schemeClr val="bg1"/>
              </a:solidFill>
              <a:ea typeface="Arial"/>
              <a:cs typeface="Arial"/>
              <a:sym typeface="Arial"/>
            </a:endParaRPr>
          </a:p>
          <a:p>
            <a:pPr marL="742950" lvl="1" indent="-285750">
              <a:buFont typeface="Arial" panose="020B0604020202020204" pitchFamily="34" charset="0"/>
              <a:buChar char="•"/>
            </a:pPr>
            <a:r>
              <a:rPr lang="en-US" dirty="0">
                <a:solidFill>
                  <a:schemeClr val="bg1"/>
                </a:solidFill>
                <a:ea typeface="Arial"/>
                <a:cs typeface="Arial"/>
                <a:sym typeface="Arial"/>
              </a:rPr>
              <a:t>lag_pop_change_1</a:t>
            </a:r>
          </a:p>
          <a:p>
            <a:pPr marL="742950" lvl="1" indent="-285750">
              <a:buFont typeface="Arial" panose="020B0604020202020204" pitchFamily="34" charset="0"/>
              <a:buChar char="•"/>
            </a:pPr>
            <a:r>
              <a:rPr lang="en-US" dirty="0">
                <a:solidFill>
                  <a:schemeClr val="bg1"/>
                </a:solidFill>
                <a:ea typeface="Arial"/>
                <a:cs typeface="Arial"/>
                <a:sym typeface="Arial"/>
              </a:rPr>
              <a:t>lag_pop_change_2</a:t>
            </a:r>
          </a:p>
          <a:p>
            <a:pPr marL="742950" lvl="1" indent="-285750">
              <a:buFont typeface="Arial" panose="020B0604020202020204" pitchFamily="34" charset="0"/>
              <a:buChar char="•"/>
            </a:pPr>
            <a:r>
              <a:rPr lang="en-US" dirty="0" err="1">
                <a:solidFill>
                  <a:schemeClr val="bg1"/>
                </a:solidFill>
                <a:ea typeface="Arial"/>
                <a:cs typeface="Arial"/>
                <a:sym typeface="Arial"/>
              </a:rPr>
              <a:t>income_growth</a:t>
            </a:r>
            <a:endParaRPr lang="en-US" dirty="0">
              <a:solidFill>
                <a:schemeClr val="bg1"/>
              </a:solidFill>
              <a:ea typeface="Arial"/>
              <a:cs typeface="Arial"/>
              <a:sym typeface="Arial"/>
            </a:endParaRPr>
          </a:p>
        </p:txBody>
      </p:sp>
      <p:sp>
        <p:nvSpPr>
          <p:cNvPr id="8" name="Text 8">
            <a:extLst>
              <a:ext uri="{FF2B5EF4-FFF2-40B4-BE49-F238E27FC236}">
                <a16:creationId xmlns:a16="http://schemas.microsoft.com/office/drawing/2014/main" id="{5C23EC70-E41B-3CE8-E02C-FEBA68A9A0AD}"/>
              </a:ext>
            </a:extLst>
          </p:cNvPr>
          <p:cNvSpPr/>
          <p:nvPr/>
        </p:nvSpPr>
        <p:spPr>
          <a:xfrm>
            <a:off x="10191388" y="7366237"/>
            <a:ext cx="5760720" cy="64008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The same core features carry through to Phase 4 explainability, which improves interpretability and consistency.</a:t>
            </a:r>
          </a:p>
        </p:txBody>
      </p:sp>
      <p:pic>
        <p:nvPicPr>
          <p:cNvPr id="3" name="Picture 2">
            <a:extLst>
              <a:ext uri="{FF2B5EF4-FFF2-40B4-BE49-F238E27FC236}">
                <a16:creationId xmlns:a16="http://schemas.microsoft.com/office/drawing/2014/main" id="{27CC5894-427C-0377-5E87-0D8E8AB7BA1A}"/>
              </a:ext>
            </a:extLst>
          </p:cNvPr>
          <p:cNvPicPr>
            <a:picLocks noChangeAspect="1"/>
          </p:cNvPicPr>
          <p:nvPr/>
        </p:nvPicPr>
        <p:blipFill>
          <a:blip r:embed="rId3"/>
          <a:stretch>
            <a:fillRect/>
          </a:stretch>
        </p:blipFill>
        <p:spPr>
          <a:xfrm>
            <a:off x="6419885" y="1997839"/>
            <a:ext cx="5222386" cy="4099535"/>
          </a:xfrm>
          <a:prstGeom prst="rect">
            <a:avLst/>
          </a:prstGeom>
        </p:spPr>
      </p:pic>
    </p:spTree>
    <p:extLst>
      <p:ext uri="{BB962C8B-B14F-4D97-AF65-F5344CB8AC3E}">
        <p14:creationId xmlns:p14="http://schemas.microsoft.com/office/powerpoint/2010/main" val="687822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1DFAB-331E-5F18-3110-6D4A2BAA7E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2729FFC-217C-8866-A500-9D532979D929}"/>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822B8DA-357A-6241-16A2-68FDDC792CD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Modeling Pipeline</a:t>
            </a:r>
          </a:p>
        </p:txBody>
      </p:sp>
      <p:sp>
        <p:nvSpPr>
          <p:cNvPr id="3" name="Rounded Rectangle 2">
            <a:extLst>
              <a:ext uri="{FF2B5EF4-FFF2-40B4-BE49-F238E27FC236}">
                <a16:creationId xmlns:a16="http://schemas.microsoft.com/office/drawing/2014/main" id="{F3095C98-4C40-09C1-B726-66DA613CAC1E}"/>
              </a:ext>
            </a:extLst>
          </p:cNvPr>
          <p:cNvSpPr/>
          <p:nvPr/>
        </p:nvSpPr>
        <p:spPr>
          <a:xfrm>
            <a:off x="750276" y="1518759"/>
            <a:ext cx="2074986" cy="4773502"/>
          </a:xfrm>
          <a:prstGeom prst="roundRect">
            <a:avLst>
              <a:gd name="adj" fmla="val 469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FA3FA25D-851C-0525-FAB4-FF9ABF0D0F93}"/>
              </a:ext>
            </a:extLst>
          </p:cNvPr>
          <p:cNvSpPr/>
          <p:nvPr/>
        </p:nvSpPr>
        <p:spPr>
          <a:xfrm>
            <a:off x="3282460" y="2495015"/>
            <a:ext cx="2379785" cy="2883095"/>
          </a:xfrm>
          <a:prstGeom prst="roundRect">
            <a:avLst>
              <a:gd name="adj" fmla="val 480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135EB971-022E-F0E8-87B9-01EE5784FFB7}"/>
              </a:ext>
            </a:extLst>
          </p:cNvPr>
          <p:cNvSpPr/>
          <p:nvPr/>
        </p:nvSpPr>
        <p:spPr>
          <a:xfrm>
            <a:off x="6081655" y="2614889"/>
            <a:ext cx="2076839" cy="2763222"/>
          </a:xfrm>
          <a:prstGeom prst="roundRect">
            <a:avLst>
              <a:gd name="adj" fmla="val 4485"/>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2E47B808-BF79-9D94-052B-B5928E79D705}"/>
              </a:ext>
            </a:extLst>
          </p:cNvPr>
          <p:cNvSpPr/>
          <p:nvPr/>
        </p:nvSpPr>
        <p:spPr>
          <a:xfrm>
            <a:off x="8581292" y="2654965"/>
            <a:ext cx="1852246" cy="2512999"/>
          </a:xfrm>
          <a:prstGeom prst="roundRect">
            <a:avLst>
              <a:gd name="adj" fmla="val 5697"/>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5A0F457-7E82-D8C3-381E-4F42B5291EB7}"/>
              </a:ext>
            </a:extLst>
          </p:cNvPr>
          <p:cNvSpPr/>
          <p:nvPr/>
        </p:nvSpPr>
        <p:spPr>
          <a:xfrm>
            <a:off x="838967" y="1591838"/>
            <a:ext cx="1881373" cy="975360"/>
          </a:xfrm>
          <a:prstGeom prst="roundRect">
            <a:avLst>
              <a:gd name="adj" fmla="val 740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3CB3F7E5-6533-5065-4AEF-8BC413ED4DB8}"/>
              </a:ext>
            </a:extLst>
          </p:cNvPr>
          <p:cNvSpPr/>
          <p:nvPr/>
        </p:nvSpPr>
        <p:spPr>
          <a:xfrm>
            <a:off x="847082" y="2743686"/>
            <a:ext cx="1881373" cy="1057952"/>
          </a:xfrm>
          <a:prstGeom prst="roundRect">
            <a:avLst>
              <a:gd name="adj" fmla="val 4929"/>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F4EF8EA1-958F-01AE-FC05-13048A661A7F}"/>
              </a:ext>
            </a:extLst>
          </p:cNvPr>
          <p:cNvSpPr/>
          <p:nvPr/>
        </p:nvSpPr>
        <p:spPr>
          <a:xfrm>
            <a:off x="838967" y="3965952"/>
            <a:ext cx="1881373" cy="1057952"/>
          </a:xfrm>
          <a:prstGeom prst="roundRect">
            <a:avLst>
              <a:gd name="adj" fmla="val 5996"/>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7ADA43CC-9AE4-478E-3DB3-716153EED9C2}"/>
              </a:ext>
            </a:extLst>
          </p:cNvPr>
          <p:cNvSpPr/>
          <p:nvPr/>
        </p:nvSpPr>
        <p:spPr>
          <a:xfrm>
            <a:off x="838966" y="5129106"/>
            <a:ext cx="1881373" cy="975360"/>
          </a:xfrm>
          <a:prstGeom prst="roundRect">
            <a:avLst>
              <a:gd name="adj" fmla="val 3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281A790A-94C2-331B-19BA-046C120749BC}"/>
              </a:ext>
            </a:extLst>
          </p:cNvPr>
          <p:cNvSpPr/>
          <p:nvPr/>
        </p:nvSpPr>
        <p:spPr>
          <a:xfrm>
            <a:off x="3391667" y="2567198"/>
            <a:ext cx="2132833" cy="1234440"/>
          </a:xfrm>
          <a:prstGeom prst="roundRect">
            <a:avLst>
              <a:gd name="adj" fmla="val 386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CA0CD768-6504-33CE-F672-2EC0BF553E73}"/>
              </a:ext>
            </a:extLst>
          </p:cNvPr>
          <p:cNvSpPr/>
          <p:nvPr/>
        </p:nvSpPr>
        <p:spPr>
          <a:xfrm>
            <a:off x="3391667" y="4048544"/>
            <a:ext cx="2132833" cy="1178034"/>
          </a:xfrm>
          <a:prstGeom prst="roundRect">
            <a:avLst>
              <a:gd name="adj" fmla="val 229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63D0B495-2758-A6E7-EE8B-8D33D7CBE516}"/>
              </a:ext>
            </a:extLst>
          </p:cNvPr>
          <p:cNvSpPr/>
          <p:nvPr/>
        </p:nvSpPr>
        <p:spPr>
          <a:xfrm>
            <a:off x="6187439" y="2692787"/>
            <a:ext cx="1836421" cy="1120141"/>
          </a:xfrm>
          <a:prstGeom prst="roundRect">
            <a:avLst>
              <a:gd name="adj" fmla="val 255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FFB4D46B-1AA3-54FD-BA02-5D99C4AC6AE9}"/>
              </a:ext>
            </a:extLst>
          </p:cNvPr>
          <p:cNvSpPr/>
          <p:nvPr/>
        </p:nvSpPr>
        <p:spPr>
          <a:xfrm>
            <a:off x="6187439" y="3934857"/>
            <a:ext cx="1836421" cy="1233107"/>
          </a:xfrm>
          <a:prstGeom prst="roundRect">
            <a:avLst>
              <a:gd name="adj" fmla="val 2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4FE6A73A-D280-884A-4897-3D876E38EECF}"/>
              </a:ext>
            </a:extLst>
          </p:cNvPr>
          <p:cNvSpPr/>
          <p:nvPr/>
        </p:nvSpPr>
        <p:spPr>
          <a:xfrm>
            <a:off x="8707721" y="2724328"/>
            <a:ext cx="1609759" cy="2322154"/>
          </a:xfrm>
          <a:prstGeom prst="roundRect">
            <a:avLst>
              <a:gd name="adj" fmla="val 334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A59D83C-BF5F-32F9-E4F4-DE1312C9B5A6}"/>
                  </a:ext>
                </a:extLst>
              </p:cNvPr>
              <p:cNvSpPr txBox="1"/>
              <p:nvPr/>
            </p:nvSpPr>
            <p:spPr>
              <a:xfrm>
                <a:off x="683467" y="1203766"/>
                <a:ext cx="1437125" cy="349326"/>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Inputs </a:t>
                </a:r>
                <a:r>
                  <a:rPr lang="en-US" sz="1600" b="1" dirty="0">
                    <a:solidFill>
                      <a:srgbClr val="1F1F1F"/>
                    </a:solidFill>
                    <a:latin typeface="Arial" panose="020B0604020202020204" pitchFamily="34" charset="0"/>
                    <a:cs typeface="Arial" panose="020B0604020202020204" pitchFamily="34" charset="0"/>
                  </a:rPr>
                  <a:t>(</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𝑿</m:t>
                        </m:r>
                      </m:e>
                      <m:sub>
                        <m:r>
                          <a:rPr lang="en-US" sz="1600" b="1" i="1">
                            <a:latin typeface="Cambria Math" panose="02040503050406030204" pitchFamily="18" charset="0"/>
                          </a:rPr>
                          <m:t>𝒎</m:t>
                        </m:r>
                        <m:r>
                          <a:rPr lang="en-US" sz="1600" b="1" i="1">
                            <a:latin typeface="Cambria Math" panose="02040503050406030204" pitchFamily="18" charset="0"/>
                          </a:rPr>
                          <m:t>,</m:t>
                        </m:r>
                        <m:r>
                          <a:rPr lang="en-US" sz="1600" b="1" i="1">
                            <a:latin typeface="Cambria Math" panose="02040503050406030204" pitchFamily="18" charset="0"/>
                          </a:rPr>
                          <m:t>𝒕</m:t>
                        </m:r>
                      </m:sub>
                    </m:sSub>
                  </m:oMath>
                </a14:m>
                <a:r>
                  <a:rPr lang="en-US" sz="1600" b="1" dirty="0">
                    <a:solidFill>
                      <a:srgbClr val="1F1F1F"/>
                    </a:solidFill>
                    <a:latin typeface="Arial" panose="020B0604020202020204" pitchFamily="34" charset="0"/>
                    <a:cs typeface="Arial" panose="020B0604020202020204" pitchFamily="34" charset="0"/>
                  </a:rPr>
                  <a:t>)</a:t>
                </a:r>
                <a:r>
                  <a:rPr lang="en-US" sz="1600" b="1" dirty="0">
                    <a:latin typeface="Arial" panose="020B0604020202020204" pitchFamily="34" charset="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6A59D83C-BF5F-32F9-E4F4-DE1312C9B5A6}"/>
                  </a:ext>
                </a:extLst>
              </p:cNvPr>
              <p:cNvSpPr txBox="1">
                <a:spLocks noRot="1" noChangeAspect="1" noMove="1" noResize="1" noEditPoints="1" noAdjustHandles="1" noChangeArrowheads="1" noChangeShapeType="1" noTextEdit="1"/>
              </p:cNvSpPr>
              <p:nvPr/>
            </p:nvSpPr>
            <p:spPr>
              <a:xfrm>
                <a:off x="683467" y="1203766"/>
                <a:ext cx="1437125" cy="349326"/>
              </a:xfrm>
              <a:prstGeom prst="rect">
                <a:avLst/>
              </a:prstGeom>
              <a:blipFill>
                <a:blip r:embed="rId3"/>
                <a:stretch>
                  <a:fillRect l="-1739" t="-6897" b="-1724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B42CD8BE-B9A1-2E20-1529-61A6EF471512}"/>
              </a:ext>
            </a:extLst>
          </p:cNvPr>
          <p:cNvSpPr txBox="1"/>
          <p:nvPr/>
        </p:nvSpPr>
        <p:spPr>
          <a:xfrm>
            <a:off x="3998761" y="2178425"/>
            <a:ext cx="10278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Methods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F725892-60D7-8FAC-C75F-524903F5B128}"/>
                  </a:ext>
                </a:extLst>
              </p:cNvPr>
              <p:cNvSpPr txBox="1"/>
              <p:nvPr/>
            </p:nvSpPr>
            <p:spPr>
              <a:xfrm>
                <a:off x="6378546" y="2265563"/>
                <a:ext cx="1567160" cy="349326"/>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Outputs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𝑌</m:t>
                        </m:r>
                      </m:e>
                      <m:sub>
                        <m:r>
                          <a:rPr lang="en-US" sz="1600" i="1">
                            <a:latin typeface="Cambria Math" panose="02040503050406030204" pitchFamily="18" charset="0"/>
                          </a:rPr>
                          <m:t>𝑚</m:t>
                        </m:r>
                        <m:r>
                          <a:rPr lang="en-US" sz="1600" i="1">
                            <a:latin typeface="Cambria Math" panose="02040503050406030204" pitchFamily="18" charset="0"/>
                          </a:rPr>
                          <m:t>,</m:t>
                        </m:r>
                        <m:r>
                          <a:rPr lang="en-US" sz="1600" i="1">
                            <a:latin typeface="Cambria Math" panose="02040503050406030204" pitchFamily="18" charset="0"/>
                          </a:rPr>
                          <m:t>𝑡</m:t>
                        </m:r>
                      </m:sub>
                    </m:sSub>
                  </m:oMath>
                </a14:m>
                <a:r>
                  <a:rPr lang="en-US" sz="1600" b="1" dirty="0">
                    <a:solidFill>
                      <a:srgbClr val="1F1F1F"/>
                    </a:solidFill>
                    <a:latin typeface="Arial" panose="020B0604020202020204" pitchFamily="34" charset="0"/>
                    <a:cs typeface="Arial" panose="020B0604020202020204" pitchFamily="34" charset="0"/>
                  </a:rPr>
                  <a:t>)</a:t>
                </a:r>
              </a:p>
            </p:txBody>
          </p:sp>
        </mc:Choice>
        <mc:Fallback xmlns="">
          <p:sp>
            <p:nvSpPr>
              <p:cNvPr id="21" name="TextBox 20">
                <a:extLst>
                  <a:ext uri="{FF2B5EF4-FFF2-40B4-BE49-F238E27FC236}">
                    <a16:creationId xmlns:a16="http://schemas.microsoft.com/office/drawing/2014/main" id="{7F725892-60D7-8FAC-C75F-524903F5B128}"/>
                  </a:ext>
                </a:extLst>
              </p:cNvPr>
              <p:cNvSpPr txBox="1">
                <a:spLocks noRot="1" noChangeAspect="1" noMove="1" noResize="1" noEditPoints="1" noAdjustHandles="1" noChangeArrowheads="1" noChangeShapeType="1" noTextEdit="1"/>
              </p:cNvSpPr>
              <p:nvPr/>
            </p:nvSpPr>
            <p:spPr>
              <a:xfrm>
                <a:off x="6378546" y="2265563"/>
                <a:ext cx="1567160" cy="349326"/>
              </a:xfrm>
              <a:prstGeom prst="rect">
                <a:avLst/>
              </a:prstGeom>
              <a:blipFill>
                <a:blip r:embed="rId4"/>
                <a:stretch>
                  <a:fillRect l="-2419" t="-7143" b="-17857"/>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79772FAC-5CE9-7771-4177-59E23EA9F613}"/>
              </a:ext>
            </a:extLst>
          </p:cNvPr>
          <p:cNvSpPr txBox="1"/>
          <p:nvPr/>
        </p:nvSpPr>
        <p:spPr>
          <a:xfrm>
            <a:off x="9197943" y="2330978"/>
            <a:ext cx="641522" cy="338554"/>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Goal</a:t>
            </a:r>
          </a:p>
        </p:txBody>
      </p:sp>
      <p:sp>
        <p:nvSpPr>
          <p:cNvPr id="23" name="TextBox 22">
            <a:extLst>
              <a:ext uri="{FF2B5EF4-FFF2-40B4-BE49-F238E27FC236}">
                <a16:creationId xmlns:a16="http://schemas.microsoft.com/office/drawing/2014/main" id="{77DC103E-90F9-234E-C9B0-4BA53D379B0A}"/>
              </a:ext>
            </a:extLst>
          </p:cNvPr>
          <p:cNvSpPr txBox="1"/>
          <p:nvPr/>
        </p:nvSpPr>
        <p:spPr>
          <a:xfrm>
            <a:off x="1481117" y="1664019"/>
            <a:ext cx="1165704"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Structural: </a:t>
            </a:r>
          </a:p>
          <a:p>
            <a:r>
              <a:rPr lang="en-US" sz="1200" dirty="0">
                <a:latin typeface="Arial" panose="020B0604020202020204" pitchFamily="34" charset="0"/>
                <a:cs typeface="Arial" panose="020B0604020202020204" pitchFamily="34" charset="0"/>
              </a:rPr>
              <a:t>Birth rates, </a:t>
            </a:r>
          </a:p>
          <a:p>
            <a:r>
              <a:rPr lang="en-US" sz="1200" dirty="0">
                <a:latin typeface="Arial" panose="020B0604020202020204" pitchFamily="34" charset="0"/>
                <a:cs typeface="Arial" panose="020B0604020202020204" pitchFamily="34" charset="0"/>
              </a:rPr>
              <a:t>Age structure</a:t>
            </a:r>
          </a:p>
          <a:p>
            <a:r>
              <a:rPr lang="en-US" sz="1200" dirty="0">
                <a:latin typeface="Arial" panose="020B0604020202020204" pitchFamily="34" charset="0"/>
                <a:cs typeface="Arial" panose="020B0604020202020204" pitchFamily="34" charset="0"/>
              </a:rPr>
              <a:t>(%&lt;15, %&gt;65)</a:t>
            </a:r>
          </a:p>
        </p:txBody>
      </p:sp>
      <p:sp>
        <p:nvSpPr>
          <p:cNvPr id="24" name="TextBox 23">
            <a:extLst>
              <a:ext uri="{FF2B5EF4-FFF2-40B4-BE49-F238E27FC236}">
                <a16:creationId xmlns:a16="http://schemas.microsoft.com/office/drawing/2014/main" id="{602C3404-FD7A-B758-EF86-8C911F3F91FD}"/>
              </a:ext>
            </a:extLst>
          </p:cNvPr>
          <p:cNvSpPr txBox="1"/>
          <p:nvPr/>
        </p:nvSpPr>
        <p:spPr>
          <a:xfrm>
            <a:off x="1469828" y="2757753"/>
            <a:ext cx="1258678"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Resilience: </a:t>
            </a:r>
          </a:p>
          <a:p>
            <a:r>
              <a:rPr lang="en-US" sz="1200" dirty="0">
                <a:latin typeface="Arial" panose="020B0604020202020204" pitchFamily="34" charset="0"/>
                <a:cs typeface="Arial" panose="020B0604020202020204" pitchFamily="34" charset="0"/>
              </a:rPr>
              <a:t>Unemployment,</a:t>
            </a:r>
          </a:p>
          <a:p>
            <a:r>
              <a:rPr lang="en-US" sz="1200" dirty="0">
                <a:latin typeface="Arial" panose="020B0604020202020204" pitchFamily="34" charset="0"/>
                <a:cs typeface="Arial" panose="020B0604020202020204" pitchFamily="34" charset="0"/>
              </a:rPr>
              <a:t>Payroll,</a:t>
            </a:r>
          </a:p>
          <a:p>
            <a:r>
              <a:rPr lang="en-US" sz="1200" dirty="0">
                <a:latin typeface="Arial" panose="020B0604020202020204" pitchFamily="34" charset="0"/>
                <a:cs typeface="Arial" panose="020B0604020202020204" pitchFamily="34" charset="0"/>
              </a:rPr>
              <a:t>Establishment</a:t>
            </a:r>
          </a:p>
          <a:p>
            <a:r>
              <a:rPr lang="en-US" sz="1200" dirty="0">
                <a:latin typeface="Arial" panose="020B0604020202020204" pitchFamily="34" charset="0"/>
                <a:cs typeface="Arial" panose="020B0604020202020204" pitchFamily="34" charset="0"/>
              </a:rPr>
              <a:t>counts</a:t>
            </a:r>
          </a:p>
        </p:txBody>
      </p:sp>
      <p:sp>
        <p:nvSpPr>
          <p:cNvPr id="25" name="TextBox 24">
            <a:extLst>
              <a:ext uri="{FF2B5EF4-FFF2-40B4-BE49-F238E27FC236}">
                <a16:creationId xmlns:a16="http://schemas.microsoft.com/office/drawing/2014/main" id="{3BDEC59D-50EE-F49B-41AB-5AFFBA00760C}"/>
              </a:ext>
            </a:extLst>
          </p:cNvPr>
          <p:cNvSpPr txBox="1"/>
          <p:nvPr/>
        </p:nvSpPr>
        <p:spPr>
          <a:xfrm>
            <a:off x="1452781" y="5204000"/>
            <a:ext cx="1335622"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Shocks: </a:t>
            </a:r>
          </a:p>
          <a:p>
            <a:r>
              <a:rPr lang="en-US" sz="1200" dirty="0">
                <a:latin typeface="Arial" panose="020B0604020202020204" pitchFamily="34" charset="0"/>
                <a:cs typeface="Arial" panose="020B0604020202020204" pitchFamily="34" charset="0"/>
              </a:rPr>
              <a:t>Hurricane strikes</a:t>
            </a:r>
          </a:p>
          <a:p>
            <a:r>
              <a:rPr lang="en-US" sz="1200" dirty="0">
                <a:latin typeface="Arial" panose="020B0604020202020204" pitchFamily="34" charset="0"/>
                <a:cs typeface="Arial" panose="020B0604020202020204" pitchFamily="34" charset="0"/>
              </a:rPr>
              <a:t>Earthquake</a:t>
            </a:r>
          </a:p>
          <a:p>
            <a:r>
              <a:rPr lang="en-US" sz="1200" dirty="0">
                <a:latin typeface="Arial" panose="020B0604020202020204" pitchFamily="34" charset="0"/>
                <a:cs typeface="Arial" panose="020B0604020202020204" pitchFamily="34" charset="0"/>
              </a:rPr>
              <a:t>intensity</a:t>
            </a:r>
          </a:p>
        </p:txBody>
      </p:sp>
      <p:sp>
        <p:nvSpPr>
          <p:cNvPr id="26" name="TextBox 25">
            <a:extLst>
              <a:ext uri="{FF2B5EF4-FFF2-40B4-BE49-F238E27FC236}">
                <a16:creationId xmlns:a16="http://schemas.microsoft.com/office/drawing/2014/main" id="{927565AF-2080-F0D1-6042-D59D55316EFE}"/>
              </a:ext>
            </a:extLst>
          </p:cNvPr>
          <p:cNvSpPr txBox="1"/>
          <p:nvPr/>
        </p:nvSpPr>
        <p:spPr>
          <a:xfrm>
            <a:off x="1474095" y="4000704"/>
            <a:ext cx="1211294"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Vulnerability: </a:t>
            </a:r>
          </a:p>
          <a:p>
            <a:r>
              <a:rPr lang="en-US" sz="1200" dirty="0">
                <a:latin typeface="Arial" panose="020B0604020202020204" pitchFamily="34" charset="0"/>
                <a:cs typeface="Arial" panose="020B0604020202020204" pitchFamily="34" charset="0"/>
              </a:rPr>
              <a:t>CDC SVI</a:t>
            </a:r>
          </a:p>
          <a:p>
            <a:r>
              <a:rPr lang="en-US" sz="1200" dirty="0">
                <a:latin typeface="Arial" panose="020B0604020202020204" pitchFamily="34" charset="0"/>
                <a:cs typeface="Arial" panose="020B0604020202020204" pitchFamily="34" charset="0"/>
              </a:rPr>
              <a:t>(Poverty,</a:t>
            </a:r>
          </a:p>
          <a:p>
            <a:r>
              <a:rPr lang="en-US" sz="1200" dirty="0">
                <a:latin typeface="Arial" panose="020B0604020202020204" pitchFamily="34" charset="0"/>
                <a:cs typeface="Arial" panose="020B0604020202020204" pitchFamily="34" charset="0"/>
              </a:rPr>
              <a:t>Transportation,</a:t>
            </a:r>
          </a:p>
          <a:p>
            <a:r>
              <a:rPr lang="en-US" sz="1200" dirty="0">
                <a:latin typeface="Arial" panose="020B0604020202020204" pitchFamily="34" charset="0"/>
                <a:cs typeface="Arial" panose="020B0604020202020204" pitchFamily="34" charset="0"/>
              </a:rPr>
              <a:t>Housing</a:t>
            </a:r>
          </a:p>
        </p:txBody>
      </p:sp>
      <p:sp>
        <p:nvSpPr>
          <p:cNvPr id="27" name="TextBox 26">
            <a:extLst>
              <a:ext uri="{FF2B5EF4-FFF2-40B4-BE49-F238E27FC236}">
                <a16:creationId xmlns:a16="http://schemas.microsoft.com/office/drawing/2014/main" id="{B778AD8D-5942-038E-B79F-523FF43899D0}"/>
              </a:ext>
            </a:extLst>
          </p:cNvPr>
          <p:cNvSpPr txBox="1"/>
          <p:nvPr/>
        </p:nvSpPr>
        <p:spPr>
          <a:xfrm>
            <a:off x="3948823" y="2654965"/>
            <a:ext cx="1656223" cy="1107996"/>
          </a:xfrm>
          <a:prstGeom prst="rect">
            <a:avLst/>
          </a:prstGeom>
          <a:noFill/>
        </p:spPr>
        <p:txBody>
          <a:bodyPr wrap="none" rtlCol="0">
            <a:spAutoFit/>
          </a:bodyPr>
          <a:lstStyle/>
          <a:p>
            <a:r>
              <a:rPr lang="en-US" sz="1100" b="1" dirty="0">
                <a:latin typeface="Arial" panose="020B0604020202020204" pitchFamily="34" charset="0"/>
                <a:cs typeface="Arial" panose="020B0604020202020204" pitchFamily="34" charset="0"/>
              </a:rPr>
              <a:t>Phase I (Supervised): </a:t>
            </a:r>
          </a:p>
          <a:p>
            <a:r>
              <a:rPr lang="en-US" sz="1100" dirty="0">
                <a:latin typeface="Arial" panose="020B0604020202020204" pitchFamily="34" charset="0"/>
                <a:cs typeface="Arial" panose="020B0604020202020204" pitchFamily="34" charset="0"/>
              </a:rPr>
              <a:t>Lasso Regression</a:t>
            </a:r>
          </a:p>
          <a:p>
            <a:r>
              <a:rPr lang="en-US" sz="1100" dirty="0">
                <a:latin typeface="Arial" panose="020B0604020202020204" pitchFamily="34" charset="0"/>
                <a:cs typeface="Arial" panose="020B0604020202020204" pitchFamily="34" charset="0"/>
              </a:rPr>
              <a:t>(feature selection)</a:t>
            </a:r>
          </a:p>
          <a:p>
            <a:r>
              <a:rPr lang="en-US" sz="1100" dirty="0">
                <a:latin typeface="Arial" panose="020B0604020202020204" pitchFamily="34" charset="0"/>
                <a:cs typeface="Arial" panose="020B0604020202020204" pitchFamily="34" charset="0"/>
              </a:rPr>
              <a:t>And Random Forest</a:t>
            </a:r>
          </a:p>
          <a:p>
            <a:r>
              <a:rPr lang="en-US" sz="1100" dirty="0">
                <a:latin typeface="Arial" panose="020B0604020202020204" pitchFamily="34" charset="0"/>
                <a:cs typeface="Arial" panose="020B0604020202020204" pitchFamily="34" charset="0"/>
              </a:rPr>
              <a:t>(capturing “shock </a:t>
            </a:r>
          </a:p>
          <a:p>
            <a:r>
              <a:rPr lang="en-US" sz="1100" dirty="0">
                <a:latin typeface="Arial" panose="020B0604020202020204" pitchFamily="34" charset="0"/>
                <a:cs typeface="Arial" panose="020B0604020202020204" pitchFamily="34" charset="0"/>
              </a:rPr>
              <a:t>  cliffs”)</a:t>
            </a:r>
          </a:p>
        </p:txBody>
      </p:sp>
      <p:sp>
        <p:nvSpPr>
          <p:cNvPr id="28" name="TextBox 27">
            <a:extLst>
              <a:ext uri="{FF2B5EF4-FFF2-40B4-BE49-F238E27FC236}">
                <a16:creationId xmlns:a16="http://schemas.microsoft.com/office/drawing/2014/main" id="{5FAC464B-868C-2D11-D031-84A882D0B669}"/>
              </a:ext>
            </a:extLst>
          </p:cNvPr>
          <p:cNvSpPr txBox="1"/>
          <p:nvPr/>
        </p:nvSpPr>
        <p:spPr>
          <a:xfrm>
            <a:off x="3976541" y="4168201"/>
            <a:ext cx="1611339" cy="938719"/>
          </a:xfrm>
          <a:prstGeom prst="rect">
            <a:avLst/>
          </a:prstGeom>
          <a:noFill/>
        </p:spPr>
        <p:txBody>
          <a:bodyPr wrap="none" rtlCol="0">
            <a:spAutoFit/>
          </a:bodyPr>
          <a:lstStyle/>
          <a:p>
            <a:r>
              <a:rPr lang="en-US" sz="1100" b="1" dirty="0">
                <a:latin typeface="Arial" panose="020B0604020202020204" pitchFamily="34" charset="0"/>
                <a:cs typeface="Arial" panose="020B0604020202020204" pitchFamily="34" charset="0"/>
              </a:rPr>
              <a:t>Phase II </a:t>
            </a:r>
          </a:p>
          <a:p>
            <a:r>
              <a:rPr lang="en-US" sz="1100" b="1" dirty="0">
                <a:latin typeface="Arial" panose="020B0604020202020204" pitchFamily="34" charset="0"/>
                <a:cs typeface="Arial" panose="020B0604020202020204" pitchFamily="34" charset="0"/>
              </a:rPr>
              <a:t>(Unsupervised): </a:t>
            </a:r>
          </a:p>
          <a:p>
            <a:r>
              <a:rPr lang="en-US" sz="1100" dirty="0">
                <a:latin typeface="Arial" panose="020B0604020202020204" pitchFamily="34" charset="0"/>
                <a:cs typeface="Arial" panose="020B0604020202020204" pitchFamily="34" charset="0"/>
              </a:rPr>
              <a:t>K-Means / Hierarchical</a:t>
            </a:r>
          </a:p>
          <a:p>
            <a:r>
              <a:rPr lang="en-US" sz="1100" dirty="0">
                <a:latin typeface="Arial" panose="020B0604020202020204" pitchFamily="34" charset="0"/>
                <a:cs typeface="Arial" panose="020B0604020202020204" pitchFamily="34" charset="0"/>
              </a:rPr>
              <a:t>Clustering for </a:t>
            </a:r>
          </a:p>
          <a:p>
            <a:r>
              <a:rPr lang="en-US" sz="1100" dirty="0">
                <a:latin typeface="Arial" panose="020B0604020202020204" pitchFamily="34" charset="0"/>
                <a:cs typeface="Arial" panose="020B0604020202020204" pitchFamily="34" charset="0"/>
              </a:rPr>
              <a:t>typology profiling</a:t>
            </a:r>
          </a:p>
        </p:txBody>
      </p:sp>
      <p:sp>
        <p:nvSpPr>
          <p:cNvPr id="29" name="TextBox 28">
            <a:extLst>
              <a:ext uri="{FF2B5EF4-FFF2-40B4-BE49-F238E27FC236}">
                <a16:creationId xmlns:a16="http://schemas.microsoft.com/office/drawing/2014/main" id="{B18B569E-FC9F-691F-CB7D-156B30D9600B}"/>
              </a:ext>
            </a:extLst>
          </p:cNvPr>
          <p:cNvSpPr txBox="1"/>
          <p:nvPr/>
        </p:nvSpPr>
        <p:spPr>
          <a:xfrm>
            <a:off x="6856946" y="2764830"/>
            <a:ext cx="1029449"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Primary:</a:t>
            </a:r>
          </a:p>
          <a:p>
            <a:r>
              <a:rPr lang="en-US" sz="1200" dirty="0">
                <a:latin typeface="Arial" panose="020B0604020202020204" pitchFamily="34" charset="0"/>
                <a:cs typeface="Arial" panose="020B0604020202020204" pitchFamily="34" charset="0"/>
              </a:rPr>
              <a:t>Population</a:t>
            </a:r>
          </a:p>
          <a:p>
            <a:r>
              <a:rPr lang="en-US" sz="1200" dirty="0">
                <a:latin typeface="Arial" panose="020B0604020202020204" pitchFamily="34" charset="0"/>
                <a:cs typeface="Arial" panose="020B0604020202020204" pitchFamily="34" charset="0"/>
              </a:rPr>
              <a:t>change / net</a:t>
            </a:r>
          </a:p>
          <a:p>
            <a:r>
              <a:rPr lang="en-US" sz="1200" dirty="0">
                <a:latin typeface="Arial" panose="020B0604020202020204" pitchFamily="34" charset="0"/>
                <a:cs typeface="Arial" panose="020B0604020202020204" pitchFamily="34" charset="0"/>
              </a:rPr>
              <a:t>migration</a:t>
            </a:r>
          </a:p>
          <a:p>
            <a:r>
              <a:rPr lang="en-US" sz="1200" dirty="0">
                <a:latin typeface="Arial" panose="020B0604020202020204" pitchFamily="34" charset="0"/>
                <a:cs typeface="Arial" panose="020B0604020202020204" pitchFamily="34" charset="0"/>
              </a:rPr>
              <a:t>forecast</a:t>
            </a:r>
          </a:p>
        </p:txBody>
      </p:sp>
      <p:sp>
        <p:nvSpPr>
          <p:cNvPr id="30" name="TextBox 29">
            <a:extLst>
              <a:ext uri="{FF2B5EF4-FFF2-40B4-BE49-F238E27FC236}">
                <a16:creationId xmlns:a16="http://schemas.microsoft.com/office/drawing/2014/main" id="{9A6FB9EF-DDA1-44C8-60B3-D8279734BB66}"/>
              </a:ext>
            </a:extLst>
          </p:cNvPr>
          <p:cNvSpPr txBox="1"/>
          <p:nvPr/>
        </p:nvSpPr>
        <p:spPr>
          <a:xfrm>
            <a:off x="6850534" y="3983539"/>
            <a:ext cx="1069524" cy="120032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Secondary:</a:t>
            </a:r>
          </a:p>
          <a:p>
            <a:r>
              <a:rPr lang="en-US" sz="1200" dirty="0">
                <a:latin typeface="Arial" panose="020B0604020202020204" pitchFamily="34" charset="0"/>
                <a:cs typeface="Arial" panose="020B0604020202020204" pitchFamily="34" charset="0"/>
              </a:rPr>
              <a:t>Composite</a:t>
            </a:r>
          </a:p>
          <a:p>
            <a:r>
              <a:rPr lang="en-US" sz="1200" dirty="0">
                <a:latin typeface="Arial" panose="020B0604020202020204" pitchFamily="34" charset="0"/>
                <a:cs typeface="Arial" panose="020B0604020202020204" pitchFamily="34" charset="0"/>
              </a:rPr>
              <a:t>municipal</a:t>
            </a:r>
          </a:p>
          <a:p>
            <a:r>
              <a:rPr lang="en-US" sz="1200" dirty="0">
                <a:latin typeface="Arial" panose="020B0604020202020204" pitchFamily="34" charset="0"/>
                <a:cs typeface="Arial" panose="020B0604020202020204" pitchFamily="34" charset="0"/>
              </a:rPr>
              <a:t>demographic</a:t>
            </a:r>
          </a:p>
          <a:p>
            <a:r>
              <a:rPr lang="en-US" sz="1200" dirty="0">
                <a:latin typeface="Arial" panose="020B0604020202020204" pitchFamily="34" charset="0"/>
                <a:cs typeface="Arial" panose="020B0604020202020204" pitchFamily="34" charset="0"/>
              </a:rPr>
              <a:t>vulnerability</a:t>
            </a:r>
          </a:p>
          <a:p>
            <a:r>
              <a:rPr lang="en-US" sz="1200" dirty="0">
                <a:latin typeface="Arial" panose="020B0604020202020204" pitchFamily="34" charset="0"/>
                <a:cs typeface="Arial" panose="020B0604020202020204" pitchFamily="34" charset="0"/>
              </a:rPr>
              <a:t>score (0-1)</a:t>
            </a:r>
          </a:p>
        </p:txBody>
      </p:sp>
      <p:sp>
        <p:nvSpPr>
          <p:cNvPr id="31" name="TextBox 30">
            <a:extLst>
              <a:ext uri="{FF2B5EF4-FFF2-40B4-BE49-F238E27FC236}">
                <a16:creationId xmlns:a16="http://schemas.microsoft.com/office/drawing/2014/main" id="{48C413CA-34F8-5C31-511B-40F5F8FFB910}"/>
              </a:ext>
            </a:extLst>
          </p:cNvPr>
          <p:cNvSpPr txBox="1"/>
          <p:nvPr/>
        </p:nvSpPr>
        <p:spPr>
          <a:xfrm>
            <a:off x="8707721" y="3475169"/>
            <a:ext cx="1683474" cy="1569660"/>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Distinguish between</a:t>
            </a:r>
          </a:p>
          <a:p>
            <a:pPr algn="ctr"/>
            <a:r>
              <a:rPr lang="en-US" sz="1200" dirty="0">
                <a:latin typeface="Arial" panose="020B0604020202020204" pitchFamily="34" charset="0"/>
                <a:cs typeface="Arial" panose="020B0604020202020204" pitchFamily="34" charset="0"/>
              </a:rPr>
              <a:t>“natural” demographic</a:t>
            </a:r>
          </a:p>
          <a:p>
            <a:pPr algn="ctr"/>
            <a:r>
              <a:rPr lang="en-US" sz="1200" dirty="0">
                <a:latin typeface="Arial" panose="020B0604020202020204" pitchFamily="34" charset="0"/>
                <a:cs typeface="Arial" panose="020B0604020202020204" pitchFamily="34" charset="0"/>
              </a:rPr>
              <a:t>momentum and</a:t>
            </a:r>
          </a:p>
          <a:p>
            <a:pPr algn="ctr"/>
            <a:r>
              <a:rPr lang="en-US" sz="1200" dirty="0">
                <a:latin typeface="Arial" panose="020B0604020202020204" pitchFamily="34" charset="0"/>
                <a:cs typeface="Arial" panose="020B0604020202020204" pitchFamily="34" charset="0"/>
              </a:rPr>
              <a:t>shock-driven</a:t>
            </a:r>
          </a:p>
          <a:p>
            <a:pPr algn="ctr"/>
            <a:r>
              <a:rPr lang="en-US" sz="1200" dirty="0">
                <a:latin typeface="Arial" panose="020B0604020202020204" pitchFamily="34" charset="0"/>
                <a:cs typeface="Arial" panose="020B0604020202020204" pitchFamily="34" charset="0"/>
              </a:rPr>
              <a:t>emptying to inform</a:t>
            </a:r>
          </a:p>
          <a:p>
            <a:pPr algn="ctr"/>
            <a:r>
              <a:rPr lang="en-US" sz="1200" dirty="0">
                <a:latin typeface="Arial" panose="020B0604020202020204" pitchFamily="34" charset="0"/>
                <a:cs typeface="Arial" panose="020B0604020202020204" pitchFamily="34" charset="0"/>
              </a:rPr>
              <a:t>resource allocation</a:t>
            </a:r>
          </a:p>
          <a:p>
            <a:pPr algn="ctr"/>
            <a:r>
              <a:rPr lang="en-US" sz="1200" dirty="0">
                <a:latin typeface="Arial" panose="020B0604020202020204" pitchFamily="34" charset="0"/>
                <a:cs typeface="Arial" panose="020B0604020202020204" pitchFamily="34" charset="0"/>
              </a:rPr>
              <a:t>for the Puerto Rico</a:t>
            </a:r>
          </a:p>
          <a:p>
            <a:pPr algn="ctr"/>
            <a:r>
              <a:rPr lang="en-US" sz="1200" dirty="0">
                <a:latin typeface="Arial" panose="020B0604020202020204" pitchFamily="34" charset="0"/>
                <a:cs typeface="Arial" panose="020B0604020202020204" pitchFamily="34" charset="0"/>
              </a:rPr>
              <a:t>Planning Board</a:t>
            </a:r>
          </a:p>
        </p:txBody>
      </p:sp>
      <p:pic>
        <p:nvPicPr>
          <p:cNvPr id="32" name="Picture 31" descr="A group of people with a clock&#10;&#10;AI-generated content may be incorrect.">
            <a:extLst>
              <a:ext uri="{FF2B5EF4-FFF2-40B4-BE49-F238E27FC236}">
                <a16:creationId xmlns:a16="http://schemas.microsoft.com/office/drawing/2014/main" id="{428C4A64-F2DF-ECC3-2DB4-C2604F3A11CA}"/>
              </a:ext>
            </a:extLst>
          </p:cNvPr>
          <p:cNvPicPr>
            <a:picLocks noChangeAspect="1"/>
          </p:cNvPicPr>
          <p:nvPr/>
        </p:nvPicPr>
        <p:blipFill>
          <a:blip r:embed="rId5"/>
          <a:stretch>
            <a:fillRect/>
          </a:stretch>
        </p:blipFill>
        <p:spPr>
          <a:xfrm>
            <a:off x="888610" y="1746989"/>
            <a:ext cx="613898" cy="665056"/>
          </a:xfrm>
          <a:prstGeom prst="rect">
            <a:avLst/>
          </a:prstGeom>
        </p:spPr>
      </p:pic>
      <p:pic>
        <p:nvPicPr>
          <p:cNvPr id="33" name="Picture 32">
            <a:extLst>
              <a:ext uri="{FF2B5EF4-FFF2-40B4-BE49-F238E27FC236}">
                <a16:creationId xmlns:a16="http://schemas.microsoft.com/office/drawing/2014/main" id="{8C93BE0B-DA5B-EF3B-00D6-C553697D0414}"/>
              </a:ext>
            </a:extLst>
          </p:cNvPr>
          <p:cNvPicPr>
            <a:picLocks noChangeAspect="1"/>
          </p:cNvPicPr>
          <p:nvPr/>
        </p:nvPicPr>
        <p:blipFill>
          <a:blip r:embed="rId6"/>
          <a:stretch>
            <a:fillRect/>
          </a:stretch>
        </p:blipFill>
        <p:spPr>
          <a:xfrm>
            <a:off x="874727" y="2917513"/>
            <a:ext cx="627781" cy="671987"/>
          </a:xfrm>
          <a:prstGeom prst="rect">
            <a:avLst/>
          </a:prstGeom>
        </p:spPr>
      </p:pic>
      <p:pic>
        <p:nvPicPr>
          <p:cNvPr id="34" name="Picture 33" descr="A chain with a house and a broken chain&#10;&#10;AI-generated content may be incorrect.">
            <a:extLst>
              <a:ext uri="{FF2B5EF4-FFF2-40B4-BE49-F238E27FC236}">
                <a16:creationId xmlns:a16="http://schemas.microsoft.com/office/drawing/2014/main" id="{4102B568-913A-7AD1-76B6-2A38C9024DB9}"/>
              </a:ext>
            </a:extLst>
          </p:cNvPr>
          <p:cNvPicPr>
            <a:picLocks noChangeAspect="1"/>
          </p:cNvPicPr>
          <p:nvPr/>
        </p:nvPicPr>
        <p:blipFill>
          <a:blip r:embed="rId7"/>
          <a:stretch>
            <a:fillRect/>
          </a:stretch>
        </p:blipFill>
        <p:spPr>
          <a:xfrm>
            <a:off x="895583" y="4168201"/>
            <a:ext cx="606305" cy="651775"/>
          </a:xfrm>
          <a:prstGeom prst="rect">
            <a:avLst/>
          </a:prstGeom>
        </p:spPr>
      </p:pic>
      <p:pic>
        <p:nvPicPr>
          <p:cNvPr id="35" name="Picture 34">
            <a:extLst>
              <a:ext uri="{FF2B5EF4-FFF2-40B4-BE49-F238E27FC236}">
                <a16:creationId xmlns:a16="http://schemas.microsoft.com/office/drawing/2014/main" id="{04ED2048-0B06-1903-712D-1DB2CFDC605B}"/>
              </a:ext>
            </a:extLst>
          </p:cNvPr>
          <p:cNvPicPr>
            <a:picLocks noChangeAspect="1"/>
          </p:cNvPicPr>
          <p:nvPr/>
        </p:nvPicPr>
        <p:blipFill>
          <a:blip r:embed="rId8"/>
          <a:stretch>
            <a:fillRect/>
          </a:stretch>
        </p:blipFill>
        <p:spPr>
          <a:xfrm>
            <a:off x="908603" y="5263892"/>
            <a:ext cx="593285" cy="736600"/>
          </a:xfrm>
          <a:prstGeom prst="rect">
            <a:avLst/>
          </a:prstGeom>
        </p:spPr>
      </p:pic>
      <p:pic>
        <p:nvPicPr>
          <p:cNvPr id="36" name="Picture 35" descr="A close up of a diagram&#10;&#10;AI-generated content may be incorrect.">
            <a:extLst>
              <a:ext uri="{FF2B5EF4-FFF2-40B4-BE49-F238E27FC236}">
                <a16:creationId xmlns:a16="http://schemas.microsoft.com/office/drawing/2014/main" id="{6819EADF-4D1A-3C1F-3053-D121DE83A99F}"/>
              </a:ext>
            </a:extLst>
          </p:cNvPr>
          <p:cNvPicPr>
            <a:picLocks noChangeAspect="1"/>
          </p:cNvPicPr>
          <p:nvPr/>
        </p:nvPicPr>
        <p:blipFill>
          <a:blip r:embed="rId9"/>
          <a:stretch>
            <a:fillRect/>
          </a:stretch>
        </p:blipFill>
        <p:spPr>
          <a:xfrm>
            <a:off x="3462007" y="2743686"/>
            <a:ext cx="549748" cy="933202"/>
          </a:xfrm>
          <a:prstGeom prst="rect">
            <a:avLst/>
          </a:prstGeom>
        </p:spPr>
      </p:pic>
      <p:pic>
        <p:nvPicPr>
          <p:cNvPr id="37" name="Picture 36" descr="A group of dots in a circle&#10;&#10;AI-generated content may be incorrect.">
            <a:extLst>
              <a:ext uri="{FF2B5EF4-FFF2-40B4-BE49-F238E27FC236}">
                <a16:creationId xmlns:a16="http://schemas.microsoft.com/office/drawing/2014/main" id="{9559ABA8-43DC-4E8B-8D45-8E0AEFE00D07}"/>
              </a:ext>
            </a:extLst>
          </p:cNvPr>
          <p:cNvPicPr>
            <a:picLocks noChangeAspect="1"/>
          </p:cNvPicPr>
          <p:nvPr/>
        </p:nvPicPr>
        <p:blipFill>
          <a:blip r:embed="rId10"/>
          <a:stretch>
            <a:fillRect/>
          </a:stretch>
        </p:blipFill>
        <p:spPr>
          <a:xfrm>
            <a:off x="3454268" y="4310553"/>
            <a:ext cx="566476" cy="695780"/>
          </a:xfrm>
          <a:prstGeom prst="rect">
            <a:avLst/>
          </a:prstGeom>
        </p:spPr>
      </p:pic>
      <p:pic>
        <p:nvPicPr>
          <p:cNvPr id="38" name="Picture 37" descr="A graph with a red arrow down&#10;&#10;AI-generated content may be incorrect.">
            <a:extLst>
              <a:ext uri="{FF2B5EF4-FFF2-40B4-BE49-F238E27FC236}">
                <a16:creationId xmlns:a16="http://schemas.microsoft.com/office/drawing/2014/main" id="{EFF457F3-0186-6ECE-9D0D-084074EAC190}"/>
              </a:ext>
            </a:extLst>
          </p:cNvPr>
          <p:cNvPicPr>
            <a:picLocks noChangeAspect="1"/>
          </p:cNvPicPr>
          <p:nvPr/>
        </p:nvPicPr>
        <p:blipFill>
          <a:blip r:embed="rId11"/>
          <a:stretch>
            <a:fillRect/>
          </a:stretch>
        </p:blipFill>
        <p:spPr>
          <a:xfrm>
            <a:off x="6274553" y="2953114"/>
            <a:ext cx="561926" cy="657573"/>
          </a:xfrm>
          <a:prstGeom prst="rect">
            <a:avLst/>
          </a:prstGeom>
        </p:spPr>
      </p:pic>
      <p:pic>
        <p:nvPicPr>
          <p:cNvPr id="39" name="Picture 38" descr="A colorful gauge with a needle&#10;&#10;AI-generated content may be incorrect.">
            <a:extLst>
              <a:ext uri="{FF2B5EF4-FFF2-40B4-BE49-F238E27FC236}">
                <a16:creationId xmlns:a16="http://schemas.microsoft.com/office/drawing/2014/main" id="{72AF793E-AA99-ED08-5CB6-513F9D2127E3}"/>
              </a:ext>
            </a:extLst>
          </p:cNvPr>
          <p:cNvPicPr>
            <a:picLocks noChangeAspect="1"/>
          </p:cNvPicPr>
          <p:nvPr/>
        </p:nvPicPr>
        <p:blipFill>
          <a:blip r:embed="rId12"/>
          <a:stretch>
            <a:fillRect/>
          </a:stretch>
        </p:blipFill>
        <p:spPr>
          <a:xfrm>
            <a:off x="6254054" y="4073255"/>
            <a:ext cx="602892" cy="603993"/>
          </a:xfrm>
          <a:prstGeom prst="rect">
            <a:avLst/>
          </a:prstGeom>
        </p:spPr>
      </p:pic>
      <p:pic>
        <p:nvPicPr>
          <p:cNvPr id="40" name="Picture 39" descr="A map of the country with gears&#10;&#10;AI-generated content may be incorrect.">
            <a:extLst>
              <a:ext uri="{FF2B5EF4-FFF2-40B4-BE49-F238E27FC236}">
                <a16:creationId xmlns:a16="http://schemas.microsoft.com/office/drawing/2014/main" id="{60A5D264-E075-645D-F213-068BABCDBC8A}"/>
              </a:ext>
            </a:extLst>
          </p:cNvPr>
          <p:cNvPicPr>
            <a:picLocks noChangeAspect="1"/>
          </p:cNvPicPr>
          <p:nvPr/>
        </p:nvPicPr>
        <p:blipFill>
          <a:blip r:embed="rId13"/>
          <a:stretch>
            <a:fillRect/>
          </a:stretch>
        </p:blipFill>
        <p:spPr>
          <a:xfrm>
            <a:off x="8965723" y="2727210"/>
            <a:ext cx="1170894" cy="784106"/>
          </a:xfrm>
          <a:prstGeom prst="rect">
            <a:avLst/>
          </a:prstGeom>
        </p:spPr>
      </p:pic>
      <p:sp>
        <p:nvSpPr>
          <p:cNvPr id="41" name="Right Arrow 40">
            <a:extLst>
              <a:ext uri="{FF2B5EF4-FFF2-40B4-BE49-F238E27FC236}">
                <a16:creationId xmlns:a16="http://schemas.microsoft.com/office/drawing/2014/main" id="{6FC0AD79-DF4A-E96D-DD2B-37C47F8D7CD9}"/>
              </a:ext>
            </a:extLst>
          </p:cNvPr>
          <p:cNvSpPr/>
          <p:nvPr/>
        </p:nvSpPr>
        <p:spPr>
          <a:xfrm>
            <a:off x="8099133" y="3642071"/>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Right Arrow 41">
            <a:extLst>
              <a:ext uri="{FF2B5EF4-FFF2-40B4-BE49-F238E27FC236}">
                <a16:creationId xmlns:a16="http://schemas.microsoft.com/office/drawing/2014/main" id="{29BE568C-EA57-7DD5-C5DD-D013E7D35A33}"/>
              </a:ext>
            </a:extLst>
          </p:cNvPr>
          <p:cNvSpPr/>
          <p:nvPr/>
        </p:nvSpPr>
        <p:spPr>
          <a:xfrm>
            <a:off x="5589351"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3" name="Right Arrow 42">
            <a:extLst>
              <a:ext uri="{FF2B5EF4-FFF2-40B4-BE49-F238E27FC236}">
                <a16:creationId xmlns:a16="http://schemas.microsoft.com/office/drawing/2014/main" id="{24344F76-7562-8BE0-9454-9EA5A97AD636}"/>
              </a:ext>
            </a:extLst>
          </p:cNvPr>
          <p:cNvSpPr/>
          <p:nvPr/>
        </p:nvSpPr>
        <p:spPr>
          <a:xfrm>
            <a:off x="2791173" y="3685223"/>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60950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5FAB2-942D-58BC-A225-0C749B7314B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9BA0CB-F44F-8DFB-DEF7-24C60DA419C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11" name="TextBox 10">
            <a:extLst>
              <a:ext uri="{FF2B5EF4-FFF2-40B4-BE49-F238E27FC236}">
                <a16:creationId xmlns:a16="http://schemas.microsoft.com/office/drawing/2014/main" id="{B23CD687-4374-1530-3208-B85A6A1F31D7}"/>
              </a:ext>
            </a:extLst>
          </p:cNvPr>
          <p:cNvSpPr txBox="1"/>
          <p:nvPr/>
        </p:nvSpPr>
        <p:spPr>
          <a:xfrm>
            <a:off x="139613" y="1368962"/>
            <a:ext cx="11729764" cy="4524315"/>
          </a:xfrm>
          <a:prstGeom prst="rect">
            <a:avLst/>
          </a:prstGeom>
          <a:noFill/>
        </p:spPr>
        <p:txBody>
          <a:bodyPr wrap="square">
            <a:spAutoFit/>
          </a:bodyPr>
          <a:lstStyle/>
          <a:p>
            <a:r>
              <a:rPr lang="en-US" sz="1600" b="1" dirty="0"/>
              <a:t>Preliminary model evaluation:</a:t>
            </a:r>
          </a:p>
          <a:p>
            <a:endParaRPr lang="en-US" sz="1600" dirty="0"/>
          </a:p>
          <a:p>
            <a:pPr marL="342900" indent="-342900">
              <a:buFont typeface="+mj-lt"/>
              <a:buAutoNum type="arabicPeriod"/>
            </a:pPr>
            <a:r>
              <a:rPr lang="en-US" sz="1600" b="1" dirty="0"/>
              <a:t>Ordinary Least Squares (OLS): </a:t>
            </a:r>
            <a:r>
              <a:rPr lang="en-US" sz="1600" dirty="0"/>
              <a:t>Estimates the relationship between a target variable and multiple predictors by minimizing the squared difference between predicted and actual values</a:t>
            </a:r>
          </a:p>
          <a:p>
            <a:pPr marL="457200" indent="-457200">
              <a:buFont typeface="+mj-lt"/>
              <a:buAutoNum type="arabicPeriod"/>
            </a:pPr>
            <a:endParaRPr lang="en-US" sz="1600" dirty="0"/>
          </a:p>
          <a:p>
            <a:pPr marL="457200" indent="-457200">
              <a:buFont typeface="+mj-lt"/>
              <a:buAutoNum type="arabicPeriod"/>
            </a:pPr>
            <a:endParaRPr lang="en-US" sz="1600" dirty="0"/>
          </a:p>
          <a:p>
            <a:pPr marL="342900" indent="-342900">
              <a:buFont typeface="+mj-lt"/>
              <a:buAutoNum type="arabicPeriod"/>
            </a:pPr>
            <a:r>
              <a:rPr lang="en-US" sz="1600" b="1" dirty="0"/>
              <a:t>Random Forest Regressor: </a:t>
            </a:r>
            <a:r>
              <a:rPr lang="en-US" sz="1600" dirty="0"/>
              <a:t>an </a:t>
            </a:r>
            <a:r>
              <a:rPr lang="en-US" sz="1600" i="1" dirty="0"/>
              <a:t>ensemble machine learning model </a:t>
            </a:r>
            <a:r>
              <a:rPr lang="en-US" sz="1600" dirty="0"/>
              <a:t>made of many decision trees. Instead of building one model, it builds </a:t>
            </a:r>
            <a:r>
              <a:rPr lang="en-US" sz="1600" i="1" dirty="0"/>
              <a:t>hundreds of trees </a:t>
            </a:r>
            <a:r>
              <a:rPr lang="en-US" sz="1600" dirty="0"/>
              <a:t>and averages their predictions. Population dynamics are rarely linear, so Random Forest is more realistic</a:t>
            </a:r>
          </a:p>
          <a:p>
            <a:pPr marL="342900" indent="-342900">
              <a:buFont typeface="+mj-lt"/>
              <a:buAutoNum type="arabicPeriod"/>
            </a:pPr>
            <a:endParaRPr lang="en-US" sz="1600" dirty="0"/>
          </a:p>
          <a:p>
            <a:pPr marL="342900" indent="-342900">
              <a:buFont typeface="+mj-lt"/>
              <a:buAutoNum type="arabicPeriod"/>
            </a:pPr>
            <a:r>
              <a:rPr lang="en-US" sz="1600" b="1" dirty="0" err="1"/>
              <a:t>HistGradientBoosting</a:t>
            </a:r>
            <a:r>
              <a:rPr lang="en-US" sz="1600" b="1" dirty="0"/>
              <a:t>: </a:t>
            </a:r>
            <a:r>
              <a:rPr lang="en-US" sz="1600" dirty="0"/>
              <a:t>A </a:t>
            </a:r>
            <a:r>
              <a:rPr lang="en-US" sz="1600" i="1" dirty="0"/>
              <a:t>boosting model </a:t>
            </a:r>
            <a:r>
              <a:rPr lang="en-US" sz="1600" dirty="0"/>
              <a:t>that builds trees sequentially, corrects the mistakes of the previous ones. Used to produce </a:t>
            </a:r>
            <a:r>
              <a:rPr lang="en-US" sz="1600" i="1" dirty="0"/>
              <a:t>better predictive performance </a:t>
            </a:r>
            <a:r>
              <a:rPr lang="en-US" sz="1600" dirty="0"/>
              <a:t>than simple models</a:t>
            </a:r>
          </a:p>
          <a:p>
            <a:pPr marL="342900" indent="-342900">
              <a:buFont typeface="+mj-lt"/>
              <a:buAutoNum type="arabicPeriod"/>
            </a:pPr>
            <a:endParaRPr lang="en-US" sz="1600" dirty="0"/>
          </a:p>
          <a:p>
            <a:pPr marL="342900" indent="-342900">
              <a:buFont typeface="+mj-lt"/>
              <a:buAutoNum type="arabicPeriod"/>
            </a:pPr>
            <a:r>
              <a:rPr lang="en-US" sz="1600" b="1" dirty="0"/>
              <a:t>Ridge Regression: </a:t>
            </a:r>
            <a:r>
              <a:rPr lang="en-US" sz="1600" dirty="0"/>
              <a:t>A </a:t>
            </a:r>
            <a:r>
              <a:rPr lang="en-US" sz="1600" i="1" dirty="0"/>
              <a:t>regularized version of linear regression. </a:t>
            </a:r>
            <a:r>
              <a:rPr lang="en-US" sz="1600" dirty="0"/>
              <a:t>It adds a penalty that discourages very large coefficients to stabilize estimates, reduce multicollinearity, and help interpret feature importance</a:t>
            </a:r>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r>
              <a:rPr lang="en-US" sz="1600" b="1" dirty="0"/>
              <a:t>Lasso Regression: </a:t>
            </a:r>
            <a:r>
              <a:rPr lang="en-US" sz="1600" dirty="0"/>
              <a:t>Another regularized regression model that can </a:t>
            </a:r>
            <a:r>
              <a:rPr lang="en-US" sz="1600" i="1" dirty="0"/>
              <a:t>force some coefficients to zero to </a:t>
            </a:r>
            <a:r>
              <a:rPr lang="en-US" sz="1600" dirty="0"/>
              <a:t> effectively perform </a:t>
            </a:r>
            <a:r>
              <a:rPr lang="en-US" sz="1600" i="1" dirty="0"/>
              <a:t>feature selection. </a:t>
            </a:r>
            <a:r>
              <a:rPr lang="en-US" sz="1600" dirty="0"/>
              <a:t>Lasso helps identify which variables matter most. If a coefficient becomes zero, that feature is likely not important</a:t>
            </a:r>
          </a:p>
        </p:txBody>
      </p:sp>
      <p:sp>
        <p:nvSpPr>
          <p:cNvPr id="6" name="Text 8">
            <a:extLst>
              <a:ext uri="{FF2B5EF4-FFF2-40B4-BE49-F238E27FC236}">
                <a16:creationId xmlns:a16="http://schemas.microsoft.com/office/drawing/2014/main" id="{9490644C-6EB2-4359-3F42-EB1F2AFEDC7F}"/>
              </a:ext>
            </a:extLst>
          </p:cNvPr>
          <p:cNvSpPr/>
          <p:nvPr/>
        </p:nvSpPr>
        <p:spPr>
          <a:xfrm>
            <a:off x="8322590" y="7773949"/>
            <a:ext cx="6400800" cy="50292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Population momentum and vulnerability-related variables remain central to prediction.</a:t>
            </a:r>
          </a:p>
        </p:txBody>
      </p:sp>
      <p:pic>
        <p:nvPicPr>
          <p:cNvPr id="3" name="Picture 2">
            <a:extLst>
              <a:ext uri="{FF2B5EF4-FFF2-40B4-BE49-F238E27FC236}">
                <a16:creationId xmlns:a16="http://schemas.microsoft.com/office/drawing/2014/main" id="{07764980-9301-857E-5347-F084F1803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757" y="2446180"/>
            <a:ext cx="2585334" cy="227282"/>
          </a:xfrm>
          <a:prstGeom prst="rect">
            <a:avLst/>
          </a:prstGeom>
        </p:spPr>
      </p:pic>
      <p:pic>
        <p:nvPicPr>
          <p:cNvPr id="10" name="Picture 9">
            <a:extLst>
              <a:ext uri="{FF2B5EF4-FFF2-40B4-BE49-F238E27FC236}">
                <a16:creationId xmlns:a16="http://schemas.microsoft.com/office/drawing/2014/main" id="{7DB1DCC7-EE11-E4A8-2B0E-DA12B7FFF4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634" y="4811101"/>
            <a:ext cx="3176768" cy="237199"/>
          </a:xfrm>
          <a:prstGeom prst="rect">
            <a:avLst/>
          </a:prstGeom>
        </p:spPr>
      </p:pic>
      <p:sp>
        <p:nvSpPr>
          <p:cNvPr id="12" name="Title 10">
            <a:extLst>
              <a:ext uri="{FF2B5EF4-FFF2-40B4-BE49-F238E27FC236}">
                <a16:creationId xmlns:a16="http://schemas.microsoft.com/office/drawing/2014/main" id="{4B60EB8E-2EA9-24B0-67C5-0C77553D7DC9}"/>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Modeling strategy</a:t>
            </a:r>
          </a:p>
        </p:txBody>
      </p:sp>
    </p:spTree>
    <p:extLst>
      <p:ext uri="{BB962C8B-B14F-4D97-AF65-F5344CB8AC3E}">
        <p14:creationId xmlns:p14="http://schemas.microsoft.com/office/powerpoint/2010/main" val="272702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20439-F071-1C8D-D9DA-160EDBA987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8130F13-0405-CF21-A3BA-C15D473003F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26339E7-BD15-53B8-78BC-6D16F6D1A3C9}"/>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Modeling strategy (cont.) </a:t>
            </a:r>
          </a:p>
        </p:txBody>
      </p:sp>
      <p:sp>
        <p:nvSpPr>
          <p:cNvPr id="6" name="Text 8">
            <a:extLst>
              <a:ext uri="{FF2B5EF4-FFF2-40B4-BE49-F238E27FC236}">
                <a16:creationId xmlns:a16="http://schemas.microsoft.com/office/drawing/2014/main" id="{B786DA1D-448E-9DEE-ED14-75AB691C33B3}"/>
              </a:ext>
            </a:extLst>
          </p:cNvPr>
          <p:cNvSpPr/>
          <p:nvPr/>
        </p:nvSpPr>
        <p:spPr>
          <a:xfrm>
            <a:off x="8322590" y="7773949"/>
            <a:ext cx="6400800" cy="50292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Population momentum and vulnerability-related variables remain central to prediction.</a:t>
            </a:r>
          </a:p>
        </p:txBody>
      </p:sp>
      <p:pic>
        <p:nvPicPr>
          <p:cNvPr id="7" name="Picture 6" descr="A screenshot of a computer&#10;&#10;AI-generated content may be incorrect.">
            <a:extLst>
              <a:ext uri="{FF2B5EF4-FFF2-40B4-BE49-F238E27FC236}">
                <a16:creationId xmlns:a16="http://schemas.microsoft.com/office/drawing/2014/main" id="{C644736C-2493-F967-B0CB-53C838045339}"/>
              </a:ext>
            </a:extLst>
          </p:cNvPr>
          <p:cNvPicPr>
            <a:picLocks noChangeAspect="1"/>
          </p:cNvPicPr>
          <p:nvPr/>
        </p:nvPicPr>
        <p:blipFill>
          <a:blip r:embed="rId3">
            <a:extLst>
              <a:ext uri="{28A0092B-C50C-407E-A947-70E740481C1C}">
                <a14:useLocalDpi xmlns:a14="http://schemas.microsoft.com/office/drawing/2010/main" val="0"/>
              </a:ext>
            </a:extLst>
          </a:blip>
          <a:srcRect b="18873"/>
          <a:stretch>
            <a:fillRect/>
          </a:stretch>
        </p:blipFill>
        <p:spPr>
          <a:xfrm>
            <a:off x="115228" y="1513246"/>
            <a:ext cx="10204154" cy="3127582"/>
          </a:xfrm>
          <a:prstGeom prst="rect">
            <a:avLst/>
          </a:prstGeom>
        </p:spPr>
      </p:pic>
    </p:spTree>
    <p:extLst>
      <p:ext uri="{BB962C8B-B14F-4D97-AF65-F5344CB8AC3E}">
        <p14:creationId xmlns:p14="http://schemas.microsoft.com/office/powerpoint/2010/main" val="3931947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40B8-5FE0-F481-63FB-ED5F1B20A5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044A0C-F8BC-97A8-72B5-10567F8ED64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8B087586-FCC7-14A9-770E-B64D1330EA6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800" b="1" dirty="0">
                <a:solidFill>
                  <a:schemeClr val="bg1"/>
                </a:solidFill>
              </a:rPr>
              <a:t>Initial Results</a:t>
            </a:r>
          </a:p>
        </p:txBody>
      </p:sp>
      <p:sp>
        <p:nvSpPr>
          <p:cNvPr id="11" name="TextBox 10">
            <a:extLst>
              <a:ext uri="{FF2B5EF4-FFF2-40B4-BE49-F238E27FC236}">
                <a16:creationId xmlns:a16="http://schemas.microsoft.com/office/drawing/2014/main" id="{8D32F2B1-063D-28A0-A7EE-6F4E0C4ABDDD}"/>
              </a:ext>
            </a:extLst>
          </p:cNvPr>
          <p:cNvSpPr txBox="1"/>
          <p:nvPr/>
        </p:nvSpPr>
        <p:spPr>
          <a:xfrm>
            <a:off x="139613" y="1309970"/>
            <a:ext cx="11729764" cy="5078313"/>
          </a:xfrm>
          <a:prstGeom prst="rect">
            <a:avLst/>
          </a:prstGeom>
          <a:noFill/>
        </p:spPr>
        <p:txBody>
          <a:bodyPr wrap="square">
            <a:spAutoFit/>
          </a:bodyPr>
          <a:lstStyle/>
          <a:p>
            <a:r>
              <a:rPr lang="en-US" sz="2000" b="1" dirty="0"/>
              <a:t>Preliminary model evaluation:</a:t>
            </a:r>
          </a:p>
          <a:p>
            <a:endParaRPr lang="en-US" dirty="0"/>
          </a:p>
          <a:p>
            <a:r>
              <a:rPr lang="en-US" b="1" dirty="0"/>
              <a:t>Headline metrics:</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Observations:</a:t>
            </a:r>
          </a:p>
          <a:p>
            <a:pPr lvl="1"/>
            <a:r>
              <a:rPr lang="en-US" dirty="0"/>
              <a:t>• While all models produced negative R² score, indicating the prediction task is highly challenging</a:t>
            </a:r>
            <a:br>
              <a:rPr lang="en-US" dirty="0"/>
            </a:br>
            <a:r>
              <a:rPr lang="en-US" dirty="0"/>
              <a:t>• Features selection significantly improve predictive performance</a:t>
            </a:r>
            <a:br>
              <a:rPr lang="en-US" dirty="0"/>
            </a:br>
            <a:r>
              <a:rPr lang="en-US" dirty="0"/>
              <a:t>• </a:t>
            </a:r>
            <a:r>
              <a:rPr lang="en-US" dirty="0">
                <a:solidFill>
                  <a:srgbClr val="1F2430"/>
                </a:solidFill>
              </a:rPr>
              <a:t>The pipeline clearly produces forecasts, plots, and exported summaries</a:t>
            </a:r>
            <a:endParaRPr lang="en-US" dirty="0"/>
          </a:p>
          <a:p>
            <a:pPr lvl="1"/>
            <a:endParaRPr lang="en-US" dirty="0"/>
          </a:p>
          <a:p>
            <a:r>
              <a:rPr lang="en-US" b="1" dirty="0"/>
              <a:t>Interpretation:</a:t>
            </a:r>
          </a:p>
          <a:p>
            <a:r>
              <a:rPr lang="en-US" dirty="0"/>
              <a:t>Population migration dynamics appear to contain </a:t>
            </a:r>
            <a:r>
              <a:rPr lang="en-US" b="1" dirty="0"/>
              <a:t>predictable structure</a:t>
            </a:r>
            <a:r>
              <a:rPr lang="en-US" dirty="0"/>
              <a:t>.</a:t>
            </a:r>
          </a:p>
        </p:txBody>
      </p:sp>
      <p:sp>
        <p:nvSpPr>
          <p:cNvPr id="6" name="Text 8">
            <a:extLst>
              <a:ext uri="{FF2B5EF4-FFF2-40B4-BE49-F238E27FC236}">
                <a16:creationId xmlns:a16="http://schemas.microsoft.com/office/drawing/2014/main" id="{DAA29EF8-F080-E711-71E9-69BAA3DF82EF}"/>
              </a:ext>
            </a:extLst>
          </p:cNvPr>
          <p:cNvSpPr/>
          <p:nvPr/>
        </p:nvSpPr>
        <p:spPr>
          <a:xfrm>
            <a:off x="8322590" y="7773949"/>
            <a:ext cx="6400800" cy="502920"/>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Population momentum and vulnerability-related variables remain central to prediction.</a:t>
            </a:r>
          </a:p>
        </p:txBody>
      </p:sp>
      <p:pic>
        <p:nvPicPr>
          <p:cNvPr id="10" name="Picture 9" descr="A white background with black lines&#10;&#10;AI-generated content may be incorrect.">
            <a:extLst>
              <a:ext uri="{FF2B5EF4-FFF2-40B4-BE49-F238E27FC236}">
                <a16:creationId xmlns:a16="http://schemas.microsoft.com/office/drawing/2014/main" id="{0D62C9CE-881E-C43F-BD5F-E098CCFC9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24" y="2231510"/>
            <a:ext cx="4680030" cy="1839170"/>
          </a:xfrm>
          <a:prstGeom prst="rect">
            <a:avLst/>
          </a:prstGeom>
        </p:spPr>
      </p:pic>
      <p:sp>
        <p:nvSpPr>
          <p:cNvPr id="8" name="TextBox 7">
            <a:extLst>
              <a:ext uri="{FF2B5EF4-FFF2-40B4-BE49-F238E27FC236}">
                <a16:creationId xmlns:a16="http://schemas.microsoft.com/office/drawing/2014/main" id="{1D7D5FF6-720D-178E-6160-6CD260F89087}"/>
              </a:ext>
            </a:extLst>
          </p:cNvPr>
          <p:cNvSpPr txBox="1"/>
          <p:nvPr/>
        </p:nvSpPr>
        <p:spPr>
          <a:xfrm>
            <a:off x="7393131" y="2398318"/>
            <a:ext cx="4218038" cy="1169551"/>
          </a:xfrm>
          <a:prstGeom prst="rect">
            <a:avLst/>
          </a:prstGeom>
          <a:noFill/>
        </p:spPr>
        <p:txBody>
          <a:bodyPr wrap="square">
            <a:spAutoFit/>
          </a:bodyPr>
          <a:lstStyle/>
          <a:p>
            <a:pPr>
              <a:buNone/>
            </a:pPr>
            <a:r>
              <a:rPr lang="en-US" sz="1400" dirty="0"/>
              <a:t>Important migration drivers may not be in the dataset:</a:t>
            </a:r>
          </a:p>
          <a:p>
            <a:pPr marL="285750" indent="-285750">
              <a:buFont typeface="Arial" panose="020B0604020202020204" pitchFamily="34" charset="0"/>
              <a:buChar char="•"/>
            </a:pPr>
            <a:r>
              <a:rPr lang="en-US" sz="1400" dirty="0"/>
              <a:t>Housing prices</a:t>
            </a:r>
          </a:p>
          <a:p>
            <a:pPr marL="285750" indent="-285750">
              <a:buFont typeface="Arial" panose="020B0604020202020204" pitchFamily="34" charset="0"/>
              <a:buChar char="•"/>
            </a:pPr>
            <a:r>
              <a:rPr lang="en-US" sz="1400" dirty="0"/>
              <a:t>School quality</a:t>
            </a:r>
          </a:p>
          <a:p>
            <a:pPr marL="285750" indent="-285750">
              <a:buFont typeface="Arial" panose="020B0604020202020204" pitchFamily="34" charset="0"/>
              <a:buChar char="•"/>
            </a:pPr>
            <a:r>
              <a:rPr lang="en-US" sz="1400" dirty="0"/>
              <a:t>Local  &amp; Federal policy</a:t>
            </a:r>
          </a:p>
          <a:p>
            <a:pPr marL="285750" indent="-285750">
              <a:buFont typeface="Arial" panose="020B0604020202020204" pitchFamily="34" charset="0"/>
              <a:buChar char="•"/>
            </a:pPr>
            <a:r>
              <a:rPr lang="en-US" sz="1400" dirty="0"/>
              <a:t>Work trends</a:t>
            </a:r>
          </a:p>
        </p:txBody>
      </p:sp>
    </p:spTree>
    <p:extLst>
      <p:ext uri="{BB962C8B-B14F-4D97-AF65-F5344CB8AC3E}">
        <p14:creationId xmlns:p14="http://schemas.microsoft.com/office/powerpoint/2010/main" val="4058476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B875-6014-6E22-8CA7-C81DA81314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4F55E00-348A-BC23-9D73-3AFC84DF8D9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83CF0C1E-7C82-2640-CE6D-BC32BF033D8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b="1" dirty="0">
                <a:solidFill>
                  <a:schemeClr val="bg1"/>
                </a:solidFill>
                <a:latin typeface="Aptos Display" pitchFamily="34" charset="0"/>
                <a:ea typeface="Aptos Display" pitchFamily="34" charset="-122"/>
                <a:cs typeface="Aptos Display" pitchFamily="34" charset="-120"/>
              </a:rPr>
              <a:t>Forecasting</a:t>
            </a:r>
            <a:endParaRPr lang="en-US" sz="3200" dirty="0">
              <a:solidFill>
                <a:schemeClr val="bg1"/>
              </a:solidFill>
            </a:endParaRPr>
          </a:p>
        </p:txBody>
      </p:sp>
      <p:pic>
        <p:nvPicPr>
          <p:cNvPr id="7" name="Image 2" descr="/mnt/data/notebook_images/Phase3_cell17_3.png">
            <a:extLst>
              <a:ext uri="{FF2B5EF4-FFF2-40B4-BE49-F238E27FC236}">
                <a16:creationId xmlns:a16="http://schemas.microsoft.com/office/drawing/2014/main" id="{649755F0-469F-321D-7500-F1F490BB2E56}"/>
              </a:ext>
            </a:extLst>
          </p:cNvPr>
          <p:cNvPicPr>
            <a:picLocks noChangeAspect="1"/>
          </p:cNvPicPr>
          <p:nvPr/>
        </p:nvPicPr>
        <p:blipFill>
          <a:blip r:embed="rId2"/>
          <a:stretch>
            <a:fillRect/>
          </a:stretch>
        </p:blipFill>
        <p:spPr>
          <a:xfrm>
            <a:off x="7006107" y="2375331"/>
            <a:ext cx="4246819" cy="2107337"/>
          </a:xfrm>
          <a:prstGeom prst="rect">
            <a:avLst/>
          </a:prstGeom>
        </p:spPr>
      </p:pic>
      <p:sp>
        <p:nvSpPr>
          <p:cNvPr id="8" name="Text 3">
            <a:extLst>
              <a:ext uri="{FF2B5EF4-FFF2-40B4-BE49-F238E27FC236}">
                <a16:creationId xmlns:a16="http://schemas.microsoft.com/office/drawing/2014/main" id="{6919F0FC-DD5A-9BE8-6990-8783C19D27BB}"/>
              </a:ext>
            </a:extLst>
          </p:cNvPr>
          <p:cNvSpPr/>
          <p:nvPr/>
        </p:nvSpPr>
        <p:spPr>
          <a:xfrm>
            <a:off x="532332" y="5334605"/>
            <a:ext cx="6400800" cy="914400"/>
          </a:xfrm>
          <a:prstGeom prst="rect">
            <a:avLst/>
          </a:prstGeom>
          <a:noFill/>
          <a:ln/>
        </p:spPr>
        <p:txBody>
          <a:bodyPr wrap="square" lIns="254" tIns="254" rIns="254" bIns="254" rtlCol="0" anchor="ctr"/>
          <a:lstStyle/>
          <a:p>
            <a:pPr marL="177800" indent="-177800">
              <a:buSzPct val="100000"/>
              <a:buChar char="•"/>
            </a:pPr>
            <a:r>
              <a:rPr lang="en-US" sz="1600" dirty="0">
                <a:solidFill>
                  <a:srgbClr val="1F2430"/>
                </a:solidFill>
              </a:rPr>
              <a:t>Forecast exports translate the model into decision-support outputs</a:t>
            </a:r>
            <a:endParaRPr lang="en-US" sz="1600" dirty="0"/>
          </a:p>
        </p:txBody>
      </p:sp>
      <p:sp>
        <p:nvSpPr>
          <p:cNvPr id="9" name="Shape 4">
            <a:extLst>
              <a:ext uri="{FF2B5EF4-FFF2-40B4-BE49-F238E27FC236}">
                <a16:creationId xmlns:a16="http://schemas.microsoft.com/office/drawing/2014/main" id="{00A33FD4-7AB1-3C00-2B88-717BA7E20912}"/>
              </a:ext>
            </a:extLst>
          </p:cNvPr>
          <p:cNvSpPr/>
          <p:nvPr/>
        </p:nvSpPr>
        <p:spPr>
          <a:xfrm>
            <a:off x="8327977" y="5220305"/>
            <a:ext cx="3447288" cy="1028700"/>
          </a:xfrm>
          <a:prstGeom prst="roundRect">
            <a:avLst/>
          </a:prstGeom>
          <a:solidFill>
            <a:srgbClr val="FFF8E1"/>
          </a:solidFill>
          <a:ln w="12700">
            <a:solidFill>
              <a:srgbClr val="E9C46A"/>
            </a:solidFill>
            <a:prstDash val="solid"/>
          </a:ln>
        </p:spPr>
        <p:txBody>
          <a:bodyPr/>
          <a:lstStyle/>
          <a:p>
            <a:endParaRPr lang="en-US"/>
          </a:p>
        </p:txBody>
      </p:sp>
      <p:sp>
        <p:nvSpPr>
          <p:cNvPr id="10" name="Text 5">
            <a:extLst>
              <a:ext uri="{FF2B5EF4-FFF2-40B4-BE49-F238E27FC236}">
                <a16:creationId xmlns:a16="http://schemas.microsoft.com/office/drawing/2014/main" id="{97D96FA9-E7C6-2596-A0D5-E50A09FFDCF9}"/>
              </a:ext>
            </a:extLst>
          </p:cNvPr>
          <p:cNvSpPr/>
          <p:nvPr/>
        </p:nvSpPr>
        <p:spPr>
          <a:xfrm>
            <a:off x="8399605" y="5309420"/>
            <a:ext cx="3375660" cy="640080"/>
          </a:xfrm>
          <a:prstGeom prst="rect">
            <a:avLst/>
          </a:prstGeom>
          <a:noFill/>
          <a:ln/>
        </p:spPr>
        <p:txBody>
          <a:bodyPr wrap="square" lIns="254" tIns="254" rIns="254" bIns="254" rtlCol="0" anchor="ctr"/>
          <a:lstStyle/>
          <a:p>
            <a:pPr marL="177800" indent="-177800">
              <a:lnSpc>
                <a:spcPct val="150000"/>
              </a:lnSpc>
              <a:buSzPct val="100000"/>
              <a:buChar char="•"/>
            </a:pPr>
            <a:r>
              <a:rPr lang="en-US" sz="1600" dirty="0">
                <a:solidFill>
                  <a:srgbClr val="1F2430"/>
                </a:solidFill>
              </a:rPr>
              <a:t>2025 expected population: 3,192,439</a:t>
            </a:r>
            <a:endParaRPr lang="en-US" sz="1600" dirty="0"/>
          </a:p>
          <a:p>
            <a:pPr marL="177800" indent="-177800">
              <a:lnSpc>
                <a:spcPct val="150000"/>
              </a:lnSpc>
              <a:buSzPct val="100000"/>
              <a:buChar char="•"/>
            </a:pPr>
            <a:r>
              <a:rPr lang="en-US" sz="1600" dirty="0">
                <a:solidFill>
                  <a:srgbClr val="1F2430"/>
                </a:solidFill>
              </a:rPr>
              <a:t>2030 expected population: 2,991,079</a:t>
            </a:r>
            <a:endParaRPr lang="en-US" sz="1600" dirty="0"/>
          </a:p>
        </p:txBody>
      </p:sp>
      <p:pic>
        <p:nvPicPr>
          <p:cNvPr id="12" name="Picture 11">
            <a:extLst>
              <a:ext uri="{FF2B5EF4-FFF2-40B4-BE49-F238E27FC236}">
                <a16:creationId xmlns:a16="http://schemas.microsoft.com/office/drawing/2014/main" id="{6E21CD5A-5C6B-964F-DF4D-8DB071B8A892}"/>
              </a:ext>
            </a:extLst>
          </p:cNvPr>
          <p:cNvPicPr>
            <a:picLocks noChangeAspect="1"/>
          </p:cNvPicPr>
          <p:nvPr/>
        </p:nvPicPr>
        <p:blipFill>
          <a:blip r:embed="rId3"/>
          <a:srcRect t="25426" r="19188" b="34295"/>
          <a:stretch>
            <a:fillRect/>
          </a:stretch>
        </p:blipFill>
        <p:spPr>
          <a:xfrm>
            <a:off x="113671" y="1905058"/>
            <a:ext cx="5790600" cy="2107337"/>
          </a:xfrm>
          <a:prstGeom prst="rect">
            <a:avLst/>
          </a:prstGeom>
        </p:spPr>
      </p:pic>
    </p:spTree>
    <p:extLst>
      <p:ext uri="{BB962C8B-B14F-4D97-AF65-F5344CB8AC3E}">
        <p14:creationId xmlns:p14="http://schemas.microsoft.com/office/powerpoint/2010/main" val="2792924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FC11E-1336-0354-3E58-19BA540B4DA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804072-8010-9ABD-0E35-C7F92F374D7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bg1"/>
              </a:solidFill>
            </a:endParaRPr>
          </a:p>
        </p:txBody>
      </p:sp>
      <p:sp>
        <p:nvSpPr>
          <p:cNvPr id="5" name="Title 10">
            <a:extLst>
              <a:ext uri="{FF2B5EF4-FFF2-40B4-BE49-F238E27FC236}">
                <a16:creationId xmlns:a16="http://schemas.microsoft.com/office/drawing/2014/main" id="{F8D213A5-38CE-7DAF-B772-1D5543BD2287}"/>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000" b="1" dirty="0">
                <a:solidFill>
                  <a:schemeClr val="bg1"/>
                </a:solidFill>
              </a:rPr>
              <a:t>Challenges &amp; Limitations</a:t>
            </a:r>
          </a:p>
        </p:txBody>
      </p:sp>
      <p:sp>
        <p:nvSpPr>
          <p:cNvPr id="11" name="TextBox 10">
            <a:extLst>
              <a:ext uri="{FF2B5EF4-FFF2-40B4-BE49-F238E27FC236}">
                <a16:creationId xmlns:a16="http://schemas.microsoft.com/office/drawing/2014/main" id="{D6112FC3-CA3F-8B42-1283-BD9C05EB1BCE}"/>
              </a:ext>
            </a:extLst>
          </p:cNvPr>
          <p:cNvSpPr txBox="1"/>
          <p:nvPr/>
        </p:nvSpPr>
        <p:spPr>
          <a:xfrm>
            <a:off x="204927" y="1646548"/>
            <a:ext cx="9560053" cy="3046988"/>
          </a:xfrm>
          <a:prstGeom prst="rect">
            <a:avLst/>
          </a:prstGeom>
          <a:noFill/>
        </p:spPr>
        <p:txBody>
          <a:bodyPr wrap="square">
            <a:spAutoFit/>
          </a:bodyPr>
          <a:lstStyle/>
          <a:p>
            <a:r>
              <a:rPr lang="en-US" sz="2400" b="1" dirty="0"/>
              <a:t>Main challenges so far:</a:t>
            </a:r>
          </a:p>
          <a:p>
            <a:r>
              <a:rPr lang="en-US" sz="2400" dirty="0"/>
              <a:t>• Limited time-series depth for some variables</a:t>
            </a:r>
            <a:br>
              <a:rPr lang="en-US" sz="2400" dirty="0"/>
            </a:br>
            <a:r>
              <a:rPr lang="en-US" sz="2400" dirty="0"/>
              <a:t>• Disaster data integration complexity</a:t>
            </a:r>
            <a:br>
              <a:rPr lang="en-US" sz="2400" dirty="0"/>
            </a:br>
            <a:r>
              <a:rPr lang="en-US" sz="2400" dirty="0"/>
              <a:t>• Small sample size (78 municipalities)</a:t>
            </a:r>
          </a:p>
          <a:p>
            <a:endParaRPr lang="en-US" sz="2400" dirty="0"/>
          </a:p>
          <a:p>
            <a:endParaRPr lang="en-US" sz="2400" dirty="0"/>
          </a:p>
          <a:p>
            <a:r>
              <a:rPr lang="en-US" sz="2400" b="1" dirty="0"/>
              <a:t>Interpretability challenge:</a:t>
            </a:r>
          </a:p>
          <a:p>
            <a:r>
              <a:rPr lang="en-US" sz="2400" dirty="0"/>
              <a:t>Distinguishing </a:t>
            </a:r>
            <a:r>
              <a:rPr lang="en-US" sz="2400" b="1" dirty="0"/>
              <a:t>causal drivers vs correlations</a:t>
            </a:r>
            <a:r>
              <a:rPr lang="en-US" sz="2400" dirty="0"/>
              <a:t>.</a:t>
            </a:r>
          </a:p>
        </p:txBody>
      </p:sp>
    </p:spTree>
    <p:extLst>
      <p:ext uri="{BB962C8B-B14F-4D97-AF65-F5344CB8AC3E}">
        <p14:creationId xmlns:p14="http://schemas.microsoft.com/office/powerpoint/2010/main" val="2036889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BC5C0-87DE-B22B-4D3B-ECD79F36BC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0FEEC50-6F5A-487A-4F00-CEC71107AE4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0A05510-2FC0-CCDE-B20A-5A4325C20256}"/>
              </a:ext>
            </a:extLst>
          </p:cNvPr>
          <p:cNvSpPr txBox="1">
            <a:spLocks/>
          </p:cNvSpPr>
          <p:nvPr/>
        </p:nvSpPr>
        <p:spPr>
          <a:xfrm>
            <a:off x="139613" y="361539"/>
            <a:ext cx="6866494"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Plan for the Rest of the Semester</a:t>
            </a:r>
          </a:p>
        </p:txBody>
      </p:sp>
      <p:sp>
        <p:nvSpPr>
          <p:cNvPr id="11" name="TextBox 10">
            <a:extLst>
              <a:ext uri="{FF2B5EF4-FFF2-40B4-BE49-F238E27FC236}">
                <a16:creationId xmlns:a16="http://schemas.microsoft.com/office/drawing/2014/main" id="{1725AA8E-323A-03D8-AC1F-31721CEFA178}"/>
              </a:ext>
            </a:extLst>
          </p:cNvPr>
          <p:cNvSpPr txBox="1"/>
          <p:nvPr/>
        </p:nvSpPr>
        <p:spPr>
          <a:xfrm>
            <a:off x="139613" y="1368962"/>
            <a:ext cx="11840577" cy="4832092"/>
          </a:xfrm>
          <a:prstGeom prst="rect">
            <a:avLst/>
          </a:prstGeom>
          <a:noFill/>
        </p:spPr>
        <p:txBody>
          <a:bodyPr wrap="square">
            <a:spAutoFit/>
          </a:bodyPr>
          <a:lstStyle/>
          <a:p>
            <a:r>
              <a:rPr lang="en-US" sz="2400" b="1" dirty="0"/>
              <a:t>Next steps:</a:t>
            </a:r>
          </a:p>
          <a:p>
            <a:endParaRPr lang="en-US" sz="2400" dirty="0"/>
          </a:p>
          <a:p>
            <a:pPr marL="457200" indent="-457200">
              <a:lnSpc>
                <a:spcPct val="150000"/>
              </a:lnSpc>
              <a:buFont typeface="+mj-lt"/>
              <a:buAutoNum type="arabicPeriod"/>
            </a:pPr>
            <a:r>
              <a:rPr lang="en-US" sz="2400" dirty="0"/>
              <a:t>Improve forecasting models</a:t>
            </a:r>
            <a:br>
              <a:rPr lang="en-US" sz="2400" dirty="0"/>
            </a:br>
            <a:r>
              <a:rPr lang="en-US" sz="2400" dirty="0"/>
              <a:t>	Experiment with additional ML algorithms</a:t>
            </a:r>
          </a:p>
          <a:p>
            <a:pPr marL="457200" indent="-457200">
              <a:lnSpc>
                <a:spcPct val="150000"/>
              </a:lnSpc>
              <a:buFont typeface="+mj-lt"/>
              <a:buAutoNum type="arabicPeriod"/>
            </a:pPr>
            <a:r>
              <a:rPr lang="en-US" sz="2400" dirty="0"/>
              <a:t>Refine vulnerability index</a:t>
            </a:r>
          </a:p>
          <a:p>
            <a:pPr marL="457200" indent="-457200">
              <a:lnSpc>
                <a:spcPct val="150000"/>
              </a:lnSpc>
              <a:buFont typeface="+mj-lt"/>
              <a:buAutoNum type="arabicPeriod"/>
            </a:pPr>
            <a:r>
              <a:rPr lang="en-US" sz="2400" dirty="0"/>
              <a:t>Expand regional analysis</a:t>
            </a:r>
            <a:br>
              <a:rPr lang="en-US" sz="2400" dirty="0"/>
            </a:br>
            <a:r>
              <a:rPr lang="en-US" sz="2400" dirty="0"/>
              <a:t>	Cluster distribution by Puerto Rico regions</a:t>
            </a:r>
          </a:p>
          <a:p>
            <a:pPr marL="457200" indent="-457200">
              <a:lnSpc>
                <a:spcPct val="150000"/>
              </a:lnSpc>
              <a:buFont typeface="+mj-lt"/>
              <a:buAutoNum type="arabicPeriod"/>
            </a:pPr>
            <a:r>
              <a:rPr lang="en-US" sz="2400" dirty="0"/>
              <a:t>Develop interactive dashboard</a:t>
            </a:r>
          </a:p>
          <a:p>
            <a:endParaRPr lang="en-US" sz="2400" dirty="0"/>
          </a:p>
          <a:p>
            <a:r>
              <a:rPr lang="en-US" sz="2000" b="1" dirty="0"/>
              <a:t>Final goal: </a:t>
            </a:r>
            <a:r>
              <a:rPr lang="en-US" sz="2000" dirty="0"/>
              <a:t>Create a </a:t>
            </a:r>
            <a:r>
              <a:rPr lang="en-US" sz="2000" b="1" dirty="0"/>
              <a:t>decision-support framework</a:t>
            </a:r>
            <a:r>
              <a:rPr lang="en-US" sz="2000" dirty="0"/>
              <a:t> to analyze demographic vulnerability in Puerto Rico.</a:t>
            </a:r>
          </a:p>
        </p:txBody>
      </p:sp>
    </p:spTree>
    <p:extLst>
      <p:ext uri="{BB962C8B-B14F-4D97-AF65-F5344CB8AC3E}">
        <p14:creationId xmlns:p14="http://schemas.microsoft.com/office/powerpoint/2010/main" val="171022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28A39-60F6-70F2-61C3-5BA212588A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9D1391-0C85-D1C0-0841-A60E44AF2A7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7A4151-8A84-D82C-6961-496D390781C0}"/>
              </a:ext>
            </a:extLst>
          </p:cNvPr>
          <p:cNvSpPr txBox="1">
            <a:spLocks/>
          </p:cNvSpPr>
          <p:nvPr/>
        </p:nvSpPr>
        <p:spPr>
          <a:xfrm>
            <a:off x="139613" y="361539"/>
            <a:ext cx="6866494"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lgn="l">
              <a:spcBef>
                <a:spcPts val="0"/>
              </a:spcBef>
            </a:pPr>
            <a:r>
              <a:rPr lang="en-US" sz="3200" b="1" dirty="0">
                <a:solidFill>
                  <a:schemeClr val="bg1"/>
                </a:solidFill>
                <a:ea typeface="Merriweather"/>
                <a:cs typeface="Merriweather"/>
                <a:sym typeface="Merriweather"/>
              </a:rPr>
              <a:t>Resources</a:t>
            </a:r>
            <a:endParaRPr lang="en-US" sz="3200" dirty="0">
              <a:solidFill>
                <a:schemeClr val="bg1"/>
              </a:solidFill>
            </a:endParaRPr>
          </a:p>
        </p:txBody>
      </p:sp>
      <p:sp>
        <p:nvSpPr>
          <p:cNvPr id="2" name="TextBox 1">
            <a:extLst>
              <a:ext uri="{FF2B5EF4-FFF2-40B4-BE49-F238E27FC236}">
                <a16:creationId xmlns:a16="http://schemas.microsoft.com/office/drawing/2014/main" id="{BC02426B-96E3-507C-EE41-243AE6843640}"/>
              </a:ext>
            </a:extLst>
          </p:cNvPr>
          <p:cNvSpPr txBox="1"/>
          <p:nvPr/>
        </p:nvSpPr>
        <p:spPr>
          <a:xfrm>
            <a:off x="0" y="1474827"/>
            <a:ext cx="9793357" cy="4278094"/>
          </a:xfrm>
          <a:prstGeom prst="rect">
            <a:avLst/>
          </a:prstGeom>
          <a:noFill/>
        </p:spPr>
        <p:txBody>
          <a:bodyPr wrap="square">
            <a:spAutoFit/>
          </a:bodyPr>
          <a:lstStyle/>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American Community Survey (ACS) 1-Year and 5-Year Estimates: Population, Income, Housing, Labor Force, and Education Tables for Puerto Rico Municipalities.</a:t>
            </a:r>
            <a:r>
              <a:rPr lang="en-US" sz="1600" dirty="0">
                <a:effectLst/>
                <a:latin typeface="Merriweather" pitchFamily="2" charset="77"/>
                <a:ea typeface="Times New Roman" panose="02020603050405020304" pitchFamily="18" charset="0"/>
              </a:rPr>
              <a:t> U.S. Department of Commerce, 2010–2023. Available at: </a:t>
            </a:r>
            <a:r>
              <a:rPr lang="en-US" sz="1600" u="sng" dirty="0">
                <a:solidFill>
                  <a:srgbClr val="0000FF"/>
                </a:solidFill>
                <a:effectLst/>
                <a:latin typeface="Merriweather" pitchFamily="2" charset="77"/>
                <a:ea typeface="Times New Roman" panose="02020603050405020304" pitchFamily="18" charset="0"/>
                <a:hlinkClick r:id="rId2"/>
              </a:rPr>
              <a:t>https://data.census.gov</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Population Estimates Program (PEP): Puerto Rico Municipal Population Estimates, Vintage 2024.</a:t>
            </a:r>
            <a:r>
              <a:rPr lang="en-US" sz="1600" dirty="0">
                <a:effectLst/>
                <a:latin typeface="Merriweather" pitchFamily="2" charset="77"/>
                <a:ea typeface="Times New Roman" panose="02020603050405020304" pitchFamily="18" charset="0"/>
              </a:rPr>
              <a:t> U.S. Department of Commerce. Available at: </a:t>
            </a:r>
            <a:r>
              <a:rPr lang="en-US" sz="1600" u="sng" dirty="0">
                <a:solidFill>
                  <a:srgbClr val="0000FF"/>
                </a:solidFill>
                <a:effectLst/>
                <a:latin typeface="Merriweather" pitchFamily="2" charset="77"/>
                <a:ea typeface="Times New Roman" panose="02020603050405020304" pitchFamily="18" charset="0"/>
                <a:hlinkClick r:id="rId3"/>
              </a:rPr>
              <a:t>https://www.census.gov/programs-surveys/popest.html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County Business Patterns (CBP) and Related Economic Statistics for Puerto Rico, 2010–2022/2023.</a:t>
            </a:r>
            <a:r>
              <a:rPr lang="en-US" sz="1600" dirty="0">
                <a:effectLst/>
                <a:latin typeface="Merriweather" pitchFamily="2" charset="77"/>
                <a:ea typeface="Times New Roman" panose="02020603050405020304" pitchFamily="18" charset="0"/>
              </a:rPr>
              <a:t> Available at: </a:t>
            </a:r>
            <a:r>
              <a:rPr lang="en-US" sz="1600" u="sng" dirty="0">
                <a:solidFill>
                  <a:srgbClr val="0000FF"/>
                </a:solidFill>
                <a:effectLst/>
                <a:latin typeface="Merriweather" pitchFamily="2" charset="77"/>
                <a:ea typeface="Times New Roman" panose="02020603050405020304" pitchFamily="18" charset="0"/>
                <a:hlinkClick r:id="rId4"/>
              </a:rPr>
              <a:t>https://www.census.gov/programs-surveys/cbp.html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NOAA National Hurricane Center. </a:t>
            </a:r>
            <a:r>
              <a:rPr lang="en-US" sz="1600" i="1" dirty="0">
                <a:effectLst/>
                <a:latin typeface="Merriweather" pitchFamily="2" charset="77"/>
                <a:ea typeface="Times New Roman" panose="02020603050405020304" pitchFamily="18" charset="0"/>
              </a:rPr>
              <a:t>HURDAT2 Atlantic Hurricane Database, 1851–2024.</a:t>
            </a:r>
            <a:r>
              <a:rPr lang="en-US" sz="1600" dirty="0">
                <a:effectLst/>
                <a:latin typeface="Merriweather" pitchFamily="2" charset="77"/>
                <a:ea typeface="Times New Roman" panose="02020603050405020304" pitchFamily="18" charset="0"/>
              </a:rPr>
              <a:t> National Oceanic and Atmospheric Administration. Available at: </a:t>
            </a:r>
            <a:r>
              <a:rPr lang="en-US" sz="1600" u="sng" dirty="0">
                <a:solidFill>
                  <a:srgbClr val="0000FF"/>
                </a:solidFill>
                <a:effectLst/>
                <a:latin typeface="Merriweather" pitchFamily="2" charset="77"/>
                <a:ea typeface="Times New Roman" panose="02020603050405020304" pitchFamily="18" charset="0"/>
                <a:hlinkClick r:id="rId5"/>
              </a:rPr>
              <a:t>https://www.nhc.noaa.gov/data/</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USGS (United States Geological Survey). </a:t>
            </a:r>
            <a:r>
              <a:rPr lang="en-US" sz="1600" i="1" dirty="0">
                <a:effectLst/>
                <a:latin typeface="Merriweather" pitchFamily="2" charset="77"/>
                <a:ea typeface="Times New Roman" panose="02020603050405020304" pitchFamily="18" charset="0"/>
              </a:rPr>
              <a:t>Earthquake Catalog for Puerto Rico and the Caribbean Region.</a:t>
            </a:r>
            <a:r>
              <a:rPr lang="en-US" sz="1600" dirty="0">
                <a:effectLst/>
                <a:latin typeface="Merriweather" pitchFamily="2" charset="77"/>
                <a:ea typeface="Times New Roman" panose="02020603050405020304" pitchFamily="18" charset="0"/>
              </a:rPr>
              <a:t> U.S. Department of the Interior. Available at: </a:t>
            </a:r>
            <a:r>
              <a:rPr lang="en-US" sz="1600" u="sng" dirty="0">
                <a:solidFill>
                  <a:srgbClr val="0000FF"/>
                </a:solidFill>
                <a:effectLst/>
                <a:latin typeface="Merriweather" pitchFamily="2" charset="77"/>
                <a:ea typeface="Times New Roman" panose="02020603050405020304" pitchFamily="18" charset="0"/>
                <a:hlinkClick r:id="rId6"/>
              </a:rPr>
              <a:t>https://earthquake.usgs.gov/earthquakes/search/</a:t>
            </a:r>
            <a:endParaRPr lang="en-US" sz="1600" dirty="0">
              <a:effectLst/>
              <a:latin typeface="Merriweather" pitchFamily="2" charset="77"/>
              <a:ea typeface="Times New Roman" panose="02020603050405020304" pitchFamily="18" charset="0"/>
            </a:endParaRPr>
          </a:p>
        </p:txBody>
      </p:sp>
    </p:spTree>
    <p:extLst>
      <p:ext uri="{BB962C8B-B14F-4D97-AF65-F5344CB8AC3E}">
        <p14:creationId xmlns:p14="http://schemas.microsoft.com/office/powerpoint/2010/main" val="3413744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78F1ECCD-EAE1-7FF6-C044-34E5AACFC5D5}"/>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ACF3D97D-0981-77D4-F5E5-96BF1B32B8CF}"/>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772268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116912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94EBF72-05B3-4092-B058-100DE54983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Rutgers Theme</Template>
  <TotalTime>26895</TotalTime>
  <Words>2308</Words>
  <Application>Microsoft Macintosh PowerPoint</Application>
  <PresentationFormat>Widescreen</PresentationFormat>
  <Paragraphs>358</Paragraphs>
  <Slides>22</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Merriweather</vt:lpstr>
      <vt:lpstr>Wingdings</vt:lpstr>
      <vt:lpstr>PT serif</vt:lpstr>
      <vt:lpstr>Arial</vt:lpstr>
      <vt:lpstr>Roboto</vt:lpstr>
      <vt:lpstr>Symbol</vt:lpstr>
      <vt:lpstr>Aptos Display</vt:lpstr>
      <vt:lpstr>Cambria Math</vt:lpstr>
      <vt:lpstr>Source sans 3</vt:lpstr>
      <vt:lpstr>Calibri</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Andres Ruiz</cp:lastModifiedBy>
  <cp:revision>297</cp:revision>
  <cp:lastPrinted>2025-12-23T15:43:13Z</cp:lastPrinted>
  <dcterms:created xsi:type="dcterms:W3CDTF">2018-07-12T14:29:14Z</dcterms:created>
  <dcterms:modified xsi:type="dcterms:W3CDTF">2026-03-13T20:50:40Z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