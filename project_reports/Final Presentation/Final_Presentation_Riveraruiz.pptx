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34"/>
  </p:notesMasterIdLst>
  <p:handoutMasterIdLst>
    <p:handoutMasterId r:id="rId35"/>
  </p:handoutMasterIdLst>
  <p:sldIdLst>
    <p:sldId id="408" r:id="rId5"/>
    <p:sldId id="459" r:id="rId6"/>
    <p:sldId id="407" r:id="rId7"/>
    <p:sldId id="409" r:id="rId8"/>
    <p:sldId id="411" r:id="rId9"/>
    <p:sldId id="419" r:id="rId10"/>
    <p:sldId id="448" r:id="rId11"/>
    <p:sldId id="426" r:id="rId12"/>
    <p:sldId id="431" r:id="rId13"/>
    <p:sldId id="449" r:id="rId14"/>
    <p:sldId id="454" r:id="rId15"/>
    <p:sldId id="436" r:id="rId16"/>
    <p:sldId id="437" r:id="rId17"/>
    <p:sldId id="457" r:id="rId18"/>
    <p:sldId id="444" r:id="rId19"/>
    <p:sldId id="450" r:id="rId20"/>
    <p:sldId id="452" r:id="rId21"/>
    <p:sldId id="455" r:id="rId22"/>
    <p:sldId id="456" r:id="rId23"/>
    <p:sldId id="458" r:id="rId24"/>
    <p:sldId id="439" r:id="rId25"/>
    <p:sldId id="430" r:id="rId26"/>
    <p:sldId id="442" r:id="rId27"/>
    <p:sldId id="275" r:id="rId28"/>
    <p:sldId id="276" r:id="rId29"/>
    <p:sldId id="277" r:id="rId30"/>
    <p:sldId id="279" r:id="rId31"/>
    <p:sldId id="281" r:id="rId32"/>
    <p:sldId id="460" r:id="rId33"/>
  </p:sldIdLst>
  <p:sldSz cx="12192000" cy="6858000"/>
  <p:notesSz cx="9296400" cy="7010400"/>
  <p:embeddedFontLst>
    <p:embeddedFont>
      <p:font typeface="Cambria Math" panose="02040503050406030204" pitchFamily="18" charset="0"/>
      <p:regular r:id="rId36"/>
    </p:embeddedFont>
    <p:embeddedFont>
      <p:font typeface="Merriweather" pitchFamily="2" charset="77"/>
      <p:regular r:id="rId37"/>
      <p:bold r:id="rId38"/>
      <p:italic r:id="rId39"/>
      <p:boldItalic r:id="rId40"/>
    </p:embeddedFont>
    <p:embeddedFont>
      <p:font typeface="PT serif" panose="020A0603040505020204" pitchFamily="18" charset="77"/>
      <p:regular r:id="rId41"/>
      <p:bold r:id="rId42"/>
      <p:italic r:id="rId43"/>
      <p:boldItalic r:id="rId44"/>
    </p:embeddedFont>
    <p:embeddedFont>
      <p:font typeface="Roboto" panose="02000000000000000000" pitchFamily="2" charset="0"/>
      <p:regular r:id="rId45"/>
      <p:bold r:id="rId46"/>
      <p:italic r:id="rId47"/>
      <p:boldItalic r:id="rId48"/>
    </p:embeddedFont>
    <p:embeddedFont>
      <p:font typeface="Source sans 3" panose="020B0303030403020204" pitchFamily="34" charset="0"/>
      <p:regular r:id="rId49"/>
      <p:bold r:id="rId50"/>
      <p:italic r:id="rId51"/>
      <p:boldItalic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D59"/>
    <a:srgbClr val="71B2C4"/>
    <a:srgbClr val="649EC7"/>
    <a:srgbClr val="5576B9"/>
    <a:srgbClr val="405C84"/>
    <a:srgbClr val="00B050"/>
    <a:srgbClr val="00FACA"/>
    <a:srgbClr val="F9E289"/>
    <a:srgbClr val="F3D169"/>
    <a:srgbClr val="E8B51F"/>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42"/>
    <p:restoredTop sz="89812"/>
  </p:normalViewPr>
  <p:slideViewPr>
    <p:cSldViewPr snapToGrid="0">
      <p:cViewPr varScale="1">
        <p:scale>
          <a:sx n="138" d="100"/>
          <a:sy n="138" d="100"/>
        </p:scale>
        <p:origin x="608" y="176"/>
      </p:cViewPr>
      <p:guideLst>
        <p:guide pos="3040"/>
        <p:guide orient="horz" pos="2160"/>
      </p:guideLst>
    </p:cSldViewPr>
  </p:slideViewPr>
  <p:notesTextViewPr>
    <p:cViewPr>
      <p:scale>
        <a:sx n="110" d="100"/>
        <a:sy n="110" d="100"/>
      </p:scale>
      <p:origin x="0" y="0"/>
    </p:cViewPr>
  </p:notesTextViewPr>
  <p:sorterViewPr>
    <p:cViewPr>
      <p:scale>
        <a:sx n="80" d="100"/>
        <a:sy n="80" d="100"/>
      </p:scale>
      <p:origin x="0" y="0"/>
    </p:cViewPr>
  </p:sorterViewPr>
  <p:notesViewPr>
    <p:cSldViewPr snapToGrid="0">
      <p:cViewPr varScale="1">
        <p:scale>
          <a:sx n="157" d="100"/>
          <a:sy n="157" d="100"/>
        </p:scale>
        <p:origin x="220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commentAuthors" Target="commentAuthor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1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6.xml"/><Relationship Id="rId41" Type="http://schemas.openxmlformats.org/officeDocument/2006/relationships/font" Target="fonts/font6.fntdata"/><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9.fntdata"/><Relationship Id="rId52" Type="http://schemas.openxmlformats.org/officeDocument/2006/relationships/font" Target="fonts/font1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5/8/26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5/8/26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t>Exploratory Data Analysis</a:t>
            </a:r>
            <a:r>
              <a:rPr lang="en-US" sz="1800" dirty="0"/>
              <a:t>.</a:t>
            </a:r>
          </a:p>
        </p:txBody>
      </p:sp>
      <p:sp>
        <p:nvSpPr>
          <p:cNvPr id="4" name="Slide Number Placeholder 3"/>
          <p:cNvSpPr>
            <a:spLocks noGrp="1"/>
          </p:cNvSpPr>
          <p:nvPr>
            <p:ph type="sldNum" sz="quarter" idx="5"/>
          </p:nvPr>
        </p:nvSpPr>
        <p:spPr/>
        <p:txBody>
          <a:bodyPr/>
          <a:lstStyle/>
          <a:p>
            <a:fld id="{5068C1A6-6C9C-C342-8E0F-AE9AC9AFD13B}" type="slidenum">
              <a:rPr lang="en-US" smtClean="0"/>
              <a:t>4</a:t>
            </a:fld>
            <a:endParaRPr lang="en-US" dirty="0"/>
          </a:p>
        </p:txBody>
      </p:sp>
    </p:spTree>
    <p:extLst>
      <p:ext uri="{BB962C8B-B14F-4D97-AF65-F5344CB8AC3E}">
        <p14:creationId xmlns:p14="http://schemas.microsoft.com/office/powerpoint/2010/main" val="3881450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71361-1CC0-2B63-9BF6-7E4F56988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A4D96-1BB5-C6F3-CAAB-610887B5A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BFE08-7911-0FB3-29C6-6DA31F1B057A}"/>
              </a:ext>
            </a:extLst>
          </p:cNvPr>
          <p:cNvSpPr>
            <a:spLocks noGrp="1"/>
          </p:cNvSpPr>
          <p:nvPr>
            <p:ph type="body" idx="1"/>
          </p:nvPr>
        </p:nvSpPr>
        <p:spPr/>
        <p:txBody>
          <a:bodyPr/>
          <a:lstStyle/>
          <a:p>
            <a:r>
              <a:rPr lang="en-US" dirty="0"/>
              <a:t>This slide shows the full pipeline. We start with municipal-level structural, economic, and shock data. In Phase 2, we build a predictive model and select Lasso with strong out-of-sample performance. We then interpret the model using SHAP and lead–lag analysis, which reveals that population dynamics are highly persistent. In Phase 3, we generate scenario forecasts, and in Phase 4 we translate those into policy simulations to identify strategies that can reduce population loss.</a:t>
            </a:r>
          </a:p>
        </p:txBody>
      </p:sp>
      <p:sp>
        <p:nvSpPr>
          <p:cNvPr id="4" name="Slide Number Placeholder 3">
            <a:extLst>
              <a:ext uri="{FF2B5EF4-FFF2-40B4-BE49-F238E27FC236}">
                <a16:creationId xmlns:a16="http://schemas.microsoft.com/office/drawing/2014/main" id="{D76D7624-92AE-3978-053F-F621021FE661}"/>
              </a:ext>
            </a:extLst>
          </p:cNvPr>
          <p:cNvSpPr>
            <a:spLocks noGrp="1"/>
          </p:cNvSpPr>
          <p:nvPr>
            <p:ph type="sldNum" sz="quarter" idx="5"/>
          </p:nvPr>
        </p:nvSpPr>
        <p:spPr/>
        <p:txBody>
          <a:bodyPr/>
          <a:lstStyle/>
          <a:p>
            <a:fld id="{5068C1A6-6C9C-C342-8E0F-AE9AC9AFD13B}" type="slidenum">
              <a:rPr lang="en-US" smtClean="0"/>
              <a:t>6</a:t>
            </a:fld>
            <a:endParaRPr lang="en-US" dirty="0"/>
          </a:p>
        </p:txBody>
      </p:sp>
    </p:spTree>
    <p:extLst>
      <p:ext uri="{BB962C8B-B14F-4D97-AF65-F5344CB8AC3E}">
        <p14:creationId xmlns:p14="http://schemas.microsoft.com/office/powerpoint/2010/main" val="2610477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modeling strategy combines interpretable statistical models with machine learning algorithms. OLS provides a baseline understanding of feature relationships, while Random Forest and Gradient Boosting capture nonlinear population dynamics. Ridge, Lasso, and SHAP are then used to interpret the drivers of the model’s predictions.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7</a:t>
            </a:fld>
            <a:endParaRPr lang="en-US" dirty="0"/>
          </a:p>
        </p:txBody>
      </p:sp>
    </p:spTree>
    <p:extLst>
      <p:ext uri="{BB962C8B-B14F-4D97-AF65-F5344CB8AC3E}">
        <p14:creationId xmlns:p14="http://schemas.microsoft.com/office/powerpoint/2010/main" val="3954245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8</a:t>
            </a:fld>
            <a:endParaRPr lang="en-US" dirty="0"/>
          </a:p>
        </p:txBody>
      </p:sp>
    </p:spTree>
    <p:extLst>
      <p:ext uri="{BB962C8B-B14F-4D97-AF65-F5344CB8AC3E}">
        <p14:creationId xmlns:p14="http://schemas.microsoft.com/office/powerpoint/2010/main" val="3312028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DD09-BB55-281C-2B14-A8ACF16F8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046E6-D34B-02FB-7487-746D08C62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71936-83C1-5ABC-0C85-37052FCCE2B5}"/>
              </a:ext>
            </a:extLst>
          </p:cNvPr>
          <p:cNvSpPr>
            <a:spLocks noGrp="1"/>
          </p:cNvSpPr>
          <p:nvPr>
            <p:ph type="body" idx="1"/>
          </p:nvPr>
        </p:nvSpPr>
        <p:spPr/>
        <p:txBody>
          <a:bodyPr/>
          <a:lstStyle/>
          <a:p>
            <a:r>
              <a:rPr lang="en-US" dirty="0"/>
              <a:t>This slide shows how we split the data for modeling using a </a:t>
            </a:r>
            <a:r>
              <a:rPr lang="en-US" b="1" dirty="0"/>
              <a:t>chronological 80/20 framework</a:t>
            </a:r>
            <a:r>
              <a:rPr lang="en-US" dirty="0"/>
              <a:t>.</a:t>
            </a:r>
          </a:p>
          <a:p>
            <a:r>
              <a:rPr lang="en-US" dirty="0"/>
              <a:t>Instead of randomly splitting the data, we preserve the time structure.</a:t>
            </a:r>
            <a:br>
              <a:rPr lang="en-US" dirty="0"/>
            </a:br>
            <a:r>
              <a:rPr lang="en-US" dirty="0"/>
              <a:t>We train the model only on </a:t>
            </a:r>
            <a:r>
              <a:rPr lang="en-US" b="1" dirty="0"/>
              <a:t>earlier years (2010–2018)</a:t>
            </a:r>
            <a:r>
              <a:rPr lang="en-US" dirty="0"/>
              <a:t>, reserve </a:t>
            </a:r>
            <a:r>
              <a:rPr lang="en-US" b="1" dirty="0"/>
              <a:t>2019 as a validation year</a:t>
            </a:r>
            <a:r>
              <a:rPr lang="en-US" dirty="0"/>
              <a:t>, and then evaluate performance on </a:t>
            </a:r>
            <a:r>
              <a:rPr lang="en-US" b="1" dirty="0"/>
              <a:t>completely unseen future years (2020–2021)</a:t>
            </a:r>
            <a:r>
              <a:rPr lang="en-US" dirty="0"/>
              <a:t>.</a:t>
            </a:r>
          </a:p>
          <a:p>
            <a:r>
              <a:rPr lang="en-US" dirty="0"/>
              <a:t>Each year contributes </a:t>
            </a:r>
            <a:r>
              <a:rPr lang="en-US" b="1" dirty="0"/>
              <a:t>78 municipality-level observations</a:t>
            </a:r>
            <a:r>
              <a:rPr lang="en-US" dirty="0"/>
              <a:t>, so the split is balanced across time.</a:t>
            </a:r>
          </a:p>
          <a:p>
            <a:r>
              <a:rPr lang="en-US" dirty="0"/>
              <a:t>The key idea here is that we are mimicking a </a:t>
            </a:r>
            <a:r>
              <a:rPr lang="en-US" b="1" dirty="0"/>
              <a:t>real forecasting setup</a:t>
            </a:r>
            <a:r>
              <a:rPr lang="en-US" dirty="0"/>
              <a:t>:</a:t>
            </a:r>
          </a:p>
          <a:p>
            <a:r>
              <a:rPr lang="en-US" dirty="0"/>
              <a:t>the model learns from the past </a:t>
            </a:r>
          </a:p>
          <a:p>
            <a:r>
              <a:rPr lang="en-US" dirty="0"/>
              <a:t>it is tuned on a later holdout year </a:t>
            </a:r>
          </a:p>
          <a:p>
            <a:r>
              <a:rPr lang="en-US" dirty="0"/>
              <a:t>and it is tested on future data it has never seen </a:t>
            </a:r>
          </a:p>
          <a:p>
            <a:r>
              <a:rPr lang="en-US"/>
              <a:t>This avoids </a:t>
            </a:r>
            <a:r>
              <a:rPr lang="en-US" b="1"/>
              <a:t>data leakage</a:t>
            </a:r>
            <a:r>
              <a:rPr lang="en-US"/>
              <a:t>, meaning we never use future information to predict the past.</a:t>
            </a:r>
          </a:p>
          <a:p>
            <a:endParaRPr lang="en-US" dirty="0"/>
          </a:p>
        </p:txBody>
      </p:sp>
      <p:sp>
        <p:nvSpPr>
          <p:cNvPr id="4" name="Slide Number Placeholder 3">
            <a:extLst>
              <a:ext uri="{FF2B5EF4-FFF2-40B4-BE49-F238E27FC236}">
                <a16:creationId xmlns:a16="http://schemas.microsoft.com/office/drawing/2014/main" id="{A9518824-9364-DB73-9829-09F87B1DC587}"/>
              </a:ext>
            </a:extLst>
          </p:cNvPr>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43793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58BF-2752-B391-56A9-F664D9534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5FE71-47E3-4CB3-EEB6-583D6D4D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3D1F1-E2B5-70B3-B317-B979A4B294B0}"/>
              </a:ext>
            </a:extLst>
          </p:cNvPr>
          <p:cNvSpPr>
            <a:spLocks noGrp="1"/>
          </p:cNvSpPr>
          <p:nvPr>
            <p:ph type="body" idx="1"/>
          </p:nvPr>
        </p:nvSpPr>
        <p:spPr/>
        <p:txBody>
          <a:bodyPr/>
          <a:lstStyle/>
          <a:p>
            <a:r>
              <a:rPr lang="en-US" dirty="0"/>
              <a:t>This slide shows a lead–lag analysis, which helps us understand not just what matters, but when it matters.</a:t>
            </a:r>
          </a:p>
          <a:p>
            <a:r>
              <a:rPr lang="en-US" dirty="0"/>
              <a:t>The key result is that hurricane exposure has its strongest effect at a one-year lag, not immediately. This suggests that population responses—such as migration or displacement—occur after some delay.</a:t>
            </a:r>
          </a:p>
          <a:p>
            <a:r>
              <a:rPr lang="en-US" dirty="0"/>
              <a:t>Earthquake effects appear both immediate and slightly persistent, while structural factors like vulnerability remain important across multiple time periods.</a:t>
            </a:r>
          </a:p>
          <a:p>
            <a:r>
              <a:rPr lang="en-US" dirty="0"/>
              <a:t>Overall, this tells us that population change is not driven by instant shocks, but by delayed and evolving responses over time.</a:t>
            </a:r>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p:txBody>
      </p:sp>
      <p:sp>
        <p:nvSpPr>
          <p:cNvPr id="4" name="Slide Number Placeholder 3">
            <a:extLst>
              <a:ext uri="{FF2B5EF4-FFF2-40B4-BE49-F238E27FC236}">
                <a16:creationId xmlns:a16="http://schemas.microsoft.com/office/drawing/2014/main" id="{685C73E6-5BEC-A8F8-A1AF-781212921898}"/>
              </a:ext>
            </a:extLst>
          </p:cNvPr>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2308053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prediction, what we see is that population dynamics are not random, they’re spatially structured.</a:t>
            </a:r>
            <a:br>
              <a:rPr lang="en-US" dirty="0"/>
            </a:br>
            <a:r>
              <a:rPr lang="en-US" dirty="0"/>
              <a:t>Municipalities cluster into distinct typologies, and these clusters align strongly with geographic regions.</a:t>
            </a:r>
            <a:br>
              <a:rPr lang="en-US" dirty="0"/>
            </a:br>
            <a:r>
              <a:rPr lang="en-US" dirty="0"/>
              <a:t>This means similar places behave similarly over time.</a:t>
            </a:r>
            <a:br>
              <a:rPr lang="en-US" dirty="0"/>
            </a:br>
            <a:r>
              <a:rPr lang="en-US" dirty="0"/>
              <a:t>The key insight is that decline is not evenly distributed, it’s concentrated in specific regions and tied to underlying structural conditions like economic activity and vulnerability.</a:t>
            </a:r>
            <a:br>
              <a:rPr lang="en-US" dirty="0"/>
            </a:br>
            <a:r>
              <a:rPr lang="en-US" dirty="0"/>
              <a:t>So overall, population change reflects persistent regional structures rather than isolated local variation.</a:t>
            </a:r>
          </a:p>
        </p:txBody>
      </p:sp>
      <p:sp>
        <p:nvSpPr>
          <p:cNvPr id="4" name="Slide Number Placeholder 3"/>
          <p:cNvSpPr>
            <a:spLocks noGrp="1"/>
          </p:cNvSpPr>
          <p:nvPr>
            <p:ph type="sldNum" sz="quarter" idx="5"/>
          </p:nvPr>
        </p:nvSpPr>
        <p:spPr/>
        <p:txBody>
          <a:bodyPr/>
          <a:lstStyle/>
          <a:p>
            <a:fld id="{5068C1A6-6C9C-C342-8E0F-AE9AC9AFD13B}" type="slidenum">
              <a:rPr lang="en-US" smtClean="0"/>
              <a:t>11</a:t>
            </a:fld>
            <a:endParaRPr lang="en-US" dirty="0"/>
          </a:p>
        </p:txBody>
      </p:sp>
    </p:spTree>
    <p:extLst>
      <p:ext uri="{BB962C8B-B14F-4D97-AF65-F5344CB8AC3E}">
        <p14:creationId xmlns:p14="http://schemas.microsoft.com/office/powerpoint/2010/main" val="789598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island level, Puerto Rico shows a persistent population decline of about 0.6% per year, or roughly 20,000 people annually.</a:t>
            </a:r>
            <a:br>
              <a:rPr lang="en-US" dirty="0"/>
            </a:br>
            <a:r>
              <a:rPr lang="en-US" dirty="0"/>
              <a:t>Importantly, this decline is not uniform, it’s concentrated in specific regions, particularly the South and West.</a:t>
            </a:r>
            <a:br>
              <a:rPr lang="en-US" dirty="0"/>
            </a:br>
            <a:r>
              <a:rPr lang="en-US" dirty="0"/>
              <a:t>What the model confirms is that this pattern is systematic and predictable, not random. Regional location plays a major role, and these differences remain stable over time. So the key takeaway is that population decline is spatially structured and persistent, driven by long-term regional dynamics rather than short-term fluctuations.</a:t>
            </a:r>
          </a:p>
        </p:txBody>
      </p:sp>
      <p:sp>
        <p:nvSpPr>
          <p:cNvPr id="4" name="Slide Number Placeholder 3"/>
          <p:cNvSpPr>
            <a:spLocks noGrp="1"/>
          </p:cNvSpPr>
          <p:nvPr>
            <p:ph type="sldNum" sz="quarter" idx="5"/>
          </p:nvPr>
        </p:nvSpPr>
        <p:spPr/>
        <p:txBody>
          <a:bodyPr/>
          <a:lstStyle/>
          <a:p>
            <a:fld id="{5068C1A6-6C9C-C342-8E0F-AE9AC9AFD13B}" type="slidenum">
              <a:rPr lang="en-US" smtClean="0"/>
              <a:t>12</a:t>
            </a:fld>
            <a:endParaRPr lang="en-US" dirty="0"/>
          </a:p>
        </p:txBody>
      </p:sp>
    </p:spTree>
    <p:extLst>
      <p:ext uri="{BB962C8B-B14F-4D97-AF65-F5344CB8AC3E}">
        <p14:creationId xmlns:p14="http://schemas.microsoft.com/office/powerpoint/2010/main" val="2989634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DD697-456F-1A75-D6E6-B1E6DD418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1258D-FCB8-7B47-C3D3-1D083E425B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D9247-5E09-9840-E9B6-40A68D4762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F6117F-BD8B-2B82-05BB-D543D4F651C2}"/>
              </a:ext>
            </a:extLst>
          </p:cNvPr>
          <p:cNvSpPr>
            <a:spLocks noGrp="1"/>
          </p:cNvSpPr>
          <p:nvPr>
            <p:ph type="sldNum" sz="quarter" idx="5"/>
          </p:nvPr>
        </p:nvSpPr>
        <p:spPr/>
        <p:txBody>
          <a:bodyPr/>
          <a:lstStyle/>
          <a:p>
            <a:fld id="{5068C1A6-6C9C-C342-8E0F-AE9AC9AFD13B}" type="slidenum">
              <a:rPr lang="en-US" smtClean="0"/>
              <a:t>13</a:t>
            </a:fld>
            <a:endParaRPr lang="en-US" dirty="0"/>
          </a:p>
        </p:txBody>
      </p:sp>
    </p:spTree>
    <p:extLst>
      <p:ext uri="{BB962C8B-B14F-4D97-AF65-F5344CB8AC3E}">
        <p14:creationId xmlns:p14="http://schemas.microsoft.com/office/powerpoint/2010/main" val="951548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6FB7-E1E1-DF26-DD42-A6914910E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697AD-0E16-C69C-3838-FDE2DCF9C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9A24C-0EA7-83F2-3028-7B89A1FC2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1F1F4F-300D-524D-88DA-F56D106F648B}"/>
              </a:ext>
            </a:extLst>
          </p:cNvPr>
          <p:cNvSpPr>
            <a:spLocks noGrp="1"/>
          </p:cNvSpPr>
          <p:nvPr>
            <p:ph type="sldNum" sz="quarter" idx="5"/>
          </p:nvPr>
        </p:nvSpPr>
        <p:spPr/>
        <p:txBody>
          <a:bodyPr/>
          <a:lstStyle/>
          <a:p>
            <a:fld id="{5068C1A6-6C9C-C342-8E0F-AE9AC9AFD13B}" type="slidenum">
              <a:rPr lang="en-US" smtClean="0"/>
              <a:t>14</a:t>
            </a:fld>
            <a:endParaRPr lang="en-US" dirty="0"/>
          </a:p>
        </p:txBody>
      </p:sp>
    </p:spTree>
    <p:extLst>
      <p:ext uri="{BB962C8B-B14F-4D97-AF65-F5344CB8AC3E}">
        <p14:creationId xmlns:p14="http://schemas.microsoft.com/office/powerpoint/2010/main" val="4055531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F2AA8-ECEA-E732-FC01-1E089DD9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E15F4-1306-EB85-E903-41BF9837C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75522-70CF-AD90-ABD8-B833DD828D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C5038E-CA49-0058-2D63-713C9A608039}"/>
              </a:ext>
            </a:extLst>
          </p:cNvPr>
          <p:cNvSpPr>
            <a:spLocks noGrp="1"/>
          </p:cNvSpPr>
          <p:nvPr>
            <p:ph type="sldNum" sz="quarter" idx="5"/>
          </p:nvPr>
        </p:nvSpPr>
        <p:spPr/>
        <p:txBody>
          <a:bodyPr/>
          <a:lstStyle/>
          <a:p>
            <a:fld id="{5068C1A6-6C9C-C342-8E0F-AE9AC9AFD13B}" type="slidenum">
              <a:rPr lang="en-US" smtClean="0"/>
              <a:t>15</a:t>
            </a:fld>
            <a:endParaRPr lang="en-US" dirty="0"/>
          </a:p>
        </p:txBody>
      </p:sp>
    </p:spTree>
    <p:extLst>
      <p:ext uri="{BB962C8B-B14F-4D97-AF65-F5344CB8AC3E}">
        <p14:creationId xmlns:p14="http://schemas.microsoft.com/office/powerpoint/2010/main" val="1899868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6C1F-3692-A97E-B268-AA59DA162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DA91B-C2FF-3602-A806-D05CC653B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B1EA65-77C7-68DF-4361-6D963E5E475C}"/>
              </a:ext>
            </a:extLst>
          </p:cNvPr>
          <p:cNvSpPr>
            <a:spLocks noGrp="1"/>
          </p:cNvSpPr>
          <p:nvPr>
            <p:ph type="body" idx="1"/>
          </p:nvPr>
        </p:nvSpPr>
        <p:spPr/>
        <p:txBody>
          <a:bodyPr/>
          <a:lstStyle/>
          <a:p>
            <a:r>
              <a:rPr lang="en-US" dirty="0"/>
              <a:t>Mechanically, the framework does:</a:t>
            </a:r>
          </a:p>
          <a:p>
            <a:r>
              <a:rPr lang="en-US" dirty="0"/>
              <a:t>Take latest municipal data </a:t>
            </a:r>
          </a:p>
          <a:p>
            <a:r>
              <a:rPr lang="en-US" dirty="0"/>
              <a:t>Apply </a:t>
            </a:r>
            <a:r>
              <a:rPr lang="en-US" b="1" dirty="0"/>
              <a:t>feature adjustments (policy shocks)</a:t>
            </a:r>
            <a:r>
              <a:rPr lang="en-US" dirty="0"/>
              <a:t> </a:t>
            </a:r>
          </a:p>
          <a:p>
            <a:r>
              <a:rPr lang="en-US" dirty="0"/>
              <a:t>Feed into </a:t>
            </a:r>
            <a:r>
              <a:rPr lang="en-US" b="1" dirty="0"/>
              <a:t>trained Lasso model</a:t>
            </a:r>
            <a:r>
              <a:rPr lang="en-US" dirty="0"/>
              <a:t> </a:t>
            </a:r>
          </a:p>
          <a:p>
            <a:r>
              <a:rPr lang="en-US" dirty="0"/>
              <a:t>Generate new predicted population paths </a:t>
            </a:r>
          </a:p>
          <a:p>
            <a:endParaRPr lang="en-US" dirty="0"/>
          </a:p>
          <a:p>
            <a:r>
              <a:rPr lang="en-US" dirty="0"/>
              <a:t>So:</a:t>
            </a:r>
          </a:p>
          <a:p>
            <a:r>
              <a:rPr lang="en-US" dirty="0"/>
              <a:t>policies → change features </a:t>
            </a:r>
          </a:p>
          <a:p>
            <a:r>
              <a:rPr lang="en-US" dirty="0"/>
              <a:t>features → change predictions </a:t>
            </a:r>
          </a:p>
          <a:p>
            <a:endParaRPr lang="en-US" dirty="0"/>
          </a:p>
          <a:p>
            <a:r>
              <a:rPr lang="en-US" dirty="0"/>
              <a:t>Important </a:t>
            </a:r>
          </a:p>
          <a:p>
            <a:r>
              <a:rPr lang="en-US" dirty="0"/>
              <a:t>These are </a:t>
            </a:r>
            <a:r>
              <a:rPr lang="en-US" b="1" dirty="0"/>
              <a:t>model-based counterfactuals, not causal estimates</a:t>
            </a:r>
            <a:endParaRPr lang="en-US" dirty="0"/>
          </a:p>
          <a:p>
            <a:endParaRPr lang="en-US" dirty="0"/>
          </a:p>
        </p:txBody>
      </p:sp>
      <p:sp>
        <p:nvSpPr>
          <p:cNvPr id="4" name="Slide Number Placeholder 3">
            <a:extLst>
              <a:ext uri="{FF2B5EF4-FFF2-40B4-BE49-F238E27FC236}">
                <a16:creationId xmlns:a16="http://schemas.microsoft.com/office/drawing/2014/main" id="{1158C983-D6E5-3C0B-780C-A94D0EC35CC9}"/>
              </a:ext>
            </a:extLst>
          </p:cNvPr>
          <p:cNvSpPr>
            <a:spLocks noGrp="1"/>
          </p:cNvSpPr>
          <p:nvPr>
            <p:ph type="sldNum" sz="quarter" idx="5"/>
          </p:nvPr>
        </p:nvSpPr>
        <p:spPr/>
        <p:txBody>
          <a:bodyPr/>
          <a:lstStyle/>
          <a:p>
            <a:fld id="{5068C1A6-6C9C-C342-8E0F-AE9AC9AFD13B}" type="slidenum">
              <a:rPr lang="en-US" smtClean="0"/>
              <a:t>16</a:t>
            </a:fld>
            <a:endParaRPr lang="en-US" dirty="0"/>
          </a:p>
        </p:txBody>
      </p:sp>
    </p:spTree>
    <p:extLst>
      <p:ext uri="{BB962C8B-B14F-4D97-AF65-F5344CB8AC3E}">
        <p14:creationId xmlns:p14="http://schemas.microsoft.com/office/powerpoint/2010/main" val="310725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D3AE2-5385-ACB2-855D-B0020BA41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2215E-4FB2-0FD4-12F5-0D0DAAE82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1FC44-DC21-AFC2-009E-310E8C544716}"/>
              </a:ext>
            </a:extLst>
          </p:cNvPr>
          <p:cNvSpPr>
            <a:spLocks noGrp="1"/>
          </p:cNvSpPr>
          <p:nvPr>
            <p:ph type="body" idx="1"/>
          </p:nvPr>
        </p:nvSpPr>
        <p:spPr/>
        <p:txBody>
          <a:bodyPr/>
          <a:lstStyle/>
          <a:p>
            <a:r>
              <a:rPr lang="en-US" dirty="0"/>
              <a:t>This figure shows the </a:t>
            </a:r>
            <a:r>
              <a:rPr lang="en-US" b="1" dirty="0"/>
              <a:t>island-level population trajectory</a:t>
            </a:r>
            <a:r>
              <a:rPr lang="en-US" dirty="0"/>
              <a:t> under different scenarios.</a:t>
            </a:r>
          </a:p>
          <a:p>
            <a:r>
              <a:rPr lang="en-US" dirty="0"/>
              <a:t>We start with the observed trend, which shows a steady decline with a small temporary fluctuation around the post-Maria period.</a:t>
            </a:r>
          </a:p>
          <a:p>
            <a:r>
              <a:rPr lang="en-US" dirty="0"/>
              <a:t>From 2024 onward, the forecast begins.</a:t>
            </a:r>
          </a:p>
          <a:p>
            <a:r>
              <a:rPr lang="en-US" dirty="0"/>
              <a:t>The </a:t>
            </a:r>
            <a:r>
              <a:rPr lang="en-US" b="1" dirty="0"/>
              <a:t>baseline scenario</a:t>
            </a:r>
            <a:r>
              <a:rPr lang="en-US" dirty="0"/>
              <a:t> continues the downward trajectory, reflecting the model’s core finding that population change is highly persistent.</a:t>
            </a:r>
          </a:p>
          <a:p>
            <a:r>
              <a:rPr lang="en-US" dirty="0"/>
              <a:t>The </a:t>
            </a:r>
            <a:r>
              <a:rPr lang="en-US" b="1" dirty="0"/>
              <a:t>retention bundle</a:t>
            </a:r>
            <a:r>
              <a:rPr lang="en-US" dirty="0"/>
              <a:t> improves outcomes slightly, slowing the rate of decline, but it does not reverse the trend. This shows that standard policy improvements alone are not enough to overcome structural momentum.</a:t>
            </a:r>
          </a:p>
          <a:p>
            <a:r>
              <a:rPr lang="en-US" dirty="0"/>
              <a:t>The </a:t>
            </a:r>
            <a:r>
              <a:rPr lang="en-US" b="1" dirty="0"/>
              <a:t>recovery bundle</a:t>
            </a:r>
            <a:r>
              <a:rPr lang="en-US" dirty="0"/>
              <a:t>, which applies stronger feature improvements, produces a slightly better trajectory, but still remains below the current population level.</a:t>
            </a:r>
          </a:p>
          <a:p>
            <a:r>
              <a:rPr lang="en-US" dirty="0"/>
              <a:t>The most important line is the </a:t>
            </a:r>
            <a:r>
              <a:rPr lang="en-US" b="1" dirty="0"/>
              <a:t>recovery rebound sensitivity</a:t>
            </a:r>
            <a:r>
              <a:rPr lang="en-US" dirty="0"/>
              <a:t>.</a:t>
            </a:r>
          </a:p>
          <a:p>
            <a:r>
              <a:rPr lang="en-US" dirty="0"/>
              <a:t>This scenario adds a return-migration or recovery shock, similar to the temporary increase observed after Hurricane Maria. Under this assumption, population can </a:t>
            </a:r>
            <a:r>
              <a:rPr lang="en-US" b="1" dirty="0"/>
              <a:t>stabilize and even temporarily increase</a:t>
            </a:r>
            <a:r>
              <a:rPr lang="en-US" dirty="0"/>
              <a:t>, but only under strong and coordinated improvements.</a:t>
            </a:r>
          </a:p>
          <a:p>
            <a:endParaRPr lang="en-US" dirty="0"/>
          </a:p>
          <a:p>
            <a:r>
              <a:rPr lang="en-US" dirty="0"/>
              <a:t>***The recovery bundle shows what the model predicts from stronger policy-feature improvements. The rebound sensitivity shows what additional recovery momentum would be needed to reverse the decline.</a:t>
            </a:r>
          </a:p>
          <a:p>
            <a:endParaRPr lang="en-US" dirty="0"/>
          </a:p>
          <a:p>
            <a:endParaRPr lang="en-US" dirty="0"/>
          </a:p>
          <a:p>
            <a:endParaRPr lang="en-US" dirty="0"/>
          </a:p>
          <a:p>
            <a:r>
              <a:rPr lang="en-US" dirty="0"/>
              <a:t>The uncertainty band shows that even under optimistic assumptions, outcomes remain bounded and gradually converge.</a:t>
            </a:r>
          </a:p>
          <a:p>
            <a:endParaRPr lang="en-US" dirty="0"/>
          </a:p>
          <a:p>
            <a:r>
              <a:rPr lang="en-US" dirty="0"/>
              <a:t> The key takeaway is that:</a:t>
            </a:r>
            <a:br>
              <a:rPr lang="en-US" dirty="0"/>
            </a:br>
            <a:r>
              <a:rPr lang="en-US" dirty="0"/>
              <a:t>Population decline in Puerto Rico is driven by </a:t>
            </a:r>
            <a:r>
              <a:rPr lang="en-US" b="1" dirty="0"/>
              <a:t>persistent structural dynamics</a:t>
            </a:r>
            <a:r>
              <a:rPr lang="en-US" dirty="0"/>
              <a:t>, and reversing it would require not just policy improvements, but a </a:t>
            </a:r>
            <a:r>
              <a:rPr lang="en-US" b="1" dirty="0"/>
              <a:t>sustained recovery dynamic strong enough to overcome that momentum</a:t>
            </a:r>
            <a:r>
              <a:rPr lang="en-US" dirty="0"/>
              <a:t>.</a:t>
            </a:r>
          </a:p>
          <a:p>
            <a:endParaRPr lang="en-US" dirty="0"/>
          </a:p>
        </p:txBody>
      </p:sp>
      <p:sp>
        <p:nvSpPr>
          <p:cNvPr id="4" name="Slide Number Placeholder 3">
            <a:extLst>
              <a:ext uri="{FF2B5EF4-FFF2-40B4-BE49-F238E27FC236}">
                <a16:creationId xmlns:a16="http://schemas.microsoft.com/office/drawing/2014/main" id="{CE186F9E-A819-9DFC-96D9-6091E023F146}"/>
              </a:ext>
            </a:extLst>
          </p:cNvPr>
          <p:cNvSpPr>
            <a:spLocks noGrp="1"/>
          </p:cNvSpPr>
          <p:nvPr>
            <p:ph type="sldNum" sz="quarter" idx="5"/>
          </p:nvPr>
        </p:nvSpPr>
        <p:spPr/>
        <p:txBody>
          <a:bodyPr/>
          <a:lstStyle/>
          <a:p>
            <a:fld id="{5068C1A6-6C9C-C342-8E0F-AE9AC9AFD13B}" type="slidenum">
              <a:rPr lang="en-US" smtClean="0"/>
              <a:t>17</a:t>
            </a:fld>
            <a:endParaRPr lang="en-US" dirty="0"/>
          </a:p>
        </p:txBody>
      </p:sp>
    </p:spTree>
    <p:extLst>
      <p:ext uri="{BB962C8B-B14F-4D97-AF65-F5344CB8AC3E}">
        <p14:creationId xmlns:p14="http://schemas.microsoft.com/office/powerpoint/2010/main" val="1673636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9128C-29E3-C741-F35F-0B11A9887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026FC-28B9-535A-538E-01D689E39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4C150-12A5-E967-3D8A-98A4534C52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ABF98-7D1C-BD1F-62D7-CF11BD1DB70D}"/>
              </a:ext>
            </a:extLst>
          </p:cNvPr>
          <p:cNvSpPr>
            <a:spLocks noGrp="1"/>
          </p:cNvSpPr>
          <p:nvPr>
            <p:ph type="sldNum" sz="quarter" idx="5"/>
          </p:nvPr>
        </p:nvSpPr>
        <p:spPr/>
        <p:txBody>
          <a:bodyPr/>
          <a:lstStyle/>
          <a:p>
            <a:fld id="{5068C1A6-6C9C-C342-8E0F-AE9AC9AFD13B}" type="slidenum">
              <a:rPr lang="en-US" smtClean="0"/>
              <a:t>18</a:t>
            </a:fld>
            <a:endParaRPr lang="en-US" dirty="0"/>
          </a:p>
        </p:txBody>
      </p:sp>
    </p:spTree>
    <p:extLst>
      <p:ext uri="{BB962C8B-B14F-4D97-AF65-F5344CB8AC3E}">
        <p14:creationId xmlns:p14="http://schemas.microsoft.com/office/powerpoint/2010/main" val="756217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02BDD-66E7-7067-BE03-34875C9B0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6DD69-4A27-E0A5-FE33-F8ABAC089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16BAA-497E-1B5D-D495-AB8AEBD13B4C}"/>
              </a:ext>
            </a:extLst>
          </p:cNvPr>
          <p:cNvSpPr>
            <a:spLocks noGrp="1"/>
          </p:cNvSpPr>
          <p:nvPr>
            <p:ph type="body" idx="1"/>
          </p:nvPr>
        </p:nvSpPr>
        <p:spPr/>
        <p:txBody>
          <a:bodyPr/>
          <a:lstStyle/>
          <a:p>
            <a:r>
              <a:rPr lang="en-US" dirty="0"/>
              <a:t>The key message is that Puerto Rico’s population decline is </a:t>
            </a:r>
            <a:r>
              <a:rPr lang="en-US" b="1" dirty="0"/>
              <a:t>not random</a:t>
            </a:r>
            <a:r>
              <a:rPr lang="en-US" dirty="0"/>
              <a:t>. It is structured, spatial, and persistent. The model shows that population change is strongly shaped by past population trends, meaning that municipalities already experiencing decline are more likely to continue declining unless stronger interventions occur.</a:t>
            </a:r>
          </a:p>
          <a:p>
            <a:r>
              <a:rPr lang="en-US" dirty="0"/>
              <a:t>A major finding is that disasters matter, but not as simple one-time predictors. Instead, hurricanes and earthquakes tend to </a:t>
            </a:r>
            <a:r>
              <a:rPr lang="en-US" b="1" dirty="0"/>
              <a:t>amplify existing demographic trends</a:t>
            </a:r>
            <a:r>
              <a:rPr lang="en-US" dirty="0"/>
              <a:t> and their effects appear through longer-term population momentum.</a:t>
            </a:r>
          </a:p>
          <a:p>
            <a:r>
              <a:rPr lang="en-US" dirty="0"/>
              <a:t>The project also moved beyond prediction. In the final phase, I extended the forecasting model into policy and recovery scenarios. These simulations tested strategies related to jobs, public safety, resilience, demographic support, and retention.</a:t>
            </a:r>
          </a:p>
          <a:p>
            <a:r>
              <a:rPr lang="en-US" dirty="0"/>
              <a:t>The results show that policy bundles can slow population loss, but reversing decline requires a stronger coordinated recovery dynamic, including conditions that support return migration and long-term population stabilization.</a:t>
            </a:r>
          </a:p>
          <a:p>
            <a:r>
              <a:rPr lang="en-US" dirty="0"/>
              <a:t>Overall, this project demonstrates how machine learning can be used not only to forecast population decline, but also to evaluate what kinds of interventions may be needed to change the trajectory. The main takeaway is that Puerto Rico’s population future depends on addressing persistent structural conditions, not only reacting to short-term shocks.</a:t>
            </a:r>
          </a:p>
          <a:p>
            <a:endParaRPr lang="en-US" dirty="0"/>
          </a:p>
        </p:txBody>
      </p:sp>
      <p:sp>
        <p:nvSpPr>
          <p:cNvPr id="4" name="Slide Number Placeholder 3">
            <a:extLst>
              <a:ext uri="{FF2B5EF4-FFF2-40B4-BE49-F238E27FC236}">
                <a16:creationId xmlns:a16="http://schemas.microsoft.com/office/drawing/2014/main" id="{31CB411F-BDCD-1F6A-E18C-72956C3387A8}"/>
              </a:ext>
            </a:extLst>
          </p:cNvPr>
          <p:cNvSpPr>
            <a:spLocks noGrp="1"/>
          </p:cNvSpPr>
          <p:nvPr>
            <p:ph type="sldNum" sz="quarter" idx="5"/>
          </p:nvPr>
        </p:nvSpPr>
        <p:spPr/>
        <p:txBody>
          <a:bodyPr/>
          <a:lstStyle/>
          <a:p>
            <a:fld id="{5068C1A6-6C9C-C342-8E0F-AE9AC9AFD13B}" type="slidenum">
              <a:rPr lang="en-US" smtClean="0"/>
              <a:t>19</a:t>
            </a:fld>
            <a:endParaRPr lang="en-US" dirty="0"/>
          </a:p>
        </p:txBody>
      </p:sp>
    </p:spTree>
    <p:extLst>
      <p:ext uri="{BB962C8B-B14F-4D97-AF65-F5344CB8AC3E}">
        <p14:creationId xmlns:p14="http://schemas.microsoft.com/office/powerpoint/2010/main" val="3306601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is that Puerto Rico’s population decline is </a:t>
            </a:r>
            <a:r>
              <a:rPr lang="en-US" b="1" dirty="0"/>
              <a:t>not random</a:t>
            </a:r>
            <a:r>
              <a:rPr lang="en-US" dirty="0"/>
              <a:t>. It is structured, spatial, and persistent. The model shows that population change is strongly shaped by past population trends, meaning that municipalities already experiencing decline are more likely to continue declining unless stronger interventions occur.</a:t>
            </a:r>
          </a:p>
          <a:p>
            <a:r>
              <a:rPr lang="en-US" dirty="0"/>
              <a:t>A major finding is that disasters matter, but not as simple one-time predictors. Instead, hurricanes and earthquakes tend to </a:t>
            </a:r>
            <a:r>
              <a:rPr lang="en-US" b="1" dirty="0"/>
              <a:t>amplify existing demographic trends</a:t>
            </a:r>
            <a:r>
              <a:rPr lang="en-US" dirty="0"/>
              <a:t> and their effects appear through longer-term population momentum.</a:t>
            </a:r>
          </a:p>
          <a:p>
            <a:r>
              <a:rPr lang="en-US" dirty="0"/>
              <a:t>The project also moved beyond prediction. In the final phase, I extended the forecasting model into policy and recovery scenarios. These simulations tested strategies related to jobs, public safety, resilience, demographic support, and retention.</a:t>
            </a:r>
          </a:p>
          <a:p>
            <a:r>
              <a:rPr lang="en-US" dirty="0"/>
              <a:t>The results show that policy bundles can slow population loss, but reversing decline requires a stronger coordinated recovery dynamic, including conditions that support return migration and long-term population stabilization.</a:t>
            </a:r>
          </a:p>
          <a:p>
            <a:r>
              <a:rPr lang="en-US" dirty="0"/>
              <a:t>Overall, this project demonstrates how machine learning can be used not only to forecast population decline, but also to evaluate what kinds of interventions may be needed to change the trajectory. The main takeaway is that Puerto Rico’s population future depends on addressing persistent structural conditions, not only reacting to short-term shocks.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20</a:t>
            </a:fld>
            <a:endParaRPr lang="en-US" dirty="0"/>
          </a:p>
        </p:txBody>
      </p:sp>
    </p:spTree>
    <p:extLst>
      <p:ext uri="{BB962C8B-B14F-4D97-AF65-F5344CB8AC3E}">
        <p14:creationId xmlns:p14="http://schemas.microsoft.com/office/powerpoint/2010/main" val="970356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AB45-ECFC-7929-641D-AC7B1069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68FDB-3D4E-1F34-5B50-53EBDB67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F334-9481-B967-6FDA-3E1D6772E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56073-BB5F-27B4-E844-C4B566405FF2}"/>
              </a:ext>
            </a:extLst>
          </p:cNvPr>
          <p:cNvSpPr>
            <a:spLocks noGrp="1"/>
          </p:cNvSpPr>
          <p:nvPr>
            <p:ph type="sldNum" sz="quarter" idx="5"/>
          </p:nvPr>
        </p:nvSpPr>
        <p:spPr/>
        <p:txBody>
          <a:bodyPr/>
          <a:lstStyle/>
          <a:p>
            <a:fld id="{5068C1A6-6C9C-C342-8E0F-AE9AC9AFD13B}" type="slidenum">
              <a:rPr lang="en-US" smtClean="0"/>
              <a:t>21</a:t>
            </a:fld>
            <a:endParaRPr lang="en-US" dirty="0"/>
          </a:p>
        </p:txBody>
      </p:sp>
    </p:spTree>
    <p:extLst>
      <p:ext uri="{BB962C8B-B14F-4D97-AF65-F5344CB8AC3E}">
        <p14:creationId xmlns:p14="http://schemas.microsoft.com/office/powerpoint/2010/main" val="3081826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8137BA3-3B38-2E50-ADE9-DB22B1B981E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72FD4A5C-40C3-7571-F15D-F43282F97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9DB3AF1A-645B-DCD3-7D8B-A456C1EED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713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2" name="Footer Placeholder 4">
            <a:extLst>
              <a:ext uri="{FF2B5EF4-FFF2-40B4-BE49-F238E27FC236}">
                <a16:creationId xmlns:a16="http://schemas.microsoft.com/office/drawing/2014/main" id="{0C31C0C0-FC2E-D4CA-E38E-F10874474B6E}"/>
              </a:ext>
            </a:extLst>
          </p:cNvPr>
          <p:cNvSpPr txBox="1">
            <a:spLocks/>
          </p:cNvSpPr>
          <p:nvPr userDrawn="1"/>
        </p:nvSpPr>
        <p:spPr>
          <a:xfrm>
            <a:off x="9413966" y="6428232"/>
            <a:ext cx="1903738"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00" dirty="0">
                <a:solidFill>
                  <a:schemeClr val="bg1"/>
                </a:solidFill>
              </a:rPr>
              <a:t>Master’s Project , 56:219:613</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venettov.github.io/CAPSTONE_DATA_SCIENCE_RIVERARUIZ/index.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1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51.png"/><Relationship Id="rId9" Type="http://schemas.openxmlformats.org/officeDocument/2006/relationships/image" Target="../media/image15.pn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5.png"/><Relationship Id="rId9" Type="http://schemas.openxmlformats.org/officeDocument/2006/relationships/image" Target="../media/image31.jpe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1935837"/>
            <a:ext cx="11081771" cy="590932"/>
          </a:xfrm>
        </p:spPr>
        <p:txBody>
          <a:bodyPr>
            <a:normAutofit/>
          </a:bodyPr>
          <a:lstStyle/>
          <a:p>
            <a:pPr marL="14288" indent="-14288"/>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253502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612924" y="4994748"/>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612924" y="5549926"/>
            <a:ext cx="3745923" cy="68942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p:txBody>
      </p:sp>
      <p:sp>
        <p:nvSpPr>
          <p:cNvPr id="4" name="TextBox 3">
            <a:extLst>
              <a:ext uri="{FF2B5EF4-FFF2-40B4-BE49-F238E27FC236}">
                <a16:creationId xmlns:a16="http://schemas.microsoft.com/office/drawing/2014/main" id="{DAB5E6B3-3E75-9BE0-D14B-A1859097E09D}"/>
              </a:ext>
            </a:extLst>
          </p:cNvPr>
          <p:cNvSpPr txBox="1"/>
          <p:nvPr/>
        </p:nvSpPr>
        <p:spPr>
          <a:xfrm>
            <a:off x="3048000" y="2877179"/>
            <a:ext cx="6096000" cy="1492716"/>
          </a:xfrm>
          <a:prstGeom prst="rect">
            <a:avLst/>
          </a:prstGeom>
          <a:noFill/>
        </p:spPr>
        <p:txBody>
          <a:bodyPr wrap="square">
            <a:spAutoFit/>
          </a:bodyPr>
          <a:lstStyle/>
          <a:p>
            <a:pPr algn="ctr"/>
            <a:r>
              <a:rPr lang="en-US" sz="1600" b="1" dirty="0">
                <a:solidFill>
                  <a:schemeClr val="bg1"/>
                </a:solidFill>
                <a:latin typeface="+mj-lt"/>
              </a:rPr>
              <a:t>2026SP-MASTER'S PROJECT </a:t>
            </a:r>
            <a:br>
              <a:rPr lang="en-US" sz="1600" b="1" dirty="0">
                <a:solidFill>
                  <a:schemeClr val="bg1"/>
                </a:solidFill>
                <a:latin typeface="+mj-lt"/>
              </a:rPr>
            </a:br>
            <a:r>
              <a:rPr lang="en-US" sz="1100" b="1" dirty="0">
                <a:solidFill>
                  <a:schemeClr val="bg1"/>
                </a:solidFill>
                <a:latin typeface="+mj-lt"/>
              </a:rPr>
              <a:t>56:219:603:91 </a:t>
            </a:r>
            <a:br>
              <a:rPr lang="en-US" sz="1600" b="1" dirty="0">
                <a:solidFill>
                  <a:schemeClr val="bg1"/>
                </a:solidFill>
                <a:latin typeface="+mj-lt"/>
              </a:rPr>
            </a:br>
            <a:br>
              <a:rPr lang="en-US" sz="1600" b="1" dirty="0">
                <a:solidFill>
                  <a:schemeClr val="bg1"/>
                </a:solidFill>
                <a:latin typeface="+mj-lt"/>
              </a:rPr>
            </a:br>
            <a:r>
              <a:rPr lang="en-US" sz="1600" b="1" dirty="0">
                <a:solidFill>
                  <a:schemeClr val="bg1"/>
                </a:solidFill>
                <a:latin typeface="+mj-lt"/>
              </a:rPr>
              <a:t>Final Presentation</a:t>
            </a:r>
          </a:p>
          <a:p>
            <a:pPr algn="ctr"/>
            <a:endParaRPr lang="en-US" sz="1600" b="1" dirty="0">
              <a:solidFill>
                <a:schemeClr val="bg1"/>
              </a:solidFill>
              <a:latin typeface="+mj-lt"/>
            </a:endParaRPr>
          </a:p>
          <a:p>
            <a:pPr algn="ctr"/>
            <a:r>
              <a:rPr lang="en-US" sz="1600" b="1" dirty="0">
                <a:solidFill>
                  <a:schemeClr val="bg1"/>
                </a:solidFill>
                <a:latin typeface="+mj-lt"/>
                <a:hlinkClick r:id="rId4"/>
              </a:rPr>
              <a:t>Interactive Dashboard</a:t>
            </a:r>
            <a:endParaRPr lang="en-US" sz="1600" b="1" dirty="0">
              <a:solidFill>
                <a:schemeClr val="bg1"/>
              </a:solidFill>
              <a:latin typeface="+mj-lt"/>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3877D-FD8C-6CD1-C78A-6DC0E528B8D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32BA06E-AD0E-9B66-34BE-7E58A522F30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0DABF435-4A7B-5915-14EA-99AEAE0D178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Executive Summary</a:t>
            </a:r>
          </a:p>
        </p:txBody>
      </p:sp>
      <p:pic>
        <p:nvPicPr>
          <p:cNvPr id="6" name="Picture 5">
            <a:extLst>
              <a:ext uri="{FF2B5EF4-FFF2-40B4-BE49-F238E27FC236}">
                <a16:creationId xmlns:a16="http://schemas.microsoft.com/office/drawing/2014/main" id="{FED21310-3626-C412-1580-5890EEC295FC}"/>
              </a:ext>
            </a:extLst>
          </p:cNvPr>
          <p:cNvPicPr>
            <a:picLocks noChangeAspect="1"/>
          </p:cNvPicPr>
          <p:nvPr/>
        </p:nvPicPr>
        <p:blipFill>
          <a:blip r:embed="rId2"/>
          <a:stretch>
            <a:fillRect/>
          </a:stretch>
        </p:blipFill>
        <p:spPr>
          <a:xfrm>
            <a:off x="0" y="1154762"/>
            <a:ext cx="7772400" cy="428400"/>
          </a:xfrm>
          <a:prstGeom prst="rect">
            <a:avLst/>
          </a:prstGeom>
        </p:spPr>
      </p:pic>
      <p:sp>
        <p:nvSpPr>
          <p:cNvPr id="8" name="Content Placeholder 3">
            <a:extLst>
              <a:ext uri="{FF2B5EF4-FFF2-40B4-BE49-F238E27FC236}">
                <a16:creationId xmlns:a16="http://schemas.microsoft.com/office/drawing/2014/main" id="{9EA5AD22-69C3-6430-EBEC-014E92CA23D6}"/>
              </a:ext>
            </a:extLst>
          </p:cNvPr>
          <p:cNvSpPr txBox="1">
            <a:spLocks/>
          </p:cNvSpPr>
          <p:nvPr/>
        </p:nvSpPr>
        <p:spPr>
          <a:xfrm>
            <a:off x="269964" y="1743908"/>
            <a:ext cx="11383772" cy="4258634"/>
          </a:xfrm>
          <a:prstGeom prst="rect">
            <a:avLst/>
          </a:prstGeom>
          <a:noFill/>
        </p:spPr>
        <p:txBody>
          <a:bodyPr vert="horz" lIns="0" tIns="0" rIns="0" bIns="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t>Problem: </a:t>
            </a:r>
            <a:r>
              <a:rPr lang="en-US" sz="1800" dirty="0"/>
              <a:t>Puerto Rico has experienced sustained population decline, but the decline is uneven across municipalities and regions and is shaped by structural, demographic, and disaster-related pressures.</a:t>
            </a:r>
          </a:p>
          <a:p>
            <a:r>
              <a:rPr lang="en-US" sz="1800" b="1" dirty="0"/>
              <a:t>Approach: </a:t>
            </a:r>
            <a:r>
              <a:rPr lang="en-US" sz="1800" dirty="0"/>
              <a:t>Built a forecasting pipeline using integrated demographic, economic, vulnerability, and disaster data; selected a validated Lasso model with a chronological split and extended it into scenario and policy simulations.</a:t>
            </a:r>
          </a:p>
          <a:p>
            <a:pPr lvl="1"/>
            <a:r>
              <a:rPr lang="en-US" sz="1800" dirty="0"/>
              <a:t>Best forecasting backbone achieved test R² ≈ 0.91 under a time-based evaluation framework.</a:t>
            </a:r>
          </a:p>
          <a:p>
            <a:r>
              <a:rPr lang="en-US" sz="1800" b="1" dirty="0"/>
              <a:t>Impact: </a:t>
            </a:r>
            <a:r>
              <a:rPr lang="en-US" sz="1800" dirty="0"/>
              <a:t>The project moves beyond prediction by showing how coordinated policy and recovery strategies could slow, stabilize, or under optimistic rebound conditions temporarily reverse projected population decline.</a:t>
            </a:r>
          </a:p>
          <a:p>
            <a:r>
              <a:rPr lang="en-US" sz="1800" b="1" dirty="0"/>
              <a:t>Main insights:</a:t>
            </a:r>
          </a:p>
          <a:p>
            <a:pPr lvl="1"/>
            <a:r>
              <a:rPr lang="en-US" altLang="en-US" sz="1800" dirty="0">
                <a:latin typeface="Arial" panose="020B0604020202020204" pitchFamily="34" charset="0"/>
              </a:rPr>
              <a:t>Disasters act more as amplifiers of existing decline than as simple stand-alone drivers. </a:t>
            </a:r>
          </a:p>
          <a:p>
            <a:pPr lvl="1"/>
            <a:r>
              <a:rPr lang="en-US" altLang="en-US" sz="1800" dirty="0">
                <a:latin typeface="Arial" panose="020B0604020202020204" pitchFamily="34" charset="0"/>
              </a:rPr>
              <a:t>Standard policy bundles improve outcomes, but stronger recovery momentum and return migration are needed for stabilization or growth</a:t>
            </a:r>
            <a:endParaRPr lang="en-US" sz="1800" dirty="0"/>
          </a:p>
        </p:txBody>
      </p:sp>
      <p:pic>
        <p:nvPicPr>
          <p:cNvPr id="10" name="Picture 9" descr="A blue grid with lines and dots&#10;&#10;AI-generated content may be incorrect.">
            <a:extLst>
              <a:ext uri="{FF2B5EF4-FFF2-40B4-BE49-F238E27FC236}">
                <a16:creationId xmlns:a16="http://schemas.microsoft.com/office/drawing/2014/main" id="{6C7A8E89-43FF-FAC1-48C6-465EE8F2BB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1327556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Problem &amp; Motivation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4582601"/>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400" b="1" dirty="0">
                <a:latin typeface="Merriweather" pitchFamily="2" charset="77"/>
              </a:rPr>
              <a:t>Research Problem: </a:t>
            </a:r>
            <a:r>
              <a:rPr lang="en-US" sz="1400" dirty="0">
                <a:latin typeface="Merriweather" pitchFamily="2" charset="77"/>
              </a:rPr>
              <a:t>Puerto Rico has experienced </a:t>
            </a:r>
            <a:r>
              <a:rPr lang="en-US" sz="1400" i="1" dirty="0">
                <a:latin typeface="Merriweather" pitchFamily="2" charset="77"/>
              </a:rPr>
              <a:t>significant population decline and regional vulnerability </a:t>
            </a:r>
            <a:r>
              <a:rPr lang="en-US" sz="14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Objective: </a:t>
            </a:r>
            <a:r>
              <a:rPr lang="en-US" sz="1400" dirty="0">
                <a:latin typeface="Merriweather" pitchFamily="2" charset="77"/>
              </a:rPr>
              <a:t>Develop a </a:t>
            </a:r>
            <a:r>
              <a:rPr lang="en-US" sz="1400" b="1" i="1" dirty="0">
                <a:latin typeface="Merriweather" pitchFamily="2" charset="77"/>
              </a:rPr>
              <a:t>data-driven framework</a:t>
            </a:r>
            <a:r>
              <a:rPr lang="en-US" sz="1400" i="1" dirty="0">
                <a:latin typeface="Merriweather" pitchFamily="2" charset="77"/>
              </a:rPr>
              <a:t> </a:t>
            </a:r>
            <a:r>
              <a:rPr lang="en-US" sz="1400" dirty="0">
                <a:latin typeface="Merriweather" pitchFamily="2" charset="77"/>
              </a:rPr>
              <a:t>to:</a:t>
            </a:r>
          </a:p>
          <a:p>
            <a:pPr marL="742950" lvl="1" indent="-285750" fontAlgn="base">
              <a:lnSpc>
                <a:spcPct val="150000"/>
              </a:lnSpc>
              <a:buFont typeface="Arial" panose="020B0604020202020204" pitchFamily="34" charset="0"/>
              <a:buChar char="•"/>
            </a:pPr>
            <a:r>
              <a:rPr lang="en-US" sz="14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4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4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4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400" dirty="0">
                <a:latin typeface="Merriweather" pitchFamily="2" charset="77"/>
              </a:rPr>
              <a:t>Predict population change for regions and entire island</a:t>
            </a:r>
          </a:p>
          <a:p>
            <a:pPr marL="742950" lvl="1" indent="-285750" fontAlgn="base">
              <a:lnSpc>
                <a:spcPct val="150000"/>
              </a:lnSpc>
              <a:buFont typeface="Arial" panose="020B0604020202020204" pitchFamily="34" charset="0"/>
              <a:buChar char="•"/>
            </a:pPr>
            <a:r>
              <a:rPr lang="en-US" sz="1400" dirty="0">
                <a:latin typeface="Merriweather" pitchFamily="2" charset="77"/>
              </a:rPr>
              <a:t>Identify key drivers or causes</a:t>
            </a:r>
          </a:p>
          <a:p>
            <a:pPr marL="742950" lvl="1" indent="-285750" fontAlgn="base">
              <a:lnSpc>
                <a:spcPct val="150000"/>
              </a:lnSpc>
              <a:buFont typeface="Arial" panose="020B0604020202020204" pitchFamily="34" charset="0"/>
              <a:buChar char="•"/>
            </a:pPr>
            <a:r>
              <a:rPr lang="en-US" sz="1400" dirty="0">
                <a:latin typeface="Merriweather" pitchFamily="2" charset="77"/>
              </a:rPr>
              <a:t>Detect clusters/regions with similar vulnerability profiles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7" y="2052133"/>
            <a:ext cx="4517551" cy="3316132"/>
          </a:xfrm>
          <a:prstGeom prst="rect">
            <a:avLst/>
          </a:prstGeom>
        </p:spPr>
      </p:pic>
      <p:pic>
        <p:nvPicPr>
          <p:cNvPr id="2" name="Picture 1" descr="A blue grid with lines and dots&#10;&#10;AI-generated content may be incorrect.">
            <a:extLst>
              <a:ext uri="{FF2B5EF4-FFF2-40B4-BE49-F238E27FC236}">
                <a16:creationId xmlns:a16="http://schemas.microsoft.com/office/drawing/2014/main" id="{87828A90-2FE9-03BF-4E6B-633733025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1887-DBCB-162F-D99D-D6B25BD7F53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F0EFCF-0172-22DD-811F-DD93B68B275F}"/>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CAE92DF-37C4-E9DD-1266-644D2484E2E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Data Overview</a:t>
            </a:r>
          </a:p>
        </p:txBody>
      </p:sp>
      <p:sp>
        <p:nvSpPr>
          <p:cNvPr id="11" name="TextBox 10">
            <a:extLst>
              <a:ext uri="{FF2B5EF4-FFF2-40B4-BE49-F238E27FC236}">
                <a16:creationId xmlns:a16="http://schemas.microsoft.com/office/drawing/2014/main" id="{3666E9F7-22E2-1503-B79B-3A4B71D9AC7C}"/>
              </a:ext>
            </a:extLst>
          </p:cNvPr>
          <p:cNvSpPr txBox="1"/>
          <p:nvPr/>
        </p:nvSpPr>
        <p:spPr>
          <a:xfrm>
            <a:off x="139613" y="1368962"/>
            <a:ext cx="9560053" cy="4616648"/>
          </a:xfrm>
          <a:prstGeom prst="rect">
            <a:avLst/>
          </a:prstGeom>
          <a:noFill/>
        </p:spPr>
        <p:txBody>
          <a:bodyPr wrap="square">
            <a:spAutoFit/>
          </a:bodyPr>
          <a:lstStyle/>
          <a:p>
            <a:r>
              <a:rPr lang="en-US" sz="2400" b="1" dirty="0"/>
              <a:t>Integrated Municipal Dataset</a:t>
            </a:r>
          </a:p>
          <a:p>
            <a:endParaRPr lang="en-US" dirty="0"/>
          </a:p>
          <a:p>
            <a:r>
              <a:rPr lang="en-US" sz="1600" b="1" dirty="0"/>
              <a:t>Sources used:</a:t>
            </a:r>
          </a:p>
          <a:p>
            <a:pPr marL="800100" lvl="1" indent="-342900">
              <a:buFont typeface="Arial" panose="020B0604020202020204" pitchFamily="34" charset="0"/>
              <a:buChar char="•"/>
            </a:pPr>
            <a:r>
              <a:rPr lang="en-US" sz="1600" dirty="0"/>
              <a:t>U.S. Census / ACS</a:t>
            </a:r>
          </a:p>
          <a:p>
            <a:pPr marL="800100" lvl="1" indent="-342900">
              <a:buFont typeface="Arial" panose="020B0604020202020204" pitchFamily="34" charset="0"/>
              <a:buChar char="•"/>
            </a:pPr>
            <a:r>
              <a:rPr lang="en-US" sz="1600" dirty="0"/>
              <a:t>NOAA Hurricane Data</a:t>
            </a:r>
          </a:p>
          <a:p>
            <a:pPr marL="800100" lvl="1" indent="-342900">
              <a:buFont typeface="Arial" panose="020B0604020202020204" pitchFamily="34" charset="0"/>
              <a:buChar char="•"/>
            </a:pPr>
            <a:r>
              <a:rPr lang="en-US" sz="1600" dirty="0"/>
              <a:t>USGS Earthquake Data</a:t>
            </a:r>
          </a:p>
          <a:p>
            <a:pPr marL="800100" lvl="1" indent="-342900">
              <a:buFont typeface="Arial" panose="020B0604020202020204" pitchFamily="34" charset="0"/>
              <a:buChar char="•"/>
            </a:pPr>
            <a:r>
              <a:rPr lang="en-US" sz="1600" dirty="0"/>
              <a:t>Police Dept. Puerto Rico-Crime Data</a:t>
            </a:r>
          </a:p>
          <a:p>
            <a:endParaRPr lang="en-US" sz="1600" dirty="0"/>
          </a:p>
          <a:p>
            <a:endParaRPr lang="en-US" sz="1600" dirty="0"/>
          </a:p>
          <a:p>
            <a:r>
              <a:rPr lang="en-US" sz="1600" b="1" dirty="0"/>
              <a:t>Example features:</a:t>
            </a:r>
          </a:p>
          <a:p>
            <a:pPr marL="800100" lvl="1" indent="-342900">
              <a:buFont typeface="Arial" panose="020B0604020202020204" pitchFamily="34" charset="0"/>
              <a:buChar char="•"/>
            </a:pPr>
            <a:r>
              <a:rPr lang="en-US" sz="1600" dirty="0"/>
              <a:t>Population changes over years</a:t>
            </a:r>
          </a:p>
          <a:p>
            <a:pPr marL="800100" lvl="1" indent="-342900">
              <a:buFont typeface="Arial" panose="020B0604020202020204" pitchFamily="34" charset="0"/>
              <a:buChar char="•"/>
            </a:pPr>
            <a:r>
              <a:rPr lang="en-US" sz="1600" dirty="0"/>
              <a:t>Median income</a:t>
            </a:r>
          </a:p>
          <a:p>
            <a:pPr marL="800100" lvl="1" indent="-342900">
              <a:buFont typeface="Arial" panose="020B0604020202020204" pitchFamily="34" charset="0"/>
              <a:buChar char="•"/>
            </a:pPr>
            <a:r>
              <a:rPr lang="en-US" sz="1600" dirty="0"/>
              <a:t>Vulnerability index</a:t>
            </a:r>
          </a:p>
          <a:p>
            <a:pPr marL="800100" lvl="1" indent="-342900">
              <a:buFont typeface="Arial" panose="020B0604020202020204" pitchFamily="34" charset="0"/>
              <a:buChar char="•"/>
            </a:pPr>
            <a:r>
              <a:rPr lang="en-US" sz="1600" dirty="0"/>
              <a:t>Violent crime rates</a:t>
            </a:r>
          </a:p>
          <a:p>
            <a:pPr marL="800100" lvl="1" indent="-342900">
              <a:buFont typeface="Arial" panose="020B0604020202020204" pitchFamily="34" charset="0"/>
              <a:buChar char="•"/>
            </a:pPr>
            <a:r>
              <a:rPr lang="en-US" sz="1600" dirty="0"/>
              <a:t>Disaster intensity metrics</a:t>
            </a:r>
          </a:p>
          <a:p>
            <a:endParaRPr lang="en-US" dirty="0"/>
          </a:p>
          <a:p>
            <a:pPr fontAlgn="base"/>
            <a:endParaRPr lang="en-US" dirty="0">
              <a:solidFill>
                <a:srgbClr val="000000"/>
              </a:solidFill>
              <a:ea typeface="Arial"/>
              <a:cs typeface="Arial"/>
              <a:sym typeface="Arial"/>
            </a:endParaRPr>
          </a:p>
        </p:txBody>
      </p:sp>
      <p:sp>
        <p:nvSpPr>
          <p:cNvPr id="2" name="TextBox 1">
            <a:extLst>
              <a:ext uri="{FF2B5EF4-FFF2-40B4-BE49-F238E27FC236}">
                <a16:creationId xmlns:a16="http://schemas.microsoft.com/office/drawing/2014/main" id="{174A300C-9592-D6C3-8976-1C7419904D97}"/>
              </a:ext>
            </a:extLst>
          </p:cNvPr>
          <p:cNvSpPr txBox="1"/>
          <p:nvPr/>
        </p:nvSpPr>
        <p:spPr>
          <a:xfrm>
            <a:off x="5783147" y="1477179"/>
            <a:ext cx="6005332" cy="3108543"/>
          </a:xfrm>
          <a:prstGeom prst="rect">
            <a:avLst/>
          </a:prstGeom>
          <a:noFill/>
        </p:spPr>
        <p:txBody>
          <a:bodyPr wrap="square">
            <a:spAutoFit/>
          </a:bodyPr>
          <a:lstStyle/>
          <a:p>
            <a:endParaRPr lang="en-US" sz="1600" dirty="0"/>
          </a:p>
          <a:p>
            <a:endParaRPr lang="en-US" sz="1600" dirty="0"/>
          </a:p>
          <a:p>
            <a:r>
              <a:rPr lang="en-US" sz="1600" b="1" dirty="0"/>
              <a:t>Dataset characteristics:</a:t>
            </a:r>
          </a:p>
          <a:p>
            <a:pPr marL="800100" lvl="1" indent="-342900">
              <a:buFont typeface="Arial" panose="020B0604020202020204" pitchFamily="34" charset="0"/>
              <a:buChar char="•"/>
            </a:pPr>
            <a:r>
              <a:rPr lang="en-US" sz="1600" dirty="0"/>
              <a:t>78 municipalities of Puerto Rico</a:t>
            </a:r>
          </a:p>
          <a:p>
            <a:pPr marL="800100" lvl="1" indent="-342900">
              <a:buFont typeface="Arial" panose="020B0604020202020204" pitchFamily="34" charset="0"/>
              <a:buChar char="•"/>
            </a:pPr>
            <a:r>
              <a:rPr lang="en-US" sz="1600" dirty="0"/>
              <a:t>2010–2024 time period disaster data</a:t>
            </a:r>
          </a:p>
          <a:p>
            <a:pPr marL="800100" lvl="1" indent="-342900">
              <a:buFont typeface="Arial" panose="020B0604020202020204" pitchFamily="34" charset="0"/>
              <a:buChar char="•"/>
            </a:pPr>
            <a:r>
              <a:rPr lang="en-US" sz="1600" dirty="0"/>
              <a:t>Socioeconomic and Vulnerability indicators</a:t>
            </a:r>
          </a:p>
          <a:p>
            <a:pPr marL="800100" lvl="1" indent="-342900">
              <a:buFont typeface="Arial" panose="020B0604020202020204" pitchFamily="34" charset="0"/>
              <a:buChar char="•"/>
            </a:pPr>
            <a:r>
              <a:rPr lang="en-US" sz="1600" dirty="0"/>
              <a:t>Crime Data </a:t>
            </a:r>
          </a:p>
          <a:p>
            <a:endParaRPr lang="en-US" sz="1600" dirty="0"/>
          </a:p>
          <a:p>
            <a:r>
              <a:rPr lang="en-US" sz="1600" b="1" dirty="0"/>
              <a:t>Target variable:</a:t>
            </a:r>
          </a:p>
          <a:p>
            <a:pPr marL="800100" lvl="1" indent="-342900">
              <a:buFont typeface="Arial" panose="020B0604020202020204" pitchFamily="34" charset="0"/>
              <a:buChar char="•"/>
            </a:pPr>
            <a:r>
              <a:rPr lang="en-US" sz="1600" dirty="0"/>
              <a:t>Overall Population Change </a:t>
            </a:r>
          </a:p>
          <a:p>
            <a:pPr marL="800100" lvl="1" indent="-342900">
              <a:buFont typeface="Arial" panose="020B0604020202020204" pitchFamily="34" charset="0"/>
              <a:buChar char="•"/>
            </a:pPr>
            <a:r>
              <a:rPr lang="en-US" sz="1600" dirty="0"/>
              <a:t>Regional population change</a:t>
            </a:r>
          </a:p>
          <a:p>
            <a:pPr marL="285750" indent="-285750" fontAlgn="base">
              <a:buFont typeface="Arial" panose="020B0604020202020204" pitchFamily="34" charset="0"/>
              <a:buChar char="•"/>
            </a:pPr>
            <a:endParaRPr lang="en-US" sz="1600" dirty="0">
              <a:solidFill>
                <a:srgbClr val="000000"/>
              </a:solidFill>
              <a:ea typeface="Arial"/>
              <a:cs typeface="Arial"/>
              <a:sym typeface="Arial"/>
            </a:endParaRPr>
          </a:p>
        </p:txBody>
      </p:sp>
      <p:pic>
        <p:nvPicPr>
          <p:cNvPr id="8" name="Picture 7" descr="A graph of a graph&#10;&#10;AI-generated content may be incorrect.">
            <a:extLst>
              <a:ext uri="{FF2B5EF4-FFF2-40B4-BE49-F238E27FC236}">
                <a16:creationId xmlns:a16="http://schemas.microsoft.com/office/drawing/2014/main" id="{535CD204-F503-2AAA-220E-66A2C3734D50}"/>
              </a:ext>
            </a:extLst>
          </p:cNvPr>
          <p:cNvPicPr>
            <a:picLocks noChangeAspect="1"/>
          </p:cNvPicPr>
          <p:nvPr/>
        </p:nvPicPr>
        <p:blipFill>
          <a:blip r:embed="rId2">
            <a:extLst>
              <a:ext uri="{28A0092B-C50C-407E-A947-70E740481C1C}">
                <a14:useLocalDpi xmlns:a14="http://schemas.microsoft.com/office/drawing/2010/main" val="0"/>
              </a:ext>
            </a:extLst>
          </a:blip>
          <a:srcRect b="15090"/>
          <a:stretch>
            <a:fillRect/>
          </a:stretch>
        </p:blipFill>
        <p:spPr>
          <a:xfrm>
            <a:off x="5982512" y="4562718"/>
            <a:ext cx="6203026" cy="1700724"/>
          </a:xfrm>
          <a:prstGeom prst="rect">
            <a:avLst/>
          </a:prstGeom>
        </p:spPr>
      </p:pic>
      <p:pic>
        <p:nvPicPr>
          <p:cNvPr id="9" name="Picture 8" descr="A blue grid with lines and dots&#10;&#10;AI-generated content may be incorrect.">
            <a:extLst>
              <a:ext uri="{FF2B5EF4-FFF2-40B4-BE49-F238E27FC236}">
                <a16:creationId xmlns:a16="http://schemas.microsoft.com/office/drawing/2014/main" id="{86E90916-21AD-8566-2C4C-09CC2D59AF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448483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268C-1B5F-C136-D32E-6410AD753C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A5C0ED-7C1D-85AF-8E00-E49DDB309CD3}"/>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D6059E2C-9348-288B-F3B2-27CD4940876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EDA Insight #1</a:t>
            </a:r>
          </a:p>
        </p:txBody>
      </p:sp>
      <p:sp>
        <p:nvSpPr>
          <p:cNvPr id="11" name="TextBox 10">
            <a:extLst>
              <a:ext uri="{FF2B5EF4-FFF2-40B4-BE49-F238E27FC236}">
                <a16:creationId xmlns:a16="http://schemas.microsoft.com/office/drawing/2014/main" id="{F440CE56-AAA9-8064-B001-F28962B063E6}"/>
              </a:ext>
            </a:extLst>
          </p:cNvPr>
          <p:cNvSpPr txBox="1"/>
          <p:nvPr/>
        </p:nvSpPr>
        <p:spPr>
          <a:xfrm>
            <a:off x="139613" y="1368962"/>
            <a:ext cx="7208243" cy="6401753"/>
          </a:xfrm>
          <a:prstGeom prst="rect">
            <a:avLst/>
          </a:prstGeom>
          <a:noFill/>
        </p:spPr>
        <p:txBody>
          <a:bodyPr wrap="square">
            <a:spAutoFit/>
          </a:bodyPr>
          <a:lstStyle/>
          <a:p>
            <a:r>
              <a:rPr lang="en-US" sz="2000" b="1" dirty="0"/>
              <a:t>Population decline is uneven across municipalities</a:t>
            </a:r>
          </a:p>
          <a:p>
            <a:endParaRPr lang="en-US" sz="2000" dirty="0"/>
          </a:p>
          <a:p>
            <a:r>
              <a:rPr lang="en-US" sz="2000" b="1" dirty="0"/>
              <a:t>Key findings:</a:t>
            </a:r>
          </a:p>
          <a:p>
            <a:pPr lvl="1">
              <a:lnSpc>
                <a:spcPct val="150000"/>
              </a:lnSpc>
            </a:pPr>
            <a:r>
              <a:rPr lang="en-US" sz="2000" dirty="0"/>
              <a:t>• Significant population loss concentrated in specific regions</a:t>
            </a:r>
            <a:br>
              <a:rPr lang="en-US" sz="2000" dirty="0"/>
            </a:br>
            <a:r>
              <a:rPr lang="en-US" sz="2000" dirty="0"/>
              <a:t>• Urban centers show different dynamics than rural areas</a:t>
            </a:r>
            <a:br>
              <a:rPr lang="en-US" sz="2000" dirty="0"/>
            </a:br>
            <a:r>
              <a:rPr lang="en-US" sz="2000" dirty="0"/>
              <a:t>• Migration patterns vary strongly by region</a:t>
            </a:r>
          </a:p>
          <a:p>
            <a:endParaRPr lang="en-US" sz="2000" dirty="0"/>
          </a:p>
          <a:p>
            <a:endParaRPr lang="en-US" sz="2000" dirty="0"/>
          </a:p>
          <a:p>
            <a:r>
              <a:rPr lang="en-US" sz="2000" b="1" dirty="0"/>
              <a:t>Image: </a:t>
            </a:r>
            <a:r>
              <a:rPr lang="en-US" sz="2000" dirty="0"/>
              <a:t>Population change municipality map</a:t>
            </a:r>
          </a:p>
          <a:p>
            <a:endParaRPr lang="en-US" sz="2000" dirty="0"/>
          </a:p>
          <a:p>
            <a:endParaRPr lang="en-US" sz="2000" dirty="0"/>
          </a:p>
          <a:p>
            <a:endParaRPr lang="en-US" sz="2000" dirty="0"/>
          </a:p>
          <a:p>
            <a:r>
              <a:rPr lang="en-US" sz="2000" dirty="0"/>
              <a:t>EDA suggested </a:t>
            </a:r>
            <a:r>
              <a:rPr lang="en-US" sz="2000" b="1" dirty="0"/>
              <a:t>regional and structural differences</a:t>
            </a:r>
            <a:r>
              <a:rPr lang="en-US" sz="2000" dirty="0"/>
              <a:t>, motivating clustering later</a:t>
            </a:r>
          </a:p>
          <a:p>
            <a:endParaRPr lang="en-US" sz="2000" dirty="0"/>
          </a:p>
          <a:p>
            <a:endParaRPr lang="en-US" sz="2000" dirty="0"/>
          </a:p>
          <a:p>
            <a:endParaRPr lang="en-US" sz="2000" dirty="0"/>
          </a:p>
          <a:p>
            <a:endParaRPr lang="en-US" sz="2000" dirty="0"/>
          </a:p>
          <a:p>
            <a:endParaRPr lang="en-US" sz="2000" dirty="0"/>
          </a:p>
        </p:txBody>
      </p:sp>
      <p:pic>
        <p:nvPicPr>
          <p:cNvPr id="6" name="Picture 5" descr="A screenshot of a map&#10;&#10;AI-generated content may be incorrect.">
            <a:extLst>
              <a:ext uri="{FF2B5EF4-FFF2-40B4-BE49-F238E27FC236}">
                <a16:creationId xmlns:a16="http://schemas.microsoft.com/office/drawing/2014/main" id="{87F0694F-B3EF-497E-3359-D05C4B5AB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7856" y="1368962"/>
            <a:ext cx="4791995" cy="3464295"/>
          </a:xfrm>
          <a:prstGeom prst="rect">
            <a:avLst/>
          </a:prstGeom>
          <a:effectLst>
            <a:softEdge rad="63500"/>
          </a:effectLst>
        </p:spPr>
      </p:pic>
      <p:pic>
        <p:nvPicPr>
          <p:cNvPr id="2" name="Picture 1" descr="A blue grid with lines and dots&#10;&#10;AI-generated content may be incorrect.">
            <a:extLst>
              <a:ext uri="{FF2B5EF4-FFF2-40B4-BE49-F238E27FC236}">
                <a16:creationId xmlns:a16="http://schemas.microsoft.com/office/drawing/2014/main" id="{05C99005-EEC2-BCDD-0885-2094C23DA2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587445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7C3D-4B81-C536-EAEA-FDEFC9C5C3C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9DCEA0A-C4AE-AB4E-5724-5ECE231C062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9F7574AC-BF70-CA6E-19FB-3486C2F1CFA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EDA Insight #2</a:t>
            </a:r>
          </a:p>
        </p:txBody>
      </p:sp>
      <p:sp>
        <p:nvSpPr>
          <p:cNvPr id="11" name="TextBox 10">
            <a:extLst>
              <a:ext uri="{FF2B5EF4-FFF2-40B4-BE49-F238E27FC236}">
                <a16:creationId xmlns:a16="http://schemas.microsoft.com/office/drawing/2014/main" id="{BE812E87-0E5F-4DE4-7391-4F2F04B9B95D}"/>
              </a:ext>
            </a:extLst>
          </p:cNvPr>
          <p:cNvSpPr txBox="1"/>
          <p:nvPr/>
        </p:nvSpPr>
        <p:spPr>
          <a:xfrm>
            <a:off x="139613" y="1368962"/>
            <a:ext cx="10963816" cy="4154984"/>
          </a:xfrm>
          <a:prstGeom prst="rect">
            <a:avLst/>
          </a:prstGeom>
          <a:noFill/>
        </p:spPr>
        <p:txBody>
          <a:bodyPr wrap="square">
            <a:spAutoFit/>
          </a:bodyPr>
          <a:lstStyle/>
          <a:p>
            <a:r>
              <a:rPr lang="en-US" sz="2400" b="1" dirty="0"/>
              <a:t>Disaster exposure contributes to demographic vulnerability Insights:</a:t>
            </a:r>
          </a:p>
          <a:p>
            <a:pPr lvl="1">
              <a:lnSpc>
                <a:spcPct val="200000"/>
              </a:lnSpc>
            </a:pPr>
            <a:r>
              <a:rPr lang="en-US" sz="2000" dirty="0"/>
              <a:t>• Municipalities exposed to stronger hurricanes and earthquakes show greater migration shocks</a:t>
            </a:r>
            <a:br>
              <a:rPr lang="en-US" sz="2000" dirty="0"/>
            </a:br>
            <a:r>
              <a:rPr lang="en-US" sz="2000" dirty="0"/>
              <a:t>• Disaster intensity varies geographically</a:t>
            </a:r>
            <a:br>
              <a:rPr lang="en-US" sz="2000" dirty="0"/>
            </a:br>
            <a:r>
              <a:rPr lang="en-US" sz="2000" dirty="0"/>
              <a:t>• Environmental shocks may amplify economic vulnerability</a:t>
            </a:r>
          </a:p>
          <a:p>
            <a:endParaRPr lang="en-US" sz="2400" dirty="0"/>
          </a:p>
          <a:p>
            <a:endParaRPr lang="en-US" sz="2400" dirty="0"/>
          </a:p>
          <a:p>
            <a:endParaRPr lang="en-US" sz="2400" dirty="0"/>
          </a:p>
          <a:p>
            <a:r>
              <a:rPr lang="en-US" sz="2400" b="1" dirty="0"/>
              <a:t>Result:</a:t>
            </a:r>
          </a:p>
          <a:p>
            <a:r>
              <a:rPr lang="en-US" sz="2400" dirty="0"/>
              <a:t>Disaster metrics included in </a:t>
            </a:r>
            <a:r>
              <a:rPr lang="en-US" sz="2400" b="1" dirty="0"/>
              <a:t>feature engineering stage</a:t>
            </a:r>
            <a:r>
              <a:rPr lang="en-US" sz="2400" dirty="0"/>
              <a:t>.</a:t>
            </a:r>
          </a:p>
        </p:txBody>
      </p:sp>
      <p:pic>
        <p:nvPicPr>
          <p:cNvPr id="6" name="Picture 5">
            <a:extLst>
              <a:ext uri="{FF2B5EF4-FFF2-40B4-BE49-F238E27FC236}">
                <a16:creationId xmlns:a16="http://schemas.microsoft.com/office/drawing/2014/main" id="{BC0FEE69-A4CF-0DA4-6007-D7C5F2531DA1}"/>
              </a:ext>
            </a:extLst>
          </p:cNvPr>
          <p:cNvPicPr>
            <a:picLocks noChangeAspect="1"/>
          </p:cNvPicPr>
          <p:nvPr/>
        </p:nvPicPr>
        <p:blipFill>
          <a:blip r:embed="rId2"/>
          <a:stretch>
            <a:fillRect/>
          </a:stretch>
        </p:blipFill>
        <p:spPr>
          <a:xfrm>
            <a:off x="8825996" y="4246026"/>
            <a:ext cx="3033526" cy="2014195"/>
          </a:xfrm>
          <a:prstGeom prst="rect">
            <a:avLst/>
          </a:prstGeom>
        </p:spPr>
      </p:pic>
      <p:pic>
        <p:nvPicPr>
          <p:cNvPr id="7" name="Picture 6">
            <a:extLst>
              <a:ext uri="{FF2B5EF4-FFF2-40B4-BE49-F238E27FC236}">
                <a16:creationId xmlns:a16="http://schemas.microsoft.com/office/drawing/2014/main" id="{53B64CA1-C432-2C4B-D919-21FA50C2FECF}"/>
              </a:ext>
            </a:extLst>
          </p:cNvPr>
          <p:cNvPicPr>
            <a:picLocks noChangeAspect="1"/>
          </p:cNvPicPr>
          <p:nvPr/>
        </p:nvPicPr>
        <p:blipFill>
          <a:blip r:embed="rId3"/>
          <a:stretch>
            <a:fillRect/>
          </a:stretch>
        </p:blipFill>
        <p:spPr>
          <a:xfrm>
            <a:off x="7436844" y="2411715"/>
            <a:ext cx="4422678" cy="1639681"/>
          </a:xfrm>
          <a:prstGeom prst="rect">
            <a:avLst/>
          </a:prstGeom>
        </p:spPr>
      </p:pic>
      <p:pic>
        <p:nvPicPr>
          <p:cNvPr id="2" name="Picture 1" descr="A blue grid with lines and dots&#10;&#10;AI-generated content may be incorrect.">
            <a:extLst>
              <a:ext uri="{FF2B5EF4-FFF2-40B4-BE49-F238E27FC236}">
                <a16:creationId xmlns:a16="http://schemas.microsoft.com/office/drawing/2014/main" id="{BA28AEB9-F177-5D88-A473-97504F4F5B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1400407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0323-1844-7C93-9703-4C215B003E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9E6EEC-5C00-9AAB-71E1-B82D418B3429}"/>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14C5B44-61A0-1E95-DD47-EC743B64F4D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End-to-End Modeling Pipeline</a:t>
            </a:r>
          </a:p>
        </p:txBody>
      </p:sp>
      <p:pic>
        <p:nvPicPr>
          <p:cNvPr id="6" name="Picture 5">
            <a:extLst>
              <a:ext uri="{FF2B5EF4-FFF2-40B4-BE49-F238E27FC236}">
                <a16:creationId xmlns:a16="http://schemas.microsoft.com/office/drawing/2014/main" id="{7D048859-A022-27ED-A44B-061CED15932A}"/>
              </a:ext>
            </a:extLst>
          </p:cNvPr>
          <p:cNvPicPr>
            <a:picLocks noChangeAspect="1"/>
          </p:cNvPicPr>
          <p:nvPr/>
        </p:nvPicPr>
        <p:blipFill>
          <a:blip r:embed="rId3">
            <a:extLst>
              <a:ext uri="{28A0092B-C50C-407E-A947-70E740481C1C}">
                <a14:useLocalDpi xmlns:a14="http://schemas.microsoft.com/office/drawing/2010/main" val="0"/>
              </a:ext>
            </a:extLst>
          </a:blip>
          <a:srcRect l="1851" t="9543" r="1842" b="2875"/>
          <a:stretch>
            <a:fillRect/>
          </a:stretch>
        </p:blipFill>
        <p:spPr>
          <a:xfrm>
            <a:off x="127590" y="1368962"/>
            <a:ext cx="10339372" cy="4851085"/>
          </a:xfrm>
          <a:prstGeom prst="rect">
            <a:avLst/>
          </a:prstGeom>
        </p:spPr>
      </p:pic>
      <p:sp>
        <p:nvSpPr>
          <p:cNvPr id="8" name="TextBox 7">
            <a:extLst>
              <a:ext uri="{FF2B5EF4-FFF2-40B4-BE49-F238E27FC236}">
                <a16:creationId xmlns:a16="http://schemas.microsoft.com/office/drawing/2014/main" id="{2A9A73D0-F7D2-F587-EDF7-8E63A684CAEA}"/>
              </a:ext>
            </a:extLst>
          </p:cNvPr>
          <p:cNvSpPr txBox="1"/>
          <p:nvPr/>
        </p:nvSpPr>
        <p:spPr>
          <a:xfrm>
            <a:off x="358216" y="1954222"/>
            <a:ext cx="1364476" cy="307777"/>
          </a:xfrm>
          <a:prstGeom prst="rect">
            <a:avLst/>
          </a:prstGeom>
          <a:noFill/>
        </p:spPr>
        <p:txBody>
          <a:bodyPr wrap="none" rtlCol="0">
            <a:spAutoFit/>
          </a:bodyPr>
          <a:lstStyle/>
          <a:p>
            <a:pPr algn="ctr"/>
            <a:r>
              <a:rPr lang="en-US" sz="1400" b="1" dirty="0">
                <a:solidFill>
                  <a:schemeClr val="bg1"/>
                </a:solidFill>
              </a:rPr>
              <a:t>Municipal Data</a:t>
            </a:r>
          </a:p>
        </p:txBody>
      </p:sp>
      <p:sp>
        <p:nvSpPr>
          <p:cNvPr id="10" name="TextBox 9">
            <a:extLst>
              <a:ext uri="{FF2B5EF4-FFF2-40B4-BE49-F238E27FC236}">
                <a16:creationId xmlns:a16="http://schemas.microsoft.com/office/drawing/2014/main" id="{DDD52949-EDDD-1CA1-204E-60B7C50EF47B}"/>
              </a:ext>
            </a:extLst>
          </p:cNvPr>
          <p:cNvSpPr txBox="1"/>
          <p:nvPr/>
        </p:nvSpPr>
        <p:spPr>
          <a:xfrm>
            <a:off x="2623083" y="1831705"/>
            <a:ext cx="1034257" cy="523220"/>
          </a:xfrm>
          <a:prstGeom prst="rect">
            <a:avLst/>
          </a:prstGeom>
          <a:noFill/>
        </p:spPr>
        <p:txBody>
          <a:bodyPr wrap="none" rtlCol="0">
            <a:spAutoFit/>
          </a:bodyPr>
          <a:lstStyle/>
          <a:p>
            <a:pPr algn="ctr"/>
            <a:r>
              <a:rPr lang="en-US" sz="1400" b="1" dirty="0">
                <a:solidFill>
                  <a:schemeClr val="bg1"/>
                </a:solidFill>
              </a:rPr>
              <a:t>Predictive </a:t>
            </a:r>
          </a:p>
          <a:p>
            <a:pPr algn="ctr"/>
            <a:r>
              <a:rPr lang="en-US" sz="1400" b="1" dirty="0">
                <a:solidFill>
                  <a:schemeClr val="bg1"/>
                </a:solidFill>
              </a:rPr>
              <a:t>Modeling</a:t>
            </a:r>
          </a:p>
        </p:txBody>
      </p:sp>
      <p:sp>
        <p:nvSpPr>
          <p:cNvPr id="12" name="TextBox 11">
            <a:extLst>
              <a:ext uri="{FF2B5EF4-FFF2-40B4-BE49-F238E27FC236}">
                <a16:creationId xmlns:a16="http://schemas.microsoft.com/office/drawing/2014/main" id="{92C0E1C7-8D70-41A0-26B0-A2C2732FB6DF}"/>
              </a:ext>
            </a:extLst>
          </p:cNvPr>
          <p:cNvSpPr txBox="1"/>
          <p:nvPr/>
        </p:nvSpPr>
        <p:spPr>
          <a:xfrm>
            <a:off x="4417174" y="1839759"/>
            <a:ext cx="1119217" cy="523220"/>
          </a:xfrm>
          <a:prstGeom prst="rect">
            <a:avLst/>
          </a:prstGeom>
          <a:noFill/>
        </p:spPr>
        <p:txBody>
          <a:bodyPr wrap="none" rtlCol="0">
            <a:spAutoFit/>
          </a:bodyPr>
          <a:lstStyle/>
          <a:p>
            <a:pPr algn="ctr"/>
            <a:r>
              <a:rPr lang="en-US" sz="1400" b="1" dirty="0">
                <a:solidFill>
                  <a:schemeClr val="bg1"/>
                </a:solidFill>
              </a:rPr>
              <a:t>Scenario </a:t>
            </a:r>
          </a:p>
          <a:p>
            <a:pPr algn="ctr"/>
            <a:r>
              <a:rPr lang="en-US" sz="1400" b="1" dirty="0">
                <a:solidFill>
                  <a:schemeClr val="bg1"/>
                </a:solidFill>
              </a:rPr>
              <a:t>Forecasting</a:t>
            </a:r>
          </a:p>
        </p:txBody>
      </p:sp>
      <p:sp>
        <p:nvSpPr>
          <p:cNvPr id="14" name="TextBox 13">
            <a:extLst>
              <a:ext uri="{FF2B5EF4-FFF2-40B4-BE49-F238E27FC236}">
                <a16:creationId xmlns:a16="http://schemas.microsoft.com/office/drawing/2014/main" id="{472D061B-39D6-C605-E409-26E4F74032C2}"/>
              </a:ext>
            </a:extLst>
          </p:cNvPr>
          <p:cNvSpPr txBox="1"/>
          <p:nvPr/>
        </p:nvSpPr>
        <p:spPr>
          <a:xfrm>
            <a:off x="6406491" y="1843439"/>
            <a:ext cx="914032" cy="523220"/>
          </a:xfrm>
          <a:prstGeom prst="rect">
            <a:avLst/>
          </a:prstGeom>
          <a:noFill/>
        </p:spPr>
        <p:txBody>
          <a:bodyPr wrap="none" rtlCol="0">
            <a:spAutoFit/>
          </a:bodyPr>
          <a:lstStyle/>
          <a:p>
            <a:pPr algn="ctr"/>
            <a:r>
              <a:rPr lang="en-US" sz="1400" b="1" dirty="0">
                <a:solidFill>
                  <a:schemeClr val="bg1"/>
                </a:solidFill>
              </a:rPr>
              <a:t>Scenario </a:t>
            </a:r>
          </a:p>
          <a:p>
            <a:pPr algn="ctr"/>
            <a:r>
              <a:rPr lang="en-US" sz="1400" b="1" dirty="0">
                <a:solidFill>
                  <a:schemeClr val="bg1"/>
                </a:solidFill>
              </a:rPr>
              <a:t>Analysis</a:t>
            </a:r>
          </a:p>
        </p:txBody>
      </p:sp>
      <p:sp>
        <p:nvSpPr>
          <p:cNvPr id="15" name="TextBox 14">
            <a:extLst>
              <a:ext uri="{FF2B5EF4-FFF2-40B4-BE49-F238E27FC236}">
                <a16:creationId xmlns:a16="http://schemas.microsoft.com/office/drawing/2014/main" id="{62816890-A548-402D-CFF6-486DF77FDEFB}"/>
              </a:ext>
            </a:extLst>
          </p:cNvPr>
          <p:cNvSpPr txBox="1"/>
          <p:nvPr/>
        </p:nvSpPr>
        <p:spPr>
          <a:xfrm>
            <a:off x="8399056" y="1836772"/>
            <a:ext cx="1091966" cy="523220"/>
          </a:xfrm>
          <a:prstGeom prst="rect">
            <a:avLst/>
          </a:prstGeom>
          <a:noFill/>
        </p:spPr>
        <p:txBody>
          <a:bodyPr wrap="none" rtlCol="0">
            <a:spAutoFit/>
          </a:bodyPr>
          <a:lstStyle/>
          <a:p>
            <a:pPr algn="ctr"/>
            <a:r>
              <a:rPr lang="en-US" sz="1400" b="1" dirty="0">
                <a:solidFill>
                  <a:schemeClr val="bg1"/>
                </a:solidFill>
              </a:rPr>
              <a:t>Policy</a:t>
            </a:r>
          </a:p>
          <a:p>
            <a:pPr algn="ctr"/>
            <a:r>
              <a:rPr lang="en-US" sz="1400" b="1" dirty="0">
                <a:solidFill>
                  <a:schemeClr val="bg1"/>
                </a:solidFill>
              </a:rPr>
              <a:t>Simulation </a:t>
            </a:r>
          </a:p>
        </p:txBody>
      </p:sp>
      <p:sp>
        <p:nvSpPr>
          <p:cNvPr id="16" name="TextBox 15">
            <a:extLst>
              <a:ext uri="{FF2B5EF4-FFF2-40B4-BE49-F238E27FC236}">
                <a16:creationId xmlns:a16="http://schemas.microsoft.com/office/drawing/2014/main" id="{1549B984-1CA9-1F36-24B5-5D11AEF34BFB}"/>
              </a:ext>
            </a:extLst>
          </p:cNvPr>
          <p:cNvSpPr txBox="1"/>
          <p:nvPr/>
        </p:nvSpPr>
        <p:spPr>
          <a:xfrm>
            <a:off x="234344" y="2482066"/>
            <a:ext cx="1757869" cy="646331"/>
          </a:xfrm>
          <a:prstGeom prst="rect">
            <a:avLst/>
          </a:prstGeom>
          <a:noFill/>
        </p:spPr>
        <p:txBody>
          <a:bodyPr wrap="square" rtlCol="0">
            <a:spAutoFit/>
          </a:bodyPr>
          <a:lstStyle/>
          <a:p>
            <a:pPr marL="115888" indent="-115888">
              <a:buFont typeface="Arial" panose="020B0604020202020204" pitchFamily="34" charset="0"/>
              <a:buChar char="•"/>
            </a:pPr>
            <a:r>
              <a:rPr lang="en-US" sz="1200" b="1" dirty="0"/>
              <a:t>Structural</a:t>
            </a:r>
            <a:r>
              <a:rPr lang="en-US" sz="1200" dirty="0"/>
              <a:t>:</a:t>
            </a:r>
          </a:p>
          <a:p>
            <a:pPr lvl="1"/>
            <a:r>
              <a:rPr lang="en-US" sz="1200" dirty="0"/>
              <a:t>Births,</a:t>
            </a:r>
          </a:p>
          <a:p>
            <a:pPr lvl="1"/>
            <a:r>
              <a:rPr lang="en-US" sz="1200" dirty="0"/>
              <a:t>Age Structure</a:t>
            </a:r>
          </a:p>
        </p:txBody>
      </p:sp>
      <p:sp>
        <p:nvSpPr>
          <p:cNvPr id="17" name="TextBox 16">
            <a:extLst>
              <a:ext uri="{FF2B5EF4-FFF2-40B4-BE49-F238E27FC236}">
                <a16:creationId xmlns:a16="http://schemas.microsoft.com/office/drawing/2014/main" id="{D473B47D-6B03-C410-5065-C9550C932214}"/>
              </a:ext>
            </a:extLst>
          </p:cNvPr>
          <p:cNvSpPr txBox="1"/>
          <p:nvPr/>
        </p:nvSpPr>
        <p:spPr>
          <a:xfrm>
            <a:off x="234344" y="3293593"/>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b="1" dirty="0"/>
              <a:t>Economic</a:t>
            </a:r>
            <a:r>
              <a:rPr lang="en-US" sz="1200" dirty="0"/>
              <a:t>:</a:t>
            </a:r>
          </a:p>
          <a:p>
            <a:pPr lvl="1"/>
            <a:r>
              <a:rPr lang="en-US" sz="1200" dirty="0"/>
              <a:t>Employment,</a:t>
            </a:r>
          </a:p>
          <a:p>
            <a:pPr lvl="1"/>
            <a:r>
              <a:rPr lang="en-US" sz="1200" dirty="0"/>
              <a:t>Payroll,</a:t>
            </a:r>
          </a:p>
          <a:p>
            <a:pPr lvl="1"/>
            <a:r>
              <a:rPr lang="en-US" sz="1200" dirty="0"/>
              <a:t>Establishments</a:t>
            </a:r>
          </a:p>
        </p:txBody>
      </p:sp>
      <p:sp>
        <p:nvSpPr>
          <p:cNvPr id="18" name="TextBox 17">
            <a:extLst>
              <a:ext uri="{FF2B5EF4-FFF2-40B4-BE49-F238E27FC236}">
                <a16:creationId xmlns:a16="http://schemas.microsoft.com/office/drawing/2014/main" id="{513CB562-80C7-AFEE-0B69-C8DC8EAC2DD3}"/>
              </a:ext>
            </a:extLst>
          </p:cNvPr>
          <p:cNvSpPr txBox="1"/>
          <p:nvPr/>
        </p:nvSpPr>
        <p:spPr>
          <a:xfrm>
            <a:off x="234344" y="4254350"/>
            <a:ext cx="1757869" cy="1015663"/>
          </a:xfrm>
          <a:prstGeom prst="rect">
            <a:avLst/>
          </a:prstGeom>
          <a:noFill/>
        </p:spPr>
        <p:txBody>
          <a:bodyPr wrap="square" rtlCol="0">
            <a:spAutoFit/>
          </a:bodyPr>
          <a:lstStyle/>
          <a:p>
            <a:pPr marL="115888" indent="-115888">
              <a:buFont typeface="Arial" panose="020B0604020202020204" pitchFamily="34" charset="0"/>
              <a:buChar char="•"/>
            </a:pPr>
            <a:r>
              <a:rPr lang="en-US" sz="1200" b="1" dirty="0"/>
              <a:t>Vulnerability</a:t>
            </a:r>
            <a:r>
              <a:rPr lang="en-US" sz="1200" dirty="0"/>
              <a:t>:</a:t>
            </a:r>
          </a:p>
          <a:p>
            <a:pPr lvl="1"/>
            <a:r>
              <a:rPr lang="en-US" sz="1200" dirty="0"/>
              <a:t>CDC SVIs</a:t>
            </a:r>
          </a:p>
          <a:p>
            <a:pPr lvl="1"/>
            <a:r>
              <a:rPr lang="en-US" sz="1200" dirty="0"/>
              <a:t>(Property,</a:t>
            </a:r>
          </a:p>
          <a:p>
            <a:pPr lvl="1"/>
            <a:r>
              <a:rPr lang="en-US" sz="1200" dirty="0"/>
              <a:t>Housing, </a:t>
            </a:r>
          </a:p>
          <a:p>
            <a:pPr lvl="1"/>
            <a:r>
              <a:rPr lang="en-US" sz="1200" dirty="0"/>
              <a:t>Transport) </a:t>
            </a:r>
          </a:p>
        </p:txBody>
      </p:sp>
      <p:sp>
        <p:nvSpPr>
          <p:cNvPr id="19" name="TextBox 18">
            <a:extLst>
              <a:ext uri="{FF2B5EF4-FFF2-40B4-BE49-F238E27FC236}">
                <a16:creationId xmlns:a16="http://schemas.microsoft.com/office/drawing/2014/main" id="{85BC329A-FF45-F333-6CF0-281438926B30}"/>
              </a:ext>
            </a:extLst>
          </p:cNvPr>
          <p:cNvSpPr txBox="1"/>
          <p:nvPr/>
        </p:nvSpPr>
        <p:spPr>
          <a:xfrm>
            <a:off x="234344" y="5326139"/>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b="1" dirty="0"/>
              <a:t>Shocks</a:t>
            </a:r>
            <a:r>
              <a:rPr lang="en-US" sz="1200" dirty="0"/>
              <a:t>:</a:t>
            </a:r>
          </a:p>
          <a:p>
            <a:pPr lvl="1"/>
            <a:r>
              <a:rPr lang="en-US" sz="1200" dirty="0"/>
              <a:t>Hurricane &amp;</a:t>
            </a:r>
          </a:p>
          <a:p>
            <a:pPr lvl="1"/>
            <a:r>
              <a:rPr lang="en-US" sz="1200" dirty="0"/>
              <a:t>Earthquake exposure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AD2BA4E-43D6-4E42-C894-54135CC0220E}"/>
                  </a:ext>
                </a:extLst>
              </p:cNvPr>
              <p:cNvSpPr txBox="1"/>
              <p:nvPr/>
            </p:nvSpPr>
            <p:spPr>
              <a:xfrm>
                <a:off x="2250634" y="2417052"/>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Chronological Split</a:t>
                </a:r>
              </a:p>
              <a:p>
                <a:pPr marL="115888" indent="-115888">
                  <a:buFont typeface="Arial" panose="020B0604020202020204" pitchFamily="34" charset="0"/>
                  <a:buChar char="•"/>
                </a:pPr>
                <a:r>
                  <a:rPr lang="en-US" sz="1200" dirty="0"/>
                  <a:t>80/20 train-test</a:t>
                </a:r>
              </a:p>
              <a:p>
                <a:pPr marL="115888" indent="-115888">
                  <a:buFont typeface="Arial" panose="020B0604020202020204" pitchFamily="34" charset="0"/>
                  <a:buChar char="•"/>
                </a:pPr>
                <a:r>
                  <a:rPr lang="en-US" sz="1200" dirty="0"/>
                  <a:t>Final Model: Lasso</a:t>
                </a:r>
              </a:p>
              <a:p>
                <a:r>
                  <a:rPr lang="en-US" sz="1200" dirty="0"/>
                  <a:t>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oMath>
                </a14:m>
                <a:r>
                  <a:rPr lang="en-US" sz="120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oMath>
                </a14:m>
                <a:r>
                  <a:rPr lang="en-US" sz="1200" dirty="0"/>
                  <a:t>0.91</a:t>
                </a:r>
              </a:p>
            </p:txBody>
          </p:sp>
        </mc:Choice>
        <mc:Fallback xmlns="">
          <p:sp>
            <p:nvSpPr>
              <p:cNvPr id="20" name="TextBox 19">
                <a:extLst>
                  <a:ext uri="{FF2B5EF4-FFF2-40B4-BE49-F238E27FC236}">
                    <a16:creationId xmlns:a16="http://schemas.microsoft.com/office/drawing/2014/main" id="{4AD2BA4E-43D6-4E42-C894-54135CC0220E}"/>
                  </a:ext>
                </a:extLst>
              </p:cNvPr>
              <p:cNvSpPr txBox="1">
                <a:spLocks noRot="1" noChangeAspect="1" noMove="1" noResize="1" noEditPoints="1" noAdjustHandles="1" noChangeArrowheads="1" noChangeShapeType="1" noTextEdit="1"/>
              </p:cNvSpPr>
              <p:nvPr/>
            </p:nvSpPr>
            <p:spPr>
              <a:xfrm>
                <a:off x="2250634" y="2417052"/>
                <a:ext cx="1757869" cy="830997"/>
              </a:xfrm>
              <a:prstGeom prst="rect">
                <a:avLst/>
              </a:prstGeom>
              <a:blipFill>
                <a:blip r:embed="rId4"/>
                <a:stretch>
                  <a:fillRect t="-1515" b="-6061"/>
                </a:stretch>
              </a:blipFill>
            </p:spPr>
            <p:txBody>
              <a:bodyPr/>
              <a:lstStyle/>
              <a:p>
                <a:r>
                  <a:rPr lang="en-US">
                    <a:noFill/>
                  </a:rPr>
                  <a:t> </a:t>
                </a:r>
              </a:p>
            </p:txBody>
          </p:sp>
        </mc:Fallback>
      </mc:AlternateContent>
      <p:sp>
        <p:nvSpPr>
          <p:cNvPr id="24" name="Right Arrow 23">
            <a:extLst>
              <a:ext uri="{FF2B5EF4-FFF2-40B4-BE49-F238E27FC236}">
                <a16:creationId xmlns:a16="http://schemas.microsoft.com/office/drawing/2014/main" id="{9C6AABE8-CF26-B11B-C5F6-FF503286A706}"/>
              </a:ext>
            </a:extLst>
          </p:cNvPr>
          <p:cNvSpPr/>
          <p:nvPr/>
        </p:nvSpPr>
        <p:spPr>
          <a:xfrm>
            <a:off x="2064200" y="346536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25" name="TextBox 24">
            <a:extLst>
              <a:ext uri="{FF2B5EF4-FFF2-40B4-BE49-F238E27FC236}">
                <a16:creationId xmlns:a16="http://schemas.microsoft.com/office/drawing/2014/main" id="{3CEB55BB-4A46-206E-C2DA-85CFDF367777}"/>
              </a:ext>
            </a:extLst>
          </p:cNvPr>
          <p:cNvSpPr txBox="1"/>
          <p:nvPr/>
        </p:nvSpPr>
        <p:spPr>
          <a:xfrm>
            <a:off x="4101598" y="2417052"/>
            <a:ext cx="1757869" cy="1015663"/>
          </a:xfrm>
          <a:prstGeom prst="rect">
            <a:avLst/>
          </a:prstGeom>
          <a:noFill/>
        </p:spPr>
        <p:txBody>
          <a:bodyPr wrap="square" rtlCol="0">
            <a:spAutoFit/>
          </a:bodyPr>
          <a:lstStyle/>
          <a:p>
            <a:pPr marL="115888" indent="-115888">
              <a:buFont typeface="Arial" panose="020B0604020202020204" pitchFamily="34" charset="0"/>
              <a:buChar char="•"/>
            </a:pPr>
            <a:r>
              <a:rPr lang="en-US" sz="1200" dirty="0"/>
              <a:t>Baseline &amp; disaster scenarios</a:t>
            </a:r>
          </a:p>
          <a:p>
            <a:pPr marL="115888" indent="-115888">
              <a:buFont typeface="Arial" panose="020B0604020202020204" pitchFamily="34" charset="0"/>
              <a:buChar char="•"/>
            </a:pPr>
            <a:r>
              <a:rPr lang="en-US" sz="1200" dirty="0"/>
              <a:t>Stress tests to 2030</a:t>
            </a:r>
          </a:p>
          <a:p>
            <a:pPr marL="115888" indent="-115888">
              <a:buFont typeface="Arial" panose="020B0604020202020204" pitchFamily="34" charset="0"/>
              <a:buChar char="•"/>
            </a:pPr>
            <a:r>
              <a:rPr lang="en-US" sz="1200" dirty="0"/>
              <a:t>Municipal, regional, island-scale</a:t>
            </a:r>
          </a:p>
        </p:txBody>
      </p:sp>
      <p:sp>
        <p:nvSpPr>
          <p:cNvPr id="26" name="TextBox 25">
            <a:extLst>
              <a:ext uri="{FF2B5EF4-FFF2-40B4-BE49-F238E27FC236}">
                <a16:creationId xmlns:a16="http://schemas.microsoft.com/office/drawing/2014/main" id="{60594C52-32B4-7FF4-6237-7B5A82840939}"/>
              </a:ext>
            </a:extLst>
          </p:cNvPr>
          <p:cNvSpPr txBox="1"/>
          <p:nvPr/>
        </p:nvSpPr>
        <p:spPr>
          <a:xfrm>
            <a:off x="6051051" y="2398100"/>
            <a:ext cx="1662983"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Jobs, investment, Safety strategies</a:t>
            </a:r>
          </a:p>
          <a:p>
            <a:pPr marL="115888" indent="-115888">
              <a:buFont typeface="Arial" panose="020B0604020202020204" pitchFamily="34" charset="0"/>
              <a:buChar char="•"/>
            </a:pPr>
            <a:r>
              <a:rPr lang="en-US" sz="1200" dirty="0"/>
              <a:t>Counterfactual population paths</a:t>
            </a:r>
          </a:p>
        </p:txBody>
      </p:sp>
      <p:sp>
        <p:nvSpPr>
          <p:cNvPr id="27" name="TextBox 26">
            <a:extLst>
              <a:ext uri="{FF2B5EF4-FFF2-40B4-BE49-F238E27FC236}">
                <a16:creationId xmlns:a16="http://schemas.microsoft.com/office/drawing/2014/main" id="{CB3A7886-B442-7696-B7C5-BA3F0B4A6E17}"/>
              </a:ext>
            </a:extLst>
          </p:cNvPr>
          <p:cNvSpPr txBox="1"/>
          <p:nvPr/>
        </p:nvSpPr>
        <p:spPr>
          <a:xfrm>
            <a:off x="7875757" y="2417052"/>
            <a:ext cx="2002153"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Jobs, investment, safety strategies</a:t>
            </a:r>
          </a:p>
          <a:p>
            <a:pPr marL="115888" indent="-115888">
              <a:buFont typeface="Arial" panose="020B0604020202020204" pitchFamily="34" charset="0"/>
              <a:buChar char="•"/>
            </a:pPr>
            <a:r>
              <a:rPr lang="en-US" sz="1200" dirty="0"/>
              <a:t>Identifies policies that reduce population loss</a:t>
            </a:r>
          </a:p>
        </p:txBody>
      </p:sp>
      <p:pic>
        <p:nvPicPr>
          <p:cNvPr id="28" name="Picture 27" descr="A map of the caribbean&#10;&#10;AI-generated content may be incorrect.">
            <a:extLst>
              <a:ext uri="{FF2B5EF4-FFF2-40B4-BE49-F238E27FC236}">
                <a16:creationId xmlns:a16="http://schemas.microsoft.com/office/drawing/2014/main" id="{767D336D-C14C-D4E7-E86A-2BC4CC62B579}"/>
              </a:ext>
            </a:extLst>
          </p:cNvPr>
          <p:cNvPicPr>
            <a:picLocks noChangeAspect="1"/>
          </p:cNvPicPr>
          <p:nvPr/>
        </p:nvPicPr>
        <p:blipFill>
          <a:blip r:embed="rId5">
            <a:alphaModFix amt="35000"/>
            <a:extLst>
              <a:ext uri="{28A0092B-C50C-407E-A947-70E740481C1C}">
                <a14:useLocalDpi xmlns:a14="http://schemas.microsoft.com/office/drawing/2010/main" val="0"/>
              </a:ext>
            </a:extLst>
          </a:blip>
          <a:stretch>
            <a:fillRect/>
          </a:stretch>
        </p:blipFill>
        <p:spPr>
          <a:xfrm>
            <a:off x="4363258" y="3597911"/>
            <a:ext cx="1258028" cy="714936"/>
          </a:xfrm>
          <a:prstGeom prst="rect">
            <a:avLst/>
          </a:prstGeom>
          <a:effectLst>
            <a:softEdge rad="63500"/>
          </a:effectLst>
        </p:spPr>
      </p:pic>
      <p:pic>
        <p:nvPicPr>
          <p:cNvPr id="29" name="Picture 28" descr="A graph with a line and a point&#10;&#10;AI-generated content may be incorrect.">
            <a:extLst>
              <a:ext uri="{FF2B5EF4-FFF2-40B4-BE49-F238E27FC236}">
                <a16:creationId xmlns:a16="http://schemas.microsoft.com/office/drawing/2014/main" id="{B3E89C11-4034-0939-8354-BD3D3274B897}"/>
              </a:ext>
            </a:extLst>
          </p:cNvPr>
          <p:cNvPicPr>
            <a:picLocks noChangeAspect="1"/>
          </p:cNvPicPr>
          <p:nvPr/>
        </p:nvPicPr>
        <p:blipFill>
          <a:blip r:embed="rId6">
            <a:alphaModFix amt="50000"/>
            <a:extLst>
              <a:ext uri="{28A0092B-C50C-407E-A947-70E740481C1C}">
                <a14:useLocalDpi xmlns:a14="http://schemas.microsoft.com/office/drawing/2010/main" val="0"/>
              </a:ext>
            </a:extLst>
          </a:blip>
          <a:stretch>
            <a:fillRect/>
          </a:stretch>
        </p:blipFill>
        <p:spPr>
          <a:xfrm>
            <a:off x="6221587" y="3346344"/>
            <a:ext cx="1278464" cy="696053"/>
          </a:xfrm>
          <a:prstGeom prst="rect">
            <a:avLst/>
          </a:prstGeom>
          <a:effectLst>
            <a:softEdge rad="63500"/>
          </a:effectLst>
        </p:spPr>
      </p:pic>
      <p:sp>
        <p:nvSpPr>
          <p:cNvPr id="31" name="TextBox 30">
            <a:extLst>
              <a:ext uri="{FF2B5EF4-FFF2-40B4-BE49-F238E27FC236}">
                <a16:creationId xmlns:a16="http://schemas.microsoft.com/office/drawing/2014/main" id="{17E4EC9C-3146-CFF2-34C6-894555207D07}"/>
              </a:ext>
            </a:extLst>
          </p:cNvPr>
          <p:cNvSpPr txBox="1"/>
          <p:nvPr/>
        </p:nvSpPr>
        <p:spPr>
          <a:xfrm>
            <a:off x="4097848" y="4500539"/>
            <a:ext cx="1757868" cy="1015663"/>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Shocks amplify existing demographic trends</a:t>
            </a:r>
          </a:p>
          <a:p>
            <a:pPr marL="171450" indent="-171450">
              <a:buFont typeface="Arial" panose="020B0604020202020204" pitchFamily="34" charset="0"/>
              <a:buChar char="•"/>
            </a:pPr>
            <a:endParaRPr lang="en-US" sz="1200" dirty="0"/>
          </a:p>
        </p:txBody>
      </p:sp>
      <p:sp>
        <p:nvSpPr>
          <p:cNvPr id="32" name="TextBox 31">
            <a:extLst>
              <a:ext uri="{FF2B5EF4-FFF2-40B4-BE49-F238E27FC236}">
                <a16:creationId xmlns:a16="http://schemas.microsoft.com/office/drawing/2014/main" id="{BE6AF9A2-CBDE-9CCF-7B7B-9AD7A02132D9}"/>
              </a:ext>
            </a:extLst>
          </p:cNvPr>
          <p:cNvSpPr txBox="1"/>
          <p:nvPr/>
        </p:nvSpPr>
        <p:spPr>
          <a:xfrm>
            <a:off x="6034245" y="4500539"/>
            <a:ext cx="1662983" cy="1015663"/>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Population responds gradually, not instantly</a:t>
            </a:r>
          </a:p>
          <a:p>
            <a:pPr marL="171450" indent="-171450">
              <a:buFont typeface="Arial" panose="020B0604020202020204" pitchFamily="34" charset="0"/>
              <a:buChar char="•"/>
            </a:pPr>
            <a:endParaRPr lang="en-US" sz="1200" dirty="0"/>
          </a:p>
        </p:txBody>
      </p:sp>
      <p:sp>
        <p:nvSpPr>
          <p:cNvPr id="33" name="TextBox 32">
            <a:extLst>
              <a:ext uri="{FF2B5EF4-FFF2-40B4-BE49-F238E27FC236}">
                <a16:creationId xmlns:a16="http://schemas.microsoft.com/office/drawing/2014/main" id="{EF60ED56-DF16-DF7B-A513-9E4042DA0C89}"/>
              </a:ext>
            </a:extLst>
          </p:cNvPr>
          <p:cNvSpPr txBox="1"/>
          <p:nvPr/>
        </p:nvSpPr>
        <p:spPr>
          <a:xfrm>
            <a:off x="7864149" y="4495142"/>
            <a:ext cx="2002152" cy="830997"/>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Coordinated policies outperform isolated interventions</a:t>
            </a:r>
          </a:p>
        </p:txBody>
      </p:sp>
      <p:sp>
        <p:nvSpPr>
          <p:cNvPr id="34" name="Right Arrow 33">
            <a:extLst>
              <a:ext uri="{FF2B5EF4-FFF2-40B4-BE49-F238E27FC236}">
                <a16:creationId xmlns:a16="http://schemas.microsoft.com/office/drawing/2014/main" id="{1C5E44BF-262A-A7C2-66DA-3AA274C63780}"/>
              </a:ext>
            </a:extLst>
          </p:cNvPr>
          <p:cNvSpPr/>
          <p:nvPr/>
        </p:nvSpPr>
        <p:spPr>
          <a:xfrm>
            <a:off x="3968975" y="3462682"/>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5" name="Right Arrow 34">
            <a:extLst>
              <a:ext uri="{FF2B5EF4-FFF2-40B4-BE49-F238E27FC236}">
                <a16:creationId xmlns:a16="http://schemas.microsoft.com/office/drawing/2014/main" id="{20AD12C7-BC1F-F82B-FF7D-543776EC5EE9}"/>
              </a:ext>
            </a:extLst>
          </p:cNvPr>
          <p:cNvSpPr/>
          <p:nvPr/>
        </p:nvSpPr>
        <p:spPr>
          <a:xfrm>
            <a:off x="5804066" y="343185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6" name="Right Arrow 35">
            <a:extLst>
              <a:ext uri="{FF2B5EF4-FFF2-40B4-BE49-F238E27FC236}">
                <a16:creationId xmlns:a16="http://schemas.microsoft.com/office/drawing/2014/main" id="{9B75B2E2-5625-B3D2-B30F-60B29FEB7017}"/>
              </a:ext>
            </a:extLst>
          </p:cNvPr>
          <p:cNvSpPr/>
          <p:nvPr/>
        </p:nvSpPr>
        <p:spPr>
          <a:xfrm>
            <a:off x="7716278" y="343185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7" name="TextBox 36">
            <a:extLst>
              <a:ext uri="{FF2B5EF4-FFF2-40B4-BE49-F238E27FC236}">
                <a16:creationId xmlns:a16="http://schemas.microsoft.com/office/drawing/2014/main" id="{9096AA7F-2216-F4F6-3A38-909C684DE4FE}"/>
              </a:ext>
            </a:extLst>
          </p:cNvPr>
          <p:cNvSpPr txBox="1"/>
          <p:nvPr/>
        </p:nvSpPr>
        <p:spPr>
          <a:xfrm>
            <a:off x="2256977" y="4495142"/>
            <a:ext cx="1699753" cy="646331"/>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Lagged population dynamics predictions</a:t>
            </a:r>
          </a:p>
        </p:txBody>
      </p:sp>
      <p:sp>
        <p:nvSpPr>
          <p:cNvPr id="38" name="Rounded Rectangle 37">
            <a:extLst>
              <a:ext uri="{FF2B5EF4-FFF2-40B4-BE49-F238E27FC236}">
                <a16:creationId xmlns:a16="http://schemas.microsoft.com/office/drawing/2014/main" id="{65C15933-D3C2-192C-FF8A-861B207A3D4F}"/>
              </a:ext>
            </a:extLst>
          </p:cNvPr>
          <p:cNvSpPr/>
          <p:nvPr/>
        </p:nvSpPr>
        <p:spPr>
          <a:xfrm>
            <a:off x="2365754" y="5351488"/>
            <a:ext cx="7843879" cy="9144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EBF6BFF7-3304-BE0B-8EC1-3973CA968501}"/>
              </a:ext>
            </a:extLst>
          </p:cNvPr>
          <p:cNvSpPr txBox="1"/>
          <p:nvPr/>
        </p:nvSpPr>
        <p:spPr>
          <a:xfrm>
            <a:off x="2498879" y="5485522"/>
            <a:ext cx="4400163" cy="646331"/>
          </a:xfrm>
          <a:prstGeom prst="rect">
            <a:avLst/>
          </a:prstGeom>
          <a:noFill/>
        </p:spPr>
        <p:txBody>
          <a:bodyPr wrap="square" rtlCol="0">
            <a:spAutoFit/>
          </a:bodyPr>
          <a:lstStyle/>
          <a:p>
            <a:r>
              <a:rPr lang="en-US" sz="1200" b="1" dirty="0"/>
              <a:t>Goal: Translate modeling into policy insights</a:t>
            </a:r>
          </a:p>
          <a:p>
            <a:pPr marL="115888" indent="-115888">
              <a:buFont typeface="Arial" panose="020B0604020202020204" pitchFamily="34" charset="0"/>
              <a:buChar char="•"/>
            </a:pPr>
            <a:r>
              <a:rPr lang="en-US" sz="1200" dirty="0"/>
              <a:t>Understand Puerto Rico’s population dynamics</a:t>
            </a:r>
          </a:p>
          <a:p>
            <a:pPr marL="115888" indent="-115888">
              <a:buFont typeface="Arial" panose="020B0604020202020204" pitchFamily="34" charset="0"/>
              <a:buChar char="•"/>
            </a:pPr>
            <a:r>
              <a:rPr lang="en-US" sz="1200" dirty="0"/>
              <a:t>Identify policies that mitigate population loss</a:t>
            </a:r>
          </a:p>
        </p:txBody>
      </p:sp>
      <p:pic>
        <p:nvPicPr>
          <p:cNvPr id="41" name="Picture 40">
            <a:extLst>
              <a:ext uri="{FF2B5EF4-FFF2-40B4-BE49-F238E27FC236}">
                <a16:creationId xmlns:a16="http://schemas.microsoft.com/office/drawing/2014/main" id="{1691DC86-46AF-F80C-C7CB-800022EA8171}"/>
              </a:ext>
            </a:extLst>
          </p:cNvPr>
          <p:cNvPicPr>
            <a:picLocks noChangeAspect="1"/>
          </p:cNvPicPr>
          <p:nvPr/>
        </p:nvPicPr>
        <p:blipFill>
          <a:blip r:embed="rId7">
            <a:alphaModFix amt="50000"/>
            <a:extLst>
              <a:ext uri="{28A0092B-C50C-407E-A947-70E740481C1C}">
                <a14:useLocalDpi xmlns:a14="http://schemas.microsoft.com/office/drawing/2010/main" val="0"/>
              </a:ext>
            </a:extLst>
          </a:blip>
          <a:stretch>
            <a:fillRect/>
          </a:stretch>
        </p:blipFill>
        <p:spPr>
          <a:xfrm>
            <a:off x="6678106" y="5376362"/>
            <a:ext cx="2566490" cy="856722"/>
          </a:xfrm>
          <a:prstGeom prst="rect">
            <a:avLst/>
          </a:prstGeom>
          <a:effectLst>
            <a:softEdge rad="127000"/>
          </a:effectLst>
        </p:spPr>
      </p:pic>
      <p:pic>
        <p:nvPicPr>
          <p:cNvPr id="1026" name="Picture 2" descr="Signo De Análisis De Datos De Lupa PNG ,dibujos Análisis, Datos, Gráfico  PNG Imagen para Descarga Gratuita | Pngtree">
            <a:extLst>
              <a:ext uri="{FF2B5EF4-FFF2-40B4-BE49-F238E27FC236}">
                <a16:creationId xmlns:a16="http://schemas.microsoft.com/office/drawing/2014/main" id="{DD0DA978-5092-39E9-4FBE-98021EEF6C7A}"/>
              </a:ext>
            </a:extLst>
          </p:cNvPr>
          <p:cNvPicPr>
            <a:picLocks noChangeAspect="1" noChangeArrowheads="1"/>
          </p:cNvPicPr>
          <p:nvPr/>
        </p:nvPicPr>
        <p:blipFill>
          <a:blip r:embed="rId8">
            <a:alphaModFix amt="50000"/>
            <a:extLst>
              <a:ext uri="{28A0092B-C50C-407E-A947-70E740481C1C}">
                <a14:useLocalDpi xmlns:a14="http://schemas.microsoft.com/office/drawing/2010/main" val="0"/>
              </a:ext>
            </a:extLst>
          </a:blip>
          <a:srcRect/>
          <a:stretch>
            <a:fillRect/>
          </a:stretch>
        </p:blipFill>
        <p:spPr bwMode="auto">
          <a:xfrm flipH="1">
            <a:off x="8853536" y="5326139"/>
            <a:ext cx="1115961" cy="1115961"/>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55D1D4C-3D6F-EAE5-67D7-545BC96B1357}"/>
              </a:ext>
            </a:extLst>
          </p:cNvPr>
          <p:cNvSpPr txBox="1"/>
          <p:nvPr/>
        </p:nvSpPr>
        <p:spPr>
          <a:xfrm>
            <a:off x="2228786" y="3851182"/>
            <a:ext cx="1699753" cy="461665"/>
          </a:xfrm>
          <a:prstGeom prst="rect">
            <a:avLst/>
          </a:prstGeom>
          <a:noFill/>
        </p:spPr>
        <p:txBody>
          <a:bodyPr wrap="square" rtlCol="0">
            <a:spAutoFit/>
          </a:bodyPr>
          <a:lstStyle/>
          <a:p>
            <a:r>
              <a:rPr lang="en-US" sz="1200" b="1" dirty="0"/>
              <a:t>Interpretable:</a:t>
            </a:r>
          </a:p>
          <a:p>
            <a:pPr marL="115888" indent="-115888">
              <a:buFont typeface="Arial" panose="020B0604020202020204" pitchFamily="34" charset="0"/>
              <a:buChar char="•"/>
            </a:pPr>
            <a:r>
              <a:rPr lang="en-US" sz="1200" dirty="0"/>
              <a:t>SHAP Analysis</a:t>
            </a:r>
          </a:p>
        </p:txBody>
      </p:sp>
      <p:pic>
        <p:nvPicPr>
          <p:cNvPr id="44" name="Picture 43">
            <a:extLst>
              <a:ext uri="{FF2B5EF4-FFF2-40B4-BE49-F238E27FC236}">
                <a16:creationId xmlns:a16="http://schemas.microsoft.com/office/drawing/2014/main" id="{241077B7-234A-CD01-62FE-DE08983E93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8741" y="2712129"/>
            <a:ext cx="381232" cy="368934"/>
          </a:xfrm>
          <a:prstGeom prst="rect">
            <a:avLst/>
          </a:prstGeom>
        </p:spPr>
      </p:pic>
      <p:pic>
        <p:nvPicPr>
          <p:cNvPr id="46" name="Picture 45">
            <a:extLst>
              <a:ext uri="{FF2B5EF4-FFF2-40B4-BE49-F238E27FC236}">
                <a16:creationId xmlns:a16="http://schemas.microsoft.com/office/drawing/2014/main" id="{8CDDA542-195C-7B0D-5EA6-A3BF3366D1F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6193" y="3521655"/>
            <a:ext cx="381232" cy="368933"/>
          </a:xfrm>
          <a:prstGeom prst="rect">
            <a:avLst/>
          </a:prstGeom>
        </p:spPr>
      </p:pic>
      <p:pic>
        <p:nvPicPr>
          <p:cNvPr id="48" name="Picture 47">
            <a:extLst>
              <a:ext uri="{FF2B5EF4-FFF2-40B4-BE49-F238E27FC236}">
                <a16:creationId xmlns:a16="http://schemas.microsoft.com/office/drawing/2014/main" id="{2C3132D1-D1AC-4743-FDC3-68EC2C61DA1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93" y="4548434"/>
            <a:ext cx="381232" cy="427494"/>
          </a:xfrm>
          <a:prstGeom prst="rect">
            <a:avLst/>
          </a:prstGeom>
        </p:spPr>
      </p:pic>
      <p:pic>
        <p:nvPicPr>
          <p:cNvPr id="50" name="Picture 49">
            <a:extLst>
              <a:ext uri="{FF2B5EF4-FFF2-40B4-BE49-F238E27FC236}">
                <a16:creationId xmlns:a16="http://schemas.microsoft.com/office/drawing/2014/main" id="{19466369-9CEA-EBD5-3EE1-020AEB8A00F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66193" y="5567347"/>
            <a:ext cx="413080" cy="450414"/>
          </a:xfrm>
          <a:prstGeom prst="rect">
            <a:avLst/>
          </a:prstGeom>
        </p:spPr>
      </p:pic>
      <p:sp>
        <p:nvSpPr>
          <p:cNvPr id="2" name="Oval 1">
            <a:extLst>
              <a:ext uri="{FF2B5EF4-FFF2-40B4-BE49-F238E27FC236}">
                <a16:creationId xmlns:a16="http://schemas.microsoft.com/office/drawing/2014/main" id="{0E7FAB82-AD50-6FE3-7CDF-48A66E7809F5}"/>
              </a:ext>
            </a:extLst>
          </p:cNvPr>
          <p:cNvSpPr/>
          <p:nvPr/>
        </p:nvSpPr>
        <p:spPr>
          <a:xfrm>
            <a:off x="8700117" y="1465666"/>
            <a:ext cx="490075" cy="339152"/>
          </a:xfrm>
          <a:prstGeom prst="ellipse">
            <a:avLst/>
          </a:prstGeom>
          <a:solidFill>
            <a:srgbClr val="FFA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 name="Oval 2">
            <a:extLst>
              <a:ext uri="{FF2B5EF4-FFF2-40B4-BE49-F238E27FC236}">
                <a16:creationId xmlns:a16="http://schemas.microsoft.com/office/drawing/2014/main" id="{71E2C969-3039-8A43-84ED-14C3ABF44D43}"/>
              </a:ext>
            </a:extLst>
          </p:cNvPr>
          <p:cNvSpPr/>
          <p:nvPr/>
        </p:nvSpPr>
        <p:spPr>
          <a:xfrm>
            <a:off x="6615781" y="1465699"/>
            <a:ext cx="490075" cy="339152"/>
          </a:xfrm>
          <a:prstGeom prst="ellipse">
            <a:avLst/>
          </a:prstGeom>
          <a:solidFill>
            <a:srgbClr val="71B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 name="Oval 6">
            <a:extLst>
              <a:ext uri="{FF2B5EF4-FFF2-40B4-BE49-F238E27FC236}">
                <a16:creationId xmlns:a16="http://schemas.microsoft.com/office/drawing/2014/main" id="{6C200304-F471-462F-C61C-2C6A6E4DF94D}"/>
              </a:ext>
            </a:extLst>
          </p:cNvPr>
          <p:cNvSpPr/>
          <p:nvPr/>
        </p:nvSpPr>
        <p:spPr>
          <a:xfrm>
            <a:off x="4783851" y="1457353"/>
            <a:ext cx="490075" cy="339152"/>
          </a:xfrm>
          <a:prstGeom prst="ellipse">
            <a:avLst/>
          </a:prstGeom>
          <a:solidFill>
            <a:srgbClr val="649E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a:extLst>
              <a:ext uri="{FF2B5EF4-FFF2-40B4-BE49-F238E27FC236}">
                <a16:creationId xmlns:a16="http://schemas.microsoft.com/office/drawing/2014/main" id="{852B82BC-BA73-BD0C-F0DC-9E03FE4F51D2}"/>
              </a:ext>
            </a:extLst>
          </p:cNvPr>
          <p:cNvSpPr/>
          <p:nvPr/>
        </p:nvSpPr>
        <p:spPr>
          <a:xfrm>
            <a:off x="2914258" y="1464904"/>
            <a:ext cx="490075" cy="339152"/>
          </a:xfrm>
          <a:prstGeom prst="ellipse">
            <a:avLst/>
          </a:prstGeom>
          <a:solidFill>
            <a:srgbClr val="5576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 name="Oval 10">
            <a:extLst>
              <a:ext uri="{FF2B5EF4-FFF2-40B4-BE49-F238E27FC236}">
                <a16:creationId xmlns:a16="http://schemas.microsoft.com/office/drawing/2014/main" id="{33DD2C54-CD19-4DFF-8290-AB99C49805B0}"/>
              </a:ext>
            </a:extLst>
          </p:cNvPr>
          <p:cNvSpPr/>
          <p:nvPr/>
        </p:nvSpPr>
        <p:spPr>
          <a:xfrm>
            <a:off x="1033630" y="1465360"/>
            <a:ext cx="490075" cy="339152"/>
          </a:xfrm>
          <a:prstGeom prst="ellipse">
            <a:avLst/>
          </a:prstGeom>
          <a:solidFill>
            <a:srgbClr val="405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21" name="Picture 20" descr="A graph with lines and numbers&#10;&#10;AI-generated content may be incorrect.">
            <a:extLst>
              <a:ext uri="{FF2B5EF4-FFF2-40B4-BE49-F238E27FC236}">
                <a16:creationId xmlns:a16="http://schemas.microsoft.com/office/drawing/2014/main" id="{7A641495-0783-0ED2-2975-01E3CC9BB4AA}"/>
              </a:ext>
            </a:extLst>
          </p:cNvPr>
          <p:cNvPicPr>
            <a:picLocks noChangeAspect="1"/>
          </p:cNvPicPr>
          <p:nvPr/>
        </p:nvPicPr>
        <p:blipFill>
          <a:blip r:embed="rId13">
            <a:alphaModFix amt="50000"/>
            <a:extLst>
              <a:ext uri="{28A0092B-C50C-407E-A947-70E740481C1C}">
                <a14:useLocalDpi xmlns:a14="http://schemas.microsoft.com/office/drawing/2010/main" val="0"/>
              </a:ext>
            </a:extLst>
          </a:blip>
          <a:stretch>
            <a:fillRect/>
          </a:stretch>
        </p:blipFill>
        <p:spPr>
          <a:xfrm>
            <a:off x="8229889" y="3323214"/>
            <a:ext cx="1535155" cy="823879"/>
          </a:xfrm>
          <a:prstGeom prst="rect">
            <a:avLst/>
          </a:prstGeom>
          <a:effectLst>
            <a:softEdge rad="63500"/>
          </a:effectLst>
        </p:spPr>
      </p:pic>
      <p:pic>
        <p:nvPicPr>
          <p:cNvPr id="13" name="Picture 12">
            <a:extLst>
              <a:ext uri="{FF2B5EF4-FFF2-40B4-BE49-F238E27FC236}">
                <a16:creationId xmlns:a16="http://schemas.microsoft.com/office/drawing/2014/main" id="{6E14B26A-4FB1-0653-04A4-504A3438D664}"/>
              </a:ext>
            </a:extLst>
          </p:cNvPr>
          <p:cNvPicPr>
            <a:picLocks noChangeAspect="1"/>
          </p:cNvPicPr>
          <p:nvPr/>
        </p:nvPicPr>
        <p:blipFill>
          <a:blip r:embed="rId14"/>
          <a:srcRect r="37003"/>
          <a:stretch>
            <a:fillRect/>
          </a:stretch>
        </p:blipFill>
        <p:spPr>
          <a:xfrm>
            <a:off x="2741017" y="3245501"/>
            <a:ext cx="753448" cy="608230"/>
          </a:xfrm>
          <a:prstGeom prst="rect">
            <a:avLst/>
          </a:prstGeom>
        </p:spPr>
      </p:pic>
      <p:pic>
        <p:nvPicPr>
          <p:cNvPr id="22" name="Picture 21" descr="A blue grid with lines and dots&#10;&#10;AI-generated content may be incorrect.">
            <a:extLst>
              <a:ext uri="{FF2B5EF4-FFF2-40B4-BE49-F238E27FC236}">
                <a16:creationId xmlns:a16="http://schemas.microsoft.com/office/drawing/2014/main" id="{1255715D-153B-63C7-6389-2DF1852CF2F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1103992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5FAB2-942D-58BC-A225-0C749B7314B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9BA0CB-F44F-8DFB-DEF7-24C60DA419C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11" name="TextBox 10">
            <a:extLst>
              <a:ext uri="{FF2B5EF4-FFF2-40B4-BE49-F238E27FC236}">
                <a16:creationId xmlns:a16="http://schemas.microsoft.com/office/drawing/2014/main" id="{B23CD687-4374-1530-3208-B85A6A1F31D7}"/>
              </a:ext>
            </a:extLst>
          </p:cNvPr>
          <p:cNvSpPr txBox="1"/>
          <p:nvPr/>
        </p:nvSpPr>
        <p:spPr>
          <a:xfrm>
            <a:off x="139613" y="1368962"/>
            <a:ext cx="11729764" cy="4524315"/>
          </a:xfrm>
          <a:prstGeom prst="rect">
            <a:avLst/>
          </a:prstGeom>
          <a:noFill/>
        </p:spPr>
        <p:txBody>
          <a:bodyPr wrap="square">
            <a:spAutoFit/>
          </a:bodyPr>
          <a:lstStyle/>
          <a:p>
            <a:r>
              <a:rPr lang="en-US" sz="1600" b="1" dirty="0"/>
              <a:t>Preliminary model evaluation:</a:t>
            </a:r>
          </a:p>
          <a:p>
            <a:endParaRPr lang="en-US" sz="1600" dirty="0"/>
          </a:p>
          <a:p>
            <a:pPr marL="342900" indent="-342900">
              <a:buFont typeface="+mj-lt"/>
              <a:buAutoNum type="arabicPeriod"/>
            </a:pPr>
            <a:r>
              <a:rPr lang="en-US" sz="1600" b="1" dirty="0"/>
              <a:t>Ordinary Least Squares (OLS): </a:t>
            </a:r>
            <a:r>
              <a:rPr lang="en-US" sz="1600" dirty="0"/>
              <a:t>Estimates the relationship between a target variable and multiple predictors by minimizing the squared difference between predicted and actual values</a:t>
            </a:r>
          </a:p>
          <a:p>
            <a:pPr marL="457200" indent="-457200">
              <a:buFont typeface="+mj-lt"/>
              <a:buAutoNum type="arabicPeriod"/>
            </a:pPr>
            <a:endParaRPr lang="en-US" sz="1600" dirty="0"/>
          </a:p>
          <a:p>
            <a:pPr marL="457200" indent="-457200">
              <a:buFont typeface="+mj-lt"/>
              <a:buAutoNum type="arabicPeriod"/>
            </a:pPr>
            <a:endParaRPr lang="en-US" sz="1600" dirty="0"/>
          </a:p>
          <a:p>
            <a:pPr marL="342900" indent="-342900">
              <a:buFont typeface="+mj-lt"/>
              <a:buAutoNum type="arabicPeriod"/>
            </a:pPr>
            <a:r>
              <a:rPr lang="en-US" sz="1600" b="1" dirty="0"/>
              <a:t>Random Forest Regressor: </a:t>
            </a:r>
            <a:r>
              <a:rPr lang="en-US" sz="1600" dirty="0"/>
              <a:t>an </a:t>
            </a:r>
            <a:r>
              <a:rPr lang="en-US" sz="1600" i="1" dirty="0"/>
              <a:t>ensemble machine learning model </a:t>
            </a:r>
            <a:r>
              <a:rPr lang="en-US" sz="1600" dirty="0"/>
              <a:t>made of many decision trees. Instead of building one model, it builds </a:t>
            </a:r>
            <a:r>
              <a:rPr lang="en-US" sz="1600" i="1" dirty="0"/>
              <a:t>hundreds of trees </a:t>
            </a:r>
            <a:r>
              <a:rPr lang="en-US" sz="1600" dirty="0"/>
              <a:t>and averages their predictions. Population dynamics are rarely linear, so Random Forest is more realistic</a:t>
            </a:r>
          </a:p>
          <a:p>
            <a:pPr marL="342900" indent="-342900">
              <a:buFont typeface="+mj-lt"/>
              <a:buAutoNum type="arabicPeriod"/>
            </a:pPr>
            <a:endParaRPr lang="en-US" sz="1600" dirty="0"/>
          </a:p>
          <a:p>
            <a:pPr marL="342900" indent="-342900">
              <a:buFont typeface="+mj-lt"/>
              <a:buAutoNum type="arabicPeriod"/>
            </a:pPr>
            <a:r>
              <a:rPr lang="en-US" sz="1600" b="1" dirty="0" err="1"/>
              <a:t>HistGradientBoosting</a:t>
            </a:r>
            <a:r>
              <a:rPr lang="en-US" sz="1600" b="1" dirty="0"/>
              <a:t>: </a:t>
            </a:r>
            <a:r>
              <a:rPr lang="en-US" sz="1600" dirty="0"/>
              <a:t>A </a:t>
            </a:r>
            <a:r>
              <a:rPr lang="en-US" sz="1600" i="1" dirty="0"/>
              <a:t>boosting model </a:t>
            </a:r>
            <a:r>
              <a:rPr lang="en-US" sz="1600" dirty="0"/>
              <a:t>that builds trees sequentially, corrects the mistakes of the previous ones. Used to produce </a:t>
            </a:r>
            <a:r>
              <a:rPr lang="en-US" sz="1600" i="1" dirty="0"/>
              <a:t>better predictive performance </a:t>
            </a:r>
            <a:r>
              <a:rPr lang="en-US" sz="1600" dirty="0"/>
              <a:t>than simple models</a:t>
            </a:r>
          </a:p>
          <a:p>
            <a:pPr marL="342900" indent="-342900">
              <a:buFont typeface="+mj-lt"/>
              <a:buAutoNum type="arabicPeriod"/>
            </a:pPr>
            <a:endParaRPr lang="en-US" sz="1600" dirty="0"/>
          </a:p>
          <a:p>
            <a:pPr marL="342900" indent="-342900">
              <a:buFont typeface="+mj-lt"/>
              <a:buAutoNum type="arabicPeriod"/>
            </a:pPr>
            <a:r>
              <a:rPr lang="en-US" sz="1600" b="1" dirty="0"/>
              <a:t>Ridge Regression: </a:t>
            </a:r>
            <a:r>
              <a:rPr lang="en-US" sz="1600" dirty="0"/>
              <a:t>A </a:t>
            </a:r>
            <a:r>
              <a:rPr lang="en-US" sz="1600" i="1" dirty="0"/>
              <a:t>regularized version of linear regression. </a:t>
            </a:r>
            <a:r>
              <a:rPr lang="en-US" sz="1600" dirty="0"/>
              <a:t>It adds a penalty that discourages very large coefficients to stabilize estimates, reduce multicollinearity, and help interpret feature importance</a:t>
            </a:r>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r>
              <a:rPr lang="en-US" sz="1600" b="1" dirty="0"/>
              <a:t>Lasso Regression: </a:t>
            </a:r>
            <a:r>
              <a:rPr lang="en-US" sz="1600" dirty="0"/>
              <a:t>Another regularized regression model that can </a:t>
            </a:r>
            <a:r>
              <a:rPr lang="en-US" sz="1600" i="1" dirty="0"/>
              <a:t>force some coefficients to zero to </a:t>
            </a:r>
            <a:r>
              <a:rPr lang="en-US" sz="1600" dirty="0"/>
              <a:t> effectively perform </a:t>
            </a:r>
            <a:r>
              <a:rPr lang="en-US" sz="1600" i="1" dirty="0"/>
              <a:t>feature selection. </a:t>
            </a:r>
            <a:r>
              <a:rPr lang="en-US" sz="1600" dirty="0"/>
              <a:t>Lasso helps identify which variables matter most. If a coefficient becomes zero, that feature is likely not important</a:t>
            </a:r>
          </a:p>
        </p:txBody>
      </p:sp>
      <p:sp>
        <p:nvSpPr>
          <p:cNvPr id="6" name="Text 8">
            <a:extLst>
              <a:ext uri="{FF2B5EF4-FFF2-40B4-BE49-F238E27FC236}">
                <a16:creationId xmlns:a16="http://schemas.microsoft.com/office/drawing/2014/main" id="{9490644C-6EB2-4359-3F42-EB1F2AFEDC7F}"/>
              </a:ext>
            </a:extLst>
          </p:cNvPr>
          <p:cNvSpPr/>
          <p:nvPr/>
        </p:nvSpPr>
        <p:spPr>
          <a:xfrm>
            <a:off x="8322590" y="7773949"/>
            <a:ext cx="6400800" cy="50292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Population momentum and vulnerability-related variables remain central to prediction.</a:t>
            </a:r>
          </a:p>
        </p:txBody>
      </p:sp>
      <p:pic>
        <p:nvPicPr>
          <p:cNvPr id="3" name="Picture 2">
            <a:extLst>
              <a:ext uri="{FF2B5EF4-FFF2-40B4-BE49-F238E27FC236}">
                <a16:creationId xmlns:a16="http://schemas.microsoft.com/office/drawing/2014/main" id="{07764980-9301-857E-5347-F084F1803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757" y="2446180"/>
            <a:ext cx="2585334" cy="227282"/>
          </a:xfrm>
          <a:prstGeom prst="rect">
            <a:avLst/>
          </a:prstGeom>
        </p:spPr>
      </p:pic>
      <p:pic>
        <p:nvPicPr>
          <p:cNvPr id="10" name="Picture 9">
            <a:extLst>
              <a:ext uri="{FF2B5EF4-FFF2-40B4-BE49-F238E27FC236}">
                <a16:creationId xmlns:a16="http://schemas.microsoft.com/office/drawing/2014/main" id="{7DB1DCC7-EE11-E4A8-2B0E-DA12B7FFF4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634" y="4811101"/>
            <a:ext cx="3176768" cy="237199"/>
          </a:xfrm>
          <a:prstGeom prst="rect">
            <a:avLst/>
          </a:prstGeom>
        </p:spPr>
      </p:pic>
      <p:sp>
        <p:nvSpPr>
          <p:cNvPr id="12" name="Title 10">
            <a:extLst>
              <a:ext uri="{FF2B5EF4-FFF2-40B4-BE49-F238E27FC236}">
                <a16:creationId xmlns:a16="http://schemas.microsoft.com/office/drawing/2014/main" id="{4B60EB8E-2EA9-24B0-67C5-0C77553D7DC9}"/>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Modeling strategy</a:t>
            </a:r>
          </a:p>
        </p:txBody>
      </p:sp>
      <p:pic>
        <p:nvPicPr>
          <p:cNvPr id="2" name="Picture 1" descr="A blue grid with lines and dots&#10;&#10;AI-generated content may be incorrect.">
            <a:extLst>
              <a:ext uri="{FF2B5EF4-FFF2-40B4-BE49-F238E27FC236}">
                <a16:creationId xmlns:a16="http://schemas.microsoft.com/office/drawing/2014/main" id="{8A7BBBFA-A727-9559-EF7E-21EACA1F09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2727024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5CE5-78AD-490D-C7F0-BCFD03DE4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D5BCF9-5264-A0FA-7345-80535708E5F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3D5AD4-765C-F5F1-BF2E-88B3C1075A2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Model Selection</a:t>
            </a:r>
          </a:p>
        </p:txBody>
      </p:sp>
      <p:sp>
        <p:nvSpPr>
          <p:cNvPr id="11" name="TextBox 10">
            <a:extLst>
              <a:ext uri="{FF2B5EF4-FFF2-40B4-BE49-F238E27FC236}">
                <a16:creationId xmlns:a16="http://schemas.microsoft.com/office/drawing/2014/main" id="{B14DAF72-DF65-27AC-ED63-07FB535EECB3}"/>
              </a:ext>
            </a:extLst>
          </p:cNvPr>
          <p:cNvSpPr txBox="1"/>
          <p:nvPr/>
        </p:nvSpPr>
        <p:spPr>
          <a:xfrm>
            <a:off x="139613" y="1368962"/>
            <a:ext cx="9897766" cy="4801314"/>
          </a:xfrm>
          <a:prstGeom prst="rect">
            <a:avLst/>
          </a:prstGeom>
          <a:noFill/>
        </p:spPr>
        <p:txBody>
          <a:bodyPr wrap="square">
            <a:spAutoFit/>
          </a:bodyPr>
          <a:lstStyle/>
          <a:p>
            <a:pPr marL="285750" indent="-285750">
              <a:buFont typeface="Arial" panose="020B0604020202020204" pitchFamily="34" charset="0"/>
              <a:buChar char="•"/>
            </a:pPr>
            <a:r>
              <a:rPr lang="en-US" b="1" dirty="0"/>
              <a:t>Model selection approach:</a:t>
            </a:r>
            <a:endParaRPr lang="en-US" dirty="0"/>
          </a:p>
          <a:p>
            <a:pPr marL="742950" lvl="1" indent="-285750">
              <a:buFont typeface="Arial" panose="020B0604020202020204" pitchFamily="34" charset="0"/>
              <a:buChar char="•"/>
            </a:pPr>
            <a:r>
              <a:rPr lang="en-US" dirty="0"/>
              <a:t>Compared OLS, Ridge, Lasso, Random Forest, </a:t>
            </a:r>
            <a:r>
              <a:rPr lang="en-US" dirty="0" err="1"/>
              <a:t>HistGradientBoosting</a:t>
            </a:r>
            <a:r>
              <a:rPr lang="en-US" dirty="0"/>
              <a:t>, and Extra Trees </a:t>
            </a:r>
          </a:p>
          <a:p>
            <a:pPr marL="742950" lvl="1" indent="-285750">
              <a:buFont typeface="Arial" panose="020B0604020202020204" pitchFamily="34" charset="0"/>
              <a:buChar char="•"/>
            </a:pPr>
            <a:r>
              <a:rPr lang="en-US" dirty="0"/>
              <a:t>Selected Lasso as the final model based on the strongest out-of-sample performance </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lvl="1"/>
            <a:endParaRPr lang="en-US" b="1" dirty="0"/>
          </a:p>
          <a:p>
            <a:endParaRPr lang="en-US" b="1" dirty="0"/>
          </a:p>
          <a:p>
            <a:endParaRPr lang="en-US" b="1" dirty="0"/>
          </a:p>
          <a:p>
            <a:endParaRPr lang="en-US" b="1" dirty="0"/>
          </a:p>
          <a:p>
            <a:endParaRPr lang="en-US" b="1" dirty="0"/>
          </a:p>
          <a:p>
            <a:endParaRPr lang="en-US" b="1" dirty="0"/>
          </a:p>
          <a:p>
            <a:pPr marL="285750" indent="-285750">
              <a:buFont typeface="Arial" panose="020B0604020202020204" pitchFamily="34" charset="0"/>
              <a:buChar char="•"/>
            </a:pPr>
            <a:r>
              <a:rPr lang="en-US" b="1" dirty="0"/>
              <a:t>Selected: </a:t>
            </a:r>
            <a:r>
              <a:rPr lang="en-US" dirty="0"/>
              <a:t>Lasso</a:t>
            </a:r>
          </a:p>
          <a:p>
            <a:pPr marL="285750" indent="-285750">
              <a:buFont typeface="Arial" panose="020B0604020202020204" pitchFamily="34" charset="0"/>
              <a:buChar char="•"/>
            </a:pPr>
            <a:r>
              <a:rPr lang="en-US" b="1" dirty="0"/>
              <a:t>Key Result:  </a:t>
            </a:r>
            <a:r>
              <a:rPr lang="en-US" dirty="0"/>
              <a:t>Test R² ≈ </a:t>
            </a:r>
            <a:r>
              <a:rPr lang="en-US" b="1" dirty="0"/>
              <a:t>0.91</a:t>
            </a:r>
            <a:endParaRPr lang="en-US" dirty="0"/>
          </a:p>
        </p:txBody>
      </p:sp>
      <p:pic>
        <p:nvPicPr>
          <p:cNvPr id="6" name="Picture 5">
            <a:extLst>
              <a:ext uri="{FF2B5EF4-FFF2-40B4-BE49-F238E27FC236}">
                <a16:creationId xmlns:a16="http://schemas.microsoft.com/office/drawing/2014/main" id="{2F138C60-C22C-D590-D67D-5C4FCD08C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22" y="2722105"/>
            <a:ext cx="6878993" cy="2670770"/>
          </a:xfrm>
          <a:prstGeom prst="rect">
            <a:avLst/>
          </a:prstGeom>
        </p:spPr>
      </p:pic>
      <p:pic>
        <p:nvPicPr>
          <p:cNvPr id="2" name="Picture 1" descr="A blue grid with lines and dots&#10;&#10;AI-generated content may be incorrect.">
            <a:extLst>
              <a:ext uri="{FF2B5EF4-FFF2-40B4-BE49-F238E27FC236}">
                <a16:creationId xmlns:a16="http://schemas.microsoft.com/office/drawing/2014/main" id="{E3160C73-E5BC-E10E-90F8-40BE038B69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4261835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C861-E33F-C09B-EB02-1B9C8104DF5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E3B622-C2B6-15C0-6840-4EA0170A6E8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75EDC21E-BFC6-1CCE-93E2-8AB394250B5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000" b="1" dirty="0">
                <a:solidFill>
                  <a:schemeClr val="bg1"/>
                </a:solidFill>
              </a:rPr>
              <a:t>Chronological 80/20 Split</a:t>
            </a:r>
          </a:p>
        </p:txBody>
      </p:sp>
      <p:pic>
        <p:nvPicPr>
          <p:cNvPr id="3" name="Picture 2">
            <a:extLst>
              <a:ext uri="{FF2B5EF4-FFF2-40B4-BE49-F238E27FC236}">
                <a16:creationId xmlns:a16="http://schemas.microsoft.com/office/drawing/2014/main" id="{75392B15-D454-FF9B-9377-3BDDDE70F33B}"/>
              </a:ext>
            </a:extLst>
          </p:cNvPr>
          <p:cNvPicPr>
            <a:picLocks noChangeAspect="1"/>
          </p:cNvPicPr>
          <p:nvPr/>
        </p:nvPicPr>
        <p:blipFill>
          <a:blip r:embed="rId3"/>
          <a:stretch>
            <a:fillRect/>
          </a:stretch>
        </p:blipFill>
        <p:spPr>
          <a:xfrm>
            <a:off x="0" y="1246298"/>
            <a:ext cx="8788400" cy="4469314"/>
          </a:xfrm>
          <a:prstGeom prst="rect">
            <a:avLst/>
          </a:prstGeom>
        </p:spPr>
      </p:pic>
      <p:sp>
        <p:nvSpPr>
          <p:cNvPr id="8" name="TextBox 7">
            <a:extLst>
              <a:ext uri="{FF2B5EF4-FFF2-40B4-BE49-F238E27FC236}">
                <a16:creationId xmlns:a16="http://schemas.microsoft.com/office/drawing/2014/main" id="{7DC07DDB-1C42-8E82-B79B-75567BBEA860}"/>
              </a:ext>
            </a:extLst>
          </p:cNvPr>
          <p:cNvSpPr txBox="1"/>
          <p:nvPr/>
        </p:nvSpPr>
        <p:spPr>
          <a:xfrm>
            <a:off x="0" y="5933249"/>
            <a:ext cx="12192000" cy="369332"/>
          </a:xfrm>
          <a:prstGeom prst="rect">
            <a:avLst/>
          </a:prstGeom>
          <a:noFill/>
        </p:spPr>
        <p:txBody>
          <a:bodyPr wrap="square">
            <a:spAutoFit/>
          </a:bodyPr>
          <a:lstStyle/>
          <a:p>
            <a:r>
              <a:rPr lang="en-US" b="1" dirty="0"/>
              <a:t>Key takeaway: </a:t>
            </a:r>
            <a:r>
              <a:rPr lang="en-US" dirty="0"/>
              <a:t>The model is trained only on past data and evaluated on future years, ensuring a realistic forecasting setup</a:t>
            </a:r>
          </a:p>
        </p:txBody>
      </p:sp>
      <p:pic>
        <p:nvPicPr>
          <p:cNvPr id="2" name="Picture 1" descr="A blue grid with lines and dots&#10;&#10;AI-generated content may be incorrect.">
            <a:extLst>
              <a:ext uri="{FF2B5EF4-FFF2-40B4-BE49-F238E27FC236}">
                <a16:creationId xmlns:a16="http://schemas.microsoft.com/office/drawing/2014/main" id="{B7BB355D-3E25-5117-B18C-1C73FFD114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2143126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286B-27FC-B142-24DF-3360A23C1D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A85A02-485F-6DB0-7576-9AB1804B11B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41ABC40-ED9C-119F-A258-0124DEB857C6}"/>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Lead–Lag Analysis: </a:t>
            </a:r>
          </a:p>
          <a:p>
            <a:pPr lvl="0"/>
            <a:r>
              <a:rPr lang="en-US" sz="3200" b="1" dirty="0">
                <a:solidFill>
                  <a:schemeClr val="bg1"/>
                </a:solidFill>
              </a:rPr>
              <a:t>When Do Drivers Matter</a:t>
            </a:r>
          </a:p>
        </p:txBody>
      </p:sp>
      <p:sp>
        <p:nvSpPr>
          <p:cNvPr id="11" name="TextBox 10">
            <a:extLst>
              <a:ext uri="{FF2B5EF4-FFF2-40B4-BE49-F238E27FC236}">
                <a16:creationId xmlns:a16="http://schemas.microsoft.com/office/drawing/2014/main" id="{41355400-6FEF-AD30-128B-DC3422E8C2B4}"/>
              </a:ext>
            </a:extLst>
          </p:cNvPr>
          <p:cNvSpPr txBox="1"/>
          <p:nvPr/>
        </p:nvSpPr>
        <p:spPr>
          <a:xfrm>
            <a:off x="139613" y="1368962"/>
            <a:ext cx="6706030" cy="4524315"/>
          </a:xfrm>
          <a:prstGeom prst="rect">
            <a:avLst/>
          </a:prstGeom>
          <a:noFill/>
        </p:spPr>
        <p:txBody>
          <a:bodyPr wrap="square">
            <a:spAutoFit/>
          </a:bodyPr>
          <a:lstStyle/>
          <a:p>
            <a:r>
              <a:rPr lang="en-US" b="1" dirty="0"/>
              <a:t>Key Findings:</a:t>
            </a:r>
          </a:p>
          <a:p>
            <a:pPr marL="342900" indent="-342900">
              <a:buFont typeface="Arial" panose="020B0604020202020204" pitchFamily="34" charset="0"/>
              <a:buChar char="•"/>
            </a:pPr>
            <a:r>
              <a:rPr lang="en-US" dirty="0"/>
              <a:t>Hurricanes (wind exposure) have the strongest impact at lag 1 </a:t>
            </a:r>
          </a:p>
          <a:p>
            <a:pPr marL="342900" indent="-342900">
              <a:buFont typeface="Arial" panose="020B0604020202020204" pitchFamily="34" charset="0"/>
              <a:buChar char="•"/>
            </a:pPr>
            <a:r>
              <a:rPr lang="en-US" dirty="0"/>
              <a:t>Earthquake effects are both immediate and short-term persistent </a:t>
            </a:r>
          </a:p>
          <a:p>
            <a:pPr marL="342900" indent="-342900">
              <a:buFont typeface="Arial" panose="020B0604020202020204" pitchFamily="34" charset="0"/>
              <a:buChar char="•"/>
            </a:pPr>
            <a:r>
              <a:rPr lang="en-US" dirty="0"/>
              <a:t>Vulnerability (SVI) influences population change consistently over time </a:t>
            </a:r>
          </a:p>
          <a:p>
            <a:pPr marL="342900" indent="-342900">
              <a:buFont typeface="Arial" panose="020B0604020202020204" pitchFamily="34" charset="0"/>
              <a:buChar char="•"/>
            </a:pPr>
            <a:r>
              <a:rPr lang="en-US" dirty="0"/>
              <a:t>Economic variables contribute modest but stable effects </a:t>
            </a:r>
          </a:p>
          <a:p>
            <a:endParaRPr lang="en-US" dirty="0"/>
          </a:p>
          <a:p>
            <a:r>
              <a:rPr lang="en-US" b="1" dirty="0"/>
              <a:t>Interpretation:</a:t>
            </a:r>
          </a:p>
          <a:p>
            <a:pPr marL="342900" indent="-342900">
              <a:buFont typeface="Arial" panose="020B0604020202020204" pitchFamily="34" charset="0"/>
              <a:buChar char="•"/>
            </a:pPr>
            <a:r>
              <a:rPr lang="en-US" dirty="0"/>
              <a:t>Population responses to disasters are delayed, not immediate </a:t>
            </a:r>
          </a:p>
          <a:p>
            <a:pPr marL="342900" indent="-342900">
              <a:buFont typeface="Arial" panose="020B0604020202020204" pitchFamily="34" charset="0"/>
              <a:buChar char="•"/>
            </a:pPr>
            <a:r>
              <a:rPr lang="en-US" dirty="0"/>
              <a:t>Migration and recovery processes likely drive lagged effects </a:t>
            </a:r>
          </a:p>
          <a:p>
            <a:pPr marL="342900" indent="-342900">
              <a:buFont typeface="Arial" panose="020B0604020202020204" pitchFamily="34" charset="0"/>
              <a:buChar char="•"/>
            </a:pPr>
            <a:r>
              <a:rPr lang="en-US" dirty="0"/>
              <a:t>Structural factors shape baseline vulnerability across time </a:t>
            </a:r>
          </a:p>
          <a:p>
            <a:endParaRPr lang="en-US" dirty="0"/>
          </a:p>
          <a:p>
            <a:r>
              <a:rPr lang="en-US" b="1" dirty="0"/>
              <a:t>Key Insight: </a:t>
            </a:r>
            <a:r>
              <a:rPr lang="en-US" dirty="0"/>
              <a:t>Timing matters — not just magnitude</a:t>
            </a:r>
            <a:br>
              <a:rPr lang="en-US" dirty="0"/>
            </a:br>
            <a:r>
              <a:rPr lang="en-US" dirty="0"/>
              <a:t>Population change is driven by </a:t>
            </a:r>
            <a:r>
              <a:rPr lang="en-US" b="1" dirty="0"/>
              <a:t>delayed responses to shocks and persistent structural conditions</a:t>
            </a:r>
            <a:endParaRPr lang="en-US" dirty="0"/>
          </a:p>
        </p:txBody>
      </p:sp>
      <p:pic>
        <p:nvPicPr>
          <p:cNvPr id="3" name="Picture 2">
            <a:extLst>
              <a:ext uri="{FF2B5EF4-FFF2-40B4-BE49-F238E27FC236}">
                <a16:creationId xmlns:a16="http://schemas.microsoft.com/office/drawing/2014/main" id="{C1FD42D7-76D3-259B-08F9-14DCC8C56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304" y="2444000"/>
            <a:ext cx="5415083" cy="3757094"/>
          </a:xfrm>
          <a:prstGeom prst="rect">
            <a:avLst/>
          </a:prstGeom>
        </p:spPr>
      </p:pic>
      <p:pic>
        <p:nvPicPr>
          <p:cNvPr id="2" name="Picture 1" descr="A blue grid with lines and dots&#10;&#10;AI-generated content may be incorrect.">
            <a:extLst>
              <a:ext uri="{FF2B5EF4-FFF2-40B4-BE49-F238E27FC236}">
                <a16:creationId xmlns:a16="http://schemas.microsoft.com/office/drawing/2014/main" id="{4F4EAF11-A29E-C47A-BAA4-40D658FF50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4004191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B461-06C7-B3FE-2FD3-A6EAA2C2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AFF467-EA34-A1E1-7D27-49257098751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C9245BE-7F46-5541-F240-56BA0A3CBFE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Key Learning</a:t>
            </a:r>
          </a:p>
        </p:txBody>
      </p:sp>
      <p:sp>
        <p:nvSpPr>
          <p:cNvPr id="11" name="TextBox 10">
            <a:extLst>
              <a:ext uri="{FF2B5EF4-FFF2-40B4-BE49-F238E27FC236}">
                <a16:creationId xmlns:a16="http://schemas.microsoft.com/office/drawing/2014/main" id="{5F60B027-7280-1B08-F112-1AB1AFF3FADD}"/>
              </a:ext>
            </a:extLst>
          </p:cNvPr>
          <p:cNvSpPr txBox="1"/>
          <p:nvPr/>
        </p:nvSpPr>
        <p:spPr>
          <a:xfrm>
            <a:off x="139613" y="1368962"/>
            <a:ext cx="9560053" cy="5016758"/>
          </a:xfrm>
          <a:prstGeom prst="rect">
            <a:avLst/>
          </a:prstGeom>
          <a:noFill/>
        </p:spPr>
        <p:txBody>
          <a:bodyPr wrap="square">
            <a:spAutoFit/>
          </a:bodyPr>
          <a:lstStyle/>
          <a:p>
            <a:r>
              <a:rPr lang="en-US" sz="2000" b="1" dirty="0"/>
              <a:t>What emerges:</a:t>
            </a:r>
          </a:p>
          <a:p>
            <a:pPr marL="342900" indent="-342900">
              <a:buFont typeface="Arial" panose="020B0604020202020204" pitchFamily="34" charset="0"/>
              <a:buChar char="•"/>
            </a:pPr>
            <a:r>
              <a:rPr lang="en-US" sz="2000" dirty="0"/>
              <a:t>Distinct municipal typologies across Puerto Rico </a:t>
            </a:r>
          </a:p>
          <a:p>
            <a:pPr marL="342900" indent="-342900">
              <a:buFont typeface="Arial" panose="020B0604020202020204" pitchFamily="34" charset="0"/>
              <a:buChar char="•"/>
            </a:pPr>
            <a:r>
              <a:rPr lang="en-US" sz="2000" dirty="0"/>
              <a:t>Clear and persistent regional clustering </a:t>
            </a:r>
          </a:p>
          <a:p>
            <a:pPr marL="342900" indent="-342900">
              <a:buFont typeface="Arial" panose="020B0604020202020204" pitchFamily="34" charset="0"/>
              <a:buChar char="•"/>
            </a:pPr>
            <a:r>
              <a:rPr lang="en-US" sz="2000" dirty="0"/>
              <a:t>Strong spatial organization of population dynamics</a:t>
            </a:r>
            <a:br>
              <a:rPr lang="en-US" sz="2000" dirty="0"/>
            </a:br>
            <a:endParaRPr lang="en-US" sz="2000" dirty="0"/>
          </a:p>
          <a:p>
            <a:r>
              <a:rPr lang="en-US" sz="2000" b="1" dirty="0"/>
              <a:t>Implications:</a:t>
            </a:r>
          </a:p>
          <a:p>
            <a:pPr marL="285750" indent="-285750">
              <a:buFont typeface="Arial" panose="020B0604020202020204" pitchFamily="34" charset="0"/>
              <a:buChar char="•"/>
            </a:pPr>
            <a:r>
              <a:rPr lang="en-US" sz="2000" dirty="0"/>
              <a:t>Patterns are stable and spatially coherent</a:t>
            </a:r>
          </a:p>
          <a:p>
            <a:pPr marL="285750" indent="-285750">
              <a:buFont typeface="Arial" panose="020B0604020202020204" pitchFamily="34" charset="0"/>
              <a:buChar char="•"/>
            </a:pPr>
            <a:r>
              <a:rPr lang="en-US" sz="2000" dirty="0"/>
              <a:t>Similar municipalities exhibit consistent trajectories </a:t>
            </a:r>
          </a:p>
          <a:p>
            <a:pPr marL="285750" indent="-285750">
              <a:buFont typeface="Arial" panose="020B0604020202020204" pitchFamily="34" charset="0"/>
              <a:buChar char="•"/>
            </a:pPr>
            <a:r>
              <a:rPr lang="en-US" sz="2000" dirty="0"/>
              <a:t>Geographic proximity aligns with structural similarity </a:t>
            </a:r>
          </a:p>
          <a:p>
            <a:pPr marL="285750" indent="-285750">
              <a:buFont typeface="Arial" panose="020B0604020202020204" pitchFamily="34" charset="0"/>
              <a:buChar char="•"/>
            </a:pPr>
            <a:r>
              <a:rPr lang="en-US" sz="2000" dirty="0"/>
              <a:t>Results persist across modeling approaches and specifications</a:t>
            </a:r>
            <a:br>
              <a:rPr lang="en-US" sz="2000" dirty="0"/>
            </a:br>
            <a:endParaRPr lang="en-US" sz="2000" dirty="0"/>
          </a:p>
          <a:p>
            <a:r>
              <a:rPr lang="en-US" sz="2000" b="1" dirty="0"/>
              <a:t>Key Takeaways :</a:t>
            </a:r>
          </a:p>
          <a:p>
            <a:pPr marL="285750" indent="-285750">
              <a:buFont typeface="Arial" panose="020B0604020202020204" pitchFamily="34" charset="0"/>
              <a:buChar char="•"/>
            </a:pPr>
            <a:r>
              <a:rPr lang="en-US" sz="2000" dirty="0"/>
              <a:t>Population change is structurally and spatially organized, not random </a:t>
            </a:r>
          </a:p>
          <a:p>
            <a:pPr marL="285750" indent="-285750">
              <a:buFont typeface="Arial" panose="020B0604020202020204" pitchFamily="34" charset="0"/>
              <a:buChar char="•"/>
            </a:pPr>
            <a:r>
              <a:rPr lang="en-US" sz="2000" dirty="0"/>
              <a:t>Decline is concentrated in specific regions, not evenly distributed </a:t>
            </a:r>
          </a:p>
          <a:p>
            <a:pPr marL="285750" indent="-285750">
              <a:buFont typeface="Arial" panose="020B0604020202020204" pitchFamily="34" charset="0"/>
              <a:buChar char="•"/>
            </a:pPr>
            <a:r>
              <a:rPr lang="en-US" sz="2000" dirty="0"/>
              <a:t>Economic conditions and vulnerability align geographically </a:t>
            </a:r>
          </a:p>
          <a:p>
            <a:pPr marL="285750" indent="-285750">
              <a:buFont typeface="Arial" panose="020B0604020202020204" pitchFamily="34" charset="0"/>
              <a:buChar char="•"/>
            </a:pPr>
            <a:r>
              <a:rPr lang="en-US" sz="2000" dirty="0"/>
              <a:t>Spatial structure reflects long-term underlying conditions, not short-term shocks</a:t>
            </a:r>
          </a:p>
        </p:txBody>
      </p:sp>
      <p:pic>
        <p:nvPicPr>
          <p:cNvPr id="2" name="Picture 1" descr="A blue grid with lines and dots&#10;&#10;AI-generated content may be incorrect.">
            <a:extLst>
              <a:ext uri="{FF2B5EF4-FFF2-40B4-BE49-F238E27FC236}">
                <a16:creationId xmlns:a16="http://schemas.microsoft.com/office/drawing/2014/main" id="{6F030230-2F84-7047-C506-D72031F22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pic>
        <p:nvPicPr>
          <p:cNvPr id="3" name="Picture 2" descr="A map of different colored areas&#10;&#10;AI-generated content may be incorrect.">
            <a:extLst>
              <a:ext uri="{FF2B5EF4-FFF2-40B4-BE49-F238E27FC236}">
                <a16:creationId xmlns:a16="http://schemas.microsoft.com/office/drawing/2014/main" id="{D1A74FC8-3B8C-64D7-11C5-D01A1AFCBA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51723" y="1656724"/>
            <a:ext cx="3955732" cy="1772276"/>
          </a:xfrm>
          <a:prstGeom prst="rect">
            <a:avLst/>
          </a:prstGeom>
        </p:spPr>
      </p:pic>
    </p:spTree>
    <p:extLst>
      <p:ext uri="{BB962C8B-B14F-4D97-AF65-F5344CB8AC3E}">
        <p14:creationId xmlns:p14="http://schemas.microsoft.com/office/powerpoint/2010/main" val="628415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1E96-4FBA-2C53-EB6D-71A7308290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CC9B3-CFF7-3236-0435-5AAC114F3BB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CCB344E-0505-7DC9-9B4B-918C6753D07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11" name="TextBox 10">
            <a:extLst>
              <a:ext uri="{FF2B5EF4-FFF2-40B4-BE49-F238E27FC236}">
                <a16:creationId xmlns:a16="http://schemas.microsoft.com/office/drawing/2014/main" id="{780EBFB1-42F0-193F-093F-6D0414F8B9A6}"/>
              </a:ext>
            </a:extLst>
          </p:cNvPr>
          <p:cNvSpPr txBox="1"/>
          <p:nvPr/>
        </p:nvSpPr>
        <p:spPr>
          <a:xfrm>
            <a:off x="139614" y="1368962"/>
            <a:ext cx="7408330" cy="4524315"/>
          </a:xfrm>
          <a:prstGeom prst="rect">
            <a:avLst/>
          </a:prstGeom>
          <a:noFill/>
        </p:spPr>
        <p:txBody>
          <a:bodyPr wrap="square">
            <a:spAutoFit/>
          </a:bodyPr>
          <a:lstStyle/>
          <a:p>
            <a:r>
              <a:rPr lang="en-US" b="1" dirty="0"/>
              <a:t>Key Findings: </a:t>
            </a:r>
          </a:p>
          <a:p>
            <a:pPr marL="285750" indent="-285750">
              <a:buFont typeface="Arial" panose="020B0604020202020204" pitchFamily="34" charset="0"/>
              <a:buChar char="•"/>
            </a:pPr>
            <a:r>
              <a:rPr lang="en-US" dirty="0"/>
              <a:t>Puerto Rico shows a persistent population decline (~0.6% per year) </a:t>
            </a:r>
            <a:br>
              <a:rPr lang="en-US" dirty="0"/>
            </a:br>
            <a:r>
              <a:rPr lang="en-US" dirty="0"/>
              <a:t>≈ ~20,000 people lost annually </a:t>
            </a:r>
          </a:p>
          <a:p>
            <a:endParaRPr lang="en-US" dirty="0"/>
          </a:p>
          <a:p>
            <a:pPr marL="285750" indent="-285750">
              <a:buFont typeface="Arial" panose="020B0604020202020204" pitchFamily="34" charset="0"/>
              <a:buChar char="•"/>
            </a:pPr>
            <a:r>
              <a:rPr lang="en-US" dirty="0"/>
              <a:t>Decline is not uniform across the island </a:t>
            </a:r>
          </a:p>
          <a:p>
            <a:pPr marL="285750" indent="-285750">
              <a:buFont typeface="Arial" panose="020B0604020202020204" pitchFamily="34" charset="0"/>
              <a:buChar char="•"/>
            </a:pPr>
            <a:r>
              <a:rPr lang="en-US" dirty="0"/>
              <a:t>Largest losses in South and West regions </a:t>
            </a:r>
          </a:p>
          <a:p>
            <a:pPr marL="285750" indent="-285750">
              <a:buFont typeface="Arial" panose="020B0604020202020204" pitchFamily="34" charset="0"/>
              <a:buChar char="•"/>
            </a:pPr>
            <a:r>
              <a:rPr lang="en-US" dirty="0"/>
              <a:t>Regional differences remain stable over time</a:t>
            </a:r>
            <a:br>
              <a:rPr lang="en-US" dirty="0"/>
            </a:br>
            <a:endParaRPr lang="en-US" dirty="0"/>
          </a:p>
          <a:p>
            <a:r>
              <a:rPr lang="en-US" b="1" dirty="0"/>
              <a:t>Model Insight</a:t>
            </a:r>
          </a:p>
          <a:p>
            <a:pPr marL="285750" indent="-285750">
              <a:buFont typeface="Arial" panose="020B0604020202020204" pitchFamily="34" charset="0"/>
              <a:buChar char="•"/>
            </a:pPr>
            <a:r>
              <a:rPr lang="en-US" dirty="0"/>
              <a:t>Population decline is systematic and predictable </a:t>
            </a:r>
          </a:p>
          <a:p>
            <a:pPr marL="285750" indent="-285750">
              <a:buFont typeface="Arial" panose="020B0604020202020204" pitchFamily="34" charset="0"/>
              <a:buChar char="•"/>
            </a:pPr>
            <a:r>
              <a:rPr lang="en-US" dirty="0"/>
              <a:t>Regional location strongly influences outcomes </a:t>
            </a:r>
          </a:p>
          <a:p>
            <a:pPr marL="285750" indent="-285750">
              <a:buFont typeface="Arial" panose="020B0604020202020204" pitchFamily="34" charset="0"/>
              <a:buChar char="•"/>
            </a:pPr>
            <a:r>
              <a:rPr lang="en-US" dirty="0"/>
              <a:t>Decline is spatially concentrated, not random</a:t>
            </a:r>
            <a:br>
              <a:rPr lang="en-US" dirty="0"/>
            </a:br>
            <a:endParaRPr lang="en-US" dirty="0"/>
          </a:p>
          <a:p>
            <a:r>
              <a:rPr lang="en-US" b="1" dirty="0"/>
              <a:t>Key Insight: </a:t>
            </a:r>
            <a:r>
              <a:rPr lang="en-US" dirty="0"/>
              <a:t>Population decline in Puerto Rico is spatially structured and persistent, with long-term regional patterns driving outcomes more than short-term fluctuations</a:t>
            </a:r>
          </a:p>
        </p:txBody>
      </p:sp>
      <p:sp>
        <p:nvSpPr>
          <p:cNvPr id="2" name="Rectangle 1">
            <a:extLst>
              <a:ext uri="{FF2B5EF4-FFF2-40B4-BE49-F238E27FC236}">
                <a16:creationId xmlns:a16="http://schemas.microsoft.com/office/drawing/2014/main" id="{AB0A0A53-C08A-8CF6-2CA4-43ACDEE0AD90}"/>
              </a:ext>
            </a:extLst>
          </p:cNvPr>
          <p:cNvSpPr/>
          <p:nvPr/>
        </p:nvSpPr>
        <p:spPr>
          <a:xfrm flipH="1">
            <a:off x="9996298" y="3741650"/>
            <a:ext cx="60325"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257CEC4-6F2C-8ECC-12C3-45B2C85C508B}"/>
              </a:ext>
            </a:extLst>
          </p:cNvPr>
          <p:cNvSpPr/>
          <p:nvPr/>
        </p:nvSpPr>
        <p:spPr>
          <a:xfrm flipH="1">
            <a:off x="10068053" y="3751175"/>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1D25DF4-5DF8-F96E-0138-F8EA589E13D1}"/>
              </a:ext>
            </a:extLst>
          </p:cNvPr>
          <p:cNvSpPr/>
          <p:nvPr/>
        </p:nvSpPr>
        <p:spPr>
          <a:xfrm flipH="1">
            <a:off x="10166478" y="3741650"/>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73B7663-3D63-68BB-2952-42010C173F4C}"/>
              </a:ext>
            </a:extLst>
          </p:cNvPr>
          <p:cNvSpPr/>
          <p:nvPr/>
        </p:nvSpPr>
        <p:spPr>
          <a:xfrm flipH="1">
            <a:off x="10093453" y="3751175"/>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graph of earthquake and earthquake&#10;&#10;AI-generated content may be incorrect.">
            <a:extLst>
              <a:ext uri="{FF2B5EF4-FFF2-40B4-BE49-F238E27FC236}">
                <a16:creationId xmlns:a16="http://schemas.microsoft.com/office/drawing/2014/main" id="{E832074F-0E6B-0735-113E-B5184D60CB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6570" y="1179741"/>
            <a:ext cx="3619456" cy="5142868"/>
          </a:xfrm>
          <a:prstGeom prst="rect">
            <a:avLst/>
          </a:prstGeom>
        </p:spPr>
      </p:pic>
      <p:pic>
        <p:nvPicPr>
          <p:cNvPr id="6" name="Picture 5" descr="A blue grid with lines and dots&#10;&#10;AI-generated content may be incorrect.">
            <a:extLst>
              <a:ext uri="{FF2B5EF4-FFF2-40B4-BE49-F238E27FC236}">
                <a16:creationId xmlns:a16="http://schemas.microsoft.com/office/drawing/2014/main" id="{88776575-C8E3-55C9-541C-DDE4F2B306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95035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CE450-7451-3561-C82E-B27D143454FF}"/>
            </a:ext>
          </a:extLst>
        </p:cNvPr>
        <p:cNvGrpSpPr/>
        <p:nvPr/>
      </p:nvGrpSpPr>
      <p:grpSpPr>
        <a:xfrm>
          <a:off x="0" y="0"/>
          <a:ext cx="0" cy="0"/>
          <a:chOff x="0" y="0"/>
          <a:chExt cx="0" cy="0"/>
        </a:xfrm>
      </p:grpSpPr>
      <p:pic>
        <p:nvPicPr>
          <p:cNvPr id="6" name="Picture 5" descr="A map of different colored areas&#10;&#10;AI-generated content may be incorrect.">
            <a:extLst>
              <a:ext uri="{FF2B5EF4-FFF2-40B4-BE49-F238E27FC236}">
                <a16:creationId xmlns:a16="http://schemas.microsoft.com/office/drawing/2014/main" id="{D1D0EC73-A520-E2D4-4E56-FEC5EAFCB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9141" y="4520245"/>
            <a:ext cx="4066859" cy="1809751"/>
          </a:xfrm>
          <a:prstGeom prst="rect">
            <a:avLst/>
          </a:prstGeom>
        </p:spPr>
      </p:pic>
      <p:pic>
        <p:nvPicPr>
          <p:cNvPr id="10" name="Picture 9" descr="A map of different colored areas&#10;&#10;AI-generated content may be incorrect.">
            <a:extLst>
              <a:ext uri="{FF2B5EF4-FFF2-40B4-BE49-F238E27FC236}">
                <a16:creationId xmlns:a16="http://schemas.microsoft.com/office/drawing/2014/main" id="{4984584E-D9F5-BB6F-B072-249C1077F9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7594" y="4335196"/>
            <a:ext cx="4033480" cy="1807109"/>
          </a:xfrm>
          <a:prstGeom prst="rect">
            <a:avLst/>
          </a:prstGeom>
        </p:spPr>
      </p:pic>
      <p:pic>
        <p:nvPicPr>
          <p:cNvPr id="13" name="Picture 12" descr="A map of different colored states&#10;&#10;AI-generated content may be incorrect.">
            <a:extLst>
              <a:ext uri="{FF2B5EF4-FFF2-40B4-BE49-F238E27FC236}">
                <a16:creationId xmlns:a16="http://schemas.microsoft.com/office/drawing/2014/main" id="{289B6E45-AFB1-5D39-45BE-04F30976DD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97137" y="1618639"/>
            <a:ext cx="4033480" cy="1809751"/>
          </a:xfrm>
          <a:prstGeom prst="rect">
            <a:avLst/>
          </a:prstGeom>
        </p:spPr>
      </p:pic>
      <p:pic>
        <p:nvPicPr>
          <p:cNvPr id="15" name="Picture 14" descr="A map of different colored areas&#10;&#10;AI-generated content may be incorrect.">
            <a:extLst>
              <a:ext uri="{FF2B5EF4-FFF2-40B4-BE49-F238E27FC236}">
                <a16:creationId xmlns:a16="http://schemas.microsoft.com/office/drawing/2014/main" id="{6F8F3549-F043-02CF-3966-FD9417B81C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85832" y="1619249"/>
            <a:ext cx="4066862" cy="1809751"/>
          </a:xfrm>
          <a:prstGeom prst="rect">
            <a:avLst/>
          </a:prstGeom>
        </p:spPr>
      </p:pic>
      <p:sp>
        <p:nvSpPr>
          <p:cNvPr id="4" name="Rectangle 3">
            <a:extLst>
              <a:ext uri="{FF2B5EF4-FFF2-40B4-BE49-F238E27FC236}">
                <a16:creationId xmlns:a16="http://schemas.microsoft.com/office/drawing/2014/main" id="{B97622A4-D8B9-5C1F-0940-F076655EC8F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D1CA394-DA1A-2FB8-2000-66836352100D}"/>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2" name="Picture 1" descr="A blue grid with lines and dots&#10;&#10;AI-generated content may be incorrect.">
            <a:extLst>
              <a:ext uri="{FF2B5EF4-FFF2-40B4-BE49-F238E27FC236}">
                <a16:creationId xmlns:a16="http://schemas.microsoft.com/office/drawing/2014/main" id="{A95F9BB7-CCDD-9C9B-AE3A-A7EFD63361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pic>
        <p:nvPicPr>
          <p:cNvPr id="1026" name="Picture 2" descr="Earthquake Magnitude Scale aka The Richter Scale">
            <a:extLst>
              <a:ext uri="{FF2B5EF4-FFF2-40B4-BE49-F238E27FC236}">
                <a16:creationId xmlns:a16="http://schemas.microsoft.com/office/drawing/2014/main" id="{938F98F5-F4C0-8738-75E3-F939B29FBD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086" y="4940524"/>
            <a:ext cx="1558109" cy="9691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affir-Simpson hurricane scale | Definition, Wind Speed, &amp; Facts |  Britannica">
            <a:extLst>
              <a:ext uri="{FF2B5EF4-FFF2-40B4-BE49-F238E27FC236}">
                <a16:creationId xmlns:a16="http://schemas.microsoft.com/office/drawing/2014/main" id="{391ADFA8-630F-9204-847C-F2C95D006CD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784223"/>
            <a:ext cx="1182866" cy="1478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837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4858-528D-1E9D-D076-E07737746C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EA9AAD-CB49-B525-910C-44F3EE7A266C}"/>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9DFE2C1-2757-4F13-1168-9FCEC98D397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a:extLst>
              <a:ext uri="{FF2B5EF4-FFF2-40B4-BE49-F238E27FC236}">
                <a16:creationId xmlns:a16="http://schemas.microsoft.com/office/drawing/2014/main" id="{F3E640DB-B139-20C3-110C-47BE0BCE1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52" y="1725108"/>
            <a:ext cx="4961310" cy="2701158"/>
          </a:xfrm>
          <a:prstGeom prst="rect">
            <a:avLst/>
          </a:prstGeom>
          <a:ln>
            <a:noFill/>
          </a:ln>
        </p:spPr>
      </p:pic>
      <p:pic>
        <p:nvPicPr>
          <p:cNvPr id="2" name="Picture 1">
            <a:extLst>
              <a:ext uri="{FF2B5EF4-FFF2-40B4-BE49-F238E27FC236}">
                <a16:creationId xmlns:a16="http://schemas.microsoft.com/office/drawing/2014/main" id="{3291455C-AF88-5013-3FFB-9C50D7A698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725108"/>
            <a:ext cx="4961311" cy="2701158"/>
          </a:xfrm>
          <a:prstGeom prst="rect">
            <a:avLst/>
          </a:prstGeom>
          <a:ln>
            <a:noFill/>
          </a:ln>
        </p:spPr>
      </p:pic>
      <p:pic>
        <p:nvPicPr>
          <p:cNvPr id="6" name="Picture 5" descr="A blue grid with lines and dots&#10;&#10;AI-generated content may be incorrect.">
            <a:extLst>
              <a:ext uri="{FF2B5EF4-FFF2-40B4-BE49-F238E27FC236}">
                <a16:creationId xmlns:a16="http://schemas.microsoft.com/office/drawing/2014/main" id="{6B2F45C3-237A-59EA-AC14-D2DB4701B5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2328801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9974-DA9B-1BDB-4213-6CFAC82AA8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82FF56E-E59A-FD79-029D-F15A477A02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9B74BF2-2043-D925-13F0-D6B86598330F}"/>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bg1"/>
                </a:solidFill>
              </a:rPr>
              <a:t>Policy Response &amp; Retention Strategies </a:t>
            </a:r>
            <a:endParaRPr lang="en-US" sz="2400" dirty="0">
              <a:solidFill>
                <a:schemeClr val="bg1"/>
              </a:solidFill>
            </a:endParaRPr>
          </a:p>
        </p:txBody>
      </p:sp>
      <p:sp>
        <p:nvSpPr>
          <p:cNvPr id="12" name="TextBox 11">
            <a:extLst>
              <a:ext uri="{FF2B5EF4-FFF2-40B4-BE49-F238E27FC236}">
                <a16:creationId xmlns:a16="http://schemas.microsoft.com/office/drawing/2014/main" id="{B47823D1-EA69-E409-B8BD-E52E1C7E7F94}"/>
              </a:ext>
            </a:extLst>
          </p:cNvPr>
          <p:cNvSpPr txBox="1"/>
          <p:nvPr/>
        </p:nvSpPr>
        <p:spPr>
          <a:xfrm>
            <a:off x="248855" y="1436337"/>
            <a:ext cx="10608197" cy="5348900"/>
          </a:xfrm>
          <a:prstGeom prst="rect">
            <a:avLst/>
          </a:prstGeom>
          <a:noFill/>
        </p:spPr>
        <p:txBody>
          <a:bodyPr wrap="square">
            <a:spAutoFit/>
          </a:bodyPr>
          <a:lstStyle/>
          <a:p>
            <a:pPr>
              <a:lnSpc>
                <a:spcPts val="1350"/>
              </a:lnSpc>
              <a:buNone/>
            </a:pPr>
            <a:r>
              <a:rPr lang="en-US" b="1" dirty="0">
                <a:effectLst/>
              </a:rPr>
              <a:t>Key idea: </a:t>
            </a:r>
            <a:r>
              <a:rPr lang="en-US" dirty="0">
                <a:effectLst/>
              </a:rPr>
              <a:t>Natural disasters themselves are not preventable, but governments can still influence whether people </a:t>
            </a:r>
            <a:r>
              <a:rPr lang="en-US" dirty="0"/>
              <a:t> </a:t>
            </a:r>
            <a:r>
              <a:rPr lang="en-US" dirty="0">
                <a:effectLst/>
              </a:rPr>
              <a:t>stay, return, or leave by changing conditions such as:</a:t>
            </a:r>
          </a:p>
          <a:p>
            <a:pPr>
              <a:lnSpc>
                <a:spcPts val="1350"/>
              </a:lnSpc>
              <a:buNone/>
            </a:pPr>
            <a:endParaRPr lang="en-US" dirty="0">
              <a:effectLst/>
            </a:endParaRPr>
          </a:p>
          <a:p>
            <a:pPr marL="742950" lvl="1" indent="-285750">
              <a:buFont typeface="Arial" panose="020B0604020202020204" pitchFamily="34" charset="0"/>
              <a:buChar char="•"/>
            </a:pPr>
            <a:r>
              <a:rPr lang="en-US" dirty="0">
                <a:effectLst/>
              </a:rPr>
              <a:t>economic opportunity</a:t>
            </a:r>
          </a:p>
          <a:p>
            <a:pPr marL="742950" lvl="1" indent="-285750">
              <a:buFont typeface="Arial" panose="020B0604020202020204" pitchFamily="34" charset="0"/>
              <a:buChar char="•"/>
            </a:pPr>
            <a:r>
              <a:rPr lang="en-US" dirty="0">
                <a:effectLst/>
              </a:rPr>
              <a:t>business activity</a:t>
            </a:r>
          </a:p>
          <a:p>
            <a:pPr marL="742950" lvl="1" indent="-285750">
              <a:buFont typeface="Arial" panose="020B0604020202020204" pitchFamily="34" charset="0"/>
              <a:buChar char="•"/>
            </a:pPr>
            <a:r>
              <a:rPr lang="en-US" dirty="0">
                <a:effectLst/>
              </a:rPr>
              <a:t>public safety</a:t>
            </a:r>
          </a:p>
          <a:p>
            <a:pPr marL="742950" lvl="1" indent="-285750">
              <a:buFont typeface="Arial" panose="020B0604020202020204" pitchFamily="34" charset="0"/>
              <a:buChar char="•"/>
            </a:pPr>
            <a:r>
              <a:rPr lang="en-US" dirty="0">
                <a:effectLst/>
              </a:rPr>
              <a:t>social vulnerability</a:t>
            </a:r>
          </a:p>
          <a:p>
            <a:pPr marL="742950" lvl="1" indent="-285750">
              <a:buFont typeface="Arial" panose="020B0604020202020204" pitchFamily="34" charset="0"/>
              <a:buChar char="•"/>
            </a:pPr>
            <a:r>
              <a:rPr lang="en-US" dirty="0">
                <a:effectLst/>
              </a:rPr>
              <a:t>demographic and family-support conditions</a:t>
            </a:r>
          </a:p>
          <a:p>
            <a:pPr marL="285750" indent="-285750">
              <a:lnSpc>
                <a:spcPts val="1350"/>
              </a:lnSpc>
              <a:buFont typeface="Arial" panose="020B0604020202020204" pitchFamily="34" charset="0"/>
              <a:buChar char="•"/>
            </a:pPr>
            <a:endParaRPr lang="en-US" dirty="0"/>
          </a:p>
          <a:p>
            <a:r>
              <a:rPr lang="en-US" dirty="0"/>
              <a:t>These are the </a:t>
            </a:r>
            <a:r>
              <a:rPr lang="en-US" b="1" dirty="0"/>
              <a:t>actionable levers</a:t>
            </a:r>
            <a:r>
              <a:rPr lang="en-US" dirty="0"/>
              <a:t> used in our policy simulations:</a:t>
            </a:r>
          </a:p>
          <a:p>
            <a:pPr marL="742950" lvl="1" indent="-285750">
              <a:buFont typeface="Arial" panose="020B0604020202020204" pitchFamily="34" charset="0"/>
              <a:buChar char="•"/>
            </a:pPr>
            <a:r>
              <a:rPr lang="en-US" b="1" dirty="0"/>
              <a:t>Economic</a:t>
            </a:r>
            <a:r>
              <a:rPr lang="en-US" dirty="0"/>
              <a:t> </a:t>
            </a:r>
          </a:p>
          <a:p>
            <a:pPr marL="1200150" lvl="2" indent="-285750">
              <a:buFont typeface="Wingdings" pitchFamily="2" charset="2"/>
              <a:buChar char="§"/>
            </a:pPr>
            <a:r>
              <a:rPr lang="en-US" dirty="0"/>
              <a:t>establishment growth </a:t>
            </a:r>
          </a:p>
          <a:p>
            <a:pPr marL="1200150" lvl="2" indent="-285750">
              <a:buFont typeface="Wingdings" pitchFamily="2" charset="2"/>
              <a:buChar char="§"/>
            </a:pPr>
            <a:r>
              <a:rPr lang="en-US" dirty="0"/>
              <a:t>income growth </a:t>
            </a:r>
          </a:p>
          <a:p>
            <a:pPr marL="742950" lvl="1" indent="-285750">
              <a:buFont typeface="Arial" panose="020B0604020202020204" pitchFamily="34" charset="0"/>
              <a:buChar char="•"/>
            </a:pPr>
            <a:r>
              <a:rPr lang="en-US" b="1" dirty="0"/>
              <a:t>Public safety</a:t>
            </a:r>
            <a:r>
              <a:rPr lang="en-US" dirty="0"/>
              <a:t> </a:t>
            </a:r>
          </a:p>
          <a:p>
            <a:pPr marL="1200150" lvl="2" indent="-285750">
              <a:buFont typeface="Wingdings" pitchFamily="2" charset="2"/>
              <a:buChar char="§"/>
            </a:pPr>
            <a:r>
              <a:rPr lang="en-US" dirty="0"/>
              <a:t>crime rate</a:t>
            </a:r>
          </a:p>
          <a:p>
            <a:pPr marL="742950" lvl="1" indent="-285750">
              <a:buFont typeface="Arial" panose="020B0604020202020204" pitchFamily="34" charset="0"/>
              <a:buChar char="•"/>
            </a:pPr>
            <a:r>
              <a:rPr lang="en-US" b="1" dirty="0"/>
              <a:t>Demographic / structural</a:t>
            </a:r>
            <a:r>
              <a:rPr lang="en-US" dirty="0"/>
              <a:t> </a:t>
            </a:r>
          </a:p>
          <a:p>
            <a:pPr marL="1200150" lvl="2" indent="-285750">
              <a:buFont typeface="Wingdings" pitchFamily="2" charset="2"/>
              <a:buChar char="§"/>
            </a:pPr>
            <a:r>
              <a:rPr lang="en-US" dirty="0"/>
              <a:t>natural change rate (births – deaths) </a:t>
            </a:r>
          </a:p>
          <a:p>
            <a:pPr marL="742950" lvl="1" indent="-285750">
              <a:buFont typeface="Arial" panose="020B0604020202020204" pitchFamily="34" charset="0"/>
              <a:buChar char="•"/>
            </a:pPr>
            <a:r>
              <a:rPr lang="en-US" b="1" dirty="0"/>
              <a:t>Vulnerability / resilience</a:t>
            </a:r>
            <a:r>
              <a:rPr lang="en-US" dirty="0"/>
              <a:t> </a:t>
            </a:r>
          </a:p>
          <a:p>
            <a:pPr marL="1200150" lvl="2" indent="-285750">
              <a:buFont typeface="Wingdings" pitchFamily="2" charset="2"/>
              <a:buChar char="§"/>
            </a:pPr>
            <a:r>
              <a:rPr lang="en-US" dirty="0"/>
              <a:t>social vulnerability index</a:t>
            </a:r>
          </a:p>
          <a:p>
            <a:pPr>
              <a:lnSpc>
                <a:spcPts val="1350"/>
              </a:lnSpc>
            </a:pPr>
            <a:endParaRPr lang="en-US" dirty="0">
              <a:effectLst/>
            </a:endParaRPr>
          </a:p>
        </p:txBody>
      </p:sp>
      <p:pic>
        <p:nvPicPr>
          <p:cNvPr id="2" name="Picture 1" descr="A blue grid with lines and dots&#10;&#10;AI-generated content may be incorrect.">
            <a:extLst>
              <a:ext uri="{FF2B5EF4-FFF2-40B4-BE49-F238E27FC236}">
                <a16:creationId xmlns:a16="http://schemas.microsoft.com/office/drawing/2014/main" id="{F4EA3445-B771-58A1-9BE7-53094DB481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4270778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936C6-5F15-29F6-17AC-9BD0838BE4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E08779-09CE-C644-CA15-0F182CB2ADA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EF929E5D-31BD-8409-EB48-CF0FE1455ED2}"/>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b="1" dirty="0">
                <a:solidFill>
                  <a:schemeClr val="bg1"/>
                </a:solidFill>
              </a:rPr>
              <a:t>Retention Strategies Scenarios</a:t>
            </a:r>
          </a:p>
        </p:txBody>
      </p:sp>
      <p:sp>
        <p:nvSpPr>
          <p:cNvPr id="12" name="TextBox 11">
            <a:extLst>
              <a:ext uri="{FF2B5EF4-FFF2-40B4-BE49-F238E27FC236}">
                <a16:creationId xmlns:a16="http://schemas.microsoft.com/office/drawing/2014/main" id="{62B49666-7F45-B191-2793-394E00C60369}"/>
              </a:ext>
            </a:extLst>
          </p:cNvPr>
          <p:cNvSpPr txBox="1"/>
          <p:nvPr/>
        </p:nvSpPr>
        <p:spPr>
          <a:xfrm>
            <a:off x="243069" y="1368962"/>
            <a:ext cx="10613984" cy="2031325"/>
          </a:xfrm>
          <a:prstGeom prst="rect">
            <a:avLst/>
          </a:prstGeom>
          <a:noFill/>
        </p:spPr>
        <p:txBody>
          <a:bodyPr wrap="square">
            <a:spAutoFit/>
          </a:bodyPr>
          <a:lstStyle/>
          <a:p>
            <a:r>
              <a:rPr lang="en-US" dirty="0"/>
              <a:t>I grouped features into </a:t>
            </a:r>
            <a:r>
              <a:rPr lang="en-US" b="1" dirty="0"/>
              <a:t>realistic policy bundles</a:t>
            </a:r>
            <a:r>
              <a:rPr lang="en-US" dirty="0"/>
              <a:t>:</a:t>
            </a:r>
          </a:p>
          <a:p>
            <a:pPr lvl="1"/>
            <a:r>
              <a:rPr lang="en-US" b="1" dirty="0"/>
              <a:t>1. Jobs push</a:t>
            </a:r>
          </a:p>
          <a:p>
            <a:pPr lvl="2"/>
            <a:r>
              <a:rPr lang="en-US" dirty="0"/>
              <a:t>↑ establishment growth </a:t>
            </a:r>
          </a:p>
          <a:p>
            <a:pPr lvl="2"/>
            <a:r>
              <a:rPr lang="en-US" dirty="0"/>
              <a:t>↑ income growth </a:t>
            </a:r>
          </a:p>
          <a:p>
            <a:pPr lvl="1"/>
            <a:endParaRPr lang="en-US" dirty="0"/>
          </a:p>
          <a:p>
            <a:pPr lvl="1"/>
            <a:r>
              <a:rPr lang="en-US" b="1" dirty="0"/>
              <a:t>2. Public safety</a:t>
            </a:r>
          </a:p>
          <a:p>
            <a:pPr lvl="1"/>
            <a:r>
              <a:rPr lang="en-US" dirty="0"/>
              <a:t>	↓ crime rates </a:t>
            </a:r>
          </a:p>
        </p:txBody>
      </p:sp>
      <p:pic>
        <p:nvPicPr>
          <p:cNvPr id="2" name="Picture 1">
            <a:extLst>
              <a:ext uri="{FF2B5EF4-FFF2-40B4-BE49-F238E27FC236}">
                <a16:creationId xmlns:a16="http://schemas.microsoft.com/office/drawing/2014/main" id="{11B970DC-EF47-9013-A528-0B4EC2DF3C85}"/>
              </a:ext>
            </a:extLst>
          </p:cNvPr>
          <p:cNvPicPr>
            <a:picLocks noChangeAspect="1"/>
          </p:cNvPicPr>
          <p:nvPr/>
        </p:nvPicPr>
        <p:blipFill>
          <a:blip r:embed="rId3"/>
          <a:srcRect t="24073" b="15494"/>
          <a:stretch>
            <a:fillRect/>
          </a:stretch>
        </p:blipFill>
        <p:spPr>
          <a:xfrm>
            <a:off x="572601" y="4091966"/>
            <a:ext cx="11046798" cy="2031325"/>
          </a:xfrm>
          <a:prstGeom prst="rect">
            <a:avLst/>
          </a:prstGeom>
        </p:spPr>
      </p:pic>
      <p:sp>
        <p:nvSpPr>
          <p:cNvPr id="3" name="TextBox 2">
            <a:extLst>
              <a:ext uri="{FF2B5EF4-FFF2-40B4-BE49-F238E27FC236}">
                <a16:creationId xmlns:a16="http://schemas.microsoft.com/office/drawing/2014/main" id="{16018A62-7155-EE6D-7D4A-7FA36916E0F4}"/>
              </a:ext>
            </a:extLst>
          </p:cNvPr>
          <p:cNvSpPr txBox="1"/>
          <p:nvPr/>
        </p:nvSpPr>
        <p:spPr>
          <a:xfrm>
            <a:off x="5550061" y="1368962"/>
            <a:ext cx="6641939" cy="1754326"/>
          </a:xfrm>
          <a:prstGeom prst="rect">
            <a:avLst/>
          </a:prstGeom>
          <a:noFill/>
        </p:spPr>
        <p:txBody>
          <a:bodyPr wrap="square">
            <a:spAutoFit/>
          </a:bodyPr>
          <a:lstStyle/>
          <a:p>
            <a:pPr lvl="1"/>
            <a:endParaRPr lang="en-US" dirty="0"/>
          </a:p>
          <a:p>
            <a:pPr lvl="1"/>
            <a:r>
              <a:rPr lang="en-US" b="1" dirty="0"/>
              <a:t>3. Resilience &amp; vulnerability</a:t>
            </a:r>
          </a:p>
          <a:p>
            <a:pPr lvl="1"/>
            <a:r>
              <a:rPr lang="en-US" dirty="0"/>
              <a:t>	↓ SVI (reduce vulnerability exposure) </a:t>
            </a:r>
          </a:p>
          <a:p>
            <a:pPr lvl="1"/>
            <a:endParaRPr lang="en-US" dirty="0"/>
          </a:p>
          <a:p>
            <a:pPr lvl="1"/>
            <a:r>
              <a:rPr lang="en-US" b="1" dirty="0"/>
              <a:t>4. Family &amp; demographic support</a:t>
            </a:r>
          </a:p>
          <a:p>
            <a:pPr lvl="1"/>
            <a:r>
              <a:rPr lang="en-US" dirty="0"/>
              <a:t>	↑ natural change rate </a:t>
            </a:r>
          </a:p>
        </p:txBody>
      </p:sp>
      <p:pic>
        <p:nvPicPr>
          <p:cNvPr id="6" name="Picture 5" descr="A blue grid with lines and dots&#10;&#10;AI-generated content may be incorrect.">
            <a:extLst>
              <a:ext uri="{FF2B5EF4-FFF2-40B4-BE49-F238E27FC236}">
                <a16:creationId xmlns:a16="http://schemas.microsoft.com/office/drawing/2014/main" id="{ABCE7472-D7C2-414A-96D9-57A6CAB202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1748531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10C5-9BDA-B9C5-9144-4B2ED01207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4C70D4-92B9-0132-4644-E8C416ABDC0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9FB854C-AAB3-043F-4E90-1286423B3B46}"/>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7" name="TextBox 6">
            <a:extLst>
              <a:ext uri="{FF2B5EF4-FFF2-40B4-BE49-F238E27FC236}">
                <a16:creationId xmlns:a16="http://schemas.microsoft.com/office/drawing/2014/main" id="{CD7050EC-5E83-3D96-03C1-8C916B40BFE7}"/>
              </a:ext>
            </a:extLst>
          </p:cNvPr>
          <p:cNvSpPr txBox="1"/>
          <p:nvPr/>
        </p:nvSpPr>
        <p:spPr>
          <a:xfrm>
            <a:off x="139613" y="1368962"/>
            <a:ext cx="6866493" cy="4801314"/>
          </a:xfrm>
          <a:prstGeom prst="rect">
            <a:avLst/>
          </a:prstGeom>
          <a:noFill/>
        </p:spPr>
        <p:txBody>
          <a:bodyPr wrap="square">
            <a:spAutoFit/>
          </a:bodyPr>
          <a:lstStyle/>
          <a:p>
            <a:r>
              <a:rPr lang="en-US" sz="1400" b="1" dirty="0"/>
              <a:t>Key Findings: </a:t>
            </a:r>
          </a:p>
          <a:p>
            <a:pPr marL="285750" indent="-285750">
              <a:buFont typeface="Arial" panose="020B0604020202020204" pitchFamily="34" charset="0"/>
              <a:buChar char="•"/>
            </a:pPr>
            <a:r>
              <a:rPr lang="en-US" sz="1400" dirty="0"/>
              <a:t>Puerto Rico continues to show a persistent population decline (~0.6% per year) </a:t>
            </a:r>
            <a:r>
              <a:rPr lang="en-US" sz="1400" b="1" dirty="0"/>
              <a:t>~20,000 people lost annually</a:t>
            </a:r>
          </a:p>
          <a:p>
            <a:pPr marL="285750" indent="-285750">
              <a:buFont typeface="Arial" panose="020B0604020202020204" pitchFamily="34" charset="0"/>
              <a:buChar char="•"/>
            </a:pPr>
            <a:r>
              <a:rPr lang="en-US" sz="1400" dirty="0"/>
              <a:t>Policy interventions can slow decline, but do not reverse it</a:t>
            </a:r>
          </a:p>
          <a:p>
            <a:pPr marL="285750" indent="-285750">
              <a:buFont typeface="Arial" panose="020B0604020202020204" pitchFamily="34" charset="0"/>
              <a:buChar char="•"/>
            </a:pPr>
            <a:r>
              <a:rPr lang="en-US" sz="1400" dirty="0"/>
              <a:t>Retention and recovery bundles reduce losses but remain below current levels</a:t>
            </a:r>
          </a:p>
          <a:p>
            <a:pPr marL="285750" indent="-285750">
              <a:buFont typeface="Arial" panose="020B0604020202020204" pitchFamily="34" charset="0"/>
              <a:buChar char="•"/>
            </a:pPr>
            <a:r>
              <a:rPr lang="en-US" sz="1400" dirty="0"/>
              <a:t>A population increase only appears under strong recovery + return-migration conditions</a:t>
            </a:r>
            <a:br>
              <a:rPr lang="en-US" sz="1400" dirty="0"/>
            </a:br>
            <a:endParaRPr lang="en-US" sz="1400" dirty="0"/>
          </a:p>
          <a:p>
            <a:r>
              <a:rPr lang="en-US" sz="1600" dirty="0"/>
              <a:t>Natural disasters themselves are not preventable, but governments can still influence whether people </a:t>
            </a:r>
            <a:r>
              <a:rPr lang="en-US" sz="1600" b="1" dirty="0"/>
              <a:t>stay, return, or leave</a:t>
            </a:r>
            <a:r>
              <a:rPr lang="en-US" sz="1600" dirty="0"/>
              <a:t> by changing conditions such as:</a:t>
            </a:r>
          </a:p>
          <a:p>
            <a:pPr marL="742950" lvl="1" indent="-285750">
              <a:buFont typeface="Arial" panose="020B0604020202020204" pitchFamily="34" charset="0"/>
              <a:buChar char="•"/>
            </a:pPr>
            <a:r>
              <a:rPr lang="en-US" sz="1600" dirty="0"/>
              <a:t>economic opportunity</a:t>
            </a:r>
          </a:p>
          <a:p>
            <a:pPr marL="742950" lvl="1" indent="-285750">
              <a:buFont typeface="Arial" panose="020B0604020202020204" pitchFamily="34" charset="0"/>
              <a:buChar char="•"/>
            </a:pPr>
            <a:r>
              <a:rPr lang="en-US" sz="1600" dirty="0"/>
              <a:t>business activity</a:t>
            </a:r>
          </a:p>
          <a:p>
            <a:pPr marL="742950" lvl="1" indent="-285750">
              <a:buFont typeface="Arial" panose="020B0604020202020204" pitchFamily="34" charset="0"/>
              <a:buChar char="•"/>
            </a:pPr>
            <a:r>
              <a:rPr lang="en-US" sz="1600" dirty="0"/>
              <a:t>public safety</a:t>
            </a:r>
          </a:p>
          <a:p>
            <a:pPr marL="742950" lvl="1" indent="-285750">
              <a:buFont typeface="Arial" panose="020B0604020202020204" pitchFamily="34" charset="0"/>
              <a:buChar char="•"/>
            </a:pPr>
            <a:r>
              <a:rPr lang="en-US" sz="1600" dirty="0"/>
              <a:t>social vulnerability</a:t>
            </a:r>
          </a:p>
          <a:p>
            <a:pPr marL="742950" lvl="1" indent="-285750">
              <a:buFont typeface="Arial" panose="020B0604020202020204" pitchFamily="34" charset="0"/>
              <a:buChar char="•"/>
            </a:pPr>
            <a:r>
              <a:rPr lang="en-US" sz="1600" dirty="0"/>
              <a:t>demographic and family-support conditions</a:t>
            </a:r>
            <a:br>
              <a:rPr lang="en-US" sz="1400" dirty="0"/>
            </a:br>
            <a:endParaRPr lang="en-US" sz="1400" dirty="0"/>
          </a:p>
          <a:p>
            <a:r>
              <a:rPr lang="en-US" sz="1400" b="1" dirty="0"/>
              <a:t>Key Insight: </a:t>
            </a:r>
            <a:r>
              <a:rPr lang="en-US" sz="1400" dirty="0"/>
              <a:t>Population decline in Puerto Rico is persistent and momentum-driven, where policies can slow losses, but only a strong, coordinated recovery dynamic can stabilize or temporarily reverse the trend</a:t>
            </a:r>
          </a:p>
        </p:txBody>
      </p:sp>
      <p:pic>
        <p:nvPicPr>
          <p:cNvPr id="8" name="Picture 7">
            <a:extLst>
              <a:ext uri="{FF2B5EF4-FFF2-40B4-BE49-F238E27FC236}">
                <a16:creationId xmlns:a16="http://schemas.microsoft.com/office/drawing/2014/main" id="{66D3A7BC-4E34-0937-F3F9-592D779A9C7E}"/>
              </a:ext>
            </a:extLst>
          </p:cNvPr>
          <p:cNvPicPr>
            <a:picLocks noChangeAspect="1"/>
          </p:cNvPicPr>
          <p:nvPr/>
        </p:nvPicPr>
        <p:blipFill>
          <a:blip r:embed="rId3"/>
          <a:srcRect l="1824" t="65520" r="45947"/>
          <a:stretch>
            <a:fillRect/>
          </a:stretch>
        </p:blipFill>
        <p:spPr>
          <a:xfrm>
            <a:off x="7492097" y="4202111"/>
            <a:ext cx="3654468" cy="1787983"/>
          </a:xfrm>
          <a:prstGeom prst="rect">
            <a:avLst/>
          </a:prstGeom>
        </p:spPr>
      </p:pic>
      <p:pic>
        <p:nvPicPr>
          <p:cNvPr id="10" name="Picture 9">
            <a:extLst>
              <a:ext uri="{FF2B5EF4-FFF2-40B4-BE49-F238E27FC236}">
                <a16:creationId xmlns:a16="http://schemas.microsoft.com/office/drawing/2014/main" id="{163359CE-6FF7-576A-F87F-1F44EA109D0F}"/>
              </a:ext>
            </a:extLst>
          </p:cNvPr>
          <p:cNvPicPr>
            <a:picLocks noChangeAspect="1"/>
          </p:cNvPicPr>
          <p:nvPr/>
        </p:nvPicPr>
        <p:blipFill>
          <a:blip r:embed="rId4"/>
          <a:srcRect l="11310" t="13705" r="3402" b="43365"/>
          <a:stretch>
            <a:fillRect/>
          </a:stretch>
        </p:blipFill>
        <p:spPr>
          <a:xfrm>
            <a:off x="7322949" y="1530038"/>
            <a:ext cx="4869051" cy="2258865"/>
          </a:xfrm>
          <a:prstGeom prst="rect">
            <a:avLst/>
          </a:prstGeom>
        </p:spPr>
      </p:pic>
      <p:pic>
        <p:nvPicPr>
          <p:cNvPr id="2" name="Picture 1" descr="A blue grid with lines and dots&#10;&#10;AI-generated content may be incorrect.">
            <a:extLst>
              <a:ext uri="{FF2B5EF4-FFF2-40B4-BE49-F238E27FC236}">
                <a16:creationId xmlns:a16="http://schemas.microsoft.com/office/drawing/2014/main" id="{0C760E34-9E34-ACAB-03F1-3D86D72668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1511817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DD93C-1869-5A81-3809-E3BEE068FC98}"/>
            </a:ext>
          </a:extLst>
        </p:cNvPr>
        <p:cNvGrpSpPr/>
        <p:nvPr/>
      </p:nvGrpSpPr>
      <p:grpSpPr>
        <a:xfrm>
          <a:off x="0" y="0"/>
          <a:ext cx="0" cy="0"/>
          <a:chOff x="0" y="0"/>
          <a:chExt cx="0" cy="0"/>
        </a:xfrm>
      </p:grpSpPr>
      <p:pic>
        <p:nvPicPr>
          <p:cNvPr id="7" name="Picture 6" descr="A group of graphs showing different types of data&#10;&#10;AI-generated content may be incorrect.">
            <a:extLst>
              <a:ext uri="{FF2B5EF4-FFF2-40B4-BE49-F238E27FC236}">
                <a16:creationId xmlns:a16="http://schemas.microsoft.com/office/drawing/2014/main" id="{8606DC5C-7C3C-CA4A-D534-4737F29867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071" y="1368962"/>
            <a:ext cx="7310812" cy="4120076"/>
          </a:xfrm>
          <a:prstGeom prst="rect">
            <a:avLst/>
          </a:prstGeom>
        </p:spPr>
      </p:pic>
      <p:sp>
        <p:nvSpPr>
          <p:cNvPr id="4" name="Rectangle 3">
            <a:extLst>
              <a:ext uri="{FF2B5EF4-FFF2-40B4-BE49-F238E27FC236}">
                <a16:creationId xmlns:a16="http://schemas.microsoft.com/office/drawing/2014/main" id="{85F68F32-7899-CF79-F28E-C98FA6B200F3}"/>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6E908254-7865-C1C3-3621-CB661A720C8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2" name="Picture 1" descr="A graph of different colored bars&#10;&#10;AI-generated content may be incorrect.">
            <a:extLst>
              <a:ext uri="{FF2B5EF4-FFF2-40B4-BE49-F238E27FC236}">
                <a16:creationId xmlns:a16="http://schemas.microsoft.com/office/drawing/2014/main" id="{6BC2C2A5-02BE-256C-DC6D-172D236D2B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3921" y="1661398"/>
            <a:ext cx="3895008" cy="2106484"/>
          </a:xfrm>
          <a:prstGeom prst="rect">
            <a:avLst/>
          </a:prstGeom>
        </p:spPr>
      </p:pic>
      <p:pic>
        <p:nvPicPr>
          <p:cNvPr id="3" name="Picture 2" descr="A blue grid with lines and dots&#10;&#10;AI-generated content may be incorrect.">
            <a:extLst>
              <a:ext uri="{FF2B5EF4-FFF2-40B4-BE49-F238E27FC236}">
                <a16:creationId xmlns:a16="http://schemas.microsoft.com/office/drawing/2014/main" id="{EF8736F8-25BF-BAB1-74EE-3619455410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1391675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2B6B1-065C-9DA8-53EF-D43F4584E26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90DB401-00D3-934F-163A-498567F788A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71C27C1-F817-93C9-A209-A859F215802B}"/>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Limitations &amp; Risks</a:t>
            </a:r>
          </a:p>
        </p:txBody>
      </p:sp>
      <p:sp>
        <p:nvSpPr>
          <p:cNvPr id="11" name="TextBox 10">
            <a:extLst>
              <a:ext uri="{FF2B5EF4-FFF2-40B4-BE49-F238E27FC236}">
                <a16:creationId xmlns:a16="http://schemas.microsoft.com/office/drawing/2014/main" id="{AC78DE7C-B23C-FD0B-B640-BFFA7B9B48F8}"/>
              </a:ext>
            </a:extLst>
          </p:cNvPr>
          <p:cNvSpPr txBox="1"/>
          <p:nvPr/>
        </p:nvSpPr>
        <p:spPr>
          <a:xfrm>
            <a:off x="139613" y="1368962"/>
            <a:ext cx="11527668" cy="4708981"/>
          </a:xfrm>
          <a:prstGeom prst="rect">
            <a:avLst/>
          </a:prstGeom>
          <a:noFill/>
        </p:spPr>
        <p:txBody>
          <a:bodyPr wrap="square">
            <a:spAutoFit/>
          </a:bodyPr>
          <a:lstStyle/>
          <a:p>
            <a:r>
              <a:rPr lang="en-US" sz="2000" b="1" dirty="0"/>
              <a:t>Data limitations:</a:t>
            </a:r>
          </a:p>
          <a:p>
            <a:pPr marL="342900" indent="-342900">
              <a:buFont typeface="Arial" panose="020B0604020202020204" pitchFamily="34" charset="0"/>
              <a:buChar char="•"/>
            </a:pPr>
            <a:r>
              <a:rPr lang="en-US" sz="2000" dirty="0"/>
              <a:t>Some important drivers of migration, such as direct return-migration flows and housing/infrastructure conditions, are not fully captured</a:t>
            </a:r>
          </a:p>
          <a:p>
            <a:pPr marL="342900" indent="-342900">
              <a:buFont typeface="Arial" panose="020B0604020202020204" pitchFamily="34" charset="0"/>
              <a:buChar char="•"/>
            </a:pPr>
            <a:r>
              <a:rPr lang="en-US" sz="2000" dirty="0"/>
              <a:t>Disaster effects may be indirect or delayed, so available indicators may not reflect their full long-run impact</a:t>
            </a:r>
          </a:p>
          <a:p>
            <a:pPr marL="342900" indent="-342900">
              <a:buFont typeface="Arial" panose="020B0604020202020204" pitchFamily="34" charset="0"/>
              <a:buChar char="•"/>
            </a:pPr>
            <a:endParaRPr lang="en-US" sz="2000" dirty="0"/>
          </a:p>
          <a:p>
            <a:r>
              <a:rPr lang="en-US" sz="2000" b="1" dirty="0"/>
              <a:t>Model weaknesses:</a:t>
            </a:r>
          </a:p>
          <a:p>
            <a:pPr marL="342900" indent="-342900">
              <a:buFont typeface="Arial" panose="020B0604020202020204" pitchFamily="34" charset="0"/>
              <a:buChar char="•"/>
            </a:pPr>
            <a:r>
              <a:rPr lang="en-US" sz="2000" dirty="0"/>
              <a:t>The forecasting backbone is predictive, not causal, so policy effects should be read as </a:t>
            </a:r>
            <a:r>
              <a:rPr lang="en-US" sz="2000" b="1" dirty="0"/>
              <a:t>model-based responses</a:t>
            </a:r>
            <a:r>
              <a:rPr lang="en-US" sz="2000" dirty="0"/>
              <a:t> rather than guaranteed outcomes</a:t>
            </a:r>
          </a:p>
          <a:p>
            <a:pPr marL="342900" indent="-342900">
              <a:buFont typeface="Arial" panose="020B0604020202020204" pitchFamily="34" charset="0"/>
              <a:buChar char="•"/>
            </a:pPr>
            <a:r>
              <a:rPr lang="en-US" sz="2000" dirty="0"/>
              <a:t>Recovery-rebound results depend on stylized assumptions layered on top of the fitted model</a:t>
            </a:r>
          </a:p>
          <a:p>
            <a:endParaRPr lang="en-US" sz="2000" dirty="0"/>
          </a:p>
          <a:p>
            <a:r>
              <a:rPr lang="en-US" sz="2000" b="1" dirty="0"/>
              <a:t>Risks in real-world use:</a:t>
            </a:r>
          </a:p>
          <a:p>
            <a:pPr marL="342900" indent="-342900">
              <a:buFont typeface="Arial" panose="020B0604020202020204" pitchFamily="34" charset="0"/>
              <a:buChar char="•"/>
            </a:pPr>
            <a:r>
              <a:rPr lang="en-US" sz="2000" dirty="0"/>
              <a:t>Overinterpreting scenario outputs as exact forecasts rather than decision-support stress tests</a:t>
            </a:r>
          </a:p>
          <a:p>
            <a:pPr marL="342900" indent="-342900">
              <a:buFont typeface="Arial" panose="020B0604020202020204" pitchFamily="34" charset="0"/>
              <a:buChar char="•"/>
            </a:pPr>
            <a:r>
              <a:rPr lang="en-US" sz="2000" dirty="0"/>
              <a:t>Using results without considering uncertainty, implementation constraints, and changing future conditions</a:t>
            </a:r>
          </a:p>
        </p:txBody>
      </p:sp>
      <p:pic>
        <p:nvPicPr>
          <p:cNvPr id="2" name="Picture 1" descr="A blue grid with lines and dots&#10;&#10;AI-generated content may be incorrect.">
            <a:extLst>
              <a:ext uri="{FF2B5EF4-FFF2-40B4-BE49-F238E27FC236}">
                <a16:creationId xmlns:a16="http://schemas.microsoft.com/office/drawing/2014/main" id="{4B92A470-8387-D19A-6EC3-6CB8EA9F7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3819395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4F16-EDCC-8571-609B-B4E36ECD95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2357FC-F0D5-14AF-6B21-AD635116F0A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F1A8BAC-04CD-0771-C6C6-B5D27E3ECAD1}"/>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200" b="1" dirty="0">
                <a:solidFill>
                  <a:schemeClr val="bg1"/>
                </a:solidFill>
              </a:rPr>
              <a:t>Conclusion &amp; Future Work</a:t>
            </a:r>
          </a:p>
        </p:txBody>
      </p:sp>
      <p:sp>
        <p:nvSpPr>
          <p:cNvPr id="11" name="TextBox 10">
            <a:extLst>
              <a:ext uri="{FF2B5EF4-FFF2-40B4-BE49-F238E27FC236}">
                <a16:creationId xmlns:a16="http://schemas.microsoft.com/office/drawing/2014/main" id="{5B3334E0-39F4-9C77-293B-86A671B72ACD}"/>
              </a:ext>
            </a:extLst>
          </p:cNvPr>
          <p:cNvSpPr txBox="1"/>
          <p:nvPr/>
        </p:nvSpPr>
        <p:spPr>
          <a:xfrm>
            <a:off x="139613" y="1368962"/>
            <a:ext cx="11527668" cy="4401205"/>
          </a:xfrm>
          <a:prstGeom prst="rect">
            <a:avLst/>
          </a:prstGeom>
          <a:noFill/>
        </p:spPr>
        <p:txBody>
          <a:bodyPr wrap="square">
            <a:spAutoFit/>
          </a:bodyPr>
          <a:lstStyle/>
          <a:p>
            <a:r>
              <a:rPr lang="en-US" sz="2000" b="1" dirty="0"/>
              <a:t>Population decline in Puerto Rico is not random:</a:t>
            </a:r>
          </a:p>
          <a:p>
            <a:pPr marL="342900" indent="-342900">
              <a:buFont typeface="Arial" panose="020B0604020202020204" pitchFamily="34" charset="0"/>
              <a:buChar char="•"/>
            </a:pPr>
            <a:r>
              <a:rPr lang="en-US" sz="2000" b="1" dirty="0"/>
              <a:t>Structured</a:t>
            </a:r>
            <a:r>
              <a:rPr lang="en-US" sz="2000" dirty="0"/>
              <a:t> — shaped by economic, demographic, and social conditions</a:t>
            </a:r>
          </a:p>
          <a:p>
            <a:pPr marL="342900" indent="-342900">
              <a:buFont typeface="Arial" panose="020B0604020202020204" pitchFamily="34" charset="0"/>
              <a:buChar char="•"/>
            </a:pPr>
            <a:r>
              <a:rPr lang="en-US" sz="2000" b="1" dirty="0"/>
              <a:t>Spatial</a:t>
            </a:r>
            <a:r>
              <a:rPr lang="en-US" sz="2000" dirty="0"/>
              <a:t> — concentrated differently across regions</a:t>
            </a:r>
          </a:p>
          <a:p>
            <a:pPr marL="342900" indent="-342900">
              <a:buFont typeface="Arial" panose="020B0604020202020204" pitchFamily="34" charset="0"/>
              <a:buChar char="•"/>
            </a:pPr>
            <a:r>
              <a:rPr lang="en-US" sz="2000" b="1" dirty="0"/>
              <a:t>Persistent</a:t>
            </a:r>
            <a:r>
              <a:rPr lang="en-US" sz="2000" dirty="0"/>
              <a:t> — strongly influenced by past population trends</a:t>
            </a:r>
            <a:br>
              <a:rPr lang="en-US" sz="2000" dirty="0"/>
            </a:br>
            <a:endParaRPr lang="en-US" sz="2000" dirty="0"/>
          </a:p>
          <a:p>
            <a:r>
              <a:rPr lang="en-US" sz="2000" b="1" dirty="0"/>
              <a:t>What the Model Revealed</a:t>
            </a:r>
          </a:p>
          <a:p>
            <a:pPr marL="285750" indent="-285750">
              <a:buFont typeface="Arial" panose="020B0604020202020204" pitchFamily="34" charset="0"/>
              <a:buChar char="•"/>
            </a:pPr>
            <a:r>
              <a:rPr lang="en-US" sz="2000" dirty="0"/>
              <a:t>Disasters amplify existing decline rather than acting as simple direct drivers</a:t>
            </a:r>
          </a:p>
          <a:p>
            <a:pPr marL="285750" indent="-285750">
              <a:buFont typeface="Arial" panose="020B0604020202020204" pitchFamily="34" charset="0"/>
              <a:buChar char="•"/>
            </a:pPr>
            <a:r>
              <a:rPr lang="en-US" sz="2000" dirty="0"/>
              <a:t>Policy bundles can slow decline, but reversal requires stronger recovery momentum</a:t>
            </a:r>
          </a:p>
          <a:p>
            <a:pPr marL="285750" indent="-285750">
              <a:buFont typeface="Arial" panose="020B0604020202020204" pitchFamily="34" charset="0"/>
              <a:buChar char="•"/>
            </a:pPr>
            <a:r>
              <a:rPr lang="en-US" sz="2000" dirty="0"/>
              <a:t>Recovery rebound scenarios show that stabilization or growth requires coordinated improvements and return migration</a:t>
            </a:r>
            <a:br>
              <a:rPr lang="en-US" sz="2000" dirty="0"/>
            </a:br>
            <a:endParaRPr lang="en-US" sz="2000" dirty="0"/>
          </a:p>
          <a:p>
            <a:r>
              <a:rPr lang="en-US" sz="2000" b="1" dirty="0"/>
              <a:t>Conclusion: </a:t>
            </a:r>
            <a:r>
              <a:rPr lang="en-US" sz="2000" dirty="0"/>
              <a:t>The project moved beyond prediction to a full </a:t>
            </a:r>
            <a:r>
              <a:rPr lang="en-US" sz="2000" b="1" dirty="0"/>
              <a:t>scenario and policy-testing framework</a:t>
            </a:r>
            <a:r>
              <a:rPr lang="en-US" sz="2000" dirty="0"/>
              <a:t>, showing not only where Puerto Rico’s population decline is headed, but what kinds of coordinated recovery strategies may be needed to slow, stabilize, or reverse it.</a:t>
            </a:r>
          </a:p>
        </p:txBody>
      </p:sp>
      <p:pic>
        <p:nvPicPr>
          <p:cNvPr id="2" name="Picture 1" descr="A blue grid with lines and dots&#10;&#10;AI-generated content may be incorrect.">
            <a:extLst>
              <a:ext uri="{FF2B5EF4-FFF2-40B4-BE49-F238E27FC236}">
                <a16:creationId xmlns:a16="http://schemas.microsoft.com/office/drawing/2014/main" id="{CC5745D3-D0DC-618D-5DCC-EC5FF37F1D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86041" y="2103"/>
            <a:ext cx="1409951" cy="520411"/>
          </a:xfrm>
          <a:prstGeom prst="rect">
            <a:avLst/>
          </a:prstGeom>
        </p:spPr>
      </p:pic>
    </p:spTree>
    <p:extLst>
      <p:ext uri="{BB962C8B-B14F-4D97-AF65-F5344CB8AC3E}">
        <p14:creationId xmlns:p14="http://schemas.microsoft.com/office/powerpoint/2010/main" val="3664533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A8F4-EFC2-6B2F-1BCA-765B8B772E4B}"/>
            </a:ext>
          </a:extLst>
        </p:cNvPr>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C4EBD854-F9C7-43C9-52C4-3035C20D0A5C}"/>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82EBA07C-4421-9897-AB9C-8069A832F1F6}"/>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2791339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80B5812-1CA9-1409-56B3-E9FEA3A9DFF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FC6FD08-35E7-CA4E-1876-B2106DBCFEBB}"/>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51D17C8F-DC77-48C5-3A63-316932EBD3A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343163-A07B-B9A6-0209-1885C4B92D7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3069011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3284204"/>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Props1.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94EBF72-05B3-4092-B058-100DE54983B2}">
  <ds:schemaRefs>
    <ds:schemaRef ds:uri="http://schemas.microsoft.com/sharepoint/v3/contenttype/forms"/>
  </ds:schemaRefs>
</ds:datastoreItem>
</file>

<file path=customXml/itemProps3.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Rutgers Theme</Template>
  <TotalTime>32470</TotalTime>
  <Words>3865</Words>
  <Application>Microsoft Macintosh PowerPoint</Application>
  <PresentationFormat>Widescreen</PresentationFormat>
  <Paragraphs>442</Paragraphs>
  <Slides>29</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Source sans 3</vt:lpstr>
      <vt:lpstr>Symbol</vt:lpstr>
      <vt:lpstr>Merriweather</vt:lpstr>
      <vt:lpstr>Calibri</vt:lpstr>
      <vt:lpstr>Cambria Math</vt:lpstr>
      <vt:lpstr>Wingdings</vt:lpstr>
      <vt:lpstr>PT serif</vt:lpstr>
      <vt:lpstr>Roboto</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Andres Ruiz</cp:lastModifiedBy>
  <cp:revision>425</cp:revision>
  <cp:lastPrinted>2025-12-23T15:43:13Z</cp:lastPrinted>
  <dcterms:created xsi:type="dcterms:W3CDTF">2018-07-12T14:29:14Z</dcterms:created>
  <dcterms:modified xsi:type="dcterms:W3CDTF">2026-05-08T21:20:45Z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