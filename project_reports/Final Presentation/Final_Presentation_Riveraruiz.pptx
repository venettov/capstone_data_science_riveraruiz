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5"/>
  </p:notesMasterIdLst>
  <p:handoutMasterIdLst>
    <p:handoutMasterId r:id="rId36"/>
  </p:handoutMasterIdLst>
  <p:sldIdLst>
    <p:sldId id="408" r:id="rId5"/>
    <p:sldId id="459" r:id="rId6"/>
    <p:sldId id="407" r:id="rId7"/>
    <p:sldId id="409" r:id="rId8"/>
    <p:sldId id="411" r:id="rId9"/>
    <p:sldId id="419" r:id="rId10"/>
    <p:sldId id="420" r:id="rId11"/>
    <p:sldId id="448" r:id="rId12"/>
    <p:sldId id="426" r:id="rId13"/>
    <p:sldId id="431" r:id="rId14"/>
    <p:sldId id="449" r:id="rId15"/>
    <p:sldId id="454" r:id="rId16"/>
    <p:sldId id="436" r:id="rId17"/>
    <p:sldId id="437" r:id="rId18"/>
    <p:sldId id="457" r:id="rId19"/>
    <p:sldId id="444" r:id="rId20"/>
    <p:sldId id="450" r:id="rId21"/>
    <p:sldId id="452" r:id="rId22"/>
    <p:sldId id="455" r:id="rId23"/>
    <p:sldId id="456" r:id="rId24"/>
    <p:sldId id="458" r:id="rId25"/>
    <p:sldId id="439" r:id="rId26"/>
    <p:sldId id="430" r:id="rId27"/>
    <p:sldId id="442" r:id="rId28"/>
    <p:sldId id="275" r:id="rId29"/>
    <p:sldId id="276" r:id="rId30"/>
    <p:sldId id="277" r:id="rId31"/>
    <p:sldId id="279" r:id="rId32"/>
    <p:sldId id="281" r:id="rId33"/>
    <p:sldId id="460" r:id="rId34"/>
  </p:sldIdLst>
  <p:sldSz cx="12192000" cy="6858000"/>
  <p:notesSz cx="9296400" cy="7010400"/>
  <p:embeddedFontLst>
    <p:embeddedFont>
      <p:font typeface="Cambria Math" panose="02040503050406030204" pitchFamily="18" charset="0"/>
      <p:regular r:id="rId37"/>
    </p:embeddedFont>
    <p:embeddedFont>
      <p:font typeface="Merriweather" pitchFamily="2" charset="77"/>
      <p:regular r:id="rId38"/>
      <p:bold r:id="rId39"/>
      <p:italic r:id="rId40"/>
      <p:boldItalic r:id="rId41"/>
    </p:embeddedFont>
    <p:embeddedFont>
      <p:font typeface="PT serif" panose="020A0603040505020204" pitchFamily="18" charset="77"/>
      <p:regular r:id="rId42"/>
      <p:bold r:id="rId43"/>
      <p:italic r:id="rId44"/>
      <p:boldItalic r:id="rId45"/>
    </p:embeddedFont>
    <p:embeddedFont>
      <p:font typeface="Roboto" panose="02000000000000000000" pitchFamily="2" charset="0"/>
      <p:regular r:id="rId46"/>
      <p:bold r:id="rId47"/>
      <p:italic r:id="rId48"/>
      <p:boldItalic r:id="rId49"/>
    </p:embeddedFont>
    <p:embeddedFont>
      <p:font typeface="Source sans 3" panose="020B0303030403020204" pitchFamily="34" charset="0"/>
      <p:regular r:id="rId50"/>
      <p:bold r:id="rId51"/>
      <p:italic r:id="rId52"/>
      <p:boldItalic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38"/>
    <p:restoredTop sz="96290"/>
  </p:normalViewPr>
  <p:slideViewPr>
    <p:cSldViewPr snapToGrid="0">
      <p:cViewPr varScale="1">
        <p:scale>
          <a:sx n="146" d="100"/>
          <a:sy n="146" d="100"/>
        </p:scale>
        <p:origin x="200" y="224"/>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3.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15.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2.fntdata"/><Relationship Id="rId46" Type="http://schemas.openxmlformats.org/officeDocument/2006/relationships/font" Target="fonts/font10.fntdata"/><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font" Target="fonts/font5.fntdata"/><Relationship Id="rId54"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49" Type="http://schemas.openxmlformats.org/officeDocument/2006/relationships/font" Target="fonts/font13.fntdata"/><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8.fntdata"/><Relationship Id="rId52"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5/6/26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5/6/26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21</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22</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1.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4.png"/><Relationship Id="rId10" Type="http://schemas.openxmlformats.org/officeDocument/2006/relationships/image" Target="../media/image17.png"/><Relationship Id="rId4" Type="http://schemas.openxmlformats.org/officeDocument/2006/relationships/image" Target="../media/image51.png"/><Relationship Id="rId9" Type="http://schemas.openxmlformats.org/officeDocument/2006/relationships/image" Target="../media/image16.png"/><Relationship Id="rId1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8.png"/><Relationship Id="rId7"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32.jpe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000274"/>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0929259"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multi-phase municipal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047536"/>
          </a:xfrm>
          <a:prstGeom prst="rect">
            <a:avLst/>
          </a:prstGeom>
          <a:noFill/>
        </p:spPr>
        <p:txBody>
          <a:bodyPr wrap="square">
            <a:spAutoFit/>
          </a:bodyPr>
          <a:lstStyle/>
          <a:p>
            <a:r>
              <a:rPr lang="en-US" sz="2800" b="1" dirty="0"/>
              <a:t>Integrated Municipal Dataset</a:t>
            </a:r>
          </a:p>
          <a:p>
            <a:endParaRPr lang="en-US" sz="2000" dirty="0"/>
          </a:p>
          <a:p>
            <a:r>
              <a:rPr lang="en-US" b="1" dirty="0"/>
              <a:t>Sources used:</a:t>
            </a:r>
          </a:p>
          <a:p>
            <a:pPr marL="800100" lvl="1" indent="-342900">
              <a:buFont typeface="Arial" panose="020B0604020202020204" pitchFamily="34" charset="0"/>
              <a:buChar char="•"/>
            </a:pPr>
            <a:r>
              <a:rPr lang="en-US" dirty="0"/>
              <a:t>U.S. Census / ACS</a:t>
            </a:r>
          </a:p>
          <a:p>
            <a:pPr marL="800100" lvl="1" indent="-342900">
              <a:buFont typeface="Arial" panose="020B0604020202020204" pitchFamily="34" charset="0"/>
              <a:buChar char="•"/>
            </a:pPr>
            <a:r>
              <a:rPr lang="en-US" dirty="0"/>
              <a:t>NOAA Hurricane Data</a:t>
            </a:r>
          </a:p>
          <a:p>
            <a:pPr marL="800100" lvl="1" indent="-342900">
              <a:buFont typeface="Arial" panose="020B0604020202020204" pitchFamily="34" charset="0"/>
              <a:buChar char="•"/>
            </a:pPr>
            <a:r>
              <a:rPr lang="en-US" dirty="0"/>
              <a:t>USGS Earthquake Data</a:t>
            </a:r>
          </a:p>
          <a:p>
            <a:pPr marL="800100" lvl="1" indent="-342900">
              <a:buFont typeface="Arial" panose="020B0604020202020204" pitchFamily="34" charset="0"/>
              <a:buChar char="•"/>
            </a:pPr>
            <a:r>
              <a:rPr lang="en-US" dirty="0"/>
              <a:t>Police Dept. Puerto Rico-Crime Data</a:t>
            </a:r>
          </a:p>
          <a:p>
            <a:endParaRPr lang="en-US" dirty="0"/>
          </a:p>
          <a:p>
            <a:endParaRPr lang="en-US" dirty="0"/>
          </a:p>
          <a:p>
            <a:r>
              <a:rPr lang="en-US" b="1" dirty="0"/>
              <a:t>Example features:</a:t>
            </a:r>
          </a:p>
          <a:p>
            <a:pPr marL="800100" lvl="1" indent="-342900">
              <a:buFont typeface="Arial" panose="020B0604020202020204" pitchFamily="34" charset="0"/>
              <a:buChar char="•"/>
            </a:pPr>
            <a:r>
              <a:rPr lang="en-US" dirty="0"/>
              <a:t>population changes over years</a:t>
            </a:r>
          </a:p>
          <a:p>
            <a:pPr marL="800100" lvl="1" indent="-342900">
              <a:buFont typeface="Arial" panose="020B0604020202020204" pitchFamily="34" charset="0"/>
              <a:buChar char="•"/>
            </a:pPr>
            <a:r>
              <a:rPr lang="en-US" dirty="0"/>
              <a:t>Median income</a:t>
            </a:r>
          </a:p>
          <a:p>
            <a:pPr marL="800100" lvl="1" indent="-342900">
              <a:buFont typeface="Arial" panose="020B0604020202020204" pitchFamily="34" charset="0"/>
              <a:buChar char="•"/>
            </a:pPr>
            <a:r>
              <a:rPr lang="en-US" dirty="0"/>
              <a:t>Vulnerability index</a:t>
            </a:r>
          </a:p>
          <a:p>
            <a:pPr marL="800100" lvl="1" indent="-342900">
              <a:buFont typeface="Arial" panose="020B0604020202020204" pitchFamily="34" charset="0"/>
              <a:buChar char="•"/>
            </a:pPr>
            <a:r>
              <a:rPr lang="en-US" dirty="0"/>
              <a:t>Violent crime rates</a:t>
            </a:r>
          </a:p>
          <a:p>
            <a:pPr marL="800100" lvl="1" indent="-342900">
              <a:buFont typeface="Arial" panose="020B0604020202020204" pitchFamily="34" charset="0"/>
              <a:buChar char="•"/>
            </a:pPr>
            <a:r>
              <a:rPr lang="en-US" dirty="0"/>
              <a:t>disaster intensity metrics</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39321"/>
          </a:xfrm>
          <a:prstGeom prst="rect">
            <a:avLst/>
          </a:prstGeom>
          <a:noFill/>
        </p:spPr>
        <p:txBody>
          <a:bodyPr wrap="square">
            <a:spAutoFit/>
          </a:bodyPr>
          <a:lstStyle/>
          <a:p>
            <a:endParaRPr lang="en-US" dirty="0"/>
          </a:p>
          <a:p>
            <a:endParaRPr lang="en-US" dirty="0"/>
          </a:p>
          <a:p>
            <a:r>
              <a:rPr lang="en-US" b="1" dirty="0"/>
              <a:t>Dataset characteristics:</a:t>
            </a:r>
          </a:p>
          <a:p>
            <a:pPr marL="800100" lvl="1" indent="-342900">
              <a:buFont typeface="Arial" panose="020B0604020202020204" pitchFamily="34" charset="0"/>
              <a:buChar char="•"/>
            </a:pPr>
            <a:r>
              <a:rPr lang="en-US" dirty="0"/>
              <a:t>78 municipalities of Puerto Rico</a:t>
            </a:r>
          </a:p>
          <a:p>
            <a:pPr marL="800100" lvl="1" indent="-342900">
              <a:buFont typeface="Arial" panose="020B0604020202020204" pitchFamily="34" charset="0"/>
              <a:buChar char="•"/>
            </a:pPr>
            <a:r>
              <a:rPr lang="en-US" dirty="0"/>
              <a:t>2010–2024 time period</a:t>
            </a:r>
          </a:p>
          <a:p>
            <a:pPr marL="800100" lvl="1" indent="-342900">
              <a:buFont typeface="Arial" panose="020B0604020202020204" pitchFamily="34" charset="0"/>
              <a:buChar char="•"/>
            </a:pPr>
            <a:r>
              <a:rPr lang="en-US" dirty="0"/>
              <a:t>Socioeconomic and Vulnerability indicators</a:t>
            </a:r>
          </a:p>
          <a:p>
            <a:endParaRPr lang="en-US" dirty="0"/>
          </a:p>
          <a:p>
            <a:r>
              <a:rPr lang="en-US" b="1" dirty="0"/>
              <a:t>Target variable:</a:t>
            </a:r>
          </a:p>
          <a:p>
            <a:pPr marL="800100" lvl="1" indent="-342900">
              <a:buFont typeface="Arial" panose="020B0604020202020204" pitchFamily="34" charset="0"/>
              <a:buChar char="•"/>
            </a:pPr>
            <a:r>
              <a:rPr lang="en-US" dirty="0"/>
              <a:t>Overall Population Change </a:t>
            </a:r>
          </a:p>
          <a:p>
            <a:pPr marL="800100" lvl="1" indent="-342900">
              <a:buFont typeface="Arial" panose="020B0604020202020204" pitchFamily="34" charset="0"/>
              <a:buChar char="•"/>
            </a:pPr>
            <a:r>
              <a:rPr lang="en-US" dirty="0"/>
              <a:t>Regional population change</a:t>
            </a:r>
          </a:p>
          <a:p>
            <a:pPr marL="285750" indent="-285750" fontAlgn="base">
              <a:buFont typeface="Arial" panose="020B0604020202020204" pitchFamily="34" charset="0"/>
              <a:buChar char="•"/>
            </a:pPr>
            <a:endParaRPr lang="en-US"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30536" y="4468065"/>
            <a:ext cx="5365185" cy="1732438"/>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Social Vulnerability Indicators </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5A0BEA53-E8F1-1EFC-87EC-BED2015207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Implications:</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Key Takeaways :</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pic>
        <p:nvPicPr>
          <p:cNvPr id="2" name="Picture 1" descr="A blue grid with lines and dots&#10;&#10;AI-generated content may be incorrect.">
            <a:extLst>
              <a:ext uri="{FF2B5EF4-FFF2-40B4-BE49-F238E27FC236}">
                <a16:creationId xmlns:a16="http://schemas.microsoft.com/office/drawing/2014/main" id="{6F030230-2F84-7047-C506-D72031F22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3" name="Picture 2" descr="A map of different colored areas&#10;&#10;AI-generated content may be incorrect.">
            <a:extLst>
              <a:ext uri="{FF2B5EF4-FFF2-40B4-BE49-F238E27FC236}">
                <a16:creationId xmlns:a16="http://schemas.microsoft.com/office/drawing/2014/main" id="{D1A74FC8-3B8C-64D7-11C5-D01A1AFCBA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51723" y="1656724"/>
            <a:ext cx="3955732" cy="1772276"/>
          </a:xfrm>
          <a:prstGeom prst="rect">
            <a:avLst/>
          </a:prstGeom>
        </p:spPr>
      </p:pic>
    </p:spTree>
    <p:extLst>
      <p:ext uri="{BB962C8B-B14F-4D97-AF65-F5344CB8AC3E}">
        <p14:creationId xmlns:p14="http://schemas.microsoft.com/office/powerpoint/2010/main" val="628415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32295</TotalTime>
  <Words>3986</Words>
  <Application>Microsoft Macintosh PowerPoint</Application>
  <PresentationFormat>Widescreen</PresentationFormat>
  <Paragraphs>466</Paragraphs>
  <Slides>30</Slides>
  <Notes>25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417</cp:revision>
  <cp:lastPrinted>2025-12-23T15:43:13Z</cp:lastPrinted>
  <dcterms:created xsi:type="dcterms:W3CDTF">2018-07-12T14:29:14Z</dcterms:created>
  <dcterms:modified xsi:type="dcterms:W3CDTF">2026-05-08T13:02:11Z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