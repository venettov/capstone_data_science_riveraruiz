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5"/>
  </p:notesMasterIdLst>
  <p:handoutMasterIdLst>
    <p:handoutMasterId r:id="rId36"/>
  </p:handoutMasterIdLst>
  <p:sldIdLst>
    <p:sldId id="408" r:id="rId5"/>
    <p:sldId id="459" r:id="rId6"/>
    <p:sldId id="407" r:id="rId7"/>
    <p:sldId id="409" r:id="rId8"/>
    <p:sldId id="411" r:id="rId9"/>
    <p:sldId id="419" r:id="rId10"/>
    <p:sldId id="420" r:id="rId11"/>
    <p:sldId id="448" r:id="rId12"/>
    <p:sldId id="426" r:id="rId13"/>
    <p:sldId id="431" r:id="rId14"/>
    <p:sldId id="449" r:id="rId15"/>
    <p:sldId id="454" r:id="rId16"/>
    <p:sldId id="436" r:id="rId17"/>
    <p:sldId id="437" r:id="rId18"/>
    <p:sldId id="457" r:id="rId19"/>
    <p:sldId id="444" r:id="rId20"/>
    <p:sldId id="450" r:id="rId21"/>
    <p:sldId id="452" r:id="rId22"/>
    <p:sldId id="455" r:id="rId23"/>
    <p:sldId id="456" r:id="rId24"/>
    <p:sldId id="458" r:id="rId25"/>
    <p:sldId id="439" r:id="rId26"/>
    <p:sldId id="430" r:id="rId27"/>
    <p:sldId id="442" r:id="rId28"/>
    <p:sldId id="275" r:id="rId29"/>
    <p:sldId id="276" r:id="rId30"/>
    <p:sldId id="277" r:id="rId31"/>
    <p:sldId id="279" r:id="rId32"/>
    <p:sldId id="281" r:id="rId33"/>
    <p:sldId id="460" r:id="rId34"/>
  </p:sldIdLst>
  <p:sldSz cx="12192000" cy="6858000"/>
  <p:notesSz cx="9296400" cy="7010400"/>
  <p:embeddedFontLst>
    <p:embeddedFont>
      <p:font typeface="Cambria Math" panose="02040503050406030204" pitchFamily="18" charset="0"/>
      <p:regular r:id="rId37"/>
    </p:embeddedFont>
    <p:embeddedFont>
      <p:font typeface="Merriweather" pitchFamily="2" charset="77"/>
      <p:regular r:id="rId38"/>
      <p:bold r:id="rId39"/>
      <p:italic r:id="rId40"/>
      <p:boldItalic r:id="rId41"/>
    </p:embeddedFont>
    <p:embeddedFont>
      <p:font typeface="PT serif" panose="020A0603040505020204" pitchFamily="18" charset="77"/>
      <p:regular r:id="rId42"/>
      <p:bold r:id="rId43"/>
      <p:italic r:id="rId44"/>
      <p:boldItalic r:id="rId45"/>
    </p:embeddedFont>
    <p:embeddedFont>
      <p:font typeface="Roboto" panose="02000000000000000000" pitchFamily="2" charset="0"/>
      <p:regular r:id="rId46"/>
      <p:bold r:id="rId47"/>
      <p:italic r:id="rId48"/>
      <p:boldItalic r:id="rId49"/>
    </p:embeddedFont>
    <p:embeddedFont>
      <p:font typeface="Source sans 3" panose="020B0303030403020204" pitchFamily="34" charset="0"/>
      <p:regular r:id="rId50"/>
      <p:bold r:id="rId51"/>
      <p:italic r:id="rId52"/>
      <p:boldItalic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542"/>
    <p:restoredTop sz="96290"/>
  </p:normalViewPr>
  <p:slideViewPr>
    <p:cSldViewPr snapToGrid="0">
      <p:cViewPr varScale="1">
        <p:scale>
          <a:sx n="131" d="100"/>
          <a:sy n="131" d="100"/>
        </p:scale>
        <p:origin x="200" y="560"/>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notesViewPr>
    <p:cSldViewPr snapToGrid="0">
      <p:cViewPr varScale="1">
        <p:scale>
          <a:sx n="157" d="100"/>
          <a:sy n="157" d="100"/>
        </p:scale>
        <p:origin x="220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3.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font" Target="fonts/font14.fntdata"/><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15.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2.fntdata"/><Relationship Id="rId46" Type="http://schemas.openxmlformats.org/officeDocument/2006/relationships/font" Target="fonts/font10.fntdata"/><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font" Target="fonts/font5.fntdata"/><Relationship Id="rId54"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49" Type="http://schemas.openxmlformats.org/officeDocument/2006/relationships/font" Target="fonts/font13.fntdata"/><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8.fntdata"/><Relationship Id="rId52"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5/8/26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5/8/26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21</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22</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2" name="Footer Placeholder 4">
            <a:extLst>
              <a:ext uri="{FF2B5EF4-FFF2-40B4-BE49-F238E27FC236}">
                <a16:creationId xmlns:a16="http://schemas.microsoft.com/office/drawing/2014/main" id="{0C31C0C0-FC2E-D4CA-E38E-F10874474B6E}"/>
              </a:ext>
            </a:extLst>
          </p:cNvPr>
          <p:cNvSpPr txBox="1">
            <a:spLocks/>
          </p:cNvSpPr>
          <p:nvPr userDrawn="1"/>
        </p:nvSpPr>
        <p:spPr>
          <a:xfrm>
            <a:off x="9413966" y="6428232"/>
            <a:ext cx="1903738"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000" dirty="0">
                <a:solidFill>
                  <a:schemeClr val="bg1"/>
                </a:solidFill>
              </a:rPr>
              <a:t>Master’s Project , 56:219:613</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1.pn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5" Type="http://schemas.openxmlformats.org/officeDocument/2006/relationships/image" Target="../media/image4.png"/><Relationship Id="rId10" Type="http://schemas.openxmlformats.org/officeDocument/2006/relationships/image" Target="../media/image17.png"/><Relationship Id="rId4" Type="http://schemas.openxmlformats.org/officeDocument/2006/relationships/image" Target="../media/image51.png"/><Relationship Id="rId9" Type="http://schemas.openxmlformats.org/officeDocument/2006/relationships/image" Target="../media/image16.png"/><Relationship Id="rId1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8.png"/><Relationship Id="rId7"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0.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32.jpe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193583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253502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612924" y="4994748"/>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612924" y="5549926"/>
            <a:ext cx="3745923"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p:txBody>
      </p:sp>
      <p:sp>
        <p:nvSpPr>
          <p:cNvPr id="4" name="TextBox 3">
            <a:extLst>
              <a:ext uri="{FF2B5EF4-FFF2-40B4-BE49-F238E27FC236}">
                <a16:creationId xmlns:a16="http://schemas.microsoft.com/office/drawing/2014/main" id="{DAB5E6B3-3E75-9BE0-D14B-A1859097E09D}"/>
              </a:ext>
            </a:extLst>
          </p:cNvPr>
          <p:cNvSpPr txBox="1"/>
          <p:nvPr/>
        </p:nvSpPr>
        <p:spPr>
          <a:xfrm>
            <a:off x="3048000" y="2877179"/>
            <a:ext cx="6096000" cy="1000274"/>
          </a:xfrm>
          <a:prstGeom prst="rect">
            <a:avLst/>
          </a:prstGeom>
          <a:noFill/>
        </p:spPr>
        <p:txBody>
          <a:bodyPr wrap="square">
            <a:spAutoFit/>
          </a:bodyPr>
          <a:lstStyle/>
          <a:p>
            <a:pPr algn="ctr"/>
            <a:r>
              <a:rPr lang="en-US" sz="1600" b="1" dirty="0">
                <a:solidFill>
                  <a:schemeClr val="bg1"/>
                </a:solidFill>
                <a:latin typeface="+mj-lt"/>
              </a:rPr>
              <a:t>2026SP-MASTER'S PROJECT </a:t>
            </a:r>
            <a:br>
              <a:rPr lang="en-US" sz="1600" b="1" dirty="0">
                <a:solidFill>
                  <a:schemeClr val="bg1"/>
                </a:solidFill>
                <a:latin typeface="+mj-lt"/>
              </a:rPr>
            </a:br>
            <a:r>
              <a:rPr lang="en-US" sz="1100" b="1" dirty="0">
                <a:solidFill>
                  <a:schemeClr val="bg1"/>
                </a:solidFill>
                <a:latin typeface="+mj-lt"/>
              </a:rPr>
              <a:t>56:219:603:91 </a:t>
            </a:r>
            <a:br>
              <a:rPr lang="en-US" sz="1600" b="1" dirty="0">
                <a:solidFill>
                  <a:schemeClr val="bg1"/>
                </a:solidFill>
                <a:latin typeface="+mj-lt"/>
              </a:rPr>
            </a:br>
            <a:br>
              <a:rPr lang="en-US" sz="1600" b="1" dirty="0">
                <a:solidFill>
                  <a:schemeClr val="bg1"/>
                </a:solidFill>
                <a:latin typeface="+mj-lt"/>
              </a:rPr>
            </a:br>
            <a:r>
              <a:rPr lang="en-US" sz="1600" b="1" dirty="0">
                <a:solidFill>
                  <a:schemeClr val="bg1"/>
                </a:solidFill>
                <a:latin typeface="+mj-lt"/>
              </a:rPr>
              <a:t>Final Presentation</a:t>
            </a: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3877D-FD8C-6CD1-C78A-6DC0E528B8D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32BA06E-AD0E-9B66-34BE-7E58A522F30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DABF435-4A7B-5915-14EA-99AEAE0D178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Executive Summary</a:t>
            </a:r>
          </a:p>
        </p:txBody>
      </p:sp>
      <p:pic>
        <p:nvPicPr>
          <p:cNvPr id="6" name="Picture 5">
            <a:extLst>
              <a:ext uri="{FF2B5EF4-FFF2-40B4-BE49-F238E27FC236}">
                <a16:creationId xmlns:a16="http://schemas.microsoft.com/office/drawing/2014/main" id="{FED21310-3626-C412-1580-5890EEC295FC}"/>
              </a:ext>
            </a:extLst>
          </p:cNvPr>
          <p:cNvPicPr>
            <a:picLocks noChangeAspect="1"/>
          </p:cNvPicPr>
          <p:nvPr/>
        </p:nvPicPr>
        <p:blipFill>
          <a:blip r:embed="rId2"/>
          <a:stretch>
            <a:fillRect/>
          </a:stretch>
        </p:blipFill>
        <p:spPr>
          <a:xfrm>
            <a:off x="0" y="1154762"/>
            <a:ext cx="7772400" cy="428400"/>
          </a:xfrm>
          <a:prstGeom prst="rect">
            <a:avLst/>
          </a:prstGeom>
        </p:spPr>
      </p:pic>
      <p:sp>
        <p:nvSpPr>
          <p:cNvPr id="8" name="Content Placeholder 3">
            <a:extLst>
              <a:ext uri="{FF2B5EF4-FFF2-40B4-BE49-F238E27FC236}">
                <a16:creationId xmlns:a16="http://schemas.microsoft.com/office/drawing/2014/main" id="{9EA5AD22-69C3-6430-EBEC-014E92CA23D6}"/>
              </a:ext>
            </a:extLst>
          </p:cNvPr>
          <p:cNvSpPr txBox="1">
            <a:spLocks/>
          </p:cNvSpPr>
          <p:nvPr/>
        </p:nvSpPr>
        <p:spPr>
          <a:xfrm>
            <a:off x="269964" y="1743908"/>
            <a:ext cx="10929259" cy="4258634"/>
          </a:xfrm>
          <a:prstGeom prst="rect">
            <a:avLst/>
          </a:prstGeom>
          <a:noFill/>
        </p:spPr>
        <p:txBody>
          <a:bodyPr vert="horz" lIns="0" tIns="0" rIns="0" bIns="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dirty="0"/>
              <a:t>Problem: </a:t>
            </a:r>
            <a:r>
              <a:rPr lang="en-US" sz="1800" dirty="0"/>
              <a:t>Puerto Rico has experienced sustained population decline, but the decline is uneven across municipalities and regions and is shaped by structural, demographic, and disaster-related pressures.</a:t>
            </a:r>
          </a:p>
          <a:p>
            <a:r>
              <a:rPr lang="en-US" sz="1800" b="1" dirty="0"/>
              <a:t>Approach: </a:t>
            </a:r>
            <a:r>
              <a:rPr lang="en-US" sz="1800" dirty="0"/>
              <a:t>Built a multi-phase municipal forecasting pipeline using integrated demographic, economic, vulnerability, and disaster data; selected a validated Lasso model with a chronological split and extended it into scenario and policy simulations.</a:t>
            </a:r>
          </a:p>
          <a:p>
            <a:pPr lvl="1"/>
            <a:r>
              <a:rPr lang="en-US" sz="1800" dirty="0"/>
              <a:t>Best forecasting backbone achieved test R² ≈ 0.91 under a time-based evaluation framework.</a:t>
            </a:r>
          </a:p>
          <a:p>
            <a:r>
              <a:rPr lang="en-US" sz="1800" b="1" dirty="0"/>
              <a:t>Impact: </a:t>
            </a:r>
            <a:r>
              <a:rPr lang="en-US" sz="1800" dirty="0"/>
              <a:t>The project moves beyond prediction by showing how coordinated policy and recovery strategies could slow, stabilize, or under optimistic rebound conditions temporarily reverse projected population decline.</a:t>
            </a:r>
          </a:p>
          <a:p>
            <a:r>
              <a:rPr lang="en-US" sz="1800" b="1" dirty="0"/>
              <a:t>Main insights:</a:t>
            </a:r>
          </a:p>
          <a:p>
            <a:pPr lvl="1"/>
            <a:r>
              <a:rPr lang="en-US" altLang="en-US" sz="1800" dirty="0">
                <a:latin typeface="Arial" panose="020B0604020202020204" pitchFamily="34" charset="0"/>
              </a:rPr>
              <a:t>Disasters act more as amplifiers of existing decline than as simple stand-alone drivers. </a:t>
            </a:r>
          </a:p>
          <a:p>
            <a:pPr lvl="1"/>
            <a:r>
              <a:rPr lang="en-US" altLang="en-US" sz="1800" dirty="0">
                <a:latin typeface="Arial" panose="020B0604020202020204" pitchFamily="34" charset="0"/>
              </a:rPr>
              <a:t>Standard policy bundles improve outcomes, but stronger recovery momentum and return migration are needed for stabilization or growth</a:t>
            </a:r>
            <a:endParaRPr lang="en-US" sz="1800" dirty="0"/>
          </a:p>
        </p:txBody>
      </p:sp>
      <p:pic>
        <p:nvPicPr>
          <p:cNvPr id="10" name="Picture 9" descr="A blue grid with lines and dots&#10;&#10;AI-generated content may be incorrect.">
            <a:extLst>
              <a:ext uri="{FF2B5EF4-FFF2-40B4-BE49-F238E27FC236}">
                <a16:creationId xmlns:a16="http://schemas.microsoft.com/office/drawing/2014/main" id="{6C7A8E89-43FF-FAC1-48C6-465EE8F2B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2755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87828A90-2FE9-03BF-4E6B-63373302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4616648"/>
          </a:xfrm>
          <a:prstGeom prst="rect">
            <a:avLst/>
          </a:prstGeom>
          <a:noFill/>
        </p:spPr>
        <p:txBody>
          <a:bodyPr wrap="square">
            <a:spAutoFit/>
          </a:bodyPr>
          <a:lstStyle/>
          <a:p>
            <a:r>
              <a:rPr lang="en-US" sz="2400" b="1" dirty="0"/>
              <a:t>Integrated Municipal Dataset</a:t>
            </a:r>
          </a:p>
          <a:p>
            <a:endParaRPr lang="en-US" dirty="0"/>
          </a:p>
          <a:p>
            <a:r>
              <a:rPr lang="en-US" sz="1600" b="1" dirty="0"/>
              <a:t>Sources used:</a:t>
            </a:r>
          </a:p>
          <a:p>
            <a:pPr marL="800100" lvl="1" indent="-342900">
              <a:buFont typeface="Arial" panose="020B0604020202020204" pitchFamily="34" charset="0"/>
              <a:buChar char="•"/>
            </a:pPr>
            <a:r>
              <a:rPr lang="en-US" sz="1600" dirty="0"/>
              <a:t>U.S. Census / ACS</a:t>
            </a:r>
          </a:p>
          <a:p>
            <a:pPr marL="800100" lvl="1" indent="-342900">
              <a:buFont typeface="Arial" panose="020B0604020202020204" pitchFamily="34" charset="0"/>
              <a:buChar char="•"/>
            </a:pPr>
            <a:r>
              <a:rPr lang="en-US" sz="1600" dirty="0"/>
              <a:t>NOAA Hurricane Data</a:t>
            </a:r>
          </a:p>
          <a:p>
            <a:pPr marL="800100" lvl="1" indent="-342900">
              <a:buFont typeface="Arial" panose="020B0604020202020204" pitchFamily="34" charset="0"/>
              <a:buChar char="•"/>
            </a:pPr>
            <a:r>
              <a:rPr lang="en-US" sz="1600" dirty="0"/>
              <a:t>USGS Earthquake Data</a:t>
            </a:r>
          </a:p>
          <a:p>
            <a:pPr marL="800100" lvl="1" indent="-342900">
              <a:buFont typeface="Arial" panose="020B0604020202020204" pitchFamily="34" charset="0"/>
              <a:buChar char="•"/>
            </a:pPr>
            <a:r>
              <a:rPr lang="en-US" sz="1600" dirty="0"/>
              <a:t>Police Dept. Puerto Rico-Crime Data</a:t>
            </a:r>
          </a:p>
          <a:p>
            <a:endParaRPr lang="en-US" sz="1600" dirty="0"/>
          </a:p>
          <a:p>
            <a:endParaRPr lang="en-US" sz="1600" dirty="0"/>
          </a:p>
          <a:p>
            <a:r>
              <a:rPr lang="en-US" sz="1600" b="1" dirty="0"/>
              <a:t>Example features:</a:t>
            </a:r>
          </a:p>
          <a:p>
            <a:pPr marL="800100" lvl="1" indent="-342900">
              <a:buFont typeface="Arial" panose="020B0604020202020204" pitchFamily="34" charset="0"/>
              <a:buChar char="•"/>
            </a:pPr>
            <a:r>
              <a:rPr lang="en-US" sz="1600" dirty="0"/>
              <a:t>population changes over years</a:t>
            </a:r>
          </a:p>
          <a:p>
            <a:pPr marL="800100" lvl="1" indent="-342900">
              <a:buFont typeface="Arial" panose="020B0604020202020204" pitchFamily="34" charset="0"/>
              <a:buChar char="•"/>
            </a:pPr>
            <a:r>
              <a:rPr lang="en-US" sz="1600" dirty="0"/>
              <a:t>Median income</a:t>
            </a:r>
          </a:p>
          <a:p>
            <a:pPr marL="800100" lvl="1" indent="-342900">
              <a:buFont typeface="Arial" panose="020B0604020202020204" pitchFamily="34" charset="0"/>
              <a:buChar char="•"/>
            </a:pPr>
            <a:r>
              <a:rPr lang="en-US" sz="1600" dirty="0"/>
              <a:t>Vulnerability index</a:t>
            </a:r>
          </a:p>
          <a:p>
            <a:pPr marL="800100" lvl="1" indent="-342900">
              <a:buFont typeface="Arial" panose="020B0604020202020204" pitchFamily="34" charset="0"/>
              <a:buChar char="•"/>
            </a:pPr>
            <a:r>
              <a:rPr lang="en-US" sz="1600" dirty="0"/>
              <a:t>Violent crime rates</a:t>
            </a:r>
          </a:p>
          <a:p>
            <a:pPr marL="800100" lvl="1" indent="-342900">
              <a:buFont typeface="Arial" panose="020B0604020202020204" pitchFamily="34" charset="0"/>
              <a:buChar char="•"/>
            </a:pPr>
            <a:r>
              <a:rPr lang="en-US" sz="1600" dirty="0"/>
              <a:t>disaster intensity metrics</a:t>
            </a:r>
          </a:p>
          <a:p>
            <a:endParaRPr lang="en-US" dirty="0"/>
          </a:p>
          <a:p>
            <a:pPr fontAlgn="base"/>
            <a:endParaRPr lang="en-US"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08543"/>
          </a:xfrm>
          <a:prstGeom prst="rect">
            <a:avLst/>
          </a:prstGeom>
          <a:noFill/>
        </p:spPr>
        <p:txBody>
          <a:bodyPr wrap="square">
            <a:spAutoFit/>
          </a:bodyPr>
          <a:lstStyle/>
          <a:p>
            <a:endParaRPr lang="en-US" sz="1600" dirty="0"/>
          </a:p>
          <a:p>
            <a:endParaRPr lang="en-US" sz="1600" dirty="0"/>
          </a:p>
          <a:p>
            <a:r>
              <a:rPr lang="en-US" sz="1600" b="1" dirty="0"/>
              <a:t>Dataset characteristics:</a:t>
            </a:r>
          </a:p>
          <a:p>
            <a:pPr marL="800100" lvl="1" indent="-342900">
              <a:buFont typeface="Arial" panose="020B0604020202020204" pitchFamily="34" charset="0"/>
              <a:buChar char="•"/>
            </a:pPr>
            <a:r>
              <a:rPr lang="en-US" sz="1600" dirty="0"/>
              <a:t>78 municipalities of Puerto Rico</a:t>
            </a:r>
          </a:p>
          <a:p>
            <a:pPr marL="800100" lvl="1" indent="-342900">
              <a:buFont typeface="Arial" panose="020B0604020202020204" pitchFamily="34" charset="0"/>
              <a:buChar char="•"/>
            </a:pPr>
            <a:r>
              <a:rPr lang="en-US" sz="1600" dirty="0"/>
              <a:t>2010–2024 time period disaster data</a:t>
            </a:r>
          </a:p>
          <a:p>
            <a:pPr marL="800100" lvl="1" indent="-342900">
              <a:buFont typeface="Arial" panose="020B0604020202020204" pitchFamily="34" charset="0"/>
              <a:buChar char="•"/>
            </a:pPr>
            <a:r>
              <a:rPr lang="en-US" sz="1600" dirty="0"/>
              <a:t>Socioeconomic and Vulnerability indicators</a:t>
            </a:r>
          </a:p>
          <a:p>
            <a:pPr marL="800100" lvl="1" indent="-342900">
              <a:buFont typeface="Arial" panose="020B0604020202020204" pitchFamily="34" charset="0"/>
              <a:buChar char="•"/>
            </a:pPr>
            <a:r>
              <a:rPr lang="en-US" sz="1600" dirty="0"/>
              <a:t>Crime Data </a:t>
            </a:r>
          </a:p>
          <a:p>
            <a:endParaRPr lang="en-US" sz="1600" dirty="0"/>
          </a:p>
          <a:p>
            <a:r>
              <a:rPr lang="en-US" sz="1600" b="1" dirty="0"/>
              <a:t>Target variable:</a:t>
            </a:r>
          </a:p>
          <a:p>
            <a:pPr marL="800100" lvl="1" indent="-342900">
              <a:buFont typeface="Arial" panose="020B0604020202020204" pitchFamily="34" charset="0"/>
              <a:buChar char="•"/>
            </a:pPr>
            <a:r>
              <a:rPr lang="en-US" sz="1600" dirty="0"/>
              <a:t>Overall Population Change </a:t>
            </a:r>
          </a:p>
          <a:p>
            <a:pPr marL="800100" lvl="1" indent="-342900">
              <a:buFont typeface="Arial" panose="020B0604020202020204" pitchFamily="34" charset="0"/>
              <a:buChar char="•"/>
            </a:pPr>
            <a:r>
              <a:rPr lang="en-US" sz="1600" dirty="0"/>
              <a:t>Regional population change</a:t>
            </a:r>
          </a:p>
          <a:p>
            <a:pPr marL="285750" indent="-285750" fontAlgn="base">
              <a:buFont typeface="Arial" panose="020B0604020202020204" pitchFamily="34" charset="0"/>
              <a:buChar char="•"/>
            </a:pPr>
            <a:endParaRPr lang="en-US" sz="1600" dirty="0">
              <a:solidFill>
                <a:srgbClr val="000000"/>
              </a:solidFill>
              <a:ea typeface="Arial"/>
              <a:cs typeface="Arial"/>
              <a:sym typeface="Arial"/>
            </a:endParaRPr>
          </a:p>
        </p:txBody>
      </p:sp>
      <p:pic>
        <p:nvPicPr>
          <p:cNvPr id="8" name="Picture 7" descr="A graph of a graph&#10;&#10;AI-generated content may be incorrect.">
            <a:extLst>
              <a:ext uri="{FF2B5EF4-FFF2-40B4-BE49-F238E27FC236}">
                <a16:creationId xmlns:a16="http://schemas.microsoft.com/office/drawing/2014/main" id="{535CD204-F503-2AAA-220E-66A2C3734D50}"/>
              </a:ext>
            </a:extLst>
          </p:cNvPr>
          <p:cNvPicPr>
            <a:picLocks noChangeAspect="1"/>
          </p:cNvPicPr>
          <p:nvPr/>
        </p:nvPicPr>
        <p:blipFill>
          <a:blip r:embed="rId2">
            <a:extLst>
              <a:ext uri="{28A0092B-C50C-407E-A947-70E740481C1C}">
                <a14:useLocalDpi xmlns:a14="http://schemas.microsoft.com/office/drawing/2010/main" val="0"/>
              </a:ext>
            </a:extLst>
          </a:blip>
          <a:srcRect b="15090"/>
          <a:stretch>
            <a:fillRect/>
          </a:stretch>
        </p:blipFill>
        <p:spPr>
          <a:xfrm>
            <a:off x="5982512" y="4562718"/>
            <a:ext cx="6203026" cy="1700724"/>
          </a:xfrm>
          <a:prstGeom prst="rect">
            <a:avLst/>
          </a:prstGeom>
        </p:spPr>
      </p:pic>
      <p:pic>
        <p:nvPicPr>
          <p:cNvPr id="9" name="Picture 8" descr="A blue grid with lines and dots&#10;&#10;AI-generated content may be incorrect.">
            <a:extLst>
              <a:ext uri="{FF2B5EF4-FFF2-40B4-BE49-F238E27FC236}">
                <a16:creationId xmlns:a16="http://schemas.microsoft.com/office/drawing/2014/main" id="{86E90916-21AD-8566-2C4C-09CC2D59AF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a:effectLst>
            <a:softEdge rad="63500"/>
          </a:effectLst>
        </p:spPr>
      </p:pic>
      <p:pic>
        <p:nvPicPr>
          <p:cNvPr id="2" name="Picture 1" descr="A blue grid with lines and dots&#10;&#10;AI-generated content may be incorrect.">
            <a:extLst>
              <a:ext uri="{FF2B5EF4-FFF2-40B4-BE49-F238E27FC236}">
                <a16:creationId xmlns:a16="http://schemas.microsoft.com/office/drawing/2014/main" id="{05C99005-EEC2-BCDD-0885-2094C23DA2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BA28AEB9-F177-5D88-A473-97504F4F5B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Social Vulnerability Indicators </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pic>
        <p:nvPicPr>
          <p:cNvPr id="6" name="Picture 5" descr="A blue grid with lines and dots&#10;&#10;AI-generated content may be incorrect.">
            <a:extLst>
              <a:ext uri="{FF2B5EF4-FFF2-40B4-BE49-F238E27FC236}">
                <a16:creationId xmlns:a16="http://schemas.microsoft.com/office/drawing/2014/main" id="{5A0BEA53-E8F1-1EFC-87EC-BED2015207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pic>
        <p:nvPicPr>
          <p:cNvPr id="13" name="Picture 12">
            <a:extLst>
              <a:ext uri="{FF2B5EF4-FFF2-40B4-BE49-F238E27FC236}">
                <a16:creationId xmlns:a16="http://schemas.microsoft.com/office/drawing/2014/main" id="{6E14B26A-4FB1-0653-04A4-504A3438D664}"/>
              </a:ext>
            </a:extLst>
          </p:cNvPr>
          <p:cNvPicPr>
            <a:picLocks noChangeAspect="1"/>
          </p:cNvPicPr>
          <p:nvPr/>
        </p:nvPicPr>
        <p:blipFill>
          <a:blip r:embed="rId14"/>
          <a:srcRect r="37003"/>
          <a:stretch>
            <a:fillRect/>
          </a:stretch>
        </p:blipFill>
        <p:spPr>
          <a:xfrm>
            <a:off x="2741017" y="3245501"/>
            <a:ext cx="753448" cy="608230"/>
          </a:xfrm>
          <a:prstGeom prst="rect">
            <a:avLst/>
          </a:prstGeom>
        </p:spPr>
      </p:pic>
      <p:pic>
        <p:nvPicPr>
          <p:cNvPr id="22" name="Picture 21" descr="A blue grid with lines and dots&#10;&#10;AI-generated content may be incorrect.">
            <a:extLst>
              <a:ext uri="{FF2B5EF4-FFF2-40B4-BE49-F238E27FC236}">
                <a16:creationId xmlns:a16="http://schemas.microsoft.com/office/drawing/2014/main" id="{1255715D-153B-63C7-6389-2DF1852CF2F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pic>
        <p:nvPicPr>
          <p:cNvPr id="2" name="Picture 1" descr="A blue grid with lines and dots&#10;&#10;AI-generated content may be incorrect.">
            <a:extLst>
              <a:ext uri="{FF2B5EF4-FFF2-40B4-BE49-F238E27FC236}">
                <a16:creationId xmlns:a16="http://schemas.microsoft.com/office/drawing/2014/main" id="{8A7BBBFA-A727-9559-EF7E-21EACA1F09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E3160C73-E5BC-E10E-90F8-40BE038B69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pic>
        <p:nvPicPr>
          <p:cNvPr id="2" name="Picture 1" descr="A blue grid with lines and dots&#10;&#10;AI-generated content may be incorrect.">
            <a:extLst>
              <a:ext uri="{FF2B5EF4-FFF2-40B4-BE49-F238E27FC236}">
                <a16:creationId xmlns:a16="http://schemas.microsoft.com/office/drawing/2014/main" id="{B7BB355D-3E25-5117-B18C-1C73FFD114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1431262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4F4EAF11-A29E-C47A-BAA4-40D658FF50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Key Learning</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Implications:</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Key Takeaways :</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pic>
        <p:nvPicPr>
          <p:cNvPr id="2" name="Picture 1" descr="A blue grid with lines and dots&#10;&#10;AI-generated content may be incorrect.">
            <a:extLst>
              <a:ext uri="{FF2B5EF4-FFF2-40B4-BE49-F238E27FC236}">
                <a16:creationId xmlns:a16="http://schemas.microsoft.com/office/drawing/2014/main" id="{6F030230-2F84-7047-C506-D72031F22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3" name="Picture 2" descr="A map of different colored areas&#10;&#10;AI-generated content may be incorrect.">
            <a:extLst>
              <a:ext uri="{FF2B5EF4-FFF2-40B4-BE49-F238E27FC236}">
                <a16:creationId xmlns:a16="http://schemas.microsoft.com/office/drawing/2014/main" id="{D1A74FC8-3B8C-64D7-11C5-D01A1AFCBA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51723" y="1656724"/>
            <a:ext cx="3955732" cy="1772276"/>
          </a:xfrm>
          <a:prstGeom prst="rect">
            <a:avLst/>
          </a:prstGeom>
        </p:spPr>
      </p:pic>
    </p:spTree>
    <p:extLst>
      <p:ext uri="{BB962C8B-B14F-4D97-AF65-F5344CB8AC3E}">
        <p14:creationId xmlns:p14="http://schemas.microsoft.com/office/powerpoint/2010/main" val="6284152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pic>
        <p:nvPicPr>
          <p:cNvPr id="6" name="Picture 5" descr="A blue grid with lines and dots&#10;&#10;AI-generated content may be incorrect.">
            <a:extLst>
              <a:ext uri="{FF2B5EF4-FFF2-40B4-BE49-F238E27FC236}">
                <a16:creationId xmlns:a16="http://schemas.microsoft.com/office/drawing/2014/main" id="{88776575-C8E3-55C9-541C-DDE4F2B306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9141" y="4520245"/>
            <a:ext cx="4066859" cy="1809751"/>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7594" y="4335196"/>
            <a:ext cx="4033480" cy="1807109"/>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7137" y="1618639"/>
            <a:ext cx="4033480" cy="1809751"/>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85832" y="1619249"/>
            <a:ext cx="4066862" cy="1809751"/>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blue grid with lines and dots&#10;&#10;AI-generated content may be incorrect.">
            <a:extLst>
              <a:ext uri="{FF2B5EF4-FFF2-40B4-BE49-F238E27FC236}">
                <a16:creationId xmlns:a16="http://schemas.microsoft.com/office/drawing/2014/main" id="{A95F9BB7-CCDD-9C9B-AE3A-A7EFD63361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1026" name="Picture 2" descr="Earthquake Magnitude Scale aka The Richter Scale">
            <a:extLst>
              <a:ext uri="{FF2B5EF4-FFF2-40B4-BE49-F238E27FC236}">
                <a16:creationId xmlns:a16="http://schemas.microsoft.com/office/drawing/2014/main" id="{938F98F5-F4C0-8738-75E3-F939B29FBDE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086" y="4940524"/>
            <a:ext cx="1558109" cy="9691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fir-Simpson hurricane scale | Definition, Wind Speed, &amp; Facts |  Britannica">
            <a:extLst>
              <a:ext uri="{FF2B5EF4-FFF2-40B4-BE49-F238E27FC236}">
                <a16:creationId xmlns:a16="http://schemas.microsoft.com/office/drawing/2014/main" id="{391ADFA8-630F-9204-847C-F2C95D006C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84223"/>
            <a:ext cx="1182866" cy="1478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837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pic>
        <p:nvPicPr>
          <p:cNvPr id="6" name="Picture 5" descr="A blue grid with lines and dots&#10;&#10;AI-generated content may be incorrect.">
            <a:extLst>
              <a:ext uri="{FF2B5EF4-FFF2-40B4-BE49-F238E27FC236}">
                <a16:creationId xmlns:a16="http://schemas.microsoft.com/office/drawing/2014/main" id="{6B2F45C3-237A-59EA-AC14-D2DB4701B5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pic>
        <p:nvPicPr>
          <p:cNvPr id="2" name="Picture 1" descr="A blue grid with lines and dots&#10;&#10;AI-generated content may be incorrect.">
            <a:extLst>
              <a:ext uri="{FF2B5EF4-FFF2-40B4-BE49-F238E27FC236}">
                <a16:creationId xmlns:a16="http://schemas.microsoft.com/office/drawing/2014/main" id="{F4EA3445-B771-58A1-9BE7-53094DB481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707783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pic>
        <p:nvPicPr>
          <p:cNvPr id="6" name="Picture 5" descr="A blue grid with lines and dots&#10;&#10;AI-generated content may be incorrect.">
            <a:extLst>
              <a:ext uri="{FF2B5EF4-FFF2-40B4-BE49-F238E27FC236}">
                <a16:creationId xmlns:a16="http://schemas.microsoft.com/office/drawing/2014/main" id="{ABCE7472-D7C2-414A-96D9-57A6CAB202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7485315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0C760E34-9E34-ACAB-03F1-3D86D7266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pic>
        <p:nvPicPr>
          <p:cNvPr id="3" name="Picture 2" descr="A blue grid with lines and dots&#10;&#10;AI-generated content may be incorrect.">
            <a:extLst>
              <a:ext uri="{FF2B5EF4-FFF2-40B4-BE49-F238E27FC236}">
                <a16:creationId xmlns:a16="http://schemas.microsoft.com/office/drawing/2014/main" id="{EF8736F8-25BF-BAB1-74EE-3619455410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4708981"/>
          </a:xfrm>
          <a:prstGeom prst="rect">
            <a:avLst/>
          </a:prstGeom>
          <a:noFill/>
        </p:spPr>
        <p:txBody>
          <a:bodyPr wrap="square">
            <a:spAutoFit/>
          </a:bodyPr>
          <a:lstStyle/>
          <a:p>
            <a:r>
              <a:rPr lang="en-US" sz="2000" b="1" dirty="0"/>
              <a:t>Data limitations:</a:t>
            </a:r>
          </a:p>
          <a:p>
            <a:pPr marL="342900" indent="-342900">
              <a:buFont typeface="Arial" panose="020B0604020202020204" pitchFamily="34" charset="0"/>
              <a:buChar char="•"/>
            </a:pPr>
            <a:r>
              <a:rPr lang="en-US" sz="2000" dirty="0"/>
              <a:t>Some important drivers of migration, such as direct return-migration flows and housing/infrastructure conditions, are not fully captured</a:t>
            </a:r>
          </a:p>
          <a:p>
            <a:pPr marL="342900" indent="-342900">
              <a:buFont typeface="Arial" panose="020B0604020202020204" pitchFamily="34" charset="0"/>
              <a:buChar char="•"/>
            </a:pPr>
            <a:r>
              <a:rPr lang="en-US" sz="2000" dirty="0"/>
              <a:t>Disaster effects may be indirect or delayed, so available indicators may not reflect their full long-run impact</a:t>
            </a:r>
          </a:p>
          <a:p>
            <a:pPr marL="342900" indent="-342900">
              <a:buFont typeface="Arial" panose="020B0604020202020204" pitchFamily="34" charset="0"/>
              <a:buChar char="•"/>
            </a:pPr>
            <a:endParaRPr lang="en-US" sz="2000" dirty="0"/>
          </a:p>
          <a:p>
            <a:r>
              <a:rPr lang="en-US" sz="2000" b="1" dirty="0"/>
              <a:t>Model weaknesses:</a:t>
            </a:r>
          </a:p>
          <a:p>
            <a:pPr marL="342900" indent="-342900">
              <a:buFont typeface="Arial" panose="020B0604020202020204" pitchFamily="34" charset="0"/>
              <a:buChar char="•"/>
            </a:pPr>
            <a:r>
              <a:rPr lang="en-US" sz="2000" dirty="0"/>
              <a:t>The forecasting backbone is predictive, not causal, so policy effects should be read as </a:t>
            </a:r>
            <a:r>
              <a:rPr lang="en-US" sz="2000" b="1" dirty="0"/>
              <a:t>model-based responses</a:t>
            </a:r>
            <a:r>
              <a:rPr lang="en-US" sz="2000" dirty="0"/>
              <a:t> rather than guaranteed outcomes</a:t>
            </a:r>
          </a:p>
          <a:p>
            <a:pPr marL="342900" indent="-342900">
              <a:buFont typeface="Arial" panose="020B0604020202020204" pitchFamily="34" charset="0"/>
              <a:buChar char="•"/>
            </a:pPr>
            <a:r>
              <a:rPr lang="en-US" sz="2000" dirty="0"/>
              <a:t>Recovery-rebound results depend on stylized assumptions layered on top of the fitted model</a:t>
            </a:r>
          </a:p>
          <a:p>
            <a:endParaRPr lang="en-US" sz="2000" dirty="0"/>
          </a:p>
          <a:p>
            <a:r>
              <a:rPr lang="en-US" sz="2000" b="1" dirty="0"/>
              <a:t>Risks in real-world use:</a:t>
            </a:r>
          </a:p>
          <a:p>
            <a:pPr marL="342900" indent="-342900">
              <a:buFont typeface="Arial" panose="020B0604020202020204" pitchFamily="34" charset="0"/>
              <a:buChar char="•"/>
            </a:pPr>
            <a:r>
              <a:rPr lang="en-US" sz="2000" dirty="0"/>
              <a:t>Overinterpreting scenario outputs as exact forecasts rather than decision-support stress tests</a:t>
            </a:r>
          </a:p>
          <a:p>
            <a:pPr marL="342900" indent="-342900">
              <a:buFont typeface="Arial" panose="020B0604020202020204" pitchFamily="34" charset="0"/>
              <a:buChar char="•"/>
            </a:pPr>
            <a:r>
              <a:rPr lang="en-US" sz="2000" dirty="0"/>
              <a:t>Using results without considering uncertainty, implementation constraints, and changing future conditions</a:t>
            </a:r>
          </a:p>
        </p:txBody>
      </p:sp>
      <p:pic>
        <p:nvPicPr>
          <p:cNvPr id="2" name="Picture 1" descr="A blue grid with lines and dots&#10;&#10;AI-generated content may be incorrect.">
            <a:extLst>
              <a:ext uri="{FF2B5EF4-FFF2-40B4-BE49-F238E27FC236}">
                <a16:creationId xmlns:a16="http://schemas.microsoft.com/office/drawing/2014/main" id="{4B92A470-8387-D19A-6EC3-6CB8EA9F74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819395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pic>
        <p:nvPicPr>
          <p:cNvPr id="2" name="Picture 1" descr="A blue grid with lines and dots&#10;&#10;AI-generated content may be incorrect.">
            <a:extLst>
              <a:ext uri="{FF2B5EF4-FFF2-40B4-BE49-F238E27FC236}">
                <a16:creationId xmlns:a16="http://schemas.microsoft.com/office/drawing/2014/main" id="{CC5745D3-D0DC-618D-5DCC-EC5FF37F1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6645331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84204"/>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32448</TotalTime>
  <Words>3990</Words>
  <Application>Microsoft Macintosh PowerPoint</Application>
  <PresentationFormat>Widescreen</PresentationFormat>
  <Paragraphs>467</Paragraphs>
  <Slides>30</Slides>
  <Notes>25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Arial</vt:lpstr>
      <vt:lpstr>Source sans 3</vt:lpstr>
      <vt:lpstr>Symbol</vt:lpstr>
      <vt:lpstr>Merriweather</vt:lpstr>
      <vt:lpstr>Calibri</vt:lpstr>
      <vt:lpstr>Cambria Math</vt:lpstr>
      <vt:lpstr>Wingdings</vt:lpstr>
      <vt:lpstr>PT serif</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418</cp:revision>
  <cp:lastPrinted>2025-12-23T15:43:13Z</cp:lastPrinted>
  <dcterms:created xsi:type="dcterms:W3CDTF">2018-07-12T14:29:14Z</dcterms:created>
  <dcterms:modified xsi:type="dcterms:W3CDTF">2026-05-08T20:58:55Z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